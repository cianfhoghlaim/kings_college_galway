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20"/>
  </p:notesMasterIdLst>
  <p:handoutMasterIdLst>
    <p:handoutMasterId r:id="rId21"/>
  </p:handoutMasterIdLst>
  <p:sldIdLst>
    <p:sldId id="259" r:id="rId3"/>
    <p:sldId id="257" r:id="rId4"/>
    <p:sldId id="260" r:id="rId5"/>
    <p:sldId id="262" r:id="rId6"/>
    <p:sldId id="277" r:id="rId7"/>
    <p:sldId id="273" r:id="rId8"/>
    <p:sldId id="276" r:id="rId9"/>
    <p:sldId id="278" r:id="rId10"/>
    <p:sldId id="256" r:id="rId11"/>
    <p:sldId id="265" r:id="rId12"/>
    <p:sldId id="266" r:id="rId13"/>
    <p:sldId id="267" r:id="rId14"/>
    <p:sldId id="268" r:id="rId15"/>
    <p:sldId id="269" r:id="rId16"/>
    <p:sldId id="275" r:id="rId17"/>
    <p:sldId id="263" r:id="rId18"/>
    <p:sldId id="258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8150"/>
    <a:srgbClr val="E37553"/>
    <a:srgbClr val="E0653F"/>
    <a:srgbClr val="959697"/>
    <a:srgbClr val="EAEAEA"/>
    <a:srgbClr val="E3E5F1"/>
    <a:srgbClr val="EFF0F7"/>
    <a:srgbClr val="F5B493"/>
    <a:srgbClr val="F6BEA3"/>
    <a:srgbClr val="F6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7" autoAdjust="0"/>
    <p:restoredTop sz="96208" autoAdjust="0"/>
  </p:normalViewPr>
  <p:slideViewPr>
    <p:cSldViewPr>
      <p:cViewPr varScale="1">
        <p:scale>
          <a:sx n="60" d="100"/>
          <a:sy n="60" d="100"/>
        </p:scale>
        <p:origin x="184" y="18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4128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4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4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4" Type="http://schemas.openxmlformats.org/officeDocument/2006/relationships/image" Target="../media/image3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4" Type="http://schemas.openxmlformats.org/officeDocument/2006/relationships/image" Target="../media/image3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D13F-9E93-4C57-A5BD-336347054114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B5BEB-1ADB-49FA-9859-ABF84DA6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83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8AF68-E0B0-A441-9969-134C5A84B8D3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85E8A-9088-EA43-A398-7344A62A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2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575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948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6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10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97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CC903-D754-4F9F-B81F-92A7C81582B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716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©Templateswise.com - Mathematics 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0CCBA1-D67F-4FF3-9C41-A277F22D034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43959469-FF03-4825-9F3C-6BB93A8CB09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92176" y="1917700"/>
            <a:ext cx="8250238" cy="3225800"/>
            <a:chOff x="562" y="1208"/>
            <a:chExt cx="5197" cy="203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1E65A4E-8C9A-4FB6-BE39-496FA08B8A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30" y="2242"/>
              <a:ext cx="35" cy="35"/>
            </a:xfrm>
            <a:custGeom>
              <a:avLst/>
              <a:gdLst>
                <a:gd name="T0" fmla="*/ 0 w 70"/>
                <a:gd name="T1" fmla="*/ 0 h 71"/>
                <a:gd name="T2" fmla="*/ 70 w 70"/>
                <a:gd name="T3" fmla="*/ 71 h 71"/>
                <a:gd name="T4" fmla="*/ 70 w 70"/>
                <a:gd name="T5" fmla="*/ 71 h 71"/>
                <a:gd name="T6" fmla="*/ 35 w 70"/>
                <a:gd name="T7" fmla="*/ 35 h 71"/>
                <a:gd name="T8" fmla="*/ 0 w 70"/>
                <a:gd name="T9" fmla="*/ 0 h 71"/>
                <a:gd name="T10" fmla="*/ 0 w 70"/>
                <a:gd name="T1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71">
                  <a:moveTo>
                    <a:pt x="0" y="0"/>
                  </a:moveTo>
                  <a:lnTo>
                    <a:pt x="70" y="71"/>
                  </a:lnTo>
                  <a:lnTo>
                    <a:pt x="70" y="71"/>
                  </a:lnTo>
                  <a:lnTo>
                    <a:pt x="35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AF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C522F41-9290-45DD-940D-42D9AAC4E9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5" y="2802"/>
              <a:ext cx="1" cy="1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AF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7E2072D8-1ED5-41C9-BD46-3F9521F0E4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37" y="1501"/>
              <a:ext cx="2722" cy="1739"/>
            </a:xfrm>
            <a:custGeom>
              <a:avLst/>
              <a:gdLst>
                <a:gd name="T0" fmla="*/ 5445 w 5445"/>
                <a:gd name="T1" fmla="*/ 3477 h 3477"/>
                <a:gd name="T2" fmla="*/ 186 w 5445"/>
                <a:gd name="T3" fmla="*/ 972 h 3477"/>
                <a:gd name="T4" fmla="*/ 165 w 5445"/>
                <a:gd name="T5" fmla="*/ 954 h 3477"/>
                <a:gd name="T6" fmla="*/ 127 w 5445"/>
                <a:gd name="T7" fmla="*/ 913 h 3477"/>
                <a:gd name="T8" fmla="*/ 92 w 5445"/>
                <a:gd name="T9" fmla="*/ 870 h 3477"/>
                <a:gd name="T10" fmla="*/ 64 w 5445"/>
                <a:gd name="T11" fmla="*/ 822 h 3477"/>
                <a:gd name="T12" fmla="*/ 39 w 5445"/>
                <a:gd name="T13" fmla="*/ 772 h 3477"/>
                <a:gd name="T14" fmla="*/ 21 w 5445"/>
                <a:gd name="T15" fmla="*/ 719 h 3477"/>
                <a:gd name="T16" fmla="*/ 7 w 5445"/>
                <a:gd name="T17" fmla="*/ 662 h 3477"/>
                <a:gd name="T18" fmla="*/ 1 w 5445"/>
                <a:gd name="T19" fmla="*/ 605 h 3477"/>
                <a:gd name="T20" fmla="*/ 0 w 5445"/>
                <a:gd name="T21" fmla="*/ 575 h 3477"/>
                <a:gd name="T22" fmla="*/ 3 w 5445"/>
                <a:gd name="T23" fmla="*/ 522 h 3477"/>
                <a:gd name="T24" fmla="*/ 11 w 5445"/>
                <a:gd name="T25" fmla="*/ 470 h 3477"/>
                <a:gd name="T26" fmla="*/ 23 w 5445"/>
                <a:gd name="T27" fmla="*/ 420 h 3477"/>
                <a:gd name="T28" fmla="*/ 41 w 5445"/>
                <a:gd name="T29" fmla="*/ 373 h 3477"/>
                <a:gd name="T30" fmla="*/ 62 w 5445"/>
                <a:gd name="T31" fmla="*/ 328 h 3477"/>
                <a:gd name="T32" fmla="*/ 89 w 5445"/>
                <a:gd name="T33" fmla="*/ 285 h 3477"/>
                <a:gd name="T34" fmla="*/ 119 w 5445"/>
                <a:gd name="T35" fmla="*/ 245 h 3477"/>
                <a:gd name="T36" fmla="*/ 152 w 5445"/>
                <a:gd name="T37" fmla="*/ 209 h 3477"/>
                <a:gd name="T38" fmla="*/ 188 w 5445"/>
                <a:gd name="T39" fmla="*/ 176 h 3477"/>
                <a:gd name="T40" fmla="*/ 228 w 5445"/>
                <a:gd name="T41" fmla="*/ 146 h 3477"/>
                <a:gd name="T42" fmla="*/ 271 w 5445"/>
                <a:gd name="T43" fmla="*/ 119 h 3477"/>
                <a:gd name="T44" fmla="*/ 316 w 5445"/>
                <a:gd name="T45" fmla="*/ 98 h 3477"/>
                <a:gd name="T46" fmla="*/ 364 w 5445"/>
                <a:gd name="T47" fmla="*/ 80 h 3477"/>
                <a:gd name="T48" fmla="*/ 414 w 5445"/>
                <a:gd name="T49" fmla="*/ 68 h 3477"/>
                <a:gd name="T50" fmla="*/ 464 w 5445"/>
                <a:gd name="T51" fmla="*/ 60 h 3477"/>
                <a:gd name="T52" fmla="*/ 517 w 5445"/>
                <a:gd name="T53" fmla="*/ 57 h 3477"/>
                <a:gd name="T54" fmla="*/ 575 w 5445"/>
                <a:gd name="T55" fmla="*/ 0 h 3477"/>
                <a:gd name="T56" fmla="*/ 601 w 5445"/>
                <a:gd name="T57" fmla="*/ 1 h 3477"/>
                <a:gd name="T58" fmla="*/ 653 w 5445"/>
                <a:gd name="T59" fmla="*/ 7 h 3477"/>
                <a:gd name="T60" fmla="*/ 704 w 5445"/>
                <a:gd name="T61" fmla="*/ 17 h 3477"/>
                <a:gd name="T62" fmla="*/ 752 w 5445"/>
                <a:gd name="T63" fmla="*/ 32 h 3477"/>
                <a:gd name="T64" fmla="*/ 798 w 5445"/>
                <a:gd name="T65" fmla="*/ 51 h 3477"/>
                <a:gd name="T66" fmla="*/ 842 w 5445"/>
                <a:gd name="T67" fmla="*/ 75 h 3477"/>
                <a:gd name="T68" fmla="*/ 884 w 5445"/>
                <a:gd name="T69" fmla="*/ 103 h 3477"/>
                <a:gd name="T70" fmla="*/ 922 w 5445"/>
                <a:gd name="T71" fmla="*/ 134 h 3477"/>
                <a:gd name="T72" fmla="*/ 940 w 5445"/>
                <a:gd name="T73" fmla="*/ 152 h 3477"/>
                <a:gd name="T74" fmla="*/ 3146 w 5445"/>
                <a:gd name="T75" fmla="*/ 282 h 3477"/>
                <a:gd name="T76" fmla="*/ 3151 w 5445"/>
                <a:gd name="T77" fmla="*/ 273 h 3477"/>
                <a:gd name="T78" fmla="*/ 3160 w 5445"/>
                <a:gd name="T79" fmla="*/ 258 h 3477"/>
                <a:gd name="T80" fmla="*/ 3173 w 5445"/>
                <a:gd name="T81" fmla="*/ 244 h 3477"/>
                <a:gd name="T82" fmla="*/ 3187 w 5445"/>
                <a:gd name="T83" fmla="*/ 234 h 3477"/>
                <a:gd name="T84" fmla="*/ 3203 w 5445"/>
                <a:gd name="T85" fmla="*/ 225 h 3477"/>
                <a:gd name="T86" fmla="*/ 3220 w 5445"/>
                <a:gd name="T87" fmla="*/ 222 h 3477"/>
                <a:gd name="T88" fmla="*/ 3239 w 5445"/>
                <a:gd name="T89" fmla="*/ 221 h 3477"/>
                <a:gd name="T90" fmla="*/ 3257 w 5445"/>
                <a:gd name="T91" fmla="*/ 223 h 3477"/>
                <a:gd name="T92" fmla="*/ 3805 w 5445"/>
                <a:gd name="T93" fmla="*/ 424 h 3477"/>
                <a:gd name="T94" fmla="*/ 4343 w 5445"/>
                <a:gd name="T95" fmla="*/ 621 h 3477"/>
                <a:gd name="T96" fmla="*/ 4360 w 5445"/>
                <a:gd name="T97" fmla="*/ 629 h 3477"/>
                <a:gd name="T98" fmla="*/ 4374 w 5445"/>
                <a:gd name="T99" fmla="*/ 640 h 3477"/>
                <a:gd name="T100" fmla="*/ 4381 w 5445"/>
                <a:gd name="T101" fmla="*/ 646 h 3477"/>
                <a:gd name="T102" fmla="*/ 4391 w 5445"/>
                <a:gd name="T103" fmla="*/ 662 h 3477"/>
                <a:gd name="T104" fmla="*/ 5445 w 5445"/>
                <a:gd name="T105" fmla="*/ 1720 h 3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45" h="3477">
                  <a:moveTo>
                    <a:pt x="5445" y="1720"/>
                  </a:moveTo>
                  <a:lnTo>
                    <a:pt x="5445" y="3477"/>
                  </a:lnTo>
                  <a:lnTo>
                    <a:pt x="2690" y="3477"/>
                  </a:lnTo>
                  <a:lnTo>
                    <a:pt x="186" y="972"/>
                  </a:lnTo>
                  <a:lnTo>
                    <a:pt x="186" y="972"/>
                  </a:lnTo>
                  <a:lnTo>
                    <a:pt x="165" y="954"/>
                  </a:lnTo>
                  <a:lnTo>
                    <a:pt x="145" y="934"/>
                  </a:lnTo>
                  <a:lnTo>
                    <a:pt x="127" y="913"/>
                  </a:lnTo>
                  <a:lnTo>
                    <a:pt x="110" y="893"/>
                  </a:lnTo>
                  <a:lnTo>
                    <a:pt x="92" y="870"/>
                  </a:lnTo>
                  <a:lnTo>
                    <a:pt x="77" y="847"/>
                  </a:lnTo>
                  <a:lnTo>
                    <a:pt x="64" y="822"/>
                  </a:lnTo>
                  <a:lnTo>
                    <a:pt x="51" y="798"/>
                  </a:lnTo>
                  <a:lnTo>
                    <a:pt x="39" y="772"/>
                  </a:lnTo>
                  <a:lnTo>
                    <a:pt x="29" y="745"/>
                  </a:lnTo>
                  <a:lnTo>
                    <a:pt x="21" y="719"/>
                  </a:lnTo>
                  <a:lnTo>
                    <a:pt x="13" y="691"/>
                  </a:lnTo>
                  <a:lnTo>
                    <a:pt x="7" y="662"/>
                  </a:lnTo>
                  <a:lnTo>
                    <a:pt x="4" y="633"/>
                  </a:lnTo>
                  <a:lnTo>
                    <a:pt x="1" y="605"/>
                  </a:lnTo>
                  <a:lnTo>
                    <a:pt x="0" y="575"/>
                  </a:lnTo>
                  <a:lnTo>
                    <a:pt x="0" y="575"/>
                  </a:lnTo>
                  <a:lnTo>
                    <a:pt x="1" y="548"/>
                  </a:lnTo>
                  <a:lnTo>
                    <a:pt x="3" y="522"/>
                  </a:lnTo>
                  <a:lnTo>
                    <a:pt x="6" y="496"/>
                  </a:lnTo>
                  <a:lnTo>
                    <a:pt x="11" y="470"/>
                  </a:lnTo>
                  <a:lnTo>
                    <a:pt x="16" y="446"/>
                  </a:lnTo>
                  <a:lnTo>
                    <a:pt x="23" y="420"/>
                  </a:lnTo>
                  <a:lnTo>
                    <a:pt x="31" y="397"/>
                  </a:lnTo>
                  <a:lnTo>
                    <a:pt x="41" y="373"/>
                  </a:lnTo>
                  <a:lnTo>
                    <a:pt x="51" y="350"/>
                  </a:lnTo>
                  <a:lnTo>
                    <a:pt x="62" y="328"/>
                  </a:lnTo>
                  <a:lnTo>
                    <a:pt x="75" y="306"/>
                  </a:lnTo>
                  <a:lnTo>
                    <a:pt x="89" y="285"/>
                  </a:lnTo>
                  <a:lnTo>
                    <a:pt x="103" y="265"/>
                  </a:lnTo>
                  <a:lnTo>
                    <a:pt x="119" y="245"/>
                  </a:lnTo>
                  <a:lnTo>
                    <a:pt x="135" y="227"/>
                  </a:lnTo>
                  <a:lnTo>
                    <a:pt x="152" y="209"/>
                  </a:lnTo>
                  <a:lnTo>
                    <a:pt x="170" y="192"/>
                  </a:lnTo>
                  <a:lnTo>
                    <a:pt x="188" y="176"/>
                  </a:lnTo>
                  <a:lnTo>
                    <a:pt x="208" y="160"/>
                  </a:lnTo>
                  <a:lnTo>
                    <a:pt x="228" y="146"/>
                  </a:lnTo>
                  <a:lnTo>
                    <a:pt x="249" y="132"/>
                  </a:lnTo>
                  <a:lnTo>
                    <a:pt x="271" y="119"/>
                  </a:lnTo>
                  <a:lnTo>
                    <a:pt x="293" y="108"/>
                  </a:lnTo>
                  <a:lnTo>
                    <a:pt x="316" y="98"/>
                  </a:lnTo>
                  <a:lnTo>
                    <a:pt x="340" y="88"/>
                  </a:lnTo>
                  <a:lnTo>
                    <a:pt x="364" y="80"/>
                  </a:lnTo>
                  <a:lnTo>
                    <a:pt x="388" y="73"/>
                  </a:lnTo>
                  <a:lnTo>
                    <a:pt x="414" y="68"/>
                  </a:lnTo>
                  <a:lnTo>
                    <a:pt x="439" y="63"/>
                  </a:lnTo>
                  <a:lnTo>
                    <a:pt x="464" y="60"/>
                  </a:lnTo>
                  <a:lnTo>
                    <a:pt x="491" y="58"/>
                  </a:lnTo>
                  <a:lnTo>
                    <a:pt x="517" y="57"/>
                  </a:lnTo>
                  <a:lnTo>
                    <a:pt x="575" y="115"/>
                  </a:lnTo>
                  <a:lnTo>
                    <a:pt x="575" y="0"/>
                  </a:lnTo>
                  <a:lnTo>
                    <a:pt x="575" y="0"/>
                  </a:lnTo>
                  <a:lnTo>
                    <a:pt x="601" y="1"/>
                  </a:lnTo>
                  <a:lnTo>
                    <a:pt x="628" y="3"/>
                  </a:lnTo>
                  <a:lnTo>
                    <a:pt x="653" y="7"/>
                  </a:lnTo>
                  <a:lnTo>
                    <a:pt x="679" y="11"/>
                  </a:lnTo>
                  <a:lnTo>
                    <a:pt x="704" y="17"/>
                  </a:lnTo>
                  <a:lnTo>
                    <a:pt x="728" y="24"/>
                  </a:lnTo>
                  <a:lnTo>
                    <a:pt x="752" y="32"/>
                  </a:lnTo>
                  <a:lnTo>
                    <a:pt x="775" y="41"/>
                  </a:lnTo>
                  <a:lnTo>
                    <a:pt x="798" y="51"/>
                  </a:lnTo>
                  <a:lnTo>
                    <a:pt x="821" y="63"/>
                  </a:lnTo>
                  <a:lnTo>
                    <a:pt x="842" y="75"/>
                  </a:lnTo>
                  <a:lnTo>
                    <a:pt x="864" y="88"/>
                  </a:lnTo>
                  <a:lnTo>
                    <a:pt x="884" y="103"/>
                  </a:lnTo>
                  <a:lnTo>
                    <a:pt x="903" y="118"/>
                  </a:lnTo>
                  <a:lnTo>
                    <a:pt x="922" y="134"/>
                  </a:lnTo>
                  <a:lnTo>
                    <a:pt x="940" y="152"/>
                  </a:lnTo>
                  <a:lnTo>
                    <a:pt x="940" y="152"/>
                  </a:lnTo>
                  <a:lnTo>
                    <a:pt x="2590" y="1803"/>
                  </a:lnTo>
                  <a:lnTo>
                    <a:pt x="3146" y="282"/>
                  </a:lnTo>
                  <a:lnTo>
                    <a:pt x="3146" y="282"/>
                  </a:lnTo>
                  <a:lnTo>
                    <a:pt x="3151" y="273"/>
                  </a:lnTo>
                  <a:lnTo>
                    <a:pt x="3154" y="265"/>
                  </a:lnTo>
                  <a:lnTo>
                    <a:pt x="3160" y="258"/>
                  </a:lnTo>
                  <a:lnTo>
                    <a:pt x="3166" y="251"/>
                  </a:lnTo>
                  <a:lnTo>
                    <a:pt x="3173" y="244"/>
                  </a:lnTo>
                  <a:lnTo>
                    <a:pt x="3180" y="238"/>
                  </a:lnTo>
                  <a:lnTo>
                    <a:pt x="3187" y="234"/>
                  </a:lnTo>
                  <a:lnTo>
                    <a:pt x="3195" y="229"/>
                  </a:lnTo>
                  <a:lnTo>
                    <a:pt x="3203" y="225"/>
                  </a:lnTo>
                  <a:lnTo>
                    <a:pt x="3212" y="223"/>
                  </a:lnTo>
                  <a:lnTo>
                    <a:pt x="3220" y="222"/>
                  </a:lnTo>
                  <a:lnTo>
                    <a:pt x="3229" y="221"/>
                  </a:lnTo>
                  <a:lnTo>
                    <a:pt x="3239" y="221"/>
                  </a:lnTo>
                  <a:lnTo>
                    <a:pt x="3248" y="222"/>
                  </a:lnTo>
                  <a:lnTo>
                    <a:pt x="3257" y="223"/>
                  </a:lnTo>
                  <a:lnTo>
                    <a:pt x="3266" y="227"/>
                  </a:lnTo>
                  <a:lnTo>
                    <a:pt x="3805" y="424"/>
                  </a:lnTo>
                  <a:lnTo>
                    <a:pt x="4343" y="621"/>
                  </a:lnTo>
                  <a:lnTo>
                    <a:pt x="4343" y="621"/>
                  </a:lnTo>
                  <a:lnTo>
                    <a:pt x="4351" y="624"/>
                  </a:lnTo>
                  <a:lnTo>
                    <a:pt x="4360" y="629"/>
                  </a:lnTo>
                  <a:lnTo>
                    <a:pt x="4367" y="633"/>
                  </a:lnTo>
                  <a:lnTo>
                    <a:pt x="4374" y="640"/>
                  </a:lnTo>
                  <a:lnTo>
                    <a:pt x="4374" y="640"/>
                  </a:lnTo>
                  <a:lnTo>
                    <a:pt x="4381" y="646"/>
                  </a:lnTo>
                  <a:lnTo>
                    <a:pt x="4387" y="654"/>
                  </a:lnTo>
                  <a:lnTo>
                    <a:pt x="4391" y="662"/>
                  </a:lnTo>
                  <a:lnTo>
                    <a:pt x="4396" y="670"/>
                  </a:lnTo>
                  <a:lnTo>
                    <a:pt x="5445" y="1720"/>
                  </a:lnTo>
                  <a:close/>
                </a:path>
              </a:pathLst>
            </a:custGeom>
            <a:solidFill>
              <a:srgbClr val="00B7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4E237DAE-58EC-4A29-8114-D9FA09CB0F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2" y="1208"/>
              <a:ext cx="3566" cy="2032"/>
            </a:xfrm>
            <a:custGeom>
              <a:avLst/>
              <a:gdLst>
                <a:gd name="T0" fmla="*/ 48 w 7132"/>
                <a:gd name="T1" fmla="*/ 3191 h 4064"/>
                <a:gd name="T2" fmla="*/ 46 w 7132"/>
                <a:gd name="T3" fmla="*/ 3184 h 4064"/>
                <a:gd name="T4" fmla="*/ 43 w 7132"/>
                <a:gd name="T5" fmla="*/ 3154 h 4064"/>
                <a:gd name="T6" fmla="*/ 10 w 7132"/>
                <a:gd name="T7" fmla="*/ 3026 h 4064"/>
                <a:gd name="T8" fmla="*/ 1 w 7132"/>
                <a:gd name="T9" fmla="*/ 2927 h 4064"/>
                <a:gd name="T10" fmla="*/ 7 w 7132"/>
                <a:gd name="T11" fmla="*/ 2808 h 4064"/>
                <a:gd name="T12" fmla="*/ 43 w 7132"/>
                <a:gd name="T13" fmla="*/ 2542 h 4064"/>
                <a:gd name="T14" fmla="*/ 136 w 7132"/>
                <a:gd name="T15" fmla="*/ 2019 h 4064"/>
                <a:gd name="T16" fmla="*/ 159 w 7132"/>
                <a:gd name="T17" fmla="*/ 1892 h 4064"/>
                <a:gd name="T18" fmla="*/ 9 w 7132"/>
                <a:gd name="T19" fmla="*/ 1490 h 4064"/>
                <a:gd name="T20" fmla="*/ 1 w 7132"/>
                <a:gd name="T21" fmla="*/ 1474 h 4064"/>
                <a:gd name="T22" fmla="*/ 3 w 7132"/>
                <a:gd name="T23" fmla="*/ 1454 h 4064"/>
                <a:gd name="T24" fmla="*/ 20 w 7132"/>
                <a:gd name="T25" fmla="*/ 1437 h 4064"/>
                <a:gd name="T26" fmla="*/ 39 w 7132"/>
                <a:gd name="T27" fmla="*/ 1435 h 4064"/>
                <a:gd name="T28" fmla="*/ 57 w 7132"/>
                <a:gd name="T29" fmla="*/ 1445 h 4064"/>
                <a:gd name="T30" fmla="*/ 253 w 7132"/>
                <a:gd name="T31" fmla="*/ 1460 h 4064"/>
                <a:gd name="T32" fmla="*/ 321 w 7132"/>
                <a:gd name="T33" fmla="*/ 1218 h 4064"/>
                <a:gd name="T34" fmla="*/ 385 w 7132"/>
                <a:gd name="T35" fmla="*/ 1044 h 4064"/>
                <a:gd name="T36" fmla="*/ 441 w 7132"/>
                <a:gd name="T37" fmla="*/ 939 h 4064"/>
                <a:gd name="T38" fmla="*/ 418 w 7132"/>
                <a:gd name="T39" fmla="*/ 886 h 4064"/>
                <a:gd name="T40" fmla="*/ 367 w 7132"/>
                <a:gd name="T41" fmla="*/ 802 h 4064"/>
                <a:gd name="T42" fmla="*/ 354 w 7132"/>
                <a:gd name="T43" fmla="*/ 741 h 4064"/>
                <a:gd name="T44" fmla="*/ 356 w 7132"/>
                <a:gd name="T45" fmla="*/ 700 h 4064"/>
                <a:gd name="T46" fmla="*/ 380 w 7132"/>
                <a:gd name="T47" fmla="*/ 613 h 4064"/>
                <a:gd name="T48" fmla="*/ 432 w 7132"/>
                <a:gd name="T49" fmla="*/ 544 h 4064"/>
                <a:gd name="T50" fmla="*/ 504 w 7132"/>
                <a:gd name="T51" fmla="*/ 498 h 4064"/>
                <a:gd name="T52" fmla="*/ 569 w 7132"/>
                <a:gd name="T53" fmla="*/ 393 h 4064"/>
                <a:gd name="T54" fmla="*/ 551 w 7132"/>
                <a:gd name="T55" fmla="*/ 392 h 4064"/>
                <a:gd name="T56" fmla="*/ 541 w 7132"/>
                <a:gd name="T57" fmla="*/ 382 h 4064"/>
                <a:gd name="T58" fmla="*/ 540 w 7132"/>
                <a:gd name="T59" fmla="*/ 19 h 4064"/>
                <a:gd name="T60" fmla="*/ 548 w 7132"/>
                <a:gd name="T61" fmla="*/ 4 h 4064"/>
                <a:gd name="T62" fmla="*/ 633 w 7132"/>
                <a:gd name="T63" fmla="*/ 0 h 4064"/>
                <a:gd name="T64" fmla="*/ 643 w 7132"/>
                <a:gd name="T65" fmla="*/ 4 h 4064"/>
                <a:gd name="T66" fmla="*/ 2825 w 7132"/>
                <a:gd name="T67" fmla="*/ 2136 h 4064"/>
                <a:gd name="T68" fmla="*/ 3073 w 7132"/>
                <a:gd name="T69" fmla="*/ 1920 h 4064"/>
                <a:gd name="T70" fmla="*/ 3229 w 7132"/>
                <a:gd name="T71" fmla="*/ 1823 h 4064"/>
                <a:gd name="T72" fmla="*/ 3453 w 7132"/>
                <a:gd name="T73" fmla="*/ 1720 h 4064"/>
                <a:gd name="T74" fmla="*/ 3694 w 7132"/>
                <a:gd name="T75" fmla="*/ 1654 h 4064"/>
                <a:gd name="T76" fmla="*/ 3948 w 7132"/>
                <a:gd name="T77" fmla="*/ 1624 h 4064"/>
                <a:gd name="T78" fmla="*/ 4095 w 7132"/>
                <a:gd name="T79" fmla="*/ 1625 h 4064"/>
                <a:gd name="T80" fmla="*/ 4254 w 7132"/>
                <a:gd name="T81" fmla="*/ 1640 h 4064"/>
                <a:gd name="T82" fmla="*/ 4408 w 7132"/>
                <a:gd name="T83" fmla="*/ 1670 h 4064"/>
                <a:gd name="T84" fmla="*/ 4555 w 7132"/>
                <a:gd name="T85" fmla="*/ 1714 h 4064"/>
                <a:gd name="T86" fmla="*/ 4698 w 7132"/>
                <a:gd name="T87" fmla="*/ 1771 h 4064"/>
                <a:gd name="T88" fmla="*/ 4833 w 7132"/>
                <a:gd name="T89" fmla="*/ 1841 h 4064"/>
                <a:gd name="T90" fmla="*/ 4960 w 7132"/>
                <a:gd name="T91" fmla="*/ 1923 h 4064"/>
                <a:gd name="T92" fmla="*/ 5079 w 7132"/>
                <a:gd name="T93" fmla="*/ 2017 h 4064"/>
                <a:gd name="T94" fmla="*/ 7132 w 7132"/>
                <a:gd name="T95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132" h="4064">
                  <a:moveTo>
                    <a:pt x="7132" y="4064"/>
                  </a:moveTo>
                  <a:lnTo>
                    <a:pt x="921" y="4064"/>
                  </a:lnTo>
                  <a:lnTo>
                    <a:pt x="48" y="3191"/>
                  </a:lnTo>
                  <a:lnTo>
                    <a:pt x="48" y="3191"/>
                  </a:lnTo>
                  <a:lnTo>
                    <a:pt x="47" y="3188"/>
                  </a:lnTo>
                  <a:lnTo>
                    <a:pt x="47" y="3188"/>
                  </a:lnTo>
                  <a:lnTo>
                    <a:pt x="47" y="3188"/>
                  </a:lnTo>
                  <a:lnTo>
                    <a:pt x="46" y="3184"/>
                  </a:lnTo>
                  <a:lnTo>
                    <a:pt x="45" y="3174"/>
                  </a:lnTo>
                  <a:lnTo>
                    <a:pt x="45" y="3174"/>
                  </a:lnTo>
                  <a:lnTo>
                    <a:pt x="45" y="3164"/>
                  </a:lnTo>
                  <a:lnTo>
                    <a:pt x="43" y="3154"/>
                  </a:lnTo>
                  <a:lnTo>
                    <a:pt x="38" y="3132"/>
                  </a:lnTo>
                  <a:lnTo>
                    <a:pt x="23" y="3080"/>
                  </a:lnTo>
                  <a:lnTo>
                    <a:pt x="15" y="3045"/>
                  </a:lnTo>
                  <a:lnTo>
                    <a:pt x="10" y="3026"/>
                  </a:lnTo>
                  <a:lnTo>
                    <a:pt x="8" y="3005"/>
                  </a:lnTo>
                  <a:lnTo>
                    <a:pt x="4" y="2981"/>
                  </a:lnTo>
                  <a:lnTo>
                    <a:pt x="2" y="2956"/>
                  </a:lnTo>
                  <a:lnTo>
                    <a:pt x="1" y="2927"/>
                  </a:lnTo>
                  <a:lnTo>
                    <a:pt x="0" y="2896"/>
                  </a:lnTo>
                  <a:lnTo>
                    <a:pt x="0" y="2896"/>
                  </a:lnTo>
                  <a:lnTo>
                    <a:pt x="2" y="2858"/>
                  </a:lnTo>
                  <a:lnTo>
                    <a:pt x="7" y="2808"/>
                  </a:lnTo>
                  <a:lnTo>
                    <a:pt x="12" y="2750"/>
                  </a:lnTo>
                  <a:lnTo>
                    <a:pt x="22" y="2685"/>
                  </a:lnTo>
                  <a:lnTo>
                    <a:pt x="32" y="2615"/>
                  </a:lnTo>
                  <a:lnTo>
                    <a:pt x="43" y="2542"/>
                  </a:lnTo>
                  <a:lnTo>
                    <a:pt x="68" y="2392"/>
                  </a:lnTo>
                  <a:lnTo>
                    <a:pt x="93" y="2250"/>
                  </a:lnTo>
                  <a:lnTo>
                    <a:pt x="115" y="2131"/>
                  </a:lnTo>
                  <a:lnTo>
                    <a:pt x="136" y="2019"/>
                  </a:lnTo>
                  <a:lnTo>
                    <a:pt x="136" y="2019"/>
                  </a:lnTo>
                  <a:lnTo>
                    <a:pt x="142" y="1984"/>
                  </a:lnTo>
                  <a:lnTo>
                    <a:pt x="159" y="1892"/>
                  </a:lnTo>
                  <a:lnTo>
                    <a:pt x="159" y="1892"/>
                  </a:lnTo>
                  <a:lnTo>
                    <a:pt x="178" y="1796"/>
                  </a:lnTo>
                  <a:lnTo>
                    <a:pt x="201" y="1682"/>
                  </a:lnTo>
                  <a:lnTo>
                    <a:pt x="10" y="1491"/>
                  </a:lnTo>
                  <a:lnTo>
                    <a:pt x="9" y="1490"/>
                  </a:lnTo>
                  <a:lnTo>
                    <a:pt x="9" y="1490"/>
                  </a:lnTo>
                  <a:lnTo>
                    <a:pt x="5" y="1485"/>
                  </a:lnTo>
                  <a:lnTo>
                    <a:pt x="2" y="1480"/>
                  </a:lnTo>
                  <a:lnTo>
                    <a:pt x="1" y="1474"/>
                  </a:lnTo>
                  <a:lnTo>
                    <a:pt x="0" y="1467"/>
                  </a:lnTo>
                  <a:lnTo>
                    <a:pt x="0" y="1467"/>
                  </a:lnTo>
                  <a:lnTo>
                    <a:pt x="1" y="1460"/>
                  </a:lnTo>
                  <a:lnTo>
                    <a:pt x="3" y="1454"/>
                  </a:lnTo>
                  <a:lnTo>
                    <a:pt x="5" y="1448"/>
                  </a:lnTo>
                  <a:lnTo>
                    <a:pt x="10" y="1444"/>
                  </a:lnTo>
                  <a:lnTo>
                    <a:pt x="15" y="1439"/>
                  </a:lnTo>
                  <a:lnTo>
                    <a:pt x="20" y="1437"/>
                  </a:lnTo>
                  <a:lnTo>
                    <a:pt x="26" y="1435"/>
                  </a:lnTo>
                  <a:lnTo>
                    <a:pt x="33" y="1435"/>
                  </a:lnTo>
                  <a:lnTo>
                    <a:pt x="33" y="1435"/>
                  </a:lnTo>
                  <a:lnTo>
                    <a:pt x="39" y="1435"/>
                  </a:lnTo>
                  <a:lnTo>
                    <a:pt x="45" y="1436"/>
                  </a:lnTo>
                  <a:lnTo>
                    <a:pt x="49" y="1438"/>
                  </a:lnTo>
                  <a:lnTo>
                    <a:pt x="54" y="1442"/>
                  </a:lnTo>
                  <a:lnTo>
                    <a:pt x="57" y="1445"/>
                  </a:lnTo>
                  <a:lnTo>
                    <a:pt x="61" y="1450"/>
                  </a:lnTo>
                  <a:lnTo>
                    <a:pt x="63" y="1454"/>
                  </a:lnTo>
                  <a:lnTo>
                    <a:pt x="65" y="1460"/>
                  </a:lnTo>
                  <a:lnTo>
                    <a:pt x="253" y="1460"/>
                  </a:lnTo>
                  <a:lnTo>
                    <a:pt x="253" y="1460"/>
                  </a:lnTo>
                  <a:lnTo>
                    <a:pt x="275" y="1377"/>
                  </a:lnTo>
                  <a:lnTo>
                    <a:pt x="298" y="1296"/>
                  </a:lnTo>
                  <a:lnTo>
                    <a:pt x="321" y="1218"/>
                  </a:lnTo>
                  <a:lnTo>
                    <a:pt x="346" y="1144"/>
                  </a:lnTo>
                  <a:lnTo>
                    <a:pt x="359" y="1109"/>
                  </a:lnTo>
                  <a:lnTo>
                    <a:pt x="373" y="1075"/>
                  </a:lnTo>
                  <a:lnTo>
                    <a:pt x="385" y="1044"/>
                  </a:lnTo>
                  <a:lnTo>
                    <a:pt x="399" y="1014"/>
                  </a:lnTo>
                  <a:lnTo>
                    <a:pt x="413" y="986"/>
                  </a:lnTo>
                  <a:lnTo>
                    <a:pt x="427" y="962"/>
                  </a:lnTo>
                  <a:lnTo>
                    <a:pt x="441" y="939"/>
                  </a:lnTo>
                  <a:lnTo>
                    <a:pt x="455" y="920"/>
                  </a:lnTo>
                  <a:lnTo>
                    <a:pt x="455" y="920"/>
                  </a:lnTo>
                  <a:lnTo>
                    <a:pt x="436" y="904"/>
                  </a:lnTo>
                  <a:lnTo>
                    <a:pt x="418" y="886"/>
                  </a:lnTo>
                  <a:lnTo>
                    <a:pt x="403" y="868"/>
                  </a:lnTo>
                  <a:lnTo>
                    <a:pt x="389" y="847"/>
                  </a:lnTo>
                  <a:lnTo>
                    <a:pt x="376" y="825"/>
                  </a:lnTo>
                  <a:lnTo>
                    <a:pt x="367" y="802"/>
                  </a:lnTo>
                  <a:lnTo>
                    <a:pt x="360" y="778"/>
                  </a:lnTo>
                  <a:lnTo>
                    <a:pt x="356" y="753"/>
                  </a:lnTo>
                  <a:lnTo>
                    <a:pt x="356" y="753"/>
                  </a:lnTo>
                  <a:lnTo>
                    <a:pt x="354" y="741"/>
                  </a:lnTo>
                  <a:lnTo>
                    <a:pt x="354" y="741"/>
                  </a:lnTo>
                  <a:lnTo>
                    <a:pt x="354" y="723"/>
                  </a:lnTo>
                  <a:lnTo>
                    <a:pt x="354" y="723"/>
                  </a:lnTo>
                  <a:lnTo>
                    <a:pt x="356" y="700"/>
                  </a:lnTo>
                  <a:lnTo>
                    <a:pt x="358" y="677"/>
                  </a:lnTo>
                  <a:lnTo>
                    <a:pt x="364" y="655"/>
                  </a:lnTo>
                  <a:lnTo>
                    <a:pt x="370" y="634"/>
                  </a:lnTo>
                  <a:lnTo>
                    <a:pt x="380" y="613"/>
                  </a:lnTo>
                  <a:lnTo>
                    <a:pt x="390" y="595"/>
                  </a:lnTo>
                  <a:lnTo>
                    <a:pt x="403" y="576"/>
                  </a:lnTo>
                  <a:lnTo>
                    <a:pt x="415" y="560"/>
                  </a:lnTo>
                  <a:lnTo>
                    <a:pt x="432" y="544"/>
                  </a:lnTo>
                  <a:lnTo>
                    <a:pt x="448" y="530"/>
                  </a:lnTo>
                  <a:lnTo>
                    <a:pt x="465" y="518"/>
                  </a:lnTo>
                  <a:lnTo>
                    <a:pt x="484" y="507"/>
                  </a:lnTo>
                  <a:lnTo>
                    <a:pt x="504" y="498"/>
                  </a:lnTo>
                  <a:lnTo>
                    <a:pt x="525" y="490"/>
                  </a:lnTo>
                  <a:lnTo>
                    <a:pt x="547" y="484"/>
                  </a:lnTo>
                  <a:lnTo>
                    <a:pt x="569" y="481"/>
                  </a:lnTo>
                  <a:lnTo>
                    <a:pt x="569" y="393"/>
                  </a:lnTo>
                  <a:lnTo>
                    <a:pt x="558" y="393"/>
                  </a:lnTo>
                  <a:lnTo>
                    <a:pt x="558" y="393"/>
                  </a:lnTo>
                  <a:lnTo>
                    <a:pt x="555" y="393"/>
                  </a:lnTo>
                  <a:lnTo>
                    <a:pt x="551" y="392"/>
                  </a:lnTo>
                  <a:lnTo>
                    <a:pt x="548" y="391"/>
                  </a:lnTo>
                  <a:lnTo>
                    <a:pt x="546" y="388"/>
                  </a:lnTo>
                  <a:lnTo>
                    <a:pt x="543" y="385"/>
                  </a:lnTo>
                  <a:lnTo>
                    <a:pt x="541" y="382"/>
                  </a:lnTo>
                  <a:lnTo>
                    <a:pt x="540" y="378"/>
                  </a:lnTo>
                  <a:lnTo>
                    <a:pt x="540" y="375"/>
                  </a:lnTo>
                  <a:lnTo>
                    <a:pt x="540" y="19"/>
                  </a:lnTo>
                  <a:lnTo>
                    <a:pt x="540" y="19"/>
                  </a:lnTo>
                  <a:lnTo>
                    <a:pt x="540" y="15"/>
                  </a:lnTo>
                  <a:lnTo>
                    <a:pt x="541" y="12"/>
                  </a:lnTo>
                  <a:lnTo>
                    <a:pt x="546" y="6"/>
                  </a:lnTo>
                  <a:lnTo>
                    <a:pt x="548" y="4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8" y="0"/>
                  </a:lnTo>
                  <a:lnTo>
                    <a:pt x="633" y="0"/>
                  </a:lnTo>
                  <a:lnTo>
                    <a:pt x="633" y="0"/>
                  </a:lnTo>
                  <a:lnTo>
                    <a:pt x="636" y="1"/>
                  </a:lnTo>
                  <a:lnTo>
                    <a:pt x="640" y="2"/>
                  </a:lnTo>
                  <a:lnTo>
                    <a:pt x="643" y="4"/>
                  </a:lnTo>
                  <a:lnTo>
                    <a:pt x="646" y="6"/>
                  </a:lnTo>
                  <a:lnTo>
                    <a:pt x="2800" y="2162"/>
                  </a:lnTo>
                  <a:lnTo>
                    <a:pt x="2800" y="2162"/>
                  </a:lnTo>
                  <a:lnTo>
                    <a:pt x="2825" y="2136"/>
                  </a:lnTo>
                  <a:lnTo>
                    <a:pt x="2849" y="2111"/>
                  </a:lnTo>
                  <a:lnTo>
                    <a:pt x="2873" y="2086"/>
                  </a:lnTo>
                  <a:lnTo>
                    <a:pt x="2898" y="2063"/>
                  </a:lnTo>
                  <a:lnTo>
                    <a:pt x="3073" y="1920"/>
                  </a:lnTo>
                  <a:lnTo>
                    <a:pt x="3073" y="1920"/>
                  </a:lnTo>
                  <a:lnTo>
                    <a:pt x="3124" y="1885"/>
                  </a:lnTo>
                  <a:lnTo>
                    <a:pt x="3176" y="1853"/>
                  </a:lnTo>
                  <a:lnTo>
                    <a:pt x="3229" y="1823"/>
                  </a:lnTo>
                  <a:lnTo>
                    <a:pt x="3283" y="1794"/>
                  </a:lnTo>
                  <a:lnTo>
                    <a:pt x="3338" y="1768"/>
                  </a:lnTo>
                  <a:lnTo>
                    <a:pt x="3396" y="1743"/>
                  </a:lnTo>
                  <a:lnTo>
                    <a:pt x="3453" y="1720"/>
                  </a:lnTo>
                  <a:lnTo>
                    <a:pt x="3512" y="1701"/>
                  </a:lnTo>
                  <a:lnTo>
                    <a:pt x="3572" y="1682"/>
                  </a:lnTo>
                  <a:lnTo>
                    <a:pt x="3632" y="1667"/>
                  </a:lnTo>
                  <a:lnTo>
                    <a:pt x="3694" y="1654"/>
                  </a:lnTo>
                  <a:lnTo>
                    <a:pt x="3756" y="1642"/>
                  </a:lnTo>
                  <a:lnTo>
                    <a:pt x="3820" y="1634"/>
                  </a:lnTo>
                  <a:lnTo>
                    <a:pt x="3884" y="1627"/>
                  </a:lnTo>
                  <a:lnTo>
                    <a:pt x="3948" y="1624"/>
                  </a:lnTo>
                  <a:lnTo>
                    <a:pt x="4014" y="1622"/>
                  </a:lnTo>
                  <a:lnTo>
                    <a:pt x="4014" y="1622"/>
                  </a:lnTo>
                  <a:lnTo>
                    <a:pt x="4054" y="1622"/>
                  </a:lnTo>
                  <a:lnTo>
                    <a:pt x="4095" y="1625"/>
                  </a:lnTo>
                  <a:lnTo>
                    <a:pt x="4135" y="1627"/>
                  </a:lnTo>
                  <a:lnTo>
                    <a:pt x="4175" y="1631"/>
                  </a:lnTo>
                  <a:lnTo>
                    <a:pt x="4215" y="1634"/>
                  </a:lnTo>
                  <a:lnTo>
                    <a:pt x="4254" y="1640"/>
                  </a:lnTo>
                  <a:lnTo>
                    <a:pt x="4293" y="1646"/>
                  </a:lnTo>
                  <a:lnTo>
                    <a:pt x="4331" y="1652"/>
                  </a:lnTo>
                  <a:lnTo>
                    <a:pt x="4370" y="1661"/>
                  </a:lnTo>
                  <a:lnTo>
                    <a:pt x="4408" y="1670"/>
                  </a:lnTo>
                  <a:lnTo>
                    <a:pt x="4445" y="1680"/>
                  </a:lnTo>
                  <a:lnTo>
                    <a:pt x="4483" y="1690"/>
                  </a:lnTo>
                  <a:lnTo>
                    <a:pt x="4520" y="1702"/>
                  </a:lnTo>
                  <a:lnTo>
                    <a:pt x="4555" y="1714"/>
                  </a:lnTo>
                  <a:lnTo>
                    <a:pt x="4592" y="1727"/>
                  </a:lnTo>
                  <a:lnTo>
                    <a:pt x="4628" y="1741"/>
                  </a:lnTo>
                  <a:lnTo>
                    <a:pt x="4662" y="1756"/>
                  </a:lnTo>
                  <a:lnTo>
                    <a:pt x="4698" y="1771"/>
                  </a:lnTo>
                  <a:lnTo>
                    <a:pt x="4733" y="1788"/>
                  </a:lnTo>
                  <a:lnTo>
                    <a:pt x="4766" y="1805"/>
                  </a:lnTo>
                  <a:lnTo>
                    <a:pt x="4800" y="1823"/>
                  </a:lnTo>
                  <a:lnTo>
                    <a:pt x="4833" y="1841"/>
                  </a:lnTo>
                  <a:lnTo>
                    <a:pt x="4865" y="1861"/>
                  </a:lnTo>
                  <a:lnTo>
                    <a:pt x="4897" y="1881"/>
                  </a:lnTo>
                  <a:lnTo>
                    <a:pt x="4929" y="1901"/>
                  </a:lnTo>
                  <a:lnTo>
                    <a:pt x="4960" y="1923"/>
                  </a:lnTo>
                  <a:lnTo>
                    <a:pt x="4991" y="1945"/>
                  </a:lnTo>
                  <a:lnTo>
                    <a:pt x="5021" y="1968"/>
                  </a:lnTo>
                  <a:lnTo>
                    <a:pt x="5051" y="1992"/>
                  </a:lnTo>
                  <a:lnTo>
                    <a:pt x="5079" y="2017"/>
                  </a:lnTo>
                  <a:lnTo>
                    <a:pt x="5107" y="2041"/>
                  </a:lnTo>
                  <a:lnTo>
                    <a:pt x="5135" y="2067"/>
                  </a:lnTo>
                  <a:lnTo>
                    <a:pt x="5206" y="2138"/>
                  </a:lnTo>
                  <a:lnTo>
                    <a:pt x="7132" y="4064"/>
                  </a:lnTo>
                  <a:close/>
                </a:path>
              </a:pathLst>
            </a:custGeom>
            <a:solidFill>
              <a:srgbClr val="00B7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F30096-E2FA-4C53-8FFA-C198FACBBC31}" type="datetimeFigureOut">
              <a:rPr lang="en-US" smtClean="0"/>
              <a:pPr/>
              <a:t>10/21/20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6EB2CE-F8EE-47A0-A8D1-750600A2965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EE21A8-F229-4F4F-AC59-1138E5CD6D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6" y="457"/>
            <a:ext cx="9144000" cy="5142586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F363609C-D3C4-4C2C-9BCC-346154FE4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83518"/>
            <a:ext cx="8229600" cy="85725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Mathematics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0C0523A-E3E6-449E-8856-00904D0D82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7544" y="1121098"/>
            <a:ext cx="8208912" cy="452437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19883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©Templateswise.com - Mathematics P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12"/>
          <p:cNvSpPr>
            <a:spLocks/>
          </p:cNvSpPr>
          <p:nvPr userDrawn="1"/>
        </p:nvSpPr>
        <p:spPr bwMode="auto">
          <a:xfrm rot="5400000">
            <a:off x="-1642851" y="1642852"/>
            <a:ext cx="5143500" cy="1857796"/>
          </a:xfrm>
          <a:custGeom>
            <a:avLst/>
            <a:gdLst>
              <a:gd name="T0" fmla="*/ 11520 w 11520"/>
              <a:gd name="T1" fmla="*/ 0 h 933"/>
              <a:gd name="T2" fmla="*/ 0 w 11520"/>
              <a:gd name="T3" fmla="*/ 507 h 933"/>
              <a:gd name="T4" fmla="*/ 0 w 11520"/>
              <a:gd name="T5" fmla="*/ 933 h 933"/>
              <a:gd name="T6" fmla="*/ 11520 w 11520"/>
              <a:gd name="T7" fmla="*/ 933 h 933"/>
              <a:gd name="T8" fmla="*/ 11520 w 11520"/>
              <a:gd name="T9" fmla="*/ 0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0" h="933">
                <a:moveTo>
                  <a:pt x="11520" y="0"/>
                </a:moveTo>
                <a:lnTo>
                  <a:pt x="0" y="507"/>
                </a:lnTo>
                <a:lnTo>
                  <a:pt x="0" y="933"/>
                </a:lnTo>
                <a:lnTo>
                  <a:pt x="11520" y="933"/>
                </a:lnTo>
                <a:lnTo>
                  <a:pt x="115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7798" y="915566"/>
            <a:ext cx="6829002" cy="857250"/>
          </a:xfrm>
        </p:spPr>
        <p:txBody>
          <a:bodyPr/>
          <a:lstStyle>
            <a:lvl1pPr algn="l">
              <a:defRPr baseline="0"/>
            </a:lvl1pPr>
          </a:lstStyle>
          <a:p>
            <a:r>
              <a:rPr lang="en-US" dirty="0"/>
              <a:t>Insert your title here</a:t>
            </a:r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FF30096-E2FA-4C53-8FFA-C198FACBBC31}" type="datetimeFigureOut">
              <a:rPr lang="en-US" smtClean="0"/>
              <a:pPr/>
              <a:t>10/21/20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E6EB2CE-F8EE-47A0-A8D1-750600A296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3" name="Rectangle 11"/>
          <p:cNvSpPr>
            <a:spLocks noChangeArrowheads="1"/>
          </p:cNvSpPr>
          <p:nvPr userDrawn="1"/>
        </p:nvSpPr>
        <p:spPr bwMode="auto">
          <a:xfrm>
            <a:off x="3175" y="4805363"/>
            <a:ext cx="4763" cy="338138"/>
          </a:xfrm>
          <a:prstGeom prst="rect">
            <a:avLst/>
          </a:prstGeom>
          <a:solidFill>
            <a:srgbClr val="E7E9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857798" y="2057202"/>
            <a:ext cx="6818658" cy="2448272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Ut enim ad minim veniam, quis nostrud exercitation ullamco laboris nisi ut aliquip ex ea commodo consequat.</a:t>
            </a:r>
          </a:p>
          <a:p>
            <a:endParaRPr lang="en-US" dirty="0"/>
          </a:p>
          <a:p>
            <a:r>
              <a:rPr lang="en-US" dirty="0"/>
              <a:t>Lorem ipsum dolor sit amet, consectetur adipisicing elit, sed do eiusmod tempor incididunt ut labore et dolore magna aliqua.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6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©Templateswise.com - Mathematics P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Freeform 12"/>
          <p:cNvSpPr>
            <a:spLocks/>
          </p:cNvSpPr>
          <p:nvPr userDrawn="1"/>
        </p:nvSpPr>
        <p:spPr bwMode="auto">
          <a:xfrm>
            <a:off x="0" y="4402138"/>
            <a:ext cx="9144000" cy="741363"/>
          </a:xfrm>
          <a:custGeom>
            <a:avLst/>
            <a:gdLst>
              <a:gd name="T0" fmla="*/ 11520 w 11520"/>
              <a:gd name="T1" fmla="*/ 0 h 933"/>
              <a:gd name="T2" fmla="*/ 0 w 11520"/>
              <a:gd name="T3" fmla="*/ 507 h 933"/>
              <a:gd name="T4" fmla="*/ 0 w 11520"/>
              <a:gd name="T5" fmla="*/ 933 h 933"/>
              <a:gd name="T6" fmla="*/ 11520 w 11520"/>
              <a:gd name="T7" fmla="*/ 933 h 933"/>
              <a:gd name="T8" fmla="*/ 11520 w 11520"/>
              <a:gd name="T9" fmla="*/ 0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0" h="933">
                <a:moveTo>
                  <a:pt x="11520" y="0"/>
                </a:moveTo>
                <a:lnTo>
                  <a:pt x="0" y="507"/>
                </a:lnTo>
                <a:lnTo>
                  <a:pt x="0" y="933"/>
                </a:lnTo>
                <a:lnTo>
                  <a:pt x="11520" y="933"/>
                </a:lnTo>
                <a:lnTo>
                  <a:pt x="115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F30096-E2FA-4C53-8FFA-C198FACBBC31}" type="datetimeFigureOut">
              <a:rPr lang="en-US" smtClean="0"/>
              <a:pPr/>
              <a:t>10/21/20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6EB2CE-F8EE-47A0-A8D1-750600A296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3" name="Rectangle 11"/>
          <p:cNvSpPr>
            <a:spLocks noChangeArrowheads="1"/>
          </p:cNvSpPr>
          <p:nvPr userDrawn="1"/>
        </p:nvSpPr>
        <p:spPr bwMode="auto">
          <a:xfrm>
            <a:off x="3175" y="4805363"/>
            <a:ext cx="4763" cy="338138"/>
          </a:xfrm>
          <a:prstGeom prst="rect">
            <a:avLst/>
          </a:prstGeom>
          <a:solidFill>
            <a:srgbClr val="E7E9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your title here</a:t>
            </a:r>
            <a:endParaRPr lang="en-US" noProof="0" dirty="0"/>
          </a:p>
        </p:txBody>
      </p:sp>
      <p:sp>
        <p:nvSpPr>
          <p:cNvPr id="238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467544" y="1419622"/>
            <a:ext cx="8208912" cy="2982516"/>
          </a:xfr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Ut enim ad minim veniam, quis nostrud exercitation ullamco laboris nisi ut aliquip ex ea commodo consequat.</a:t>
            </a:r>
          </a:p>
          <a:p>
            <a:r>
              <a:rPr lang="en-US" dirty="0"/>
              <a:t>Ut enim ad minim veniam, quis nostrud exercitation ullamco laboris nisi ut aliquip ex ea commodo consequat.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5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98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55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12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74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34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99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11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302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068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4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0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FFF30096-E2FA-4C53-8FFA-C198FACBBC31}" type="datetimeFigureOut">
              <a:rPr lang="en-US" smtClean="0"/>
              <a:pPr/>
              <a:t>10/21/20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6EB2CE-F8EE-47A0-A8D1-750600A296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1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2" r:id="rId2"/>
    <p:sldLayoutId id="214748367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50EA7-372D-4515-873B-129F4F0350AC}" type="datetimeFigureOut">
              <a:rPr lang="en-US" smtClean="0"/>
              <a:t>10/21/20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32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5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3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7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1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6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5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9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9ECC-5D3B-4792-841A-F7CA20B3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55526"/>
            <a:ext cx="8517632" cy="1584176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Algebra</a:t>
            </a:r>
            <a:r>
              <a:rPr lang="en-US" sz="6600" i="1" dirty="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: Inequalities</a:t>
            </a:r>
          </a:p>
        </p:txBody>
      </p:sp>
    </p:spTree>
    <p:extLst>
      <p:ext uri="{BB962C8B-B14F-4D97-AF65-F5344CB8AC3E}">
        <p14:creationId xmlns:p14="http://schemas.microsoft.com/office/powerpoint/2010/main" val="345032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798" y="209401"/>
            <a:ext cx="6829002" cy="857250"/>
          </a:xfrm>
        </p:spPr>
        <p:txBody>
          <a:bodyPr/>
          <a:lstStyle/>
          <a:p>
            <a:r>
              <a:rPr lang="en-US" u="sng" dirty="0"/>
              <a:t>What is an inequality?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9561031-B75B-3445-9D78-FFBE1AEC6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711" y="963762"/>
            <a:ext cx="7877175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600" dirty="0"/>
              <a:t>An </a:t>
            </a:r>
            <a:r>
              <a:rPr lang="en-US" altLang="en-US" sz="3600" i="1" dirty="0">
                <a:solidFill>
                  <a:schemeClr val="accent1"/>
                </a:solidFill>
              </a:rPr>
              <a:t>inequality</a:t>
            </a:r>
            <a:r>
              <a:rPr lang="en-US" altLang="en-US" sz="3600" dirty="0"/>
              <a:t> is like an equation, but instead of an equals sign (=) it has one of these signs:</a:t>
            </a:r>
          </a:p>
          <a:p>
            <a:pPr lvl="1" eaLnBrk="1" hangingPunct="1"/>
            <a:r>
              <a:rPr lang="en-US" altLang="en-US" sz="3600" b="1" dirty="0">
                <a:solidFill>
                  <a:schemeClr val="accent1"/>
                </a:solidFill>
              </a:rPr>
              <a:t>&lt;</a:t>
            </a:r>
            <a:r>
              <a:rPr lang="en-US" altLang="en-US" sz="3600" dirty="0"/>
              <a:t>   :  less than</a:t>
            </a:r>
          </a:p>
          <a:p>
            <a:pPr lvl="1" eaLnBrk="1" hangingPunct="1"/>
            <a:r>
              <a:rPr lang="en-US" altLang="en-US" sz="3600" b="1" dirty="0">
                <a:solidFill>
                  <a:schemeClr val="accent1"/>
                </a:solidFill>
              </a:rPr>
              <a:t>≤</a:t>
            </a:r>
            <a:r>
              <a:rPr lang="en-US" altLang="en-US" sz="3600" dirty="0"/>
              <a:t>  :  less than or equal to</a:t>
            </a:r>
          </a:p>
          <a:p>
            <a:pPr lvl="1" eaLnBrk="1" hangingPunct="1"/>
            <a:r>
              <a:rPr lang="en-US" altLang="en-US" sz="3600" b="1" dirty="0">
                <a:solidFill>
                  <a:schemeClr val="accent1"/>
                </a:solidFill>
              </a:rPr>
              <a:t>&gt;</a:t>
            </a:r>
            <a:r>
              <a:rPr lang="en-US" altLang="en-US" sz="3600" dirty="0"/>
              <a:t>  :  greater than</a:t>
            </a:r>
          </a:p>
          <a:p>
            <a:pPr lvl="1" eaLnBrk="1" hangingPunct="1"/>
            <a:r>
              <a:rPr lang="en-US" altLang="en-US" sz="3600" b="1" dirty="0">
                <a:solidFill>
                  <a:schemeClr val="accent1"/>
                </a:solidFill>
              </a:rPr>
              <a:t>≥</a:t>
            </a:r>
            <a:r>
              <a:rPr lang="en-US" altLang="en-US" sz="3600" dirty="0"/>
              <a:t>  :  greater than or equal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0844E-6480-4D47-B86B-837F4EFCFAE8}"/>
              </a:ext>
            </a:extLst>
          </p:cNvPr>
          <p:cNvSpPr txBox="1"/>
          <p:nvPr/>
        </p:nvSpPr>
        <p:spPr>
          <a:xfrm>
            <a:off x="8412480" y="50474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32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820F03CF-8ABD-D84E-AEF6-93D9E8A45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40538"/>
            <a:ext cx="4912196" cy="2331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D037C9-B029-7F47-9612-BD5159491E1B}"/>
              </a:ext>
            </a:extLst>
          </p:cNvPr>
          <p:cNvSpPr txBox="1"/>
          <p:nvPr/>
        </p:nvSpPr>
        <p:spPr>
          <a:xfrm>
            <a:off x="1907704" y="3075806"/>
            <a:ext cx="1368152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13 &gt;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1A8863-B6F6-E64A-AC05-990ECCBBE992}"/>
              </a:ext>
            </a:extLst>
          </p:cNvPr>
          <p:cNvSpPr txBox="1"/>
          <p:nvPr/>
        </p:nvSpPr>
        <p:spPr>
          <a:xfrm>
            <a:off x="4003762" y="3075805"/>
            <a:ext cx="1368152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9 &lt; 21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62E8A-A3AA-B446-94D8-B7B39301C210}"/>
              </a:ext>
            </a:extLst>
          </p:cNvPr>
          <p:cNvSpPr txBox="1"/>
          <p:nvPr/>
        </p:nvSpPr>
        <p:spPr>
          <a:xfrm>
            <a:off x="6073814" y="3075805"/>
            <a:ext cx="1368152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4 &gt;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9914B-6800-F346-969B-388C05A259DB}"/>
              </a:ext>
            </a:extLst>
          </p:cNvPr>
          <p:cNvSpPr txBox="1"/>
          <p:nvPr/>
        </p:nvSpPr>
        <p:spPr>
          <a:xfrm>
            <a:off x="2964507" y="3903025"/>
            <a:ext cx="1368152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-2 &lt;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8AB98-A2F4-0C4D-8CCC-61F74DEB6710}"/>
              </a:ext>
            </a:extLst>
          </p:cNvPr>
          <p:cNvSpPr txBox="1"/>
          <p:nvPr/>
        </p:nvSpPr>
        <p:spPr>
          <a:xfrm>
            <a:off x="5076056" y="3903024"/>
            <a:ext cx="1512168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10 &gt; -6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4AA5D3-5EF6-8B42-945C-FCA956592919}"/>
              </a:ext>
            </a:extLst>
          </p:cNvPr>
          <p:cNvSpPr/>
          <p:nvPr/>
        </p:nvSpPr>
        <p:spPr>
          <a:xfrm>
            <a:off x="2537774" y="3142328"/>
            <a:ext cx="378042" cy="50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57B28A-2276-7046-B5FE-C9A975CC5AFF}"/>
              </a:ext>
            </a:extLst>
          </p:cNvPr>
          <p:cNvSpPr/>
          <p:nvPr/>
        </p:nvSpPr>
        <p:spPr>
          <a:xfrm>
            <a:off x="4409121" y="3146941"/>
            <a:ext cx="338352" cy="50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8F8981-365D-4947-B140-2FEBFDA2CF6E}"/>
              </a:ext>
            </a:extLst>
          </p:cNvPr>
          <p:cNvSpPr/>
          <p:nvPr/>
        </p:nvSpPr>
        <p:spPr>
          <a:xfrm>
            <a:off x="3563888" y="3974160"/>
            <a:ext cx="282717" cy="50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5A7C21-F228-554D-99A1-492F1DAC6904}"/>
              </a:ext>
            </a:extLst>
          </p:cNvPr>
          <p:cNvSpPr/>
          <p:nvPr/>
        </p:nvSpPr>
        <p:spPr>
          <a:xfrm>
            <a:off x="6507078" y="3146941"/>
            <a:ext cx="297169" cy="50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818AB1-5F1E-DB4B-950E-9689E67AE0B3}"/>
              </a:ext>
            </a:extLst>
          </p:cNvPr>
          <p:cNvSpPr/>
          <p:nvPr/>
        </p:nvSpPr>
        <p:spPr>
          <a:xfrm>
            <a:off x="5733128" y="3974160"/>
            <a:ext cx="340685" cy="50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96FC-18BB-EF40-8369-45B9D437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-164554"/>
            <a:ext cx="8147248" cy="1584176"/>
          </a:xfrm>
        </p:spPr>
        <p:txBody>
          <a:bodyPr/>
          <a:lstStyle/>
          <a:p>
            <a:r>
              <a:rPr lang="en-US" u="sng" dirty="0"/>
              <a:t>Real World Examples of Inequalities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51FB0510-B9C3-8541-8B30-5BCFFEE186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524" y="1169035"/>
            <a:ext cx="1572069" cy="1584176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A9B5EB9C-4454-FB43-A68D-F4481A865C9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874958"/>
            <a:ext cx="1313748" cy="1697841"/>
          </a:xfrm>
          <a:prstGeom prst="rect">
            <a:avLst/>
          </a:prstGeom>
        </p:spPr>
      </p:pic>
      <p:pic>
        <p:nvPicPr>
          <p:cNvPr id="6" name="Picture 5" descr="A sign on a pole&#10;&#10;Description automatically generated">
            <a:extLst>
              <a:ext uri="{FF2B5EF4-FFF2-40B4-BE49-F238E27FC236}">
                <a16:creationId xmlns:a16="http://schemas.microsoft.com/office/drawing/2014/main" id="{E6796113-89B6-D642-B6CF-4F6C5298EBE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87774"/>
            <a:ext cx="2083767" cy="1516380"/>
          </a:xfrm>
          <a:prstGeom prst="rect">
            <a:avLst/>
          </a:prstGeom>
        </p:spPr>
      </p:pic>
      <p:pic>
        <p:nvPicPr>
          <p:cNvPr id="7" name="Picture 6" descr="Diagram, venn diagram&#10;&#10;Description automatically generated">
            <a:extLst>
              <a:ext uri="{FF2B5EF4-FFF2-40B4-BE49-F238E27FC236}">
                <a16:creationId xmlns:a16="http://schemas.microsoft.com/office/drawing/2014/main" id="{3702FE63-FF67-C643-A200-9E563D942B2E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413" y="1118191"/>
            <a:ext cx="1572070" cy="16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2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A28343D-DC30-A74B-8A64-13249C5CCCA3}"/>
                  </a:ext>
                </a:extLst>
              </p:cNvPr>
              <p:cNvSpPr/>
              <p:nvPr/>
            </p:nvSpPr>
            <p:spPr>
              <a:xfrm>
                <a:off x="1434206" y="1053074"/>
                <a:ext cx="2256923" cy="923330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E" sz="5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5400" i="1" dirty="0"/>
                  <a:t> </a:t>
                </a:r>
                <a:r>
                  <a:rPr lang="en-IE" sz="5400" dirty="0"/>
                  <a:t>∈</a:t>
                </a:r>
                <a:r>
                  <a:rPr lang="en-IE" sz="5400" i="1" dirty="0"/>
                  <a:t> N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A28343D-DC30-A74B-8A64-13249C5CC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206" y="1053074"/>
                <a:ext cx="2256923" cy="923330"/>
              </a:xfrm>
              <a:prstGeom prst="rect">
                <a:avLst/>
              </a:prstGeom>
              <a:blipFill>
                <a:blip r:embed="rId2"/>
                <a:stretch>
                  <a:fillRect t="-16216" r="-2793" b="-3783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04FFCC-CCF7-1748-A6DD-AC51F6FEBDEC}"/>
                  </a:ext>
                </a:extLst>
              </p:cNvPr>
              <p:cNvSpPr/>
              <p:nvPr/>
            </p:nvSpPr>
            <p:spPr>
              <a:xfrm>
                <a:off x="3812002" y="1047277"/>
                <a:ext cx="2256923" cy="923330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E" sz="5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5400" i="1" dirty="0"/>
                  <a:t> </a:t>
                </a:r>
                <a:r>
                  <a:rPr lang="en-IE" sz="5400" dirty="0"/>
                  <a:t>∈</a:t>
                </a:r>
                <a:r>
                  <a:rPr lang="en-IE" sz="5400" i="1" dirty="0"/>
                  <a:t> Z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04FFCC-CCF7-1748-A6DD-AC51F6FEB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002" y="1047277"/>
                <a:ext cx="2256923" cy="923330"/>
              </a:xfrm>
              <a:prstGeom prst="rect">
                <a:avLst/>
              </a:prstGeom>
              <a:blipFill>
                <a:blip r:embed="rId3"/>
                <a:stretch>
                  <a:fillRect t="-17568" b="-36486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172176-B02A-8B47-8AC5-B9F673329127}"/>
                  </a:ext>
                </a:extLst>
              </p:cNvPr>
              <p:cNvSpPr/>
              <p:nvPr/>
            </p:nvSpPr>
            <p:spPr>
              <a:xfrm>
                <a:off x="6228184" y="1047277"/>
                <a:ext cx="2304256" cy="923330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E" sz="5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5400" i="1" dirty="0"/>
                  <a:t> </a:t>
                </a:r>
                <a:r>
                  <a:rPr lang="en-IE" sz="5400" dirty="0"/>
                  <a:t>∈</a:t>
                </a:r>
                <a:r>
                  <a:rPr lang="en-IE" sz="5400" i="1" dirty="0"/>
                  <a:t> R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172176-B02A-8B47-8AC5-B9F673329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1047277"/>
                <a:ext cx="2304256" cy="923330"/>
              </a:xfrm>
              <a:prstGeom prst="rect">
                <a:avLst/>
              </a:prstGeom>
              <a:blipFill>
                <a:blip r:embed="rId4"/>
                <a:stretch>
                  <a:fillRect t="-17568" b="-36486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0281CFC-769C-C749-AABD-FC16F83E3115}"/>
              </a:ext>
            </a:extLst>
          </p:cNvPr>
          <p:cNvSpPr txBox="1"/>
          <p:nvPr/>
        </p:nvSpPr>
        <p:spPr>
          <a:xfrm>
            <a:off x="2123728" y="2555824"/>
            <a:ext cx="86685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5400" dirty="0"/>
              <a:t>∈ = ‘an element of’</a:t>
            </a:r>
          </a:p>
          <a:p>
            <a:r>
              <a:rPr lang="en-IE" sz="5400" dirty="0"/>
              <a:t>    = part of that group</a:t>
            </a:r>
          </a:p>
          <a:p>
            <a:endParaRPr lang="en-US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77449D-943D-DF47-951E-417C1CF4D19F}"/>
              </a:ext>
            </a:extLst>
          </p:cNvPr>
          <p:cNvSpPr txBox="1"/>
          <p:nvPr/>
        </p:nvSpPr>
        <p:spPr>
          <a:xfrm>
            <a:off x="2730843" y="4942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487BA1-AB93-4941-8684-9D13B38C2E95}"/>
              </a:ext>
            </a:extLst>
          </p:cNvPr>
          <p:cNvSpPr txBox="1"/>
          <p:nvPr/>
        </p:nvSpPr>
        <p:spPr>
          <a:xfrm>
            <a:off x="2628796" y="178589"/>
            <a:ext cx="5687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Solution of an Inequality </a:t>
            </a:r>
          </a:p>
        </p:txBody>
      </p:sp>
    </p:spTree>
    <p:extLst>
      <p:ext uri="{BB962C8B-B14F-4D97-AF65-F5344CB8AC3E}">
        <p14:creationId xmlns:p14="http://schemas.microsoft.com/office/powerpoint/2010/main" val="6306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932043-57D0-214B-8146-55B8E51B27BA}"/>
              </a:ext>
            </a:extLst>
          </p:cNvPr>
          <p:cNvSpPr/>
          <p:nvPr/>
        </p:nvSpPr>
        <p:spPr>
          <a:xfrm>
            <a:off x="1989783" y="291684"/>
            <a:ext cx="22897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b="1" dirty="0">
                <a:solidFill>
                  <a:srgbClr val="0070C0"/>
                </a:solidFill>
              </a:rPr>
              <a:t>Natural Numbers (</a:t>
            </a:r>
            <a:r>
              <a:rPr lang="en-IE" sz="1600" b="1" i="1" dirty="0">
                <a:solidFill>
                  <a:srgbClr val="0070C0"/>
                </a:solidFill>
              </a:rPr>
              <a:t>N</a:t>
            </a:r>
            <a:r>
              <a:rPr lang="en-IE" sz="1600" b="1" dirty="0">
                <a:solidFill>
                  <a:srgbClr val="0070C0"/>
                </a:solidFill>
              </a:rPr>
              <a:t>):</a:t>
            </a:r>
            <a:endParaRPr lang="en-IE" sz="1600" dirty="0">
              <a:solidFill>
                <a:srgbClr val="0070C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02DA0-6BB6-DA49-8B8E-CB08E7718037}"/>
              </a:ext>
            </a:extLst>
          </p:cNvPr>
          <p:cNvSpPr/>
          <p:nvPr/>
        </p:nvSpPr>
        <p:spPr>
          <a:xfrm>
            <a:off x="4004823" y="300067"/>
            <a:ext cx="42959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dirty="0"/>
              <a:t>A natural number is any positive whole number.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6B0E2-B464-9849-8517-B35BFFA64E69}"/>
              </a:ext>
            </a:extLst>
          </p:cNvPr>
          <p:cNvSpPr/>
          <p:nvPr/>
        </p:nvSpPr>
        <p:spPr>
          <a:xfrm>
            <a:off x="4355489" y="572001"/>
            <a:ext cx="17931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i="1" dirty="0"/>
              <a:t>N</a:t>
            </a:r>
            <a:r>
              <a:rPr lang="en-IE" sz="1600" dirty="0"/>
              <a:t> = {1, 2, 3, 4, ...}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D11C3-29F8-AC41-80B0-1BBBD67B37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71"/>
          <a:stretch/>
        </p:blipFill>
        <p:spPr>
          <a:xfrm>
            <a:off x="3249624" y="1060662"/>
            <a:ext cx="3450300" cy="5036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443B57-A4BE-9A49-81C3-8757C30ED79C}"/>
              </a:ext>
            </a:extLst>
          </p:cNvPr>
          <p:cNvSpPr/>
          <p:nvPr/>
        </p:nvSpPr>
        <p:spPr>
          <a:xfrm>
            <a:off x="2480757" y="1916392"/>
            <a:ext cx="11982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600" b="1" dirty="0">
                <a:solidFill>
                  <a:srgbClr val="0070C0"/>
                </a:solidFill>
              </a:rPr>
              <a:t>Integers (Z):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5B6822-24E2-0E49-AD11-C679B084E26D}"/>
              </a:ext>
            </a:extLst>
          </p:cNvPr>
          <p:cNvSpPr/>
          <p:nvPr/>
        </p:nvSpPr>
        <p:spPr>
          <a:xfrm>
            <a:off x="3553551" y="1904751"/>
            <a:ext cx="54109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dirty="0"/>
              <a:t>An integer is any whole number: positive, negative or zero.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F1916C-973B-754C-8F0A-8957A22612D4}"/>
              </a:ext>
            </a:extLst>
          </p:cNvPr>
          <p:cNvSpPr/>
          <p:nvPr/>
        </p:nvSpPr>
        <p:spPr>
          <a:xfrm>
            <a:off x="3666671" y="2141656"/>
            <a:ext cx="32256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i="1" dirty="0"/>
              <a:t>Z</a:t>
            </a:r>
            <a:r>
              <a:rPr lang="en-IE" sz="1600" dirty="0"/>
              <a:t> = {... , –3, –2, –1, 0, 1, 2, 3, ...}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13678D-EBFD-3542-8B91-37C524653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125" y="2592182"/>
            <a:ext cx="6477618" cy="484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155E82-3DC9-3E4C-8606-B96B45373469}"/>
              </a:ext>
            </a:extLst>
          </p:cNvPr>
          <p:cNvSpPr/>
          <p:nvPr/>
        </p:nvSpPr>
        <p:spPr>
          <a:xfrm>
            <a:off x="1841153" y="3408280"/>
            <a:ext cx="21636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b="1" dirty="0">
                <a:solidFill>
                  <a:srgbClr val="0070C0"/>
                </a:solidFill>
              </a:rPr>
              <a:t>Real Numbers (</a:t>
            </a:r>
            <a:r>
              <a:rPr lang="en-IE" sz="1600" b="1" i="1" dirty="0">
                <a:solidFill>
                  <a:srgbClr val="0070C0"/>
                </a:solidFill>
              </a:rPr>
              <a:t>R</a:t>
            </a:r>
            <a:r>
              <a:rPr lang="en-IE" sz="1600" b="1" dirty="0">
                <a:solidFill>
                  <a:srgbClr val="0070C0"/>
                </a:solidFill>
              </a:rPr>
              <a:t>):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75B09-BF70-9541-9FE6-C81839F01BC5}"/>
              </a:ext>
            </a:extLst>
          </p:cNvPr>
          <p:cNvSpPr/>
          <p:nvPr/>
        </p:nvSpPr>
        <p:spPr>
          <a:xfrm>
            <a:off x="3450747" y="3415396"/>
            <a:ext cx="5873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dirty="0"/>
              <a:t>A real number is any number that can be plotted  on a number line.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A359D-AE9B-AB40-B4BB-36ECBCE26E9A}"/>
              </a:ext>
            </a:extLst>
          </p:cNvPr>
          <p:cNvSpPr/>
          <p:nvPr/>
        </p:nvSpPr>
        <p:spPr>
          <a:xfrm>
            <a:off x="871357" y="767444"/>
            <a:ext cx="80283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As natural numbers are whole numbers, to graph them on a number line we use solid dots.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2B8B78-C662-C245-A918-E80F14169170}"/>
                  </a:ext>
                </a:extLst>
              </p:cNvPr>
              <p:cNvSpPr/>
              <p:nvPr/>
            </p:nvSpPr>
            <p:spPr>
              <a:xfrm>
                <a:off x="3837435" y="-771444"/>
                <a:ext cx="48092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2000" i="1" dirty="0"/>
                  <a:t>If 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2000" i="1" dirty="0"/>
                  <a:t> is a natural number, we can write 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2000" i="1" dirty="0"/>
                  <a:t> ∈ N.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2B8B78-C662-C245-A918-E80F14169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435" y="-771444"/>
                <a:ext cx="4809202" cy="400110"/>
              </a:xfrm>
              <a:prstGeom prst="rect">
                <a:avLst/>
              </a:prstGeom>
              <a:blipFill>
                <a:blip r:embed="rId4"/>
                <a:stretch>
                  <a:fillRect l="-794" t="-9677" r="-1058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70078F5-47A7-5A45-8C3D-16FFE6D2DCF4}"/>
              </a:ext>
            </a:extLst>
          </p:cNvPr>
          <p:cNvSpPr/>
          <p:nvPr/>
        </p:nvSpPr>
        <p:spPr>
          <a:xfrm>
            <a:off x="1418600" y="2366918"/>
            <a:ext cx="74811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As integers are also whole numbers, to graph them on a number line we use solid dots.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EE615D-67D5-D246-96FC-6A1B96EAB841}"/>
                  </a:ext>
                </a:extLst>
              </p:cNvPr>
              <p:cNvSpPr/>
              <p:nvPr/>
            </p:nvSpPr>
            <p:spPr>
              <a:xfrm>
                <a:off x="6148608" y="5842115"/>
                <a:ext cx="394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2000" i="1" dirty="0"/>
                  <a:t>If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2000" i="1" dirty="0"/>
                  <a:t>is an integer, we can write 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2000" i="1" dirty="0"/>
                  <a:t> ∈ Z.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EE615D-67D5-D246-96FC-6A1B96EAB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608" y="5842115"/>
                <a:ext cx="3944734" cy="400110"/>
              </a:xfrm>
              <a:prstGeom prst="rect">
                <a:avLst/>
              </a:prstGeom>
              <a:blipFill>
                <a:blip r:embed="rId5"/>
                <a:stretch>
                  <a:fillRect l="-1290" t="-6250" r="-129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093ED11-0695-F74B-A5FE-2D3021DF7493}"/>
              </a:ext>
            </a:extLst>
          </p:cNvPr>
          <p:cNvSpPr/>
          <p:nvPr/>
        </p:nvSpPr>
        <p:spPr>
          <a:xfrm>
            <a:off x="1577453" y="3714763"/>
            <a:ext cx="75608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In order to show real numbers on the number line we use solid continuous shading.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639A55-9E41-1C45-89DB-E67C15A61FCB}"/>
                  </a:ext>
                </a:extLst>
              </p:cNvPr>
              <p:cNvSpPr/>
              <p:nvPr/>
            </p:nvSpPr>
            <p:spPr>
              <a:xfrm>
                <a:off x="3212" y="5640603"/>
                <a:ext cx="436805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2000" i="1" dirty="0"/>
                  <a:t>If 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2000" i="1" dirty="0"/>
                  <a:t> is a real number, we can write </a:t>
                </a:r>
                <a14:m>
                  <m:oMath xmlns:m="http://schemas.openxmlformats.org/officeDocument/2006/math">
                    <m:r>
                      <a:rPr lang="en-IE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2000" i="1" dirty="0"/>
                  <a:t> ∈ R.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639A55-9E41-1C45-89DB-E67C15A61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" y="5640603"/>
                <a:ext cx="4368055" cy="400110"/>
              </a:xfrm>
              <a:prstGeom prst="rect">
                <a:avLst/>
              </a:prstGeom>
              <a:blipFill>
                <a:blip r:embed="rId6"/>
                <a:stretch>
                  <a:fillRect l="-872" t="-9677" r="-87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C2D234B-FF1A-B247-892A-9F541535DCC2}"/>
              </a:ext>
            </a:extLst>
          </p:cNvPr>
          <p:cNvGrpSpPr/>
          <p:nvPr/>
        </p:nvGrpSpPr>
        <p:grpSpPr>
          <a:xfrm flipH="1">
            <a:off x="5627840" y="4086472"/>
            <a:ext cx="1519593" cy="166529"/>
            <a:chOff x="-140115" y="4889494"/>
            <a:chExt cx="5893093" cy="8221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E6D8D86-F51F-7944-8CD4-DEF2CFE9610C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>
              <a:off x="-140115" y="4929492"/>
              <a:ext cx="5348761" cy="1111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B63DB9E-3BD0-774E-A47E-6191A3A50EB1}"/>
                </a:ext>
              </a:extLst>
            </p:cNvPr>
            <p:cNvSpPr/>
            <p:nvPr/>
          </p:nvSpPr>
          <p:spPr>
            <a:xfrm>
              <a:off x="5208646" y="4889494"/>
              <a:ext cx="544332" cy="82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20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AB9400-75B6-734D-83E3-232F55A0C5DD}"/>
              </a:ext>
            </a:extLst>
          </p:cNvPr>
          <p:cNvGrpSpPr/>
          <p:nvPr/>
        </p:nvGrpSpPr>
        <p:grpSpPr>
          <a:xfrm rot="10800000" flipH="1">
            <a:off x="2187239" y="4082115"/>
            <a:ext cx="1519593" cy="166529"/>
            <a:chOff x="-140115" y="4889494"/>
            <a:chExt cx="5893093" cy="8221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B94A2A4-26B1-1341-B11C-703609B79284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-140115" y="4929492"/>
              <a:ext cx="5348761" cy="1111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110341F-ADE6-8642-9C73-E7755EA27120}"/>
                </a:ext>
              </a:extLst>
            </p:cNvPr>
            <p:cNvSpPr/>
            <p:nvPr/>
          </p:nvSpPr>
          <p:spPr>
            <a:xfrm>
              <a:off x="5208646" y="4889494"/>
              <a:ext cx="544332" cy="82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20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EF1342-CB7F-6A4B-BC89-3D47E8BBBD9D}"/>
              </a:ext>
            </a:extLst>
          </p:cNvPr>
          <p:cNvGrpSpPr/>
          <p:nvPr/>
        </p:nvGrpSpPr>
        <p:grpSpPr>
          <a:xfrm flipH="1">
            <a:off x="3825494" y="4076586"/>
            <a:ext cx="1470135" cy="209448"/>
            <a:chOff x="4752222" y="4938607"/>
            <a:chExt cx="5820191" cy="7438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292AD7F-EE37-BF4D-8AA5-775971A1D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8011" y="4975801"/>
              <a:ext cx="5214402" cy="0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5A16BF6-9E2A-124F-81CA-0741ACFCEE90}"/>
                </a:ext>
              </a:extLst>
            </p:cNvPr>
            <p:cNvSpPr/>
            <p:nvPr/>
          </p:nvSpPr>
          <p:spPr>
            <a:xfrm>
              <a:off x="4752222" y="4938607"/>
              <a:ext cx="605789" cy="7438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7107BF1-429B-284C-A205-E9E4988194C7}"/>
              </a:ext>
            </a:extLst>
          </p:cNvPr>
          <p:cNvGrpSpPr/>
          <p:nvPr/>
        </p:nvGrpSpPr>
        <p:grpSpPr>
          <a:xfrm rot="10800000" flipH="1">
            <a:off x="7429606" y="4068313"/>
            <a:ext cx="1470135" cy="209448"/>
            <a:chOff x="4752222" y="4938607"/>
            <a:chExt cx="5820191" cy="74389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197E87-420B-114B-9721-AF5B4EC06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8011" y="4975801"/>
              <a:ext cx="5214402" cy="0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C26A896-8FFD-1841-917D-EAD42E148FD4}"/>
                </a:ext>
              </a:extLst>
            </p:cNvPr>
            <p:cNvSpPr/>
            <p:nvPr/>
          </p:nvSpPr>
          <p:spPr>
            <a:xfrm>
              <a:off x="4752222" y="4938607"/>
              <a:ext cx="605789" cy="7438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E598A8B-1157-B04F-A499-4823179725CA}"/>
              </a:ext>
            </a:extLst>
          </p:cNvPr>
          <p:cNvSpPr txBox="1"/>
          <p:nvPr/>
        </p:nvSpPr>
        <p:spPr>
          <a:xfrm>
            <a:off x="2716380" y="4230876"/>
            <a:ext cx="63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&lt;</a:t>
            </a:r>
            <a:endParaRPr lang="en-US" sz="2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77C4D6-155C-3A4E-AA78-93D9A4DCBA77}"/>
              </a:ext>
            </a:extLst>
          </p:cNvPr>
          <p:cNvSpPr txBox="1"/>
          <p:nvPr/>
        </p:nvSpPr>
        <p:spPr>
          <a:xfrm>
            <a:off x="4371267" y="4274359"/>
            <a:ext cx="63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/>
              <a:t>≤</a:t>
            </a:r>
            <a:endParaRPr lang="en-US" sz="28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D7971F-CEE5-5145-B8B8-336BE76D517E}"/>
              </a:ext>
            </a:extLst>
          </p:cNvPr>
          <p:cNvSpPr/>
          <p:nvPr/>
        </p:nvSpPr>
        <p:spPr>
          <a:xfrm>
            <a:off x="7951698" y="4258240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b="1" dirty="0"/>
              <a:t>≥</a:t>
            </a:r>
            <a:endParaRPr lang="en-US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3E202A-7373-EA48-A27A-476A656A5BDD}"/>
              </a:ext>
            </a:extLst>
          </p:cNvPr>
          <p:cNvSpPr txBox="1"/>
          <p:nvPr/>
        </p:nvSpPr>
        <p:spPr>
          <a:xfrm>
            <a:off x="6288540" y="425824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&gt;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651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/>
      <p:bldP spid="8" grpId="0" build="p"/>
      <p:bldP spid="9" grpId="0" build="p"/>
      <p:bldP spid="10" grpId="0" build="p"/>
      <p:bldP spid="12" grpId="0" build="p"/>
      <p:bldP spid="13" grpId="0" build="p"/>
      <p:bldP spid="15" grpId="0" build="p"/>
      <p:bldP spid="16" grpId="0" build="p"/>
      <p:bldP spid="17" grpId="0" build="p"/>
      <p:bldP spid="18" grpId="0" build="p"/>
      <p:bldP spid="19" grpId="0" build="p"/>
      <p:bldP spid="20" grpId="0"/>
      <p:bldP spid="35" grpId="0"/>
      <p:bldP spid="39" grpId="0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F206FF1-2E7B-134A-B305-5A53E612E274}"/>
              </a:ext>
            </a:extLst>
          </p:cNvPr>
          <p:cNvGrpSpPr/>
          <p:nvPr/>
        </p:nvGrpSpPr>
        <p:grpSpPr>
          <a:xfrm>
            <a:off x="1691680" y="0"/>
            <a:ext cx="6562165" cy="1864164"/>
            <a:chOff x="1337092" y="665169"/>
            <a:chExt cx="6562165" cy="1864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E81E00-9451-9A45-B50F-1481F748FD39}"/>
                    </a:ext>
                  </a:extLst>
                </p:cNvPr>
                <p:cNvSpPr/>
                <p:nvPr/>
              </p:nvSpPr>
              <p:spPr>
                <a:xfrm>
                  <a:off x="1337092" y="665169"/>
                  <a:ext cx="6562165" cy="61555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E" sz="1700" b="1" dirty="0">
                      <a:solidFill>
                        <a:schemeClr val="tx1"/>
                      </a:solidFill>
                    </a:rPr>
                    <a:t>5. Graph each of the following inequalities on the number line given. NOTE: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chemeClr val="tx1"/>
                      </a:solidFill>
                    </a:rPr>
                    <a:t> is an element of a different set (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N</a:t>
                  </a:r>
                  <a:r>
                    <a:rPr lang="en-IE" sz="1700" b="1" dirty="0">
                      <a:solidFill>
                        <a:schemeClr val="tx1"/>
                      </a:solidFill>
                    </a:rPr>
                    <a:t>,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Z</a:t>
                  </a:r>
                  <a:r>
                    <a:rPr lang="en-IE" sz="1700" b="1" dirty="0">
                      <a:solidFill>
                        <a:schemeClr val="tx1"/>
                      </a:solidFill>
                    </a:rPr>
                    <a:t>, or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IE" sz="1700" b="1" dirty="0">
                      <a:solidFill>
                        <a:schemeClr val="tx1"/>
                      </a:solidFill>
                    </a:rPr>
                    <a:t>) in each case. </a:t>
                  </a: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E81E00-9451-9A45-B50F-1481F748FD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092" y="665169"/>
                  <a:ext cx="6562165" cy="615553"/>
                </a:xfrm>
                <a:prstGeom prst="rect">
                  <a:avLst/>
                </a:prstGeom>
                <a:blipFill>
                  <a:blip r:embed="rId2"/>
                  <a:stretch>
                    <a:fillRect l="-581" t="-2083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E398E9FF-D431-CF43-91A5-30DD6860CD03}"/>
                    </a:ext>
                  </a:extLst>
                </p:cNvPr>
                <p:cNvSpPr/>
                <p:nvPr/>
              </p:nvSpPr>
              <p:spPr>
                <a:xfrm>
                  <a:off x="1355777" y="1259755"/>
                  <a:ext cx="2716306" cy="12695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(a</a:t>
                  </a:r>
                  <a:r>
                    <a:rPr lang="en-IE" sz="1700" dirty="0">
                      <a:solidFill>
                        <a:schemeClr val="tx1"/>
                      </a:solidFill>
                    </a:rPr>
                    <a:t>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–3,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Z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(b)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–3,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(c)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–3,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R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E398E9FF-D431-CF43-91A5-30DD6860CD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777" y="1259755"/>
                  <a:ext cx="2716306" cy="1269578"/>
                </a:xfrm>
                <a:prstGeom prst="rect">
                  <a:avLst/>
                </a:prstGeom>
                <a:blipFill>
                  <a:blip r:embed="rId3"/>
                  <a:stretch>
                    <a:fillRect l="-1402"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1A57B3-8BAF-DB48-B0BC-D99911A9D95B}"/>
              </a:ext>
            </a:extLst>
          </p:cNvPr>
          <p:cNvGrpSpPr/>
          <p:nvPr/>
        </p:nvGrpSpPr>
        <p:grpSpPr>
          <a:xfrm>
            <a:off x="2843808" y="2172784"/>
            <a:ext cx="6038748" cy="398966"/>
            <a:chOff x="1198665" y="4176562"/>
            <a:chExt cx="6264696" cy="54858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404952-7D9E-A047-B4D0-471943B7EB1F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7945D18-7418-E849-9112-A704BFBBB6FF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EC3CCD-DDEB-D047-AAA8-99E1A4F83BA7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1F59A1-2763-5D49-A434-0CD163931C05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C5C07BED-3700-4F4E-A945-5F179C25B2B8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2109EF0-A6BA-EA41-A9B5-A0F52259EB16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70C16C7-22F6-744B-923E-C4C76D28D1AD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C1B8166-2B59-9F43-A170-F691CA8849BA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CBCB862-5FF8-6C40-9AF2-BB81097B0896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D9391C1-4A09-9F4B-BFBA-F2108511A45B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EC069EE-AA73-894A-B6F4-820293505D20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011B71-1E38-084A-A0EB-DE639DCCD3CE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73B794-5804-BC42-8582-977026D5E3AA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A3A6D5-66EE-DB46-8378-A7B44983B0CD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4D8D3D-F0E9-4D40-85A9-00A8CF54BD7A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D8D82B-5EFA-4249-8C16-4C84C92410E5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043129-3337-8348-95E9-33A4A35E487A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269491-4971-E447-B74C-210FB792D5BA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E3952D-4821-D84D-AC55-696DA16BA1AC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8740F2-2598-E34E-A338-4DF28D2FE9AF}"/>
              </a:ext>
            </a:extLst>
          </p:cNvPr>
          <p:cNvGrpSpPr/>
          <p:nvPr/>
        </p:nvGrpSpPr>
        <p:grpSpPr>
          <a:xfrm>
            <a:off x="4606841" y="2496383"/>
            <a:ext cx="3563761" cy="94286"/>
            <a:chOff x="3235485" y="3201265"/>
            <a:chExt cx="3563761" cy="9428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9F8DCB1-E6FD-FB4A-BFFE-67CE56E34EEC}"/>
                </a:ext>
              </a:extLst>
            </p:cNvPr>
            <p:cNvSpPr/>
            <p:nvPr/>
          </p:nvSpPr>
          <p:spPr bwMode="auto">
            <a:xfrm>
              <a:off x="3235485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D6CED97-BCA9-8C42-998C-990B2230F659}"/>
                </a:ext>
              </a:extLst>
            </p:cNvPr>
            <p:cNvSpPr/>
            <p:nvPr/>
          </p:nvSpPr>
          <p:spPr bwMode="auto">
            <a:xfrm>
              <a:off x="3933558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26D786E-FD66-6B44-B272-76FC6FE56E76}"/>
                </a:ext>
              </a:extLst>
            </p:cNvPr>
            <p:cNvSpPr/>
            <p:nvPr/>
          </p:nvSpPr>
          <p:spPr bwMode="auto">
            <a:xfrm>
              <a:off x="4631631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BE842C2-EBEF-1B41-A159-A18498D662CC}"/>
                </a:ext>
              </a:extLst>
            </p:cNvPr>
            <p:cNvSpPr/>
            <p:nvPr/>
          </p:nvSpPr>
          <p:spPr bwMode="auto">
            <a:xfrm>
              <a:off x="5317812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DE6A91E-A1CC-B845-9358-133116C00C1A}"/>
                </a:ext>
              </a:extLst>
            </p:cNvPr>
            <p:cNvSpPr/>
            <p:nvPr/>
          </p:nvSpPr>
          <p:spPr bwMode="auto">
            <a:xfrm>
              <a:off x="6003993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4F7060E-6460-B64C-B63A-FE30DED05FE5}"/>
                </a:ext>
              </a:extLst>
            </p:cNvPr>
            <p:cNvSpPr/>
            <p:nvPr/>
          </p:nvSpPr>
          <p:spPr bwMode="auto">
            <a:xfrm>
              <a:off x="6715946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72F3CD-4D56-524D-AC01-A1DC50809F50}"/>
              </a:ext>
            </a:extLst>
          </p:cNvPr>
          <p:cNvGrpSpPr/>
          <p:nvPr/>
        </p:nvGrpSpPr>
        <p:grpSpPr>
          <a:xfrm>
            <a:off x="2825634" y="3349323"/>
            <a:ext cx="6038748" cy="398966"/>
            <a:chOff x="1198665" y="4176562"/>
            <a:chExt cx="6264696" cy="5485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E794A58-F0FB-D746-B909-9E69F9DA1E4A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A76403F-60FD-8D4B-A3BA-16CDFDF64AA0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CA18FF9-008E-694A-AEC3-D6143E1B9D1E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1F194B7-BF93-1C46-ACE9-57803FB2D8B5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824E43BB-4A9E-B641-9F79-10A162C0CEEF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62174D70-08E3-0B47-8A49-E81A9FEE35B8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EEC138E-DE95-D84E-8D2C-E1177E08CD47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169F6099-3BEC-504A-8074-286B6E8F6451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78C0B98-D8DD-4046-8400-E177C7E9FD11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EAD9A3A-0337-634B-A379-E720310C2B1C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F66B460-1328-214A-8ED2-0E1EC7360404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2BBF7A-AA7E-AD47-BD99-BD5E993C398F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9A2DA9-85DB-5242-9835-1ADCE2587587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5C1994-72FA-A141-BDB9-B151C2EB8FD2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BDD68C-A614-DF4F-ACB3-9BF6B42F1A19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DAD0A4-574D-344D-8486-E15DBB13765F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948FA7-EAA7-6947-97B4-D394E97535FC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99317F-0002-C34A-9C73-8389AFE6A9BB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B813B1-CA2F-294A-8C12-5EFBF92C3A99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3D5DB1B-513A-4F43-B6A2-8810632B8EAD}"/>
              </a:ext>
            </a:extLst>
          </p:cNvPr>
          <p:cNvGrpSpPr/>
          <p:nvPr/>
        </p:nvGrpSpPr>
        <p:grpSpPr>
          <a:xfrm>
            <a:off x="6670994" y="3683008"/>
            <a:ext cx="1481434" cy="94286"/>
            <a:chOff x="5317812" y="3211351"/>
            <a:chExt cx="1481434" cy="94286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71008F6-FB2A-4348-96BC-FD682F07F338}"/>
                </a:ext>
              </a:extLst>
            </p:cNvPr>
            <p:cNvSpPr/>
            <p:nvPr/>
          </p:nvSpPr>
          <p:spPr bwMode="auto">
            <a:xfrm>
              <a:off x="5317812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6C2C79D-4258-4245-A174-D351E52F42FA}"/>
                </a:ext>
              </a:extLst>
            </p:cNvPr>
            <p:cNvSpPr/>
            <p:nvPr/>
          </p:nvSpPr>
          <p:spPr bwMode="auto">
            <a:xfrm>
              <a:off x="6003993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AD82989-3987-ED4D-80F3-C70565A73ADE}"/>
                </a:ext>
              </a:extLst>
            </p:cNvPr>
            <p:cNvSpPr/>
            <p:nvPr/>
          </p:nvSpPr>
          <p:spPr bwMode="auto">
            <a:xfrm>
              <a:off x="6715946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EDA1B61-A5FB-6643-BB2E-5849DA4FBD56}"/>
              </a:ext>
            </a:extLst>
          </p:cNvPr>
          <p:cNvGrpSpPr/>
          <p:nvPr/>
        </p:nvGrpSpPr>
        <p:grpSpPr>
          <a:xfrm>
            <a:off x="2825634" y="4481719"/>
            <a:ext cx="6038748" cy="398966"/>
            <a:chOff x="1198665" y="4176562"/>
            <a:chExt cx="6264696" cy="54858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2DA9431-BBDF-994C-9D00-B678CACC420C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A84E9AE-F773-C340-A41E-6738F783231B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FE9D306-3EBF-0C4C-9BA1-0501E8527452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437CBA35-A69B-2244-9E1A-21EDF7C471F3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85BC886C-379C-BB4F-A9B6-54606466E11E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C6718FFC-F55B-A742-A203-C650EB903CDE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7D37F5DB-2D9D-E944-8A47-856F7FFB35DC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67E83AE3-4164-8147-8523-772F5CC7341F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D9E7C64A-43F5-354C-8847-0086F50202AA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7E29B819-364E-7E4A-96F1-F06762FF67B5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62871ED-C6BF-5543-9AA3-D3F33D3A070D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C92DCCA-30B6-6E4F-86C2-02BC4E1A5488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986FD0E-E640-4A43-BF43-59C201F25E37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69956C4-39F2-8547-915F-69EA5D2D66E3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21449C3-E3E4-E343-976A-00E105A7CA7E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CCBD72B-5C8D-A043-BF5D-3011D45A5906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B85EFE-D914-7A40-AB0B-86B9FE3E5075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3F58ED6-D310-7046-8D14-B472B0260FC9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FDE4C64-1047-D240-AE04-AB149854274B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B4BB1D5-B2D6-9742-AD5B-7C6EE680FE63}"/>
              </a:ext>
            </a:extLst>
          </p:cNvPr>
          <p:cNvGrpSpPr/>
          <p:nvPr/>
        </p:nvGrpSpPr>
        <p:grpSpPr>
          <a:xfrm flipH="1">
            <a:off x="3885151" y="4821825"/>
            <a:ext cx="4979231" cy="93600"/>
            <a:chOff x="-219894" y="4889494"/>
            <a:chExt cx="5532539" cy="82215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148351-F7E0-344D-952D-37EC2B220C82}"/>
                </a:ext>
              </a:extLst>
            </p:cNvPr>
            <p:cNvCxnSpPr>
              <a:endCxn id="80" idx="2"/>
            </p:cNvCxnSpPr>
            <p:nvPr/>
          </p:nvCxnSpPr>
          <p:spPr>
            <a:xfrm flipV="1">
              <a:off x="-219894" y="4930602"/>
              <a:ext cx="5428538" cy="11898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8431217-6AE8-E344-9187-ED2E63E77A8C}"/>
                </a:ext>
              </a:extLst>
            </p:cNvPr>
            <p:cNvSpPr/>
            <p:nvPr/>
          </p:nvSpPr>
          <p:spPr>
            <a:xfrm>
              <a:off x="5208644" y="4889494"/>
              <a:ext cx="104001" cy="8221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D9EE888-A348-4946-A1D8-01833DABE6CC}"/>
              </a:ext>
            </a:extLst>
          </p:cNvPr>
          <p:cNvSpPr/>
          <p:nvPr/>
        </p:nvSpPr>
        <p:spPr>
          <a:xfrm>
            <a:off x="2149327" y="2303354"/>
            <a:ext cx="4700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(a) 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0BAE91A-2189-3D4A-8252-306F32241D33}"/>
              </a:ext>
            </a:extLst>
          </p:cNvPr>
          <p:cNvSpPr/>
          <p:nvPr/>
        </p:nvSpPr>
        <p:spPr>
          <a:xfrm>
            <a:off x="2149327" y="3495583"/>
            <a:ext cx="4796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(b)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74ADD54-9259-FB46-A05F-5256447476BD}"/>
              </a:ext>
            </a:extLst>
          </p:cNvPr>
          <p:cNvSpPr/>
          <p:nvPr/>
        </p:nvSpPr>
        <p:spPr>
          <a:xfrm>
            <a:off x="2149327" y="4677940"/>
            <a:ext cx="45878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(c) </a:t>
            </a:r>
          </a:p>
        </p:txBody>
      </p:sp>
    </p:spTree>
    <p:extLst>
      <p:ext uri="{BB962C8B-B14F-4D97-AF65-F5344CB8AC3E}">
        <p14:creationId xmlns:p14="http://schemas.microsoft.com/office/powerpoint/2010/main" val="144024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B414619E-EE65-7243-9E5C-356C64EC6174}"/>
              </a:ext>
            </a:extLst>
          </p:cNvPr>
          <p:cNvGrpSpPr/>
          <p:nvPr/>
        </p:nvGrpSpPr>
        <p:grpSpPr>
          <a:xfrm>
            <a:off x="1473443" y="134432"/>
            <a:ext cx="6584994" cy="1887215"/>
            <a:chOff x="1291309" y="651337"/>
            <a:chExt cx="6584994" cy="1887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3A2F120-745C-7945-9E3D-831ABB68EC80}"/>
                    </a:ext>
                  </a:extLst>
                </p:cNvPr>
                <p:cNvSpPr/>
                <p:nvPr/>
              </p:nvSpPr>
              <p:spPr>
                <a:xfrm>
                  <a:off x="1314138" y="651337"/>
                  <a:ext cx="6562165" cy="61555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E" sz="1700" b="1" dirty="0">
                      <a:solidFill>
                        <a:schemeClr val="tx1"/>
                      </a:solidFill>
                    </a:rPr>
                    <a:t>6. Graph each of the following inequalities on the number line given. 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NOTE: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FF0000"/>
                      </a:solidFill>
                    </a:rPr>
                    <a:t> is an element of a different set (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N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Z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or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R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) in each case.</a:t>
                  </a:r>
                  <a:endParaRPr lang="en-IE" sz="17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3A2F120-745C-7945-9E3D-831ABB68EC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4138" y="651337"/>
                  <a:ext cx="6562165" cy="615553"/>
                </a:xfrm>
                <a:prstGeom prst="rect">
                  <a:avLst/>
                </a:prstGeom>
                <a:blipFill>
                  <a:blip r:embed="rId2"/>
                  <a:stretch>
                    <a:fillRect l="-580" t="-2041" b="-102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3D59428-0EBC-5048-966D-1BD10BC35AC8}"/>
                    </a:ext>
                  </a:extLst>
                </p:cNvPr>
                <p:cNvSpPr/>
                <p:nvPr/>
              </p:nvSpPr>
              <p:spPr>
                <a:xfrm>
                  <a:off x="1291309" y="1268974"/>
                  <a:ext cx="2716306" cy="12695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(a)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2,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(b)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2,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Z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chemeClr val="tx1"/>
                      </a:solidFill>
                    </a:rPr>
                    <a:t>(c)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 2, where </a:t>
                  </a:r>
                  <a14:m>
                    <m:oMath xmlns:m="http://schemas.openxmlformats.org/officeDocument/2006/math"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dirty="0">
                      <a:solidFill>
                        <a:schemeClr val="tx1"/>
                      </a:solidFill>
                    </a:rPr>
                    <a:t>∈ </a:t>
                  </a:r>
                  <a:r>
                    <a:rPr lang="en-IE" sz="1700" b="1" i="1" dirty="0">
                      <a:solidFill>
                        <a:schemeClr val="tx1"/>
                      </a:solidFill>
                    </a:rPr>
                    <a:t>R</a:t>
                  </a: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3D59428-0EBC-5048-966D-1BD10BC35A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309" y="1268974"/>
                  <a:ext cx="2716306" cy="1269578"/>
                </a:xfrm>
                <a:prstGeom prst="rect">
                  <a:avLst/>
                </a:prstGeom>
                <a:blipFill>
                  <a:blip r:embed="rId3"/>
                  <a:stretch>
                    <a:fillRect l="-1878" b="-3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16DB7B1-0277-C44B-93DC-24AAE1D60A93}"/>
              </a:ext>
            </a:extLst>
          </p:cNvPr>
          <p:cNvGrpSpPr/>
          <p:nvPr/>
        </p:nvGrpSpPr>
        <p:grpSpPr>
          <a:xfrm>
            <a:off x="2968581" y="2402741"/>
            <a:ext cx="6038748" cy="398966"/>
            <a:chOff x="1198665" y="4176562"/>
            <a:chExt cx="6264696" cy="54858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8CA794F-379F-1140-A85C-F36553893845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74DBD6F-E78F-3344-A35C-A603DFE8D315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36B0EEA7-3947-834B-916E-64AF6164FE02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6D4E48DA-4B17-D248-830D-ACAD30825E7B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F124FF3-C50F-D941-B025-0EFD51524EAD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976D348-01B0-7A45-AC32-30C81E1C653B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EC7D7539-5DCF-A04F-8899-8BE56B284D04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A1FBCA27-F129-7F47-A2CB-548E5A6F1FFC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9EE70D6F-D765-384F-A061-D0DC8B784478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EE33D71B-7AD9-0742-95E3-638D9769812A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1D0C43C-3A07-DB42-9858-0E8564C5E1DE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4EB072C-B112-4D41-BC07-722CF9EFC761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0DA73E8-C5BA-CA41-A7AF-E156C9C857E7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E1FB57B-2DE7-C449-A0C9-A9D492937FA6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1397330-BDFB-1B4B-A135-726FC9D0BAE3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8EC2D2B-C604-3741-BCE0-1620A56C17B4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9EBF023-E34B-1A43-AFBE-E91C179E2C5D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9275ABB-7191-3E43-A658-8BA23AB2806C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62964CC-A5F4-2C42-B684-6F8CD0DBEE21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C8F2B42-34B5-5242-9A92-2E28EA201D87}"/>
              </a:ext>
            </a:extLst>
          </p:cNvPr>
          <p:cNvGrpSpPr/>
          <p:nvPr/>
        </p:nvGrpSpPr>
        <p:grpSpPr>
          <a:xfrm>
            <a:off x="6813941" y="2729725"/>
            <a:ext cx="769481" cy="94286"/>
            <a:chOff x="5317812" y="3204650"/>
            <a:chExt cx="769481" cy="94286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CFE97D6-E2C3-0040-9C9B-A9BEBBC237D9}"/>
                </a:ext>
              </a:extLst>
            </p:cNvPr>
            <p:cNvSpPr/>
            <p:nvPr/>
          </p:nvSpPr>
          <p:spPr bwMode="auto">
            <a:xfrm>
              <a:off x="5317812" y="3204650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1DF68EBA-F16A-6D41-A533-9B8219BEE064}"/>
                </a:ext>
              </a:extLst>
            </p:cNvPr>
            <p:cNvSpPr/>
            <p:nvPr/>
          </p:nvSpPr>
          <p:spPr bwMode="auto">
            <a:xfrm>
              <a:off x="6003993" y="3204650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4E740DA-FFC0-A647-82EB-2CB05B43B7FB}"/>
              </a:ext>
            </a:extLst>
          </p:cNvPr>
          <p:cNvGrpSpPr/>
          <p:nvPr/>
        </p:nvGrpSpPr>
        <p:grpSpPr>
          <a:xfrm>
            <a:off x="2998622" y="3478795"/>
            <a:ext cx="6038748" cy="398966"/>
            <a:chOff x="1198665" y="4176562"/>
            <a:chExt cx="6264696" cy="54858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19DF88B-DFEA-4C48-8E23-08DD86B0B4AC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A06ED23-9985-5840-A7C7-8D2E5A09B2BD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9F7E1C5B-9014-CE45-86F5-F40162729462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53DD2115-23D2-2A43-9553-EA99933CFCA9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96E83027-F10B-A846-B18A-ED2A98267347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EBA89D06-A965-F64F-AA11-40C6E9CC2FC7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00DF45C8-F3F0-DC49-8F86-E33C3F346FC5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01346E5C-078A-BB46-A789-D7BC0D36D4AA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772E3969-2B3C-F448-84B0-5C2B47BC4AC2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77C3E074-CE8F-9741-8F41-0191B6284F99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499282BE-444B-344F-85C3-9D68FB998695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75B896B-20E2-B84E-84C8-4FF11CF47664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0CBE1A7-C087-1C4A-97A4-BDEECA393888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8E4E14A-05FF-8C4B-A508-FD2ACEE90BA0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6E150AF-5737-0A44-A4C1-CD11BC9F5C97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3B01499-9611-A44F-B691-E978E63353EE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2607F72-AA62-3742-A143-66E7ED679487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4FDB469-B4EA-FC4B-9843-C52557C72583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90DF1C-9426-5D44-B139-D8546320DDBE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6DA1AC9-86CE-CC4D-B842-46CBE8672177}"/>
              </a:ext>
            </a:extLst>
          </p:cNvPr>
          <p:cNvGrpSpPr/>
          <p:nvPr/>
        </p:nvGrpSpPr>
        <p:grpSpPr>
          <a:xfrm>
            <a:off x="2967538" y="4660824"/>
            <a:ext cx="6038748" cy="398966"/>
            <a:chOff x="1198665" y="4176562"/>
            <a:chExt cx="6264696" cy="548582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735B503-5568-6A44-956C-B7396F062614}"/>
                </a:ext>
              </a:extLst>
            </p:cNvPr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B6AF1C94-220F-3B4C-AC81-3C7EF69AE426}"/>
                  </a:ext>
                </a:extLst>
              </p:cNvPr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3BAD1DD0-54AE-304A-BE1D-BCB164984D33}"/>
                    </a:ext>
                  </a:extLst>
                </p:cNvPr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674D74D1-139C-714D-853E-06B596D9B3E6}"/>
                    </a:ext>
                  </a:extLst>
                </p:cNvPr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75938DBB-45E8-BD41-AC39-8EF444C6CD68}"/>
                    </a:ext>
                  </a:extLst>
                </p:cNvPr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3090A197-ADD7-8A40-9458-4AA49FEED49A}"/>
                    </a:ext>
                  </a:extLst>
                </p:cNvPr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7112178E-AE98-5C4B-AA73-A4C3714839A8}"/>
                    </a:ext>
                  </a:extLst>
                </p:cNvPr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1A767F73-450A-6349-9876-81B791470432}"/>
                    </a:ext>
                  </a:extLst>
                </p:cNvPr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64848D6A-509F-9E42-81E0-7624EB9A9C87}"/>
                    </a:ext>
                  </a:extLst>
                </p:cNvPr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EC6A94B9-3865-1F4D-819B-D525B8ABB9EA}"/>
                    </a:ext>
                  </a:extLst>
                </p:cNvPr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C57065D0-70E3-9641-A01D-AB6B0550EEFD}"/>
                  </a:ext>
                </a:extLst>
              </p:cNvPr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DDC26AE-335F-9C44-B990-A4D2F23FE624}"/>
                </a:ext>
              </a:extLst>
            </p:cNvPr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39C3326-BE4B-E845-BF57-A67292E007FC}"/>
                </a:ext>
              </a:extLst>
            </p:cNvPr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344507D-4C4B-A84E-AF26-E121A6C1D0E6}"/>
                </a:ext>
              </a:extLst>
            </p:cNvPr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C29F040-CEB1-EF45-8350-1565A76A03DD}"/>
                </a:ext>
              </a:extLst>
            </p:cNvPr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AD1CE80-F37C-634B-A0BD-289DCB5C582E}"/>
                </a:ext>
              </a:extLst>
            </p:cNvPr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2F241DB-2CAE-F945-A643-5574821D7A96}"/>
                </a:ext>
              </a:extLst>
            </p:cNvPr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1138A6B-5ED6-D643-9C7B-C9AE0D048331}"/>
                </a:ext>
              </a:extLst>
            </p:cNvPr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E16221E-456E-184C-9D4C-137D3C5ED9A8}"/>
                </a:ext>
              </a:extLst>
            </p:cNvPr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515B7A5-9401-C04F-8EB1-ABC6A4001A2E}"/>
              </a:ext>
            </a:extLst>
          </p:cNvPr>
          <p:cNvGrpSpPr/>
          <p:nvPr/>
        </p:nvGrpSpPr>
        <p:grpSpPr>
          <a:xfrm flipH="1">
            <a:off x="2961601" y="5016203"/>
            <a:ext cx="4623613" cy="102152"/>
            <a:chOff x="5245430" y="4923271"/>
            <a:chExt cx="5137402" cy="89726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75457B4-11CA-2241-A58F-EE094ECCD37B}"/>
                </a:ext>
              </a:extLst>
            </p:cNvPr>
            <p:cNvCxnSpPr/>
            <p:nvPr/>
          </p:nvCxnSpPr>
          <p:spPr>
            <a:xfrm flipH="1" flipV="1">
              <a:off x="5267999" y="4954993"/>
              <a:ext cx="5114833" cy="13141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343079B-2B82-1B41-BBC4-1D0330372C5D}"/>
                </a:ext>
              </a:extLst>
            </p:cNvPr>
            <p:cNvSpPr/>
            <p:nvPr/>
          </p:nvSpPr>
          <p:spPr>
            <a:xfrm>
              <a:off x="5245430" y="4923271"/>
              <a:ext cx="112578" cy="8972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43665A6-9736-904F-89AB-7432E07D9404}"/>
              </a:ext>
            </a:extLst>
          </p:cNvPr>
          <p:cNvGrpSpPr/>
          <p:nvPr/>
        </p:nvGrpSpPr>
        <p:grpSpPr>
          <a:xfrm>
            <a:off x="3381589" y="3817778"/>
            <a:ext cx="4231874" cy="94286"/>
            <a:chOff x="1552984" y="4084508"/>
            <a:chExt cx="4231874" cy="94286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15ED6AF-FC1C-DF45-A6C1-ABCDD36F6418}"/>
                </a:ext>
              </a:extLst>
            </p:cNvPr>
            <p:cNvGrpSpPr/>
            <p:nvPr/>
          </p:nvGrpSpPr>
          <p:grpSpPr>
            <a:xfrm>
              <a:off x="5015377" y="4084508"/>
              <a:ext cx="769481" cy="94286"/>
              <a:chOff x="5317812" y="3216649"/>
              <a:chExt cx="769481" cy="94286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061F0717-5879-4A4A-8FD9-5E5F10B03500}"/>
                  </a:ext>
                </a:extLst>
              </p:cNvPr>
              <p:cNvSpPr/>
              <p:nvPr/>
            </p:nvSpPr>
            <p:spPr bwMode="auto">
              <a:xfrm>
                <a:off x="5317812" y="3216649"/>
                <a:ext cx="83300" cy="94286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</a:ln>
            </p:spPr>
            <p:txBody>
              <a:bodyPr rtlCol="0" anchor="ctr"/>
              <a:lstStyle/>
              <a:p>
                <a:pPr algn="ctr"/>
                <a:endParaRPr lang="en-IE" sz="1700">
                  <a:noFill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3D310C38-118E-0642-8747-CD9AF206D54D}"/>
                  </a:ext>
                </a:extLst>
              </p:cNvPr>
              <p:cNvSpPr/>
              <p:nvPr/>
            </p:nvSpPr>
            <p:spPr bwMode="auto">
              <a:xfrm>
                <a:off x="6003993" y="3216649"/>
                <a:ext cx="83300" cy="94286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</a:ln>
            </p:spPr>
            <p:txBody>
              <a:bodyPr rtlCol="0" anchor="ctr"/>
              <a:lstStyle/>
              <a:p>
                <a:pPr algn="ctr"/>
                <a:endParaRPr lang="en-IE" sz="1700">
                  <a:noFill/>
                </a:endParaRPr>
              </a:p>
            </p:txBody>
          </p:sp>
        </p:grp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8D37B0C-5B58-9F48-91A8-F0759F5F0E7D}"/>
                </a:ext>
              </a:extLst>
            </p:cNvPr>
            <p:cNvSpPr/>
            <p:nvPr/>
          </p:nvSpPr>
          <p:spPr bwMode="auto">
            <a:xfrm>
              <a:off x="4304818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24ECBE7-315D-9C47-9C42-3ADC43B9FD19}"/>
                </a:ext>
              </a:extLst>
            </p:cNvPr>
            <p:cNvSpPr/>
            <p:nvPr/>
          </p:nvSpPr>
          <p:spPr bwMode="auto">
            <a:xfrm>
              <a:off x="3606448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E306739E-8C51-4045-AC7B-B840730C4775}"/>
                </a:ext>
              </a:extLst>
            </p:cNvPr>
            <p:cNvSpPr/>
            <p:nvPr/>
          </p:nvSpPr>
          <p:spPr bwMode="auto">
            <a:xfrm>
              <a:off x="2940979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B308C98-A8F7-804A-8D13-CC3AECD63C98}"/>
                </a:ext>
              </a:extLst>
            </p:cNvPr>
            <p:cNvSpPr/>
            <p:nvPr/>
          </p:nvSpPr>
          <p:spPr bwMode="auto">
            <a:xfrm>
              <a:off x="2255021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032D7B9-1754-A646-9D06-C7ED49AA62E6}"/>
                </a:ext>
              </a:extLst>
            </p:cNvPr>
            <p:cNvSpPr/>
            <p:nvPr/>
          </p:nvSpPr>
          <p:spPr bwMode="auto">
            <a:xfrm>
              <a:off x="1552984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787E1C7-FB89-A74B-A89A-77F3A5BA4004}"/>
              </a:ext>
            </a:extLst>
          </p:cNvPr>
          <p:cNvSpPr/>
          <p:nvPr/>
        </p:nvSpPr>
        <p:spPr>
          <a:xfrm>
            <a:off x="2307324" y="2549388"/>
            <a:ext cx="4700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(a) 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6B97928-120C-EE44-BAD5-D7814CC82CFF}"/>
              </a:ext>
            </a:extLst>
          </p:cNvPr>
          <p:cNvSpPr/>
          <p:nvPr/>
        </p:nvSpPr>
        <p:spPr>
          <a:xfrm>
            <a:off x="2307324" y="3633571"/>
            <a:ext cx="4796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(b) 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F147508-DF8F-8B47-923A-77B95424DF71}"/>
              </a:ext>
            </a:extLst>
          </p:cNvPr>
          <p:cNvSpPr/>
          <p:nvPr/>
        </p:nvSpPr>
        <p:spPr>
          <a:xfrm>
            <a:off x="2307324" y="4764933"/>
            <a:ext cx="45878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(c) </a:t>
            </a:r>
          </a:p>
        </p:txBody>
      </p:sp>
    </p:spTree>
    <p:extLst>
      <p:ext uri="{BB962C8B-B14F-4D97-AF65-F5344CB8AC3E}">
        <p14:creationId xmlns:p14="http://schemas.microsoft.com/office/powerpoint/2010/main" val="176750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  <p:bldP spid="160" grpId="0"/>
      <p:bldP spid="1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3486150" y="571500"/>
            <a:ext cx="268605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3371850" y="457200"/>
            <a:ext cx="228600" cy="2286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372100" y="14859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4859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372100" y="22860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22860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372100" y="30861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0861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372100" y="38862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8862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68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2400300" y="572691"/>
            <a:ext cx="37719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457200"/>
            <a:ext cx="228600" cy="2286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372100" y="14859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4859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372100" y="22860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22860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372100" y="30861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0861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372100" y="38862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8862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35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>
            <a:stCxn id="13" idx="2"/>
          </p:cNvCxnSpPr>
          <p:nvPr/>
        </p:nvCxnSpPr>
        <p:spPr>
          <a:xfrm rot="10800000">
            <a:off x="2457450" y="571500"/>
            <a:ext cx="42291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686550" y="457200"/>
            <a:ext cx="228600" cy="2286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518547" y="14859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14859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518547" y="22860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7" imgW="355320" imgH="177480" progId="Equation.DSMT4">
                  <p:embed/>
                </p:oleObj>
              </mc:Choice>
              <mc:Fallback>
                <p:oleObj name="Equation" r:id="rId7" imgW="35532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22860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518547" y="30861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30861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518547" y="38862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38862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355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 rot="10800000">
            <a:off x="2457450" y="571500"/>
            <a:ext cx="268605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457200"/>
            <a:ext cx="228600" cy="2286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567362" y="1485900"/>
          <a:ext cx="127277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5" imgW="330120" imgH="177480" progId="Equation.DSMT4">
                  <p:embed/>
                </p:oleObj>
              </mc:Choice>
              <mc:Fallback>
                <p:oleObj name="Equation" r:id="rId5" imgW="3301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2" y="1485900"/>
                        <a:ext cx="1272779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591175" y="2286000"/>
          <a:ext cx="122515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7" imgW="317160" imgH="177480" progId="Equation.DSMT4">
                  <p:embed/>
                </p:oleObj>
              </mc:Choice>
              <mc:Fallback>
                <p:oleObj name="Equation" r:id="rId7" imgW="31716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2286000"/>
                        <a:ext cx="122515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591175" y="3086100"/>
          <a:ext cx="122515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3086100"/>
                        <a:ext cx="122515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591175" y="3886200"/>
          <a:ext cx="122515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11" imgW="317160" imgH="177480" progId="Equation.DSMT4">
                  <p:embed/>
                </p:oleObj>
              </mc:Choice>
              <mc:Fallback>
                <p:oleObj name="Equation" r:id="rId11" imgW="31716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3886200"/>
                        <a:ext cx="122515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81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4057650" y="573882"/>
            <a:ext cx="211455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3943350" y="457200"/>
            <a:ext cx="228600" cy="2286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372100" y="1485900"/>
          <a:ext cx="166551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485900"/>
                        <a:ext cx="166551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397104" y="2286000"/>
          <a:ext cx="161567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Equation" r:id="rId7" imgW="419040" imgH="177480" progId="Equation.DSMT4">
                  <p:embed/>
                </p:oleObj>
              </mc:Choice>
              <mc:Fallback>
                <p:oleObj name="Equation" r:id="rId7" imgW="41904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104" y="2286000"/>
                        <a:ext cx="161567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397104" y="3086100"/>
          <a:ext cx="161567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quation" r:id="rId9" imgW="419040" imgH="177480" progId="Equation.DSMT4">
                  <p:embed/>
                </p:oleObj>
              </mc:Choice>
              <mc:Fallback>
                <p:oleObj name="Equation" r:id="rId9" imgW="41904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104" y="3086100"/>
                        <a:ext cx="161567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397104" y="3886200"/>
          <a:ext cx="161567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Equation" r:id="rId11" imgW="419040" imgH="177480" progId="Equation.DSMT4">
                  <p:embed/>
                </p:oleObj>
              </mc:Choice>
              <mc:Fallback>
                <p:oleObj name="Equation" r:id="rId11" imgW="41904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104" y="3886200"/>
                        <a:ext cx="161567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587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 rot="10800000">
            <a:off x="2457450" y="571500"/>
            <a:ext cx="32004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1143000" y="74295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29150" y="14859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4629150" y="22860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4629150" y="30861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4629150" y="3886200"/>
            <a:ext cx="3143250" cy="6858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3261" y="1485900"/>
            <a:ext cx="452689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482" y="2286000"/>
            <a:ext cx="430246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98" y="3086100"/>
            <a:ext cx="412613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49" y="3886200"/>
            <a:ext cx="46551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en-US" sz="405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5600700" y="457200"/>
            <a:ext cx="228600" cy="2286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518547" y="14859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14859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518547" y="22860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7" imgW="355320" imgH="177480" progId="Equation.DSMT4">
                  <p:embed/>
                </p:oleObj>
              </mc:Choice>
              <mc:Fallback>
                <p:oleObj name="Equation" r:id="rId7" imgW="355320" imgH="17748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22860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518547" y="30861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30861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518547" y="38862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547" y="3886200"/>
                        <a:ext cx="1371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28750" y="1485900"/>
            <a:ext cx="257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3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alibri"/>
              </a:rPr>
              <a:t>Which inequality is shown on the number line?</a:t>
            </a:r>
            <a:endParaRPr lang="en-GB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540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DDD39D-5107-B246-8267-482C55D18A25}"/>
                  </a:ext>
                </a:extLst>
              </p:cNvPr>
              <p:cNvSpPr>
                <a:spLocks noGrp="1"/>
              </p:cNvSpPr>
              <p:nvPr>
                <p:ph type="body" sz="quarter" idx="35"/>
              </p:nvPr>
            </p:nvSpPr>
            <p:spPr>
              <a:xfrm>
                <a:off x="1310741" y="854137"/>
                <a:ext cx="7826770" cy="3086298"/>
              </a:xfrm>
            </p:spPr>
            <p:txBody>
              <a:bodyPr/>
              <a:lstStyle/>
              <a:p>
                <a:r>
                  <a:rPr lang="en-GB" sz="3200" b="1" dirty="0"/>
                  <a:t>7. Solve the inequality </a:t>
                </a:r>
                <a:r>
                  <a:rPr lang="en-GB" sz="3200" dirty="0"/>
                  <a:t>2x - 4 </a:t>
                </a:r>
                <a:r>
                  <a:rPr lang="en-IE" sz="3200" dirty="0"/>
                  <a:t>≤ 6, </a:t>
                </a:r>
                <a:r>
                  <a:rPr lang="en-IE" sz="3200" b="1" dirty="0"/>
                  <a:t>where</a:t>
                </a:r>
                <a:r>
                  <a:rPr lang="en-IE" sz="3200" dirty="0"/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/>
                  <a:t> ∈ </a:t>
                </a:r>
                <a:r>
                  <a:rPr lang="en-GB" sz="3200" b="1" dirty="0"/>
                  <a:t>N</a:t>
                </a:r>
                <a:endParaRPr lang="en-IE" sz="3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DDD39D-5107-B246-8267-482C55D18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5"/>
              </p:nvPr>
            </p:nvSpPr>
            <p:spPr>
              <a:xfrm>
                <a:off x="1310741" y="854137"/>
                <a:ext cx="7826770" cy="3086298"/>
              </a:xfrm>
              <a:blipFill>
                <a:blip r:embed="rId2"/>
                <a:stretch>
                  <a:fillRect l="-1948" t="-288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470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8DFB9-2E55-BE42-B640-5807B71EEF0D}"/>
                  </a:ext>
                </a:extLst>
              </p:cNvPr>
              <p:cNvSpPr/>
              <p:nvPr/>
            </p:nvSpPr>
            <p:spPr>
              <a:xfrm>
                <a:off x="1187624" y="627534"/>
                <a:ext cx="83884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8. Solve the inequality </a:t>
                </a:r>
                <a14:m>
                  <m:oMath xmlns:m="http://schemas.openxmlformats.org/officeDocument/2006/math"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𝟓𝐱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≥ 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𝟏𝟐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𝒘𝒉𝒆𝒓𝒆</m:t>
                    </m:r>
                  </m:oMath>
                </a14:m>
                <a:r>
                  <a:rPr lang="en-GB" sz="28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2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MS PGothic" panose="020B0600070205080204" pitchFamily="34" charset="-128"/>
                    <a:cs typeface="Cambria Math" panose="02040503050406030204" pitchFamily="18" charset="0"/>
                  </a:rPr>
                  <a:t>∈</a:t>
                </a:r>
                <a:r>
                  <a:rPr lang="en-GB" sz="2800" dirty="0">
                    <a:solidFill>
                      <a:srgbClr val="000000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Times New Roman" panose="02020603050405020304" pitchFamily="18" charset="0"/>
                  </a:rPr>
                  <a:t> </a:t>
                </a:r>
                <a:r>
                  <a:rPr lang="en-GB" sz="2800" b="1" i="1" dirty="0">
                    <a:solidFill>
                      <a:srgbClr val="000000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Times New Roman" panose="02020603050405020304" pitchFamily="18" charset="0"/>
                  </a:rPr>
                  <a:t>R</a:t>
                </a:r>
                <a:endParaRPr lang="en-IE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8DFB9-2E55-BE42-B640-5807B71EEF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627534"/>
                <a:ext cx="8388424" cy="523220"/>
              </a:xfrm>
              <a:prstGeom prst="rect">
                <a:avLst/>
              </a:prstGeom>
              <a:blipFill>
                <a:blip r:embed="rId2"/>
                <a:stretch>
                  <a:fillRect l="-1513" t="-12195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19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What we Learnt Today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05273BD-9F22-8642-BA33-8169425E7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025639"/>
              </p:ext>
            </p:extLst>
          </p:nvPr>
        </p:nvGraphicFramePr>
        <p:xfrm>
          <a:off x="1403648" y="987574"/>
          <a:ext cx="6096000" cy="271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534897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Important symbols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: &lt;, &gt;, 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</a:rPr>
                        <a:t>≤, ≥ and </a:t>
                      </a:r>
                      <a:r>
                        <a:rPr lang="en-IE" sz="2000" dirty="0">
                          <a:solidFill>
                            <a:schemeClr val="tx1"/>
                          </a:solidFill>
                        </a:rPr>
                        <a:t>∈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181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Rules for graphing inequalities on the number line: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Dots for Natural Numbers and Integers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Continuous line for Real Numbers (because it includes all the fractions and decimals in between the whole numbers)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253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Solving inequalities like how we solve equations: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Change side, change sign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2606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84806B-0062-5442-9E31-E03B1DA16FFB}"/>
              </a:ext>
            </a:extLst>
          </p:cNvPr>
          <p:cNvSpPr txBox="1"/>
          <p:nvPr/>
        </p:nvSpPr>
        <p:spPr>
          <a:xfrm>
            <a:off x="2339752" y="3848145"/>
            <a:ext cx="4902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 practice solving more inequalities tomorrow…</a:t>
            </a:r>
          </a:p>
          <a:p>
            <a:r>
              <a:rPr lang="en-US" dirty="0">
                <a:solidFill>
                  <a:srgbClr val="FF0000"/>
                </a:solidFill>
              </a:rPr>
              <a:t>… before a test on Friday.</a:t>
            </a:r>
          </a:p>
        </p:txBody>
      </p:sp>
    </p:spTree>
    <p:extLst>
      <p:ext uri="{BB962C8B-B14F-4D97-AF65-F5344CB8AC3E}">
        <p14:creationId xmlns:p14="http://schemas.microsoft.com/office/powerpoint/2010/main" val="60687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1741">
  <a:themeElements>
    <a:clrScheme name="Custom 11">
      <a:dk1>
        <a:srgbClr val="494C4F"/>
      </a:dk1>
      <a:lt1>
        <a:srgbClr val="FFFFFF"/>
      </a:lt1>
      <a:dk2>
        <a:srgbClr val="494C4F"/>
      </a:dk2>
      <a:lt2>
        <a:srgbClr val="F2F3F8"/>
      </a:lt2>
      <a:accent1>
        <a:srgbClr val="FA7541"/>
      </a:accent1>
      <a:accent2>
        <a:srgbClr val="FED65C"/>
      </a:accent2>
      <a:accent3>
        <a:srgbClr val="4FC1E9"/>
      </a:accent3>
      <a:accent4>
        <a:srgbClr val="A1D469"/>
      </a:accent4>
      <a:accent5>
        <a:srgbClr val="ED5463"/>
      </a:accent5>
      <a:accent6>
        <a:srgbClr val="49CFAE"/>
      </a:accent6>
      <a:hlink>
        <a:srgbClr val="4FC1E9"/>
      </a:hlink>
      <a:folHlink>
        <a:srgbClr val="49CFA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984.potx" id="{EC640142-0B56-4BCD-BF44-3E913B1153CA}" vid="{09F0B827-5AC6-455C-82DF-B55A8A898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1741</Template>
  <TotalTime>2345</TotalTime>
  <Words>705</Words>
  <Application>Microsoft Macintosh PowerPoint</Application>
  <PresentationFormat>On-screen Show (16:9)</PresentationFormat>
  <Paragraphs>146</Paragraphs>
  <Slides>17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Times New Roman</vt:lpstr>
      <vt:lpstr>1741</vt:lpstr>
      <vt:lpstr>Office Theme</vt:lpstr>
      <vt:lpstr>Equation</vt:lpstr>
      <vt:lpstr>Algebra: Inequalities</vt:lpstr>
      <vt:lpstr>What is an inequality?</vt:lpstr>
      <vt:lpstr>PowerPoint Presentation</vt:lpstr>
      <vt:lpstr>Real World Examples of Inequalities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Learnt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</dc:title>
  <dc:creator>MAC LIATHAIN, CIAN</dc:creator>
  <cp:lastModifiedBy>MAC LIATHAIN, CIAN</cp:lastModifiedBy>
  <cp:revision>84</cp:revision>
  <dcterms:created xsi:type="dcterms:W3CDTF">2020-10-19T19:44:49Z</dcterms:created>
  <dcterms:modified xsi:type="dcterms:W3CDTF">2020-10-21T19:01:19Z</dcterms:modified>
</cp:coreProperties>
</file>