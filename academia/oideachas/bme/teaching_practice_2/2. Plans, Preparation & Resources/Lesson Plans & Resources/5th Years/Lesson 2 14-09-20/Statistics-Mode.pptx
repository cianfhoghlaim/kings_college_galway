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88" r:id="rId3"/>
    <p:sldId id="291" r:id="rId4"/>
    <p:sldId id="293" r:id="rId5"/>
    <p:sldId id="296" r:id="rId6"/>
    <p:sldId id="305" r:id="rId7"/>
    <p:sldId id="294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7" r:id="rId17"/>
    <p:sldId id="308" r:id="rId18"/>
    <p:sldId id="309" r:id="rId19"/>
    <p:sldId id="310" r:id="rId20"/>
    <p:sldId id="311" r:id="rId21"/>
    <p:sldId id="312" r:id="rId22"/>
    <p:sldId id="313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Oswald" pitchFamily="2" charset="77"/>
      <p:regular r:id="rId30"/>
      <p:bold r:id="rId31"/>
    </p:embeddedFont>
    <p:embeddedFont>
      <p:font typeface="Source Sans Pro" panose="020B0503030403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B1EA6A-314C-499A-8F31-F63CCA057E40}">
  <a:tblStyle styleId="{95B1EA6A-314C-499A-8F31-F63CCA057E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/>
    <p:restoredTop sz="94663"/>
  </p:normalViewPr>
  <p:slideViewPr>
    <p:cSldViewPr snapToGrid="0" snapToObjects="1">
      <p:cViewPr varScale="1">
        <p:scale>
          <a:sx n="153" d="100"/>
          <a:sy n="153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A5D03A-115E-BA4F-B9AA-675A21C6C514}" type="doc">
      <dgm:prSet loTypeId="urn:microsoft.com/office/officeart/2005/8/layout/cycle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D979DC3-4959-1149-96B0-80E87B767098}">
      <dgm:prSet phldrT="[Text]" custT="1"/>
      <dgm:spPr/>
      <dgm:t>
        <a:bodyPr/>
        <a:lstStyle/>
        <a:p>
          <a:r>
            <a:rPr lang="en-GB" sz="1800" dirty="0"/>
            <a:t>Specifying the question</a:t>
          </a:r>
        </a:p>
      </dgm:t>
    </dgm:pt>
    <dgm:pt modelId="{7721B282-CBC1-E44A-81D1-AE361386EF5C}" type="parTrans" cxnId="{04DF6A62-C530-7349-9512-9EAB7995618F}">
      <dgm:prSet/>
      <dgm:spPr/>
      <dgm:t>
        <a:bodyPr/>
        <a:lstStyle/>
        <a:p>
          <a:endParaRPr lang="en-GB"/>
        </a:p>
      </dgm:t>
    </dgm:pt>
    <dgm:pt modelId="{2DEFBF11-5469-CA46-BCB3-1314784869C6}" type="sibTrans" cxnId="{04DF6A62-C530-7349-9512-9EAB7995618F}">
      <dgm:prSet/>
      <dgm:spPr/>
      <dgm:t>
        <a:bodyPr/>
        <a:lstStyle/>
        <a:p>
          <a:endParaRPr lang="en-GB"/>
        </a:p>
      </dgm:t>
    </dgm:pt>
    <dgm:pt modelId="{B6787CE1-7251-4341-9562-C416888AD8A1}">
      <dgm:prSet phldrT="[Text]" custT="1"/>
      <dgm:spPr/>
      <dgm:t>
        <a:bodyPr/>
        <a:lstStyle/>
        <a:p>
          <a:r>
            <a:rPr lang="en-GB" sz="2000" dirty="0"/>
            <a:t>Collecting Data</a:t>
          </a:r>
        </a:p>
      </dgm:t>
    </dgm:pt>
    <dgm:pt modelId="{2FB3BA53-D7E2-B342-90E9-E800D73357FA}" type="parTrans" cxnId="{A6F18D94-2245-AD41-B4E8-3F8A7D6313DE}">
      <dgm:prSet/>
      <dgm:spPr/>
      <dgm:t>
        <a:bodyPr/>
        <a:lstStyle/>
        <a:p>
          <a:endParaRPr lang="en-GB"/>
        </a:p>
      </dgm:t>
    </dgm:pt>
    <dgm:pt modelId="{85C1322E-4896-7A46-9E80-0C575E0DCAB1}" type="sibTrans" cxnId="{A6F18D94-2245-AD41-B4E8-3F8A7D6313DE}">
      <dgm:prSet/>
      <dgm:spPr/>
      <dgm:t>
        <a:bodyPr/>
        <a:lstStyle/>
        <a:p>
          <a:endParaRPr lang="en-GB"/>
        </a:p>
      </dgm:t>
    </dgm:pt>
    <dgm:pt modelId="{41C168BE-C82E-F842-952F-0D378D81BD8E}">
      <dgm:prSet phldrT="[Text]" custT="1"/>
      <dgm:spPr/>
      <dgm:t>
        <a:bodyPr/>
        <a:lstStyle/>
        <a:p>
          <a:r>
            <a:rPr lang="en-GB" sz="1800" dirty="0"/>
            <a:t>Processing and presenting the data</a:t>
          </a:r>
        </a:p>
      </dgm:t>
    </dgm:pt>
    <dgm:pt modelId="{D13953B4-7951-FA46-A536-03146141547B}" type="parTrans" cxnId="{C1D06423-7843-1A4D-9D7D-D48B9B25CFFB}">
      <dgm:prSet/>
      <dgm:spPr/>
      <dgm:t>
        <a:bodyPr/>
        <a:lstStyle/>
        <a:p>
          <a:endParaRPr lang="en-GB"/>
        </a:p>
      </dgm:t>
    </dgm:pt>
    <dgm:pt modelId="{5577C60A-BF24-C745-87EB-40FE5FCBA3B4}" type="sibTrans" cxnId="{C1D06423-7843-1A4D-9D7D-D48B9B25CFFB}">
      <dgm:prSet/>
      <dgm:spPr/>
      <dgm:t>
        <a:bodyPr/>
        <a:lstStyle/>
        <a:p>
          <a:endParaRPr lang="en-GB"/>
        </a:p>
      </dgm:t>
    </dgm:pt>
    <dgm:pt modelId="{6427508C-A13F-6C43-9A36-23CBC6448740}">
      <dgm:prSet phldrT="[Text]" custT="1"/>
      <dgm:spPr/>
      <dgm:t>
        <a:bodyPr/>
        <a:lstStyle/>
        <a:p>
          <a:r>
            <a:rPr lang="en-GB" sz="1800" dirty="0"/>
            <a:t>Interpreting the data (to answer the question)</a:t>
          </a:r>
        </a:p>
      </dgm:t>
    </dgm:pt>
    <dgm:pt modelId="{82438806-356B-FC4D-B71F-865AAA0D4E69}" type="parTrans" cxnId="{12C3BD3D-6FAC-5E4B-94EA-E2BB70441CF0}">
      <dgm:prSet/>
      <dgm:spPr/>
      <dgm:t>
        <a:bodyPr/>
        <a:lstStyle/>
        <a:p>
          <a:endParaRPr lang="en-GB"/>
        </a:p>
      </dgm:t>
    </dgm:pt>
    <dgm:pt modelId="{5074BE72-2FE2-DF48-AE26-5153F699665E}" type="sibTrans" cxnId="{12C3BD3D-6FAC-5E4B-94EA-E2BB70441CF0}">
      <dgm:prSet/>
      <dgm:spPr/>
      <dgm:t>
        <a:bodyPr/>
        <a:lstStyle/>
        <a:p>
          <a:endParaRPr lang="en-GB"/>
        </a:p>
      </dgm:t>
    </dgm:pt>
    <dgm:pt modelId="{14A6E7BE-0CA2-A04A-B40B-ACDFDF0C7B7B}" type="pres">
      <dgm:prSet presAssocID="{B2A5D03A-115E-BA4F-B9AA-675A21C6C514}" presName="cycle" presStyleCnt="0">
        <dgm:presLayoutVars>
          <dgm:dir/>
          <dgm:resizeHandles val="exact"/>
        </dgm:presLayoutVars>
      </dgm:prSet>
      <dgm:spPr/>
    </dgm:pt>
    <dgm:pt modelId="{93EA40E2-AC1A-544D-9C85-85160E852BBC}" type="pres">
      <dgm:prSet presAssocID="{ED979DC3-4959-1149-96B0-80E87B767098}" presName="node" presStyleLbl="node1" presStyleIdx="0" presStyleCnt="4">
        <dgm:presLayoutVars>
          <dgm:bulletEnabled val="1"/>
        </dgm:presLayoutVars>
      </dgm:prSet>
      <dgm:spPr/>
    </dgm:pt>
    <dgm:pt modelId="{2C01F0A0-C4D3-9B4F-8D25-46CFDED53ACD}" type="pres">
      <dgm:prSet presAssocID="{ED979DC3-4959-1149-96B0-80E87B767098}" presName="spNode" presStyleCnt="0"/>
      <dgm:spPr/>
    </dgm:pt>
    <dgm:pt modelId="{B463645D-B844-CB4D-AB8C-9F15F6048399}" type="pres">
      <dgm:prSet presAssocID="{2DEFBF11-5469-CA46-BCB3-1314784869C6}" presName="sibTrans" presStyleLbl="sibTrans1D1" presStyleIdx="0" presStyleCnt="4"/>
      <dgm:spPr/>
    </dgm:pt>
    <dgm:pt modelId="{A564D19E-FCF7-084F-9294-39A9185178C3}" type="pres">
      <dgm:prSet presAssocID="{B6787CE1-7251-4341-9562-C416888AD8A1}" presName="node" presStyleLbl="node1" presStyleIdx="1" presStyleCnt="4">
        <dgm:presLayoutVars>
          <dgm:bulletEnabled val="1"/>
        </dgm:presLayoutVars>
      </dgm:prSet>
      <dgm:spPr/>
    </dgm:pt>
    <dgm:pt modelId="{D008A4FF-49C7-0C44-B3FC-7328222C838A}" type="pres">
      <dgm:prSet presAssocID="{B6787CE1-7251-4341-9562-C416888AD8A1}" presName="spNode" presStyleCnt="0"/>
      <dgm:spPr/>
    </dgm:pt>
    <dgm:pt modelId="{DF0186BD-FD9A-1A49-99BF-EA1DD2CC0D53}" type="pres">
      <dgm:prSet presAssocID="{85C1322E-4896-7A46-9E80-0C575E0DCAB1}" presName="sibTrans" presStyleLbl="sibTrans1D1" presStyleIdx="1" presStyleCnt="4"/>
      <dgm:spPr/>
    </dgm:pt>
    <dgm:pt modelId="{13E3C923-5A1F-E84D-B779-EC1570DFFC0D}" type="pres">
      <dgm:prSet presAssocID="{41C168BE-C82E-F842-952F-0D378D81BD8E}" presName="node" presStyleLbl="node1" presStyleIdx="2" presStyleCnt="4" custScaleX="115232" custScaleY="112043">
        <dgm:presLayoutVars>
          <dgm:bulletEnabled val="1"/>
        </dgm:presLayoutVars>
      </dgm:prSet>
      <dgm:spPr/>
    </dgm:pt>
    <dgm:pt modelId="{2A615404-BE83-604C-A008-1642545937F9}" type="pres">
      <dgm:prSet presAssocID="{41C168BE-C82E-F842-952F-0D378D81BD8E}" presName="spNode" presStyleCnt="0"/>
      <dgm:spPr/>
    </dgm:pt>
    <dgm:pt modelId="{FC2AEC1C-DB7D-0747-8155-9E269A8745E2}" type="pres">
      <dgm:prSet presAssocID="{5577C60A-BF24-C745-87EB-40FE5FCBA3B4}" presName="sibTrans" presStyleLbl="sibTrans1D1" presStyleIdx="2" presStyleCnt="4"/>
      <dgm:spPr/>
    </dgm:pt>
    <dgm:pt modelId="{F08C73B2-4F04-7D4F-9001-17EC368D35C6}" type="pres">
      <dgm:prSet presAssocID="{6427508C-A13F-6C43-9A36-23CBC6448740}" presName="node" presStyleLbl="node1" presStyleIdx="3" presStyleCnt="4" custScaleX="129401" custScaleY="100844">
        <dgm:presLayoutVars>
          <dgm:bulletEnabled val="1"/>
        </dgm:presLayoutVars>
      </dgm:prSet>
      <dgm:spPr/>
    </dgm:pt>
    <dgm:pt modelId="{5A88A17F-B082-1F4C-B718-5B550987AB5B}" type="pres">
      <dgm:prSet presAssocID="{6427508C-A13F-6C43-9A36-23CBC6448740}" presName="spNode" presStyleCnt="0"/>
      <dgm:spPr/>
    </dgm:pt>
    <dgm:pt modelId="{5E7EACBA-F1CA-D444-8FAB-B5927A6E2E8E}" type="pres">
      <dgm:prSet presAssocID="{5074BE72-2FE2-DF48-AE26-5153F699665E}" presName="sibTrans" presStyleLbl="sibTrans1D1" presStyleIdx="3" presStyleCnt="4"/>
      <dgm:spPr/>
    </dgm:pt>
  </dgm:ptLst>
  <dgm:cxnLst>
    <dgm:cxn modelId="{A4D1110D-1FCA-A64F-8303-159F1BDEBE36}" type="presOf" srcId="{6427508C-A13F-6C43-9A36-23CBC6448740}" destId="{F08C73B2-4F04-7D4F-9001-17EC368D35C6}" srcOrd="0" destOrd="0" presId="urn:microsoft.com/office/officeart/2005/8/layout/cycle5"/>
    <dgm:cxn modelId="{EA626D0E-7F5B-4E4A-BE0B-A8AEEA7EC725}" type="presOf" srcId="{41C168BE-C82E-F842-952F-0D378D81BD8E}" destId="{13E3C923-5A1F-E84D-B779-EC1570DFFC0D}" srcOrd="0" destOrd="0" presId="urn:microsoft.com/office/officeart/2005/8/layout/cycle5"/>
    <dgm:cxn modelId="{C1D06423-7843-1A4D-9D7D-D48B9B25CFFB}" srcId="{B2A5D03A-115E-BA4F-B9AA-675A21C6C514}" destId="{41C168BE-C82E-F842-952F-0D378D81BD8E}" srcOrd="2" destOrd="0" parTransId="{D13953B4-7951-FA46-A536-03146141547B}" sibTransId="{5577C60A-BF24-C745-87EB-40FE5FCBA3B4}"/>
    <dgm:cxn modelId="{12C3BD3D-6FAC-5E4B-94EA-E2BB70441CF0}" srcId="{B2A5D03A-115E-BA4F-B9AA-675A21C6C514}" destId="{6427508C-A13F-6C43-9A36-23CBC6448740}" srcOrd="3" destOrd="0" parTransId="{82438806-356B-FC4D-B71F-865AAA0D4E69}" sibTransId="{5074BE72-2FE2-DF48-AE26-5153F699665E}"/>
    <dgm:cxn modelId="{A6993459-FF30-E644-AE7E-35DBA330C0FD}" type="presOf" srcId="{5074BE72-2FE2-DF48-AE26-5153F699665E}" destId="{5E7EACBA-F1CA-D444-8FAB-B5927A6E2E8E}" srcOrd="0" destOrd="0" presId="urn:microsoft.com/office/officeart/2005/8/layout/cycle5"/>
    <dgm:cxn modelId="{19904F61-AFD1-FE49-ABB2-BBFF30D2457B}" type="presOf" srcId="{85C1322E-4896-7A46-9E80-0C575E0DCAB1}" destId="{DF0186BD-FD9A-1A49-99BF-EA1DD2CC0D53}" srcOrd="0" destOrd="0" presId="urn:microsoft.com/office/officeart/2005/8/layout/cycle5"/>
    <dgm:cxn modelId="{04DF6A62-C530-7349-9512-9EAB7995618F}" srcId="{B2A5D03A-115E-BA4F-B9AA-675A21C6C514}" destId="{ED979DC3-4959-1149-96B0-80E87B767098}" srcOrd="0" destOrd="0" parTransId="{7721B282-CBC1-E44A-81D1-AE361386EF5C}" sibTransId="{2DEFBF11-5469-CA46-BCB3-1314784869C6}"/>
    <dgm:cxn modelId="{E8063B77-97B4-3743-B1D4-59AB16C290C4}" type="presOf" srcId="{B2A5D03A-115E-BA4F-B9AA-675A21C6C514}" destId="{14A6E7BE-0CA2-A04A-B40B-ACDFDF0C7B7B}" srcOrd="0" destOrd="0" presId="urn:microsoft.com/office/officeart/2005/8/layout/cycle5"/>
    <dgm:cxn modelId="{4E555888-622E-4847-8F9F-583398D44783}" type="presOf" srcId="{5577C60A-BF24-C745-87EB-40FE5FCBA3B4}" destId="{FC2AEC1C-DB7D-0747-8155-9E269A8745E2}" srcOrd="0" destOrd="0" presId="urn:microsoft.com/office/officeart/2005/8/layout/cycle5"/>
    <dgm:cxn modelId="{A6F18D94-2245-AD41-B4E8-3F8A7D6313DE}" srcId="{B2A5D03A-115E-BA4F-B9AA-675A21C6C514}" destId="{B6787CE1-7251-4341-9562-C416888AD8A1}" srcOrd="1" destOrd="0" parTransId="{2FB3BA53-D7E2-B342-90E9-E800D73357FA}" sibTransId="{85C1322E-4896-7A46-9E80-0C575E0DCAB1}"/>
    <dgm:cxn modelId="{353A18B3-F14D-8F46-97E4-A8DF04CAA608}" type="presOf" srcId="{2DEFBF11-5469-CA46-BCB3-1314784869C6}" destId="{B463645D-B844-CB4D-AB8C-9F15F6048399}" srcOrd="0" destOrd="0" presId="urn:microsoft.com/office/officeart/2005/8/layout/cycle5"/>
    <dgm:cxn modelId="{2CDB1EE2-1640-DF48-88AB-04626EF54905}" type="presOf" srcId="{B6787CE1-7251-4341-9562-C416888AD8A1}" destId="{A564D19E-FCF7-084F-9294-39A9185178C3}" srcOrd="0" destOrd="0" presId="urn:microsoft.com/office/officeart/2005/8/layout/cycle5"/>
    <dgm:cxn modelId="{C65BE5E9-E48F-AA4E-891C-7692D566C296}" type="presOf" srcId="{ED979DC3-4959-1149-96B0-80E87B767098}" destId="{93EA40E2-AC1A-544D-9C85-85160E852BBC}" srcOrd="0" destOrd="0" presId="urn:microsoft.com/office/officeart/2005/8/layout/cycle5"/>
    <dgm:cxn modelId="{E44D3973-88CD-4B42-A5AC-2E3C744B7BFB}" type="presParOf" srcId="{14A6E7BE-0CA2-A04A-B40B-ACDFDF0C7B7B}" destId="{93EA40E2-AC1A-544D-9C85-85160E852BBC}" srcOrd="0" destOrd="0" presId="urn:microsoft.com/office/officeart/2005/8/layout/cycle5"/>
    <dgm:cxn modelId="{42765974-DE0A-2844-A942-7912A187C265}" type="presParOf" srcId="{14A6E7BE-0CA2-A04A-B40B-ACDFDF0C7B7B}" destId="{2C01F0A0-C4D3-9B4F-8D25-46CFDED53ACD}" srcOrd="1" destOrd="0" presId="urn:microsoft.com/office/officeart/2005/8/layout/cycle5"/>
    <dgm:cxn modelId="{5A842E4B-863C-7A48-8BCA-A3316E56083A}" type="presParOf" srcId="{14A6E7BE-0CA2-A04A-B40B-ACDFDF0C7B7B}" destId="{B463645D-B844-CB4D-AB8C-9F15F6048399}" srcOrd="2" destOrd="0" presId="urn:microsoft.com/office/officeart/2005/8/layout/cycle5"/>
    <dgm:cxn modelId="{B168B459-BC9C-2F4A-BA77-BD616AC9F654}" type="presParOf" srcId="{14A6E7BE-0CA2-A04A-B40B-ACDFDF0C7B7B}" destId="{A564D19E-FCF7-084F-9294-39A9185178C3}" srcOrd="3" destOrd="0" presId="urn:microsoft.com/office/officeart/2005/8/layout/cycle5"/>
    <dgm:cxn modelId="{44846DF0-EE36-7440-B43F-C02EDF4D3B58}" type="presParOf" srcId="{14A6E7BE-0CA2-A04A-B40B-ACDFDF0C7B7B}" destId="{D008A4FF-49C7-0C44-B3FC-7328222C838A}" srcOrd="4" destOrd="0" presId="urn:microsoft.com/office/officeart/2005/8/layout/cycle5"/>
    <dgm:cxn modelId="{0A1C9810-4C8C-2243-A35E-90F5D2B63E76}" type="presParOf" srcId="{14A6E7BE-0CA2-A04A-B40B-ACDFDF0C7B7B}" destId="{DF0186BD-FD9A-1A49-99BF-EA1DD2CC0D53}" srcOrd="5" destOrd="0" presId="urn:microsoft.com/office/officeart/2005/8/layout/cycle5"/>
    <dgm:cxn modelId="{977F64A8-4CF9-CA45-9B74-9EE1B0EAF7BA}" type="presParOf" srcId="{14A6E7BE-0CA2-A04A-B40B-ACDFDF0C7B7B}" destId="{13E3C923-5A1F-E84D-B779-EC1570DFFC0D}" srcOrd="6" destOrd="0" presId="urn:microsoft.com/office/officeart/2005/8/layout/cycle5"/>
    <dgm:cxn modelId="{6D4CA8AE-0240-364C-AD64-096776B43B16}" type="presParOf" srcId="{14A6E7BE-0CA2-A04A-B40B-ACDFDF0C7B7B}" destId="{2A615404-BE83-604C-A008-1642545937F9}" srcOrd="7" destOrd="0" presId="urn:microsoft.com/office/officeart/2005/8/layout/cycle5"/>
    <dgm:cxn modelId="{850E0019-CFB6-294C-AB10-1AAA7C750EFC}" type="presParOf" srcId="{14A6E7BE-0CA2-A04A-B40B-ACDFDF0C7B7B}" destId="{FC2AEC1C-DB7D-0747-8155-9E269A8745E2}" srcOrd="8" destOrd="0" presId="urn:microsoft.com/office/officeart/2005/8/layout/cycle5"/>
    <dgm:cxn modelId="{58F23E7C-34F1-ED41-A3F7-E376CD4B3E7C}" type="presParOf" srcId="{14A6E7BE-0CA2-A04A-B40B-ACDFDF0C7B7B}" destId="{F08C73B2-4F04-7D4F-9001-17EC368D35C6}" srcOrd="9" destOrd="0" presId="urn:microsoft.com/office/officeart/2005/8/layout/cycle5"/>
    <dgm:cxn modelId="{63542D9D-52A9-794A-9127-D51523CDBEC0}" type="presParOf" srcId="{14A6E7BE-0CA2-A04A-B40B-ACDFDF0C7B7B}" destId="{5A88A17F-B082-1F4C-B718-5B550987AB5B}" srcOrd="10" destOrd="0" presId="urn:microsoft.com/office/officeart/2005/8/layout/cycle5"/>
    <dgm:cxn modelId="{E5BF182D-E948-EF45-8ED2-B1F01F4F5310}" type="presParOf" srcId="{14A6E7BE-0CA2-A04A-B40B-ACDFDF0C7B7B}" destId="{5E7EACBA-F1CA-D444-8FAB-B5927A6E2E8E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A40E2-AC1A-544D-9C85-85160E852BBC}">
      <dsp:nvSpPr>
        <dsp:cNvPr id="0" name=""/>
        <dsp:cNvSpPr/>
      </dsp:nvSpPr>
      <dsp:spPr>
        <a:xfrm>
          <a:off x="2428485" y="-28252"/>
          <a:ext cx="1452562" cy="944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Specifying the question</a:t>
          </a:r>
        </a:p>
      </dsp:txBody>
      <dsp:txXfrm>
        <a:off x="2474575" y="17838"/>
        <a:ext cx="1360382" cy="851985"/>
      </dsp:txXfrm>
    </dsp:sp>
    <dsp:sp modelId="{B463645D-B844-CB4D-AB8C-9F15F6048399}">
      <dsp:nvSpPr>
        <dsp:cNvPr id="0" name=""/>
        <dsp:cNvSpPr/>
      </dsp:nvSpPr>
      <dsp:spPr>
        <a:xfrm>
          <a:off x="1595024" y="443830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486503" y="305186"/>
              </a:moveTo>
              <a:arcTo wR="1559742" hR="1559742" stAng="18387232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64D19E-FCF7-084F-9294-39A9185178C3}">
      <dsp:nvSpPr>
        <dsp:cNvPr id="0" name=""/>
        <dsp:cNvSpPr/>
      </dsp:nvSpPr>
      <dsp:spPr>
        <a:xfrm>
          <a:off x="3988228" y="1531490"/>
          <a:ext cx="1452562" cy="944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Collecting Data</a:t>
          </a:r>
        </a:p>
      </dsp:txBody>
      <dsp:txXfrm>
        <a:off x="4034318" y="1577580"/>
        <a:ext cx="1360382" cy="851985"/>
      </dsp:txXfrm>
    </dsp:sp>
    <dsp:sp modelId="{DF0186BD-FD9A-1A49-99BF-EA1DD2CC0D53}">
      <dsp:nvSpPr>
        <dsp:cNvPr id="0" name=""/>
        <dsp:cNvSpPr/>
      </dsp:nvSpPr>
      <dsp:spPr>
        <a:xfrm>
          <a:off x="1595024" y="443830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968204" y="2229842"/>
              </a:moveTo>
              <a:arcTo wR="1559742" hR="1559742" stAng="1526614" swAng="145682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E3C923-5A1F-E84D-B779-EC1570DFFC0D}">
      <dsp:nvSpPr>
        <dsp:cNvPr id="0" name=""/>
        <dsp:cNvSpPr/>
      </dsp:nvSpPr>
      <dsp:spPr>
        <a:xfrm>
          <a:off x="2317858" y="3034380"/>
          <a:ext cx="1673816" cy="1057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Processing and presenting the data</a:t>
          </a:r>
        </a:p>
      </dsp:txBody>
      <dsp:txXfrm>
        <a:off x="2369499" y="3086021"/>
        <a:ext cx="1570534" cy="954589"/>
      </dsp:txXfrm>
    </dsp:sp>
    <dsp:sp modelId="{FC2AEC1C-DB7D-0747-8155-9E269A8745E2}">
      <dsp:nvSpPr>
        <dsp:cNvPr id="0" name=""/>
        <dsp:cNvSpPr/>
      </dsp:nvSpPr>
      <dsp:spPr>
        <a:xfrm>
          <a:off x="1595024" y="443830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552014" y="2750239"/>
              </a:moveTo>
              <a:arcTo wR="1559742" hR="1559742" stAng="7814829" swAng="145107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8C73B2-4F04-7D4F-9001-17EC368D35C6}">
      <dsp:nvSpPr>
        <dsp:cNvPr id="0" name=""/>
        <dsp:cNvSpPr/>
      </dsp:nvSpPr>
      <dsp:spPr>
        <a:xfrm>
          <a:off x="655208" y="1527506"/>
          <a:ext cx="1879630" cy="9521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Interpreting the data (to answer the question)</a:t>
          </a:r>
        </a:p>
      </dsp:txBody>
      <dsp:txXfrm>
        <a:off x="701687" y="1573985"/>
        <a:ext cx="1786672" cy="859176"/>
      </dsp:txXfrm>
    </dsp:sp>
    <dsp:sp modelId="{5E7EACBA-F1CA-D444-8FAB-B5927A6E2E8E}">
      <dsp:nvSpPr>
        <dsp:cNvPr id="0" name=""/>
        <dsp:cNvSpPr/>
      </dsp:nvSpPr>
      <dsp:spPr>
        <a:xfrm>
          <a:off x="1595024" y="443830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163210" y="865124"/>
              </a:moveTo>
              <a:arcTo wR="1559742" hR="1559742" stAng="12386711" swAng="162776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904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35" name="Google Shape;35;p2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36" name="Google Shape;36;p2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40" name="Google Shape;40;p2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" name="Google Shape;41;p2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" name="Google Shape;42;p2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3" name="Google Shape;43;p2"/>
          <p:cNvGrpSpPr/>
          <p:nvPr/>
        </p:nvGrpSpPr>
        <p:grpSpPr>
          <a:xfrm>
            <a:off x="-42837" y="2005088"/>
            <a:ext cx="9229575" cy="642787"/>
            <a:chOff x="-42837" y="4443488"/>
            <a:chExt cx="9229575" cy="642787"/>
          </a:xfrm>
        </p:grpSpPr>
        <p:sp>
          <p:nvSpPr>
            <p:cNvPr id="44" name="Google Shape;44;p2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2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ctrTitle"/>
          </p:nvPr>
        </p:nvSpPr>
        <p:spPr>
          <a:xfrm>
            <a:off x="2847975" y="3363425"/>
            <a:ext cx="56103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◉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164" name="Google Shape;164;p5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165" name="Google Shape;165;p5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5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69" name="Google Shape;169;p5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" name="Google Shape;170;p5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1" name="Google Shape;171;p5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72" name="Google Shape;172;p5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173" name="Google Shape;173;p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5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"/>
          <p:cNvSpPr txBox="1">
            <a:spLocks noGrp="1"/>
          </p:cNvSpPr>
          <p:nvPr>
            <p:ph type="sldNum" idx="12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295" name="Google Shape;295;p8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296" name="Google Shape;296;p8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8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8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9" name="Google Shape;299;p8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00" name="Google Shape;300;p8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1" name="Google Shape;301;p8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2" name="Google Shape;302;p8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03" name="Google Shape;303;p8"/>
          <p:cNvGrpSpPr/>
          <p:nvPr/>
        </p:nvGrpSpPr>
        <p:grpSpPr>
          <a:xfrm>
            <a:off x="-42837" y="4443488"/>
            <a:ext cx="9229575" cy="642787"/>
            <a:chOff x="-42837" y="4443488"/>
            <a:chExt cx="9229575" cy="642787"/>
          </a:xfrm>
        </p:grpSpPr>
        <p:sp>
          <p:nvSpPr>
            <p:cNvPr id="304" name="Google Shape;304;p8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9" name="Google Shape;329;p8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8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8"/>
          <p:cNvSpPr txBox="1">
            <a:spLocks noGrp="1"/>
          </p:cNvSpPr>
          <p:nvPr>
            <p:ph type="sldNum" idx="12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"/>
          <p:cNvSpPr txBox="1">
            <a:spLocks noGrp="1"/>
          </p:cNvSpPr>
          <p:nvPr>
            <p:ph type="sldNum" idx="12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381000" y="7"/>
            <a:ext cx="8382000" cy="5162348"/>
            <a:chOff x="381000" y="-18750"/>
            <a:chExt cx="8382000" cy="5181000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762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8;p1"/>
            <p:cNvCxnSpPr/>
            <p:nvPr/>
          </p:nvCxnSpPr>
          <p:spPr>
            <a:xfrm>
              <a:off x="1524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2286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3048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3810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4572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5334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096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858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7620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8382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81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1143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1905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2667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3429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4191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4953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5715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6477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7239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8001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8763000" y="-18750"/>
              <a:ext cx="0" cy="5181000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30" name="Google Shape;30;p1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swald"/>
              <a:buNone/>
              <a:defRPr sz="2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◉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◉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sldNum" idx="12"/>
          </p:nvPr>
        </p:nvSpPr>
        <p:spPr>
          <a:xfrm>
            <a:off x="8556775" y="4826200"/>
            <a:ext cx="5487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r">
              <a:buNone/>
              <a:defRPr sz="1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8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"/>
          <p:cNvSpPr txBox="1">
            <a:spLocks noGrp="1"/>
          </p:cNvSpPr>
          <p:nvPr>
            <p:ph type="ctrTitle"/>
          </p:nvPr>
        </p:nvSpPr>
        <p:spPr>
          <a:xfrm>
            <a:off x="2847975" y="3363425"/>
            <a:ext cx="56103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Statistics</a:t>
            </a:r>
            <a:br>
              <a:rPr lang="en" dirty="0"/>
            </a:br>
            <a:r>
              <a:rPr lang="en" sz="3200" dirty="0"/>
              <a:t>5</a:t>
            </a:r>
            <a:r>
              <a:rPr lang="en" sz="3200" baseline="30000" dirty="0"/>
              <a:t>th</a:t>
            </a:r>
            <a:r>
              <a:rPr lang="en" sz="3200" dirty="0"/>
              <a:t> Year </a:t>
            </a:r>
            <a:r>
              <a:rPr lang="en" sz="3200" dirty="0" err="1"/>
              <a:t>Maths</a:t>
            </a:r>
            <a:br>
              <a:rPr lang="en" sz="3200" dirty="0"/>
            </a:br>
            <a:r>
              <a:rPr lang="en" sz="3200" dirty="0"/>
              <a:t>14</a:t>
            </a:r>
            <a:r>
              <a:rPr lang="en" sz="3200" baseline="30000" dirty="0"/>
              <a:t>th</a:t>
            </a:r>
            <a:r>
              <a:rPr lang="en" sz="3200" dirty="0"/>
              <a:t> September 2020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16AF-4EB4-9847-8263-99DC6D4A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717" y="782822"/>
            <a:ext cx="7730058" cy="1277236"/>
          </a:xfrm>
        </p:spPr>
        <p:txBody>
          <a:bodyPr/>
          <a:lstStyle/>
          <a:p>
            <a:r>
              <a:rPr lang="en-US" sz="6600" dirty="0"/>
              <a:t>What are Statistics?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98BB8-9BB4-8F4D-A2F0-99479832A3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D7E18C-954F-BD44-AD53-216D4584B033}"/>
              </a:ext>
            </a:extLst>
          </p:cNvPr>
          <p:cNvSpPr txBox="1"/>
          <p:nvPr/>
        </p:nvSpPr>
        <p:spPr>
          <a:xfrm>
            <a:off x="826717" y="1990836"/>
            <a:ext cx="7433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800" dirty="0"/>
              <a:t>By asking specific questions, gathering data, </a:t>
            </a:r>
          </a:p>
          <a:p>
            <a:r>
              <a:rPr lang="en-US" sz="2800" dirty="0"/>
              <a:t>processing and presenting this data, Statistics help us make sense of the world.</a:t>
            </a:r>
          </a:p>
        </p:txBody>
      </p:sp>
    </p:spTree>
    <p:extLst>
      <p:ext uri="{BB962C8B-B14F-4D97-AF65-F5344CB8AC3E}">
        <p14:creationId xmlns:p14="http://schemas.microsoft.com/office/powerpoint/2010/main" val="66935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2FF58-A494-054F-98B5-F1D9A25EAB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76C3D-1F62-D44B-B06D-C7FC46687D85}"/>
              </a:ext>
            </a:extLst>
          </p:cNvPr>
          <p:cNvSpPr txBox="1">
            <a:spLocks/>
          </p:cNvSpPr>
          <p:nvPr/>
        </p:nvSpPr>
        <p:spPr>
          <a:xfrm>
            <a:off x="1834525" y="174514"/>
            <a:ext cx="6996600" cy="715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b="1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Data Handling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434E4-3BBC-FE46-881F-C39ED72EEB09}"/>
              </a:ext>
            </a:extLst>
          </p:cNvPr>
          <p:cNvSpPr txBox="1">
            <a:spLocks/>
          </p:cNvSpPr>
          <p:nvPr/>
        </p:nvSpPr>
        <p:spPr>
          <a:xfrm>
            <a:off x="8556775" y="5330696"/>
            <a:ext cx="5487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4FAFABC-2129-1B43-BA18-7F56DA8109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262407"/>
              </p:ext>
            </p:extLst>
          </p:nvPr>
        </p:nvGraphicFramePr>
        <p:xfrm>
          <a:off x="1524000" y="104424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2285F4-75C6-DD46-8E7A-D70F7072CF17}"/>
              </a:ext>
            </a:extLst>
          </p:cNvPr>
          <p:cNvSpPr/>
          <p:nvPr/>
        </p:nvSpPr>
        <p:spPr>
          <a:xfrm>
            <a:off x="3982065" y="1044246"/>
            <a:ext cx="1371600" cy="8877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D65400-4A67-E244-860A-24C21FA0B56C}"/>
              </a:ext>
            </a:extLst>
          </p:cNvPr>
          <p:cNvSpPr/>
          <p:nvPr/>
        </p:nvSpPr>
        <p:spPr>
          <a:xfrm>
            <a:off x="5565059" y="2632349"/>
            <a:ext cx="1371600" cy="8877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882985-5FE4-0842-B416-61FC7E66390C}"/>
              </a:ext>
            </a:extLst>
          </p:cNvPr>
          <p:cNvSpPr/>
          <p:nvPr/>
        </p:nvSpPr>
        <p:spPr>
          <a:xfrm>
            <a:off x="3876368" y="4099255"/>
            <a:ext cx="1582994" cy="10089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F0681BF-DF72-7C4B-8494-F1E7F8D57B51}"/>
              </a:ext>
            </a:extLst>
          </p:cNvPr>
          <p:cNvSpPr/>
          <p:nvPr/>
        </p:nvSpPr>
        <p:spPr>
          <a:xfrm>
            <a:off x="2207341" y="2571750"/>
            <a:ext cx="1774724" cy="9483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55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0DFD-7F1B-914F-AA28-4DA9B867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Specifying the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B4BEC-5C23-9F49-B36F-1AE87B3FA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32" y="1349925"/>
            <a:ext cx="8517600" cy="2757126"/>
          </a:xfrm>
        </p:spPr>
        <p:txBody>
          <a:bodyPr/>
          <a:lstStyle/>
          <a:p>
            <a:pPr marL="101600" indent="0">
              <a:buNone/>
            </a:pPr>
            <a:r>
              <a:rPr lang="en-US" sz="2800" dirty="0"/>
              <a:t>Example:</a:t>
            </a:r>
          </a:p>
          <a:p>
            <a:pPr marL="101600" indent="0">
              <a:buNone/>
            </a:pPr>
            <a:r>
              <a:rPr lang="en-US" sz="2800" dirty="0"/>
              <a:t>“Do you agree that you get too much homework?”</a:t>
            </a:r>
          </a:p>
          <a:p>
            <a:pPr marL="101600" indent="0">
              <a:buNone/>
            </a:pPr>
            <a:endParaRPr lang="en-US" sz="2800" dirty="0"/>
          </a:p>
          <a:p>
            <a:pPr marL="101600" indent="0">
              <a:buNone/>
            </a:pPr>
            <a:r>
              <a:rPr lang="en-US" sz="2800" dirty="0"/>
              <a:t>What’s wrong with this question?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C66D3-E14E-0949-B056-69F0D4FCD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8D8E3-6F99-1047-9C55-F49B85296DB3}"/>
              </a:ext>
            </a:extLst>
          </p:cNvPr>
          <p:cNvSpPr txBox="1"/>
          <p:nvPr/>
        </p:nvSpPr>
        <p:spPr>
          <a:xfrm>
            <a:off x="5734287" y="3065372"/>
            <a:ext cx="2877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Leading</a:t>
            </a:r>
          </a:p>
        </p:txBody>
      </p:sp>
    </p:spTree>
    <p:extLst>
      <p:ext uri="{BB962C8B-B14F-4D97-AF65-F5344CB8AC3E}">
        <p14:creationId xmlns:p14="http://schemas.microsoft.com/office/powerpoint/2010/main" val="331907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402A-CC84-2647-9891-55C71502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00" y="272594"/>
            <a:ext cx="6996600" cy="715800"/>
          </a:xfrm>
        </p:spPr>
        <p:txBody>
          <a:bodyPr/>
          <a:lstStyle/>
          <a:p>
            <a:r>
              <a:rPr lang="en-US" sz="4400" u="sng" dirty="0"/>
              <a:t>Collecting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F7C47-B6E8-184A-AA39-B26A0A0C0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979" y="783279"/>
            <a:ext cx="8203796" cy="1922100"/>
          </a:xfrm>
        </p:spPr>
        <p:txBody>
          <a:bodyPr/>
          <a:lstStyle/>
          <a:p>
            <a:pPr marL="101600" indent="0">
              <a:buNone/>
            </a:pPr>
            <a:r>
              <a:rPr lang="en-US" sz="2400" dirty="0"/>
              <a:t>It’s important to gather data from a representative sample.</a:t>
            </a:r>
          </a:p>
          <a:p>
            <a:pPr marL="1016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0B6E7-CA77-4A43-B0A4-0F436D17A6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14D9DA2-5FB2-334B-B435-50A8F5F1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74761"/>
              </p:ext>
            </p:extLst>
          </p:nvPr>
        </p:nvGraphicFramePr>
        <p:xfrm>
          <a:off x="1070715" y="1499079"/>
          <a:ext cx="7218520" cy="2885391"/>
        </p:xfrm>
        <a:graphic>
          <a:graphicData uri="http://schemas.openxmlformats.org/drawingml/2006/table">
            <a:tbl>
              <a:tblPr firstRow="1" bandRow="1">
                <a:tableStyleId>{95B1EA6A-314C-499A-8F31-F63CCA057E40}</a:tableStyleId>
              </a:tblPr>
              <a:tblGrid>
                <a:gridCol w="3609260">
                  <a:extLst>
                    <a:ext uri="{9D8B030D-6E8A-4147-A177-3AD203B41FA5}">
                      <a16:colId xmlns:a16="http://schemas.microsoft.com/office/drawing/2014/main" val="1314170954"/>
                    </a:ext>
                  </a:extLst>
                </a:gridCol>
                <a:gridCol w="3609260">
                  <a:extLst>
                    <a:ext uri="{9D8B030D-6E8A-4147-A177-3AD203B41FA5}">
                      <a16:colId xmlns:a16="http://schemas.microsoft.com/office/drawing/2014/main" val="1699577466"/>
                    </a:ext>
                  </a:extLst>
                </a:gridCol>
              </a:tblGrid>
              <a:tr h="72131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Primary Data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Secondary Data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961480"/>
                  </a:ext>
                </a:extLst>
              </a:tr>
              <a:tr h="2156511">
                <a:tc>
                  <a:txBody>
                    <a:bodyPr/>
                    <a:lstStyle/>
                    <a:p>
                      <a:r>
                        <a:rPr lang="en-US" sz="2400" dirty="0"/>
                        <a:t>Gathering data yourself.</a:t>
                      </a:r>
                    </a:p>
                    <a:p>
                      <a:endParaRPr lang="en-US" sz="2000" dirty="0"/>
                    </a:p>
                    <a:p>
                      <a:endParaRPr lang="en-US" sz="2000" dirty="0"/>
                    </a:p>
                    <a:p>
                      <a:r>
                        <a:rPr lang="en-US" sz="2400" u="sng" dirty="0"/>
                        <a:t>Examples</a:t>
                      </a:r>
                      <a:r>
                        <a:rPr lang="en-US" sz="2400" dirty="0"/>
                        <a:t>:</a:t>
                      </a:r>
                    </a:p>
                    <a:p>
                      <a:r>
                        <a:rPr lang="en-US" sz="2400" dirty="0"/>
                        <a:t>Surveys, questionnaires, experiments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Data already collected by someone else.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2400" u="sng" dirty="0"/>
                        <a:t>Examples</a:t>
                      </a:r>
                      <a:r>
                        <a:rPr lang="en-US" sz="2400" dirty="0"/>
                        <a:t>:</a:t>
                      </a:r>
                    </a:p>
                    <a:p>
                      <a:r>
                        <a:rPr lang="en-US" sz="2400" dirty="0"/>
                        <a:t>Books, internet.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80731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893F32C-E437-9341-A68F-BC9BB44A93DF}"/>
              </a:ext>
            </a:extLst>
          </p:cNvPr>
          <p:cNvSpPr/>
          <p:nvPr/>
        </p:nvSpPr>
        <p:spPr>
          <a:xfrm>
            <a:off x="1604007" y="1499079"/>
            <a:ext cx="2631233" cy="553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AA6A02-9ED1-0049-8DB6-E2DF01228001}"/>
              </a:ext>
            </a:extLst>
          </p:cNvPr>
          <p:cNvSpPr/>
          <p:nvPr/>
        </p:nvSpPr>
        <p:spPr>
          <a:xfrm>
            <a:off x="5276624" y="1583454"/>
            <a:ext cx="2631233" cy="553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D8CFA1-B575-F549-A41B-EAE19DDD0EB2}"/>
              </a:ext>
            </a:extLst>
          </p:cNvPr>
          <p:cNvSpPr/>
          <p:nvPr/>
        </p:nvSpPr>
        <p:spPr>
          <a:xfrm>
            <a:off x="1167828" y="2282661"/>
            <a:ext cx="3404172" cy="207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162617-9D1A-3A4D-9582-80379B707C7C}"/>
              </a:ext>
            </a:extLst>
          </p:cNvPr>
          <p:cNvSpPr/>
          <p:nvPr/>
        </p:nvSpPr>
        <p:spPr>
          <a:xfrm>
            <a:off x="4744997" y="2255109"/>
            <a:ext cx="3544237" cy="207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1026" name="Picture 2" descr="Representative Sample: Definition, Importance, How to Obtain a Representative  Sample and Example | QuestionPro">
            <a:extLst>
              <a:ext uri="{FF2B5EF4-FFF2-40B4-BE49-F238E27FC236}">
                <a16:creationId xmlns:a16="http://schemas.microsoft.com/office/drawing/2014/main" id="{5A1AE3BE-1479-744C-AD3F-73C7E5CED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799" y="1306062"/>
            <a:ext cx="9505598" cy="418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48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8" grpId="2" animBg="1"/>
      <p:bldP spid="10" grpId="1" animBg="1"/>
      <p:bldP spid="10" grpId="2" animBg="1"/>
      <p:bldP spid="11" grpId="0" animBg="1"/>
      <p:bldP spid="11" grpId="1" animBg="1"/>
      <p:bldP spid="12" grpId="0" animBg="1"/>
      <p:bldP spid="1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B375-92BD-CC48-9648-0558D9C1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F4AAF-CE60-7B4E-976A-BA31ED4F0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1E4FE-54E3-7F43-A3EB-30546D45CF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1026" name="Picture 2" descr="How has the COVID-19 Pandemic Affected Daily Spending Patterns | Central  Bank of Ireland">
            <a:extLst>
              <a:ext uri="{FF2B5EF4-FFF2-40B4-BE49-F238E27FC236}">
                <a16:creationId xmlns:a16="http://schemas.microsoft.com/office/drawing/2014/main" id="{413F5771-515C-C240-A6BA-94E2C375E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988" y="-1"/>
            <a:ext cx="9339500" cy="524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056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0DFD-7F1B-914F-AA28-4DA9B867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93" y="353961"/>
            <a:ext cx="7801782" cy="995964"/>
          </a:xfrm>
        </p:spPr>
        <p:txBody>
          <a:bodyPr/>
          <a:lstStyle/>
          <a:p>
            <a:r>
              <a:rPr lang="en-US" sz="4000" u="sng" dirty="0"/>
              <a:t>Processing and presenting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B4BEC-5C23-9F49-B36F-1AE87B3FA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32" y="1349925"/>
            <a:ext cx="8517600" cy="2757126"/>
          </a:xfrm>
        </p:spPr>
        <p:txBody>
          <a:bodyPr/>
          <a:lstStyle/>
          <a:p>
            <a:pPr marL="101600" indent="0">
              <a:buNone/>
            </a:pPr>
            <a:r>
              <a:rPr lang="en-US" sz="2800" dirty="0"/>
              <a:t>One way of processing data is finding different…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C66D3-E14E-0949-B056-69F0D4FCD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FA5CC-CC38-1945-8256-64B04535B9D6}"/>
              </a:ext>
            </a:extLst>
          </p:cNvPr>
          <p:cNvSpPr txBox="1"/>
          <p:nvPr/>
        </p:nvSpPr>
        <p:spPr>
          <a:xfrm>
            <a:off x="3333135" y="2395665"/>
            <a:ext cx="25699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i="1" dirty="0">
                <a:solidFill>
                  <a:schemeClr val="accent1"/>
                </a:solidFill>
              </a:rPr>
              <a:t>Averages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FD3FE0B-65B8-E24B-ACAF-A536CD357819}"/>
              </a:ext>
            </a:extLst>
          </p:cNvPr>
          <p:cNvSpPr txBox="1">
            <a:spLocks/>
          </p:cNvSpPr>
          <p:nvPr/>
        </p:nvSpPr>
        <p:spPr>
          <a:xfrm>
            <a:off x="331932" y="3447637"/>
            <a:ext cx="8517600" cy="275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buFont typeface="Source Sans Pro"/>
              <a:buNone/>
            </a:pPr>
            <a:r>
              <a:rPr lang="en-US" sz="2800" dirty="0"/>
              <a:t>An average tries to represent the full set of data by a single value.</a:t>
            </a:r>
          </a:p>
        </p:txBody>
      </p:sp>
    </p:spTree>
    <p:extLst>
      <p:ext uri="{BB962C8B-B14F-4D97-AF65-F5344CB8AC3E}">
        <p14:creationId xmlns:p14="http://schemas.microsoft.com/office/powerpoint/2010/main" val="58089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ABE0-85A2-9447-ACE7-497586D6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u="sng" dirty="0"/>
              <a:t>Averages</a:t>
            </a:r>
            <a:endParaRPr lang="en-US" sz="4800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7CACE-1D1D-CB4B-8F71-984E622879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2818D42-F88A-6D46-81EB-3E14FA204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707167"/>
              </p:ext>
            </p:extLst>
          </p:nvPr>
        </p:nvGraphicFramePr>
        <p:xfrm>
          <a:off x="1047750" y="1526586"/>
          <a:ext cx="7359444" cy="1793886"/>
        </p:xfrm>
        <a:graphic>
          <a:graphicData uri="http://schemas.openxmlformats.org/drawingml/2006/table">
            <a:tbl>
              <a:tblPr firstRow="1" bandRow="1">
                <a:tableStyleId>{95B1EA6A-314C-499A-8F31-F63CCA057E40}</a:tableStyleId>
              </a:tblPr>
              <a:tblGrid>
                <a:gridCol w="2489652">
                  <a:extLst>
                    <a:ext uri="{9D8B030D-6E8A-4147-A177-3AD203B41FA5}">
                      <a16:colId xmlns:a16="http://schemas.microsoft.com/office/drawing/2014/main" val="1212654016"/>
                    </a:ext>
                  </a:extLst>
                </a:gridCol>
                <a:gridCol w="2434896">
                  <a:extLst>
                    <a:ext uri="{9D8B030D-6E8A-4147-A177-3AD203B41FA5}">
                      <a16:colId xmlns:a16="http://schemas.microsoft.com/office/drawing/2014/main" val="1203676917"/>
                    </a:ext>
                  </a:extLst>
                </a:gridCol>
                <a:gridCol w="2434896">
                  <a:extLst>
                    <a:ext uri="{9D8B030D-6E8A-4147-A177-3AD203B41FA5}">
                      <a16:colId xmlns:a16="http://schemas.microsoft.com/office/drawing/2014/main" val="691311033"/>
                    </a:ext>
                  </a:extLst>
                </a:gridCol>
              </a:tblGrid>
              <a:tr h="65607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Median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341139"/>
                  </a:ext>
                </a:extLst>
              </a:tr>
              <a:tr h="1137811">
                <a:tc>
                  <a:txBody>
                    <a:bodyPr/>
                    <a:lstStyle/>
                    <a:p>
                      <a:r>
                        <a:rPr lang="en-US" sz="1600" dirty="0"/>
                        <a:t>The middle number…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/>
                        <a:t>when the data is ordered from smallest to largest.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most common number found in a set of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4141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49DD22-6AAF-B643-913A-3A3D10287461}"/>
              </a:ext>
            </a:extLst>
          </p:cNvPr>
          <p:cNvSpPr txBox="1"/>
          <p:nvPr/>
        </p:nvSpPr>
        <p:spPr>
          <a:xfrm>
            <a:off x="693174" y="3497133"/>
            <a:ext cx="3569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18, 3, 16, 10, 11, 18, 16, 21, 15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787128-0E8B-364D-8B5B-2ACB58C8AAF2}"/>
              </a:ext>
            </a:extLst>
          </p:cNvPr>
          <p:cNvSpPr txBox="1"/>
          <p:nvPr/>
        </p:nvSpPr>
        <p:spPr>
          <a:xfrm>
            <a:off x="693174" y="3998706"/>
            <a:ext cx="3052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3, 10, 11, 15, 16, 16, 18, 18, 21</a:t>
            </a:r>
          </a:p>
        </p:txBody>
      </p:sp>
      <p:sp>
        <p:nvSpPr>
          <p:cNvPr id="8" name="Curved Right Arrow 7">
            <a:extLst>
              <a:ext uri="{FF2B5EF4-FFF2-40B4-BE49-F238E27FC236}">
                <a16:creationId xmlns:a16="http://schemas.microsoft.com/office/drawing/2014/main" id="{2C954C4F-13A4-5F45-9FE0-09C2F1E8BB9E}"/>
              </a:ext>
            </a:extLst>
          </p:cNvPr>
          <p:cNvSpPr/>
          <p:nvPr/>
        </p:nvSpPr>
        <p:spPr>
          <a:xfrm>
            <a:off x="235974" y="3666410"/>
            <a:ext cx="457200" cy="62537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93D662-5160-2240-8D49-891982A247CB}"/>
              </a:ext>
            </a:extLst>
          </p:cNvPr>
          <p:cNvSpPr/>
          <p:nvPr/>
        </p:nvSpPr>
        <p:spPr>
          <a:xfrm>
            <a:off x="1386348" y="1646367"/>
            <a:ext cx="1828800" cy="3741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028E89-DFF3-9447-8E69-8079AA6B6380}"/>
              </a:ext>
            </a:extLst>
          </p:cNvPr>
          <p:cNvSpPr/>
          <p:nvPr/>
        </p:nvSpPr>
        <p:spPr>
          <a:xfrm>
            <a:off x="3746090" y="1646367"/>
            <a:ext cx="1828800" cy="3741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405CAE-57F8-4C40-82F5-C7E0A1E27561}"/>
              </a:ext>
            </a:extLst>
          </p:cNvPr>
          <p:cNvSpPr/>
          <p:nvPr/>
        </p:nvSpPr>
        <p:spPr>
          <a:xfrm>
            <a:off x="6267450" y="1646367"/>
            <a:ext cx="1828800" cy="3741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73539-5992-804F-8026-DDCF81B8B69A}"/>
              </a:ext>
            </a:extLst>
          </p:cNvPr>
          <p:cNvSpPr/>
          <p:nvPr/>
        </p:nvSpPr>
        <p:spPr>
          <a:xfrm>
            <a:off x="1083700" y="2227006"/>
            <a:ext cx="2352674" cy="374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FB9B62-9611-994A-A3CA-82C512B83CD2}"/>
              </a:ext>
            </a:extLst>
          </p:cNvPr>
          <p:cNvSpPr/>
          <p:nvPr/>
        </p:nvSpPr>
        <p:spPr>
          <a:xfrm>
            <a:off x="3551135" y="2185340"/>
            <a:ext cx="2388624" cy="86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B30D27-C99B-F94B-A3AB-5488A8CEB64C}"/>
              </a:ext>
            </a:extLst>
          </p:cNvPr>
          <p:cNvSpPr/>
          <p:nvPr/>
        </p:nvSpPr>
        <p:spPr>
          <a:xfrm>
            <a:off x="1083700" y="2672065"/>
            <a:ext cx="2352674" cy="5428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1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47E7-9FDA-9B4F-808F-215D4F46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Exercise 7D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EF141-5BA9-BA49-9AA7-9D7EF4AB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5850" y="1540174"/>
            <a:ext cx="7889730" cy="2463113"/>
          </a:xfrm>
        </p:spPr>
        <p:txBody>
          <a:bodyPr/>
          <a:lstStyle/>
          <a:p>
            <a:pPr marL="558800" indent="-457200">
              <a:buAutoNum type="arabicPeriod"/>
            </a:pPr>
            <a:r>
              <a:rPr lang="en-US" dirty="0"/>
              <a:t>Find the mode of each of the following sets of data.</a:t>
            </a:r>
          </a:p>
          <a:p>
            <a:pPr marL="1016000" lvl="1" indent="-457200">
              <a:buFont typeface="+mj-lt"/>
              <a:buAutoNum type="romanLcPeriod"/>
            </a:pPr>
            <a:r>
              <a:rPr lang="en-US" dirty="0"/>
              <a:t>3, 4, 1, 2, 4, 5, 1, 3, 4, 1, 3, 1</a:t>
            </a:r>
          </a:p>
          <a:p>
            <a:pPr marL="1016000" lvl="1" indent="-457200">
              <a:buFont typeface="+mj-lt"/>
              <a:buAutoNum type="romanLcPeriod"/>
            </a:pPr>
            <a:r>
              <a:rPr lang="en-US" dirty="0"/>
              <a:t>4, 7, 5, 6, 5, 8, 5, 7, 5, 7, 5, 7, 6</a:t>
            </a:r>
          </a:p>
          <a:p>
            <a:pPr marL="1016000" lvl="1" indent="-457200">
              <a:buFont typeface="+mj-lt"/>
              <a:buAutoNum type="romanLcPeriod"/>
            </a:pPr>
            <a:r>
              <a:rPr lang="en-US" dirty="0"/>
              <a:t>5, 6, 7, 5, 6, 7, 5, 7, 6, 6</a:t>
            </a:r>
          </a:p>
          <a:p>
            <a:pPr marL="1016000" lvl="1" indent="-457200">
              <a:buFont typeface="+mj-lt"/>
              <a:buAutoNum type="romanLcPeriod"/>
            </a:pPr>
            <a:r>
              <a:rPr lang="en-US" dirty="0"/>
              <a:t>Red, blue, green, black, green, black, white, green, red, black, black</a:t>
            </a:r>
          </a:p>
          <a:p>
            <a:pPr marL="1016000" lvl="1" indent="-457200">
              <a:buFont typeface="+mj-lt"/>
              <a:buAutoNum type="romanLcPeriod"/>
            </a:pPr>
            <a:r>
              <a:rPr lang="en-US" dirty="0"/>
              <a:t>A, B, A, C, B, A, C, B, B, B, C, A, C, A, 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D6666-47E5-2143-915B-E38AA9896E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73361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7714-FDD1-9240-9EED-4DDDA65B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1D893-E9AA-B84E-A17B-2A8A491F6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3, 4, 1, 2, 4, 5, 1, 3, 4, 1, 3, 1</a:t>
            </a:r>
          </a:p>
          <a:p>
            <a:pPr marL="1016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AAAB8-33DD-3846-BE1B-3985115F1C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BA1F015-5164-B745-82EE-5FDBC13D4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483937"/>
              </p:ext>
            </p:extLst>
          </p:nvPr>
        </p:nvGraphicFramePr>
        <p:xfrm>
          <a:off x="1047750" y="2054887"/>
          <a:ext cx="6996600" cy="83334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37785">
                  <a:extLst>
                    <a:ext uri="{9D8B030D-6E8A-4147-A177-3AD203B41FA5}">
                      <a16:colId xmlns:a16="http://schemas.microsoft.com/office/drawing/2014/main" val="3656010345"/>
                    </a:ext>
                  </a:extLst>
                </a:gridCol>
                <a:gridCol w="1094415">
                  <a:extLst>
                    <a:ext uri="{9D8B030D-6E8A-4147-A177-3AD203B41FA5}">
                      <a16:colId xmlns:a16="http://schemas.microsoft.com/office/drawing/2014/main" val="676373318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817952984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967675153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791187006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109373701"/>
                    </a:ext>
                  </a:extLst>
                </a:gridCol>
              </a:tblGrid>
              <a:tr h="4541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667687"/>
                  </a:ext>
                </a:extLst>
              </a:tr>
              <a:tr h="37920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5365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B21B113-BA5C-374D-93C1-2D8DB8E537A3}"/>
              </a:ext>
            </a:extLst>
          </p:cNvPr>
          <p:cNvSpPr txBox="1"/>
          <p:nvPr/>
        </p:nvSpPr>
        <p:spPr>
          <a:xfrm>
            <a:off x="2319454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A3F69-4A32-BC48-B671-A019DD641501}"/>
              </a:ext>
            </a:extLst>
          </p:cNvPr>
          <p:cNvSpPr txBox="1"/>
          <p:nvPr/>
        </p:nvSpPr>
        <p:spPr>
          <a:xfrm>
            <a:off x="4153313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70390B-8F6A-564F-BD7A-6869A6CCCD3E}"/>
              </a:ext>
            </a:extLst>
          </p:cNvPr>
          <p:cNvSpPr/>
          <p:nvPr/>
        </p:nvSpPr>
        <p:spPr>
          <a:xfrm>
            <a:off x="2319454" y="2571750"/>
            <a:ext cx="5724896" cy="254577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F9D9E4-7C70-FC49-8912-AFD270C0ABDD}"/>
              </a:ext>
            </a:extLst>
          </p:cNvPr>
          <p:cNvSpPr/>
          <p:nvPr/>
        </p:nvSpPr>
        <p:spPr>
          <a:xfrm>
            <a:off x="4048298" y="3266902"/>
            <a:ext cx="673331" cy="665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6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7714-FDD1-9240-9EED-4DDDA65B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1D893-E9AA-B84E-A17B-2A8A491F6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dirty="0"/>
              <a:t>(ii) 4, 7, 5, 6, 5, 8, 5, 7, 5, 7, 5, 7, 6</a:t>
            </a:r>
          </a:p>
          <a:p>
            <a:pPr marL="1016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AAAB8-33DD-3846-BE1B-3985115F1C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BA1F015-5164-B745-82EE-5FDBC13D4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155944"/>
              </p:ext>
            </p:extLst>
          </p:nvPr>
        </p:nvGraphicFramePr>
        <p:xfrm>
          <a:off x="1047750" y="2054887"/>
          <a:ext cx="6996600" cy="83334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37785">
                  <a:extLst>
                    <a:ext uri="{9D8B030D-6E8A-4147-A177-3AD203B41FA5}">
                      <a16:colId xmlns:a16="http://schemas.microsoft.com/office/drawing/2014/main" val="3656010345"/>
                    </a:ext>
                  </a:extLst>
                </a:gridCol>
                <a:gridCol w="1094415">
                  <a:extLst>
                    <a:ext uri="{9D8B030D-6E8A-4147-A177-3AD203B41FA5}">
                      <a16:colId xmlns:a16="http://schemas.microsoft.com/office/drawing/2014/main" val="676373318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817952984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967675153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791187006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109373701"/>
                    </a:ext>
                  </a:extLst>
                </a:gridCol>
              </a:tblGrid>
              <a:tr h="4541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667687"/>
                  </a:ext>
                </a:extLst>
              </a:tr>
              <a:tr h="37920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5365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B5F6F6-8B13-BA46-BF06-3B8EB579F00D}"/>
              </a:ext>
            </a:extLst>
          </p:cNvPr>
          <p:cNvSpPr txBox="1"/>
          <p:nvPr/>
        </p:nvSpPr>
        <p:spPr>
          <a:xfrm>
            <a:off x="2319454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54E92-65F0-3340-B352-80ADAEDA1BC0}"/>
              </a:ext>
            </a:extLst>
          </p:cNvPr>
          <p:cNvSpPr txBox="1"/>
          <p:nvPr/>
        </p:nvSpPr>
        <p:spPr>
          <a:xfrm>
            <a:off x="4153313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483D00-CDC5-E644-985E-8120135AB7B0}"/>
              </a:ext>
            </a:extLst>
          </p:cNvPr>
          <p:cNvSpPr/>
          <p:nvPr/>
        </p:nvSpPr>
        <p:spPr>
          <a:xfrm>
            <a:off x="2319454" y="2571750"/>
            <a:ext cx="5724896" cy="254577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45E031-AE25-B94F-992E-DAF16DA932B0}"/>
              </a:ext>
            </a:extLst>
          </p:cNvPr>
          <p:cNvSpPr/>
          <p:nvPr/>
        </p:nvSpPr>
        <p:spPr>
          <a:xfrm>
            <a:off x="4048298" y="3266902"/>
            <a:ext cx="673331" cy="665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4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7714-FDD1-9240-9EED-4DDDA65B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1D893-E9AA-B84E-A17B-2A8A491F6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dirty="0"/>
              <a:t>(iii) 5, 6, 7, 5, 6, 7, 5, 7, 6, 6</a:t>
            </a:r>
          </a:p>
          <a:p>
            <a:pPr marL="1016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AAAB8-33DD-3846-BE1B-3985115F1C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BA1F015-5164-B745-82EE-5FDBC13D4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50520"/>
              </p:ext>
            </p:extLst>
          </p:nvPr>
        </p:nvGraphicFramePr>
        <p:xfrm>
          <a:off x="1828336" y="2139851"/>
          <a:ext cx="5018512" cy="1038247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331755">
                  <a:extLst>
                    <a:ext uri="{9D8B030D-6E8A-4147-A177-3AD203B41FA5}">
                      <a16:colId xmlns:a16="http://schemas.microsoft.com/office/drawing/2014/main" val="3656010345"/>
                    </a:ext>
                  </a:extLst>
                </a:gridCol>
                <a:gridCol w="1177501">
                  <a:extLst>
                    <a:ext uri="{9D8B030D-6E8A-4147-A177-3AD203B41FA5}">
                      <a16:colId xmlns:a16="http://schemas.microsoft.com/office/drawing/2014/main" val="676373318"/>
                    </a:ext>
                  </a:extLst>
                </a:gridCol>
                <a:gridCol w="1254628">
                  <a:extLst>
                    <a:ext uri="{9D8B030D-6E8A-4147-A177-3AD203B41FA5}">
                      <a16:colId xmlns:a16="http://schemas.microsoft.com/office/drawing/2014/main" val="3817952984"/>
                    </a:ext>
                  </a:extLst>
                </a:gridCol>
                <a:gridCol w="1254628">
                  <a:extLst>
                    <a:ext uri="{9D8B030D-6E8A-4147-A177-3AD203B41FA5}">
                      <a16:colId xmlns:a16="http://schemas.microsoft.com/office/drawing/2014/main" val="3967675153"/>
                    </a:ext>
                  </a:extLst>
                </a:gridCol>
              </a:tblGrid>
              <a:tr h="56580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667687"/>
                  </a:ext>
                </a:extLst>
              </a:tr>
              <a:tr h="4724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5365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B15DF1-2056-CC44-8801-412A1CDCEEF5}"/>
              </a:ext>
            </a:extLst>
          </p:cNvPr>
          <p:cNvSpPr txBox="1"/>
          <p:nvPr/>
        </p:nvSpPr>
        <p:spPr>
          <a:xfrm>
            <a:off x="2319454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FD61E-7679-D54C-A6F0-471DD25BFD9F}"/>
              </a:ext>
            </a:extLst>
          </p:cNvPr>
          <p:cNvSpPr txBox="1"/>
          <p:nvPr/>
        </p:nvSpPr>
        <p:spPr>
          <a:xfrm>
            <a:off x="4153313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A9FECA-42C6-F54C-9B26-9C9C57ED6244}"/>
              </a:ext>
            </a:extLst>
          </p:cNvPr>
          <p:cNvSpPr/>
          <p:nvPr/>
        </p:nvSpPr>
        <p:spPr>
          <a:xfrm>
            <a:off x="3225542" y="2735393"/>
            <a:ext cx="3549331" cy="40732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46FF9-23EE-7248-9290-E1FBA893C2FD}"/>
              </a:ext>
            </a:extLst>
          </p:cNvPr>
          <p:cNvSpPr/>
          <p:nvPr/>
        </p:nvSpPr>
        <p:spPr>
          <a:xfrm>
            <a:off x="3936636" y="3331582"/>
            <a:ext cx="936192" cy="709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9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7714-FDD1-9240-9EED-4DDDA65B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1D893-E9AA-B84E-A17B-2A8A491F6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sz="1600" dirty="0"/>
              <a:t>(iv) Red, blue, green, black, green, black, white, green, red, black, black</a:t>
            </a:r>
          </a:p>
          <a:p>
            <a:pPr marL="101600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AAAB8-33DD-3846-BE1B-3985115F1C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BA1F015-5164-B745-82EE-5FDBC13D4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356931"/>
              </p:ext>
            </p:extLst>
          </p:nvPr>
        </p:nvGraphicFramePr>
        <p:xfrm>
          <a:off x="1047750" y="2054887"/>
          <a:ext cx="6996600" cy="83334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37785">
                  <a:extLst>
                    <a:ext uri="{9D8B030D-6E8A-4147-A177-3AD203B41FA5}">
                      <a16:colId xmlns:a16="http://schemas.microsoft.com/office/drawing/2014/main" val="3656010345"/>
                    </a:ext>
                  </a:extLst>
                </a:gridCol>
                <a:gridCol w="1094415">
                  <a:extLst>
                    <a:ext uri="{9D8B030D-6E8A-4147-A177-3AD203B41FA5}">
                      <a16:colId xmlns:a16="http://schemas.microsoft.com/office/drawing/2014/main" val="676373318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817952984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967675153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791187006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109373701"/>
                    </a:ext>
                  </a:extLst>
                </a:gridCol>
              </a:tblGrid>
              <a:tr h="4541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Colours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Black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Green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White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667687"/>
                  </a:ext>
                </a:extLst>
              </a:tr>
              <a:tr h="37920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5365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9B9812-0FBC-3F45-84E9-D4ADA79D8978}"/>
              </a:ext>
            </a:extLst>
          </p:cNvPr>
          <p:cNvSpPr txBox="1"/>
          <p:nvPr/>
        </p:nvSpPr>
        <p:spPr>
          <a:xfrm>
            <a:off x="2319454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1208D-DC8F-0148-8645-C60421C8AAA5}"/>
              </a:ext>
            </a:extLst>
          </p:cNvPr>
          <p:cNvSpPr txBox="1"/>
          <p:nvPr/>
        </p:nvSpPr>
        <p:spPr>
          <a:xfrm>
            <a:off x="4153313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Black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7AA1E7-A8C0-2C42-A630-93D70F4544E0}"/>
              </a:ext>
            </a:extLst>
          </p:cNvPr>
          <p:cNvSpPr/>
          <p:nvPr/>
        </p:nvSpPr>
        <p:spPr>
          <a:xfrm>
            <a:off x="2319454" y="2571750"/>
            <a:ext cx="5536073" cy="254577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B40B1-1093-AA44-857F-A3C3B1AD0D5D}"/>
              </a:ext>
            </a:extLst>
          </p:cNvPr>
          <p:cNvSpPr/>
          <p:nvPr/>
        </p:nvSpPr>
        <p:spPr>
          <a:xfrm>
            <a:off x="4048298" y="3266902"/>
            <a:ext cx="1321724" cy="665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8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7714-FDD1-9240-9EED-4DDDA65B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1D893-E9AA-B84E-A17B-2A8A491F6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dirty="0"/>
              <a:t>(v) A, B, A, C, B, A, C, B, B, B, C, A, C, A, A</a:t>
            </a:r>
          </a:p>
          <a:p>
            <a:pPr marL="101600" indent="0">
              <a:buNone/>
            </a:pPr>
            <a:endParaRPr lang="en-US" dirty="0"/>
          </a:p>
          <a:p>
            <a:pPr marL="1016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AAAB8-33DD-3846-BE1B-3985115F1C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BA1F015-5164-B745-82EE-5FDBC13D4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534250"/>
              </p:ext>
            </p:extLst>
          </p:nvPr>
        </p:nvGraphicFramePr>
        <p:xfrm>
          <a:off x="1516101" y="2311365"/>
          <a:ext cx="4536595" cy="83334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109980">
                  <a:extLst>
                    <a:ext uri="{9D8B030D-6E8A-4147-A177-3AD203B41FA5}">
                      <a16:colId xmlns:a16="http://schemas.microsoft.com/office/drawing/2014/main" val="3656010345"/>
                    </a:ext>
                  </a:extLst>
                </a:gridCol>
                <a:gridCol w="1094415">
                  <a:extLst>
                    <a:ext uri="{9D8B030D-6E8A-4147-A177-3AD203B41FA5}">
                      <a16:colId xmlns:a16="http://schemas.microsoft.com/office/drawing/2014/main" val="676373318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817952984"/>
                    </a:ext>
                  </a:extLst>
                </a:gridCol>
                <a:gridCol w="1166100">
                  <a:extLst>
                    <a:ext uri="{9D8B030D-6E8A-4147-A177-3AD203B41FA5}">
                      <a16:colId xmlns:a16="http://schemas.microsoft.com/office/drawing/2014/main" val="3967675153"/>
                    </a:ext>
                  </a:extLst>
                </a:gridCol>
              </a:tblGrid>
              <a:tr h="4541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Letters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667687"/>
                  </a:ext>
                </a:extLst>
              </a:tr>
              <a:tr h="37920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5365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0D93D0-40A4-264D-91BD-DC14C0B4558E}"/>
              </a:ext>
            </a:extLst>
          </p:cNvPr>
          <p:cNvSpPr txBox="1"/>
          <p:nvPr/>
        </p:nvSpPr>
        <p:spPr>
          <a:xfrm>
            <a:off x="2319454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B09CDE-0DC8-5840-9189-6895623E3D16}"/>
              </a:ext>
            </a:extLst>
          </p:cNvPr>
          <p:cNvSpPr txBox="1"/>
          <p:nvPr/>
        </p:nvSpPr>
        <p:spPr>
          <a:xfrm>
            <a:off x="4153313" y="3331582"/>
            <a:ext cx="208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3D794-F252-6E41-B199-53AF63D7F7B2}"/>
              </a:ext>
            </a:extLst>
          </p:cNvPr>
          <p:cNvSpPr/>
          <p:nvPr/>
        </p:nvSpPr>
        <p:spPr>
          <a:xfrm>
            <a:off x="2817102" y="2823940"/>
            <a:ext cx="3175259" cy="254577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FFEB6B-C010-164A-91B5-EE6933A31914}"/>
              </a:ext>
            </a:extLst>
          </p:cNvPr>
          <p:cNvSpPr/>
          <p:nvPr/>
        </p:nvSpPr>
        <p:spPr>
          <a:xfrm>
            <a:off x="4048298" y="3266902"/>
            <a:ext cx="673331" cy="665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0B39-7EAF-C841-B49A-CF887EF06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16616-2AD8-4E43-BF48-D649660F46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452E4-92D7-AC4C-BA8F-49BEA72F0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2352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785D76-0204-0E4D-8C36-8EA133A8F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433" y="2235199"/>
            <a:ext cx="8240342" cy="2383295"/>
          </a:xfrm>
        </p:spPr>
        <p:txBody>
          <a:bodyPr/>
          <a:lstStyle/>
          <a:p>
            <a:pPr marL="558800" indent="-457200">
              <a:buAutoNum type="alphaLcParenR"/>
            </a:pPr>
            <a:r>
              <a:rPr lang="en-US" dirty="0"/>
              <a:t>Modal mark – mode – most common – highest frequency? 	6</a:t>
            </a:r>
          </a:p>
          <a:p>
            <a:pPr marL="558800" indent="-457200">
              <a:buAutoNum type="alphaLcParenR"/>
            </a:pPr>
            <a:r>
              <a:rPr lang="en-US" dirty="0"/>
              <a:t>Students in class total? 1 + 2 + 1 + 4 + 8 + 6 + 5 + 3 = 30</a:t>
            </a:r>
          </a:p>
          <a:p>
            <a:pPr marL="558800" indent="-457200">
              <a:buAutoNum type="alphaLcParenR"/>
            </a:pPr>
            <a:r>
              <a:rPr lang="en-US" dirty="0"/>
              <a:t>Median – middle – after arranged from smallest to biggest</a:t>
            </a:r>
          </a:p>
          <a:p>
            <a:pPr marL="101600" indent="0">
              <a:buNone/>
            </a:pPr>
            <a:r>
              <a:rPr lang="en-US" dirty="0"/>
              <a:t>2, 3, 3, 4, 5, 5, 5, 5, 6, 6, 6, 6, 6, 6, 6, 6, 7, 7, 7, 7, 7, 7, 8, 8, 8, 8, 8, 9, 9, 9</a:t>
            </a:r>
          </a:p>
          <a:p>
            <a:pPr marL="101600" indent="0">
              <a:buNone/>
            </a:pPr>
            <a:r>
              <a:rPr lang="en-US" dirty="0"/>
              <a:t>				6, 6</a:t>
            </a:r>
          </a:p>
          <a:p>
            <a:pPr marL="101600" indent="0">
              <a:buNone/>
            </a:pPr>
            <a:r>
              <a:rPr lang="en-US" dirty="0"/>
              <a:t>			Median:	  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B5FB26-F3A0-4D45-9EA7-06FAFFC1ACAD}"/>
              </a:ext>
            </a:extLst>
          </p:cNvPr>
          <p:cNvSpPr/>
          <p:nvPr/>
        </p:nvSpPr>
        <p:spPr>
          <a:xfrm>
            <a:off x="889462" y="2385753"/>
            <a:ext cx="6325985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AF6DEA-C025-9C4D-8D64-FBC7B1721807}"/>
              </a:ext>
            </a:extLst>
          </p:cNvPr>
          <p:cNvSpPr/>
          <p:nvPr/>
        </p:nvSpPr>
        <p:spPr>
          <a:xfrm>
            <a:off x="7531880" y="2360814"/>
            <a:ext cx="504305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DA7F4B-3AEB-8F41-9605-4BBF7E65BDD8}"/>
              </a:ext>
            </a:extLst>
          </p:cNvPr>
          <p:cNvSpPr/>
          <p:nvPr/>
        </p:nvSpPr>
        <p:spPr>
          <a:xfrm>
            <a:off x="889463" y="2734886"/>
            <a:ext cx="2535382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EA76B3-3216-3740-A6F4-B121CC503D89}"/>
              </a:ext>
            </a:extLst>
          </p:cNvPr>
          <p:cNvSpPr/>
          <p:nvPr/>
        </p:nvSpPr>
        <p:spPr>
          <a:xfrm>
            <a:off x="3466305" y="2759825"/>
            <a:ext cx="3217128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A5FD40-A72F-6A4D-BFBA-69B4FD8ADAD6}"/>
              </a:ext>
            </a:extLst>
          </p:cNvPr>
          <p:cNvSpPr/>
          <p:nvPr/>
        </p:nvSpPr>
        <p:spPr>
          <a:xfrm>
            <a:off x="930922" y="3108958"/>
            <a:ext cx="6450779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8F73BF-B743-BA40-93DF-3142425F83C4}"/>
              </a:ext>
            </a:extLst>
          </p:cNvPr>
          <p:cNvSpPr/>
          <p:nvPr/>
        </p:nvSpPr>
        <p:spPr>
          <a:xfrm>
            <a:off x="316433" y="3565854"/>
            <a:ext cx="7372840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105D5-FE23-6F48-B6E9-0F7E07FB08E8}"/>
              </a:ext>
            </a:extLst>
          </p:cNvPr>
          <p:cNvSpPr/>
          <p:nvPr/>
        </p:nvSpPr>
        <p:spPr>
          <a:xfrm>
            <a:off x="3734881" y="3964865"/>
            <a:ext cx="842860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503395-C826-3F41-AAB2-2CCD781999A8}"/>
              </a:ext>
            </a:extLst>
          </p:cNvPr>
          <p:cNvSpPr/>
          <p:nvPr/>
        </p:nvSpPr>
        <p:spPr>
          <a:xfrm>
            <a:off x="3044874" y="4269361"/>
            <a:ext cx="1410747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5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D9D9C-01EC-084E-8022-F9623CF192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CB6CD44-54F2-B543-AE64-784ECD501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525" y="0"/>
            <a:ext cx="9144000" cy="3384984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964ACBC-6B2A-674A-84CE-BF7B65041FD9}"/>
              </a:ext>
            </a:extLst>
          </p:cNvPr>
          <p:cNvSpPr txBox="1">
            <a:spLocks/>
          </p:cNvSpPr>
          <p:nvPr/>
        </p:nvSpPr>
        <p:spPr>
          <a:xfrm>
            <a:off x="135720" y="3199004"/>
            <a:ext cx="8795509" cy="238329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58800" indent="-457200">
              <a:buFont typeface="+mj-lt"/>
              <a:buAutoNum type="romanLcPeriod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Modal mark – mode – most common – highest frequency? 	7</a:t>
            </a:r>
          </a:p>
          <a:p>
            <a:pPr marL="558800" indent="-457200">
              <a:buFont typeface="Arial"/>
              <a:buAutoNum type="romanLcPeriod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 of mark 7?	8</a:t>
            </a:r>
          </a:p>
          <a:p>
            <a:pPr marL="558800" indent="-457200">
              <a:buFont typeface="Arial"/>
              <a:buAutoNum type="romanLcPeriod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 + 5 + 1 + 7 + 8 + 3 = 		28</a:t>
            </a:r>
          </a:p>
          <a:p>
            <a:pPr marL="558800" indent="-457200">
              <a:buFont typeface="Arial"/>
              <a:buAutoNum type="romanLcPeriod"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Median – middle – after arranged from smallest to biggest:</a:t>
            </a:r>
          </a:p>
          <a:p>
            <a:pPr marL="101600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3, 3, 3, 3, 4, 4, 4, 4, 4, 5, 6, 6, 6, 6, 6, 6, 6, 7, 7, 7, 7, 7, 7, 7, 7, 8, 8, 8</a:t>
            </a:r>
          </a:p>
          <a:p>
            <a:pPr marL="101600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		6, 6 =&gt; Median =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E316D-78CF-4746-8D1A-CE2EAA037018}"/>
              </a:ext>
            </a:extLst>
          </p:cNvPr>
          <p:cNvSpPr/>
          <p:nvPr/>
        </p:nvSpPr>
        <p:spPr>
          <a:xfrm>
            <a:off x="785801" y="3197948"/>
            <a:ext cx="6122076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B3431-326E-5644-AA2D-F6F15DAD1011}"/>
              </a:ext>
            </a:extLst>
          </p:cNvPr>
          <p:cNvSpPr/>
          <p:nvPr/>
        </p:nvSpPr>
        <p:spPr>
          <a:xfrm>
            <a:off x="7305805" y="3212121"/>
            <a:ext cx="504305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9EB04-707A-4E49-9063-C8EC5BFCCC2A}"/>
              </a:ext>
            </a:extLst>
          </p:cNvPr>
          <p:cNvSpPr/>
          <p:nvPr/>
        </p:nvSpPr>
        <p:spPr>
          <a:xfrm>
            <a:off x="785801" y="3572020"/>
            <a:ext cx="2535382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2912C-04E7-DB41-9FC9-826CAAD74A07}"/>
              </a:ext>
            </a:extLst>
          </p:cNvPr>
          <p:cNvSpPr/>
          <p:nvPr/>
        </p:nvSpPr>
        <p:spPr>
          <a:xfrm>
            <a:off x="3464023" y="3559551"/>
            <a:ext cx="3217128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7368D2-C897-A247-A078-ADA7777339E1}"/>
              </a:ext>
            </a:extLst>
          </p:cNvPr>
          <p:cNvSpPr/>
          <p:nvPr/>
        </p:nvSpPr>
        <p:spPr>
          <a:xfrm>
            <a:off x="673802" y="3847737"/>
            <a:ext cx="2790222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ACE73-B278-AF42-AEDB-F55B5DB65492}"/>
              </a:ext>
            </a:extLst>
          </p:cNvPr>
          <p:cNvSpPr/>
          <p:nvPr/>
        </p:nvSpPr>
        <p:spPr>
          <a:xfrm>
            <a:off x="3701640" y="3835730"/>
            <a:ext cx="1740720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8C7D91-0481-F54A-B305-68938E36E129}"/>
              </a:ext>
            </a:extLst>
          </p:cNvPr>
          <p:cNvSpPr/>
          <p:nvPr/>
        </p:nvSpPr>
        <p:spPr>
          <a:xfrm>
            <a:off x="673801" y="4203087"/>
            <a:ext cx="6308889" cy="29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E6B8-0DB8-4B41-B1CE-B63426143123}"/>
              </a:ext>
            </a:extLst>
          </p:cNvPr>
          <p:cNvSpPr/>
          <p:nvPr/>
        </p:nvSpPr>
        <p:spPr>
          <a:xfrm>
            <a:off x="309578" y="4457287"/>
            <a:ext cx="6806117" cy="29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371C0B-4CA7-A248-8CEC-E8A2D425DFB1}"/>
              </a:ext>
            </a:extLst>
          </p:cNvPr>
          <p:cNvSpPr/>
          <p:nvPr/>
        </p:nvSpPr>
        <p:spPr>
          <a:xfrm>
            <a:off x="3712636" y="4804011"/>
            <a:ext cx="2588288" cy="294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9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51DDF3-7DE0-B146-A268-078C2A5CB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4" name="Picture 3" descr="A picture containing knife&#10;&#10;Description automatically generated">
            <a:extLst>
              <a:ext uri="{FF2B5EF4-FFF2-40B4-BE49-F238E27FC236}">
                <a16:creationId xmlns:a16="http://schemas.microsoft.com/office/drawing/2014/main" id="{B0E7203C-392C-8345-8EF6-5E2AC0A8A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929"/>
            <a:ext cx="9105475" cy="1381711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9CBB7E8-18E3-1E49-8F51-DDE01889C17A}"/>
              </a:ext>
            </a:extLst>
          </p:cNvPr>
          <p:cNvSpPr txBox="1">
            <a:spLocks/>
          </p:cNvSpPr>
          <p:nvPr/>
        </p:nvSpPr>
        <p:spPr>
          <a:xfrm>
            <a:off x="154982" y="2276213"/>
            <a:ext cx="8795509" cy="238329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58800" indent="-457200">
              <a:buFont typeface="+mj-lt"/>
              <a:buAutoNum type="romanL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1, 1, 3, 4, 4, 4, 5</a:t>
            </a:r>
          </a:p>
          <a:p>
            <a:pPr marL="558800" indent="-457200">
              <a:buFont typeface="+mj-lt"/>
              <a:buAutoNum type="romanL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	1 , 1, 1, 1, 2, 3, 4, 4</a:t>
            </a:r>
          </a:p>
          <a:p>
            <a:pPr marL="558800" indent="-457200">
              <a:buFont typeface="+mj-lt"/>
              <a:buAutoNum type="romanL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	1, 2, 2, 3, 4, 5, 6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A1253E-7824-2845-8B3A-96AEAA13CF6E}"/>
              </a:ext>
            </a:extLst>
          </p:cNvPr>
          <p:cNvSpPr/>
          <p:nvPr/>
        </p:nvSpPr>
        <p:spPr>
          <a:xfrm>
            <a:off x="935430" y="2276213"/>
            <a:ext cx="3636570" cy="487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AE38D-B7B9-9641-B59F-BA82E1081663}"/>
              </a:ext>
            </a:extLst>
          </p:cNvPr>
          <p:cNvSpPr/>
          <p:nvPr/>
        </p:nvSpPr>
        <p:spPr>
          <a:xfrm>
            <a:off x="1087885" y="2763535"/>
            <a:ext cx="2802471" cy="487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4C7890-ED62-EC44-8488-506F4109915E}"/>
              </a:ext>
            </a:extLst>
          </p:cNvPr>
          <p:cNvSpPr/>
          <p:nvPr/>
        </p:nvSpPr>
        <p:spPr>
          <a:xfrm>
            <a:off x="935430" y="3250858"/>
            <a:ext cx="2535382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7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E62E42-ADB8-674B-8C87-545FF3E11C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0EFCE089-38A3-304B-9429-43957F5CF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139"/>
            <a:ext cx="9144000" cy="418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30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9FDE85-F5D0-9F47-A085-B4DC00543E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7497D51-AA98-434B-9624-72FDD27F8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050146"/>
              </p:ext>
            </p:extLst>
          </p:nvPr>
        </p:nvGraphicFramePr>
        <p:xfrm>
          <a:off x="1523999" y="476043"/>
          <a:ext cx="6096000" cy="2595880"/>
        </p:xfrm>
        <a:graphic>
          <a:graphicData uri="http://schemas.openxmlformats.org/drawingml/2006/table">
            <a:tbl>
              <a:tblPr firstRow="1" bandRow="1">
                <a:tableStyleId>{95B1EA6A-314C-499A-8F31-F63CCA057E40}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323403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28026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58924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Number of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64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   |   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49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  |  |  |  |  |  |  |  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  |  |  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38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  |  |  |  |  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817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  |  |  |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487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  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36002"/>
                  </a:ext>
                </a:extLst>
              </a:tr>
            </a:tbl>
          </a:graphicData>
        </a:graphic>
      </p:graphicFrame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DA523FC-5849-3B43-82AF-F52C5DD1C582}"/>
              </a:ext>
            </a:extLst>
          </p:cNvPr>
          <p:cNvSpPr txBox="1">
            <a:spLocks/>
          </p:cNvSpPr>
          <p:nvPr/>
        </p:nvSpPr>
        <p:spPr>
          <a:xfrm>
            <a:off x="558444" y="582335"/>
            <a:ext cx="8795509" cy="238329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58800" indent="-457200">
              <a:buFont typeface="+mj-lt"/>
              <a:buAutoNum type="romanL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 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7">
                <a:extLst>
                  <a:ext uri="{FF2B5EF4-FFF2-40B4-BE49-F238E27FC236}">
                    <a16:creationId xmlns:a16="http://schemas.microsoft.com/office/drawing/2014/main" id="{F1503540-8A39-7B41-938B-DD081A664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8444" y="3259274"/>
                <a:ext cx="8795509" cy="2383295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01600"/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ii. Most common number of days missed?		9</a:t>
                </a:r>
              </a:p>
              <a:p>
                <a:pPr marL="101600"/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101600"/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iii.  	Median of 30: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15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𝑡h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+16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𝑡h</m:t>
                        </m:r>
                      </m:num>
                      <m:den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  <m:r>
                      <a:rPr lang="en-IE" sz="2800" b="0" i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2+2</m:t>
                        </m:r>
                      </m:num>
                      <m:den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  <m:r>
                      <a:rPr lang="en-IE" sz="280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= 2</a:t>
                </a:r>
              </a:p>
            </p:txBody>
          </p:sp>
        </mc:Choice>
        <mc:Fallback>
          <p:sp>
            <p:nvSpPr>
              <p:cNvPr id="6" name="Text Placeholder 7">
                <a:extLst>
                  <a:ext uri="{FF2B5EF4-FFF2-40B4-BE49-F238E27FC236}">
                    <a16:creationId xmlns:a16="http://schemas.microsoft.com/office/drawing/2014/main" id="{F1503540-8A39-7B41-938B-DD081A664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44" y="3259274"/>
                <a:ext cx="8795509" cy="2383295"/>
              </a:xfrm>
              <a:prstGeom prst="rect">
                <a:avLst/>
              </a:prstGeom>
              <a:blipFill>
                <a:blip r:embed="rId2"/>
                <a:stretch>
                  <a:fillRect l="-434" t="-2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3DBFFCD-A9C3-D04F-B086-11186BFB50D5}"/>
              </a:ext>
            </a:extLst>
          </p:cNvPr>
          <p:cNvSpPr txBox="1"/>
          <p:nvPr/>
        </p:nvSpPr>
        <p:spPr>
          <a:xfrm>
            <a:off x="7619999" y="1595077"/>
            <a:ext cx="15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  <a:r>
              <a:rPr lang="en-US" baseline="30000" dirty="0"/>
              <a:t>th</a:t>
            </a:r>
            <a:r>
              <a:rPr lang="en-US" dirty="0"/>
              <a:t> and 16th =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C45DD-C33C-7647-A123-EF6AAB163C85}"/>
              </a:ext>
            </a:extLst>
          </p:cNvPr>
          <p:cNvSpPr/>
          <p:nvPr/>
        </p:nvSpPr>
        <p:spPr>
          <a:xfrm>
            <a:off x="3595502" y="871362"/>
            <a:ext cx="3952453" cy="21383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DABEBE-747A-584C-ACF0-DA28441CF573}"/>
              </a:ext>
            </a:extLst>
          </p:cNvPr>
          <p:cNvSpPr/>
          <p:nvPr/>
        </p:nvSpPr>
        <p:spPr>
          <a:xfrm>
            <a:off x="1043439" y="3286419"/>
            <a:ext cx="5897578" cy="487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EA37E4-BFD0-AC4D-99C2-ED7F9D70BE04}"/>
              </a:ext>
            </a:extLst>
          </p:cNvPr>
          <p:cNvSpPr/>
          <p:nvPr/>
        </p:nvSpPr>
        <p:spPr>
          <a:xfrm>
            <a:off x="7619999" y="3365567"/>
            <a:ext cx="662249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21B9A6-4121-AE49-AEE8-7E63F788AB33}"/>
              </a:ext>
            </a:extLst>
          </p:cNvPr>
          <p:cNvSpPr/>
          <p:nvPr/>
        </p:nvSpPr>
        <p:spPr>
          <a:xfrm>
            <a:off x="1245826" y="4164224"/>
            <a:ext cx="3758436" cy="661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8885C2-888D-8748-A2D6-B48BB2FDD84B}"/>
              </a:ext>
            </a:extLst>
          </p:cNvPr>
          <p:cNvSpPr/>
          <p:nvPr/>
        </p:nvSpPr>
        <p:spPr>
          <a:xfrm>
            <a:off x="7692043" y="1540758"/>
            <a:ext cx="1352204" cy="374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6FCEC9-6A7A-E441-8D00-50F9A4C524BF}"/>
              </a:ext>
            </a:extLst>
          </p:cNvPr>
          <p:cNvSpPr/>
          <p:nvPr/>
        </p:nvSpPr>
        <p:spPr>
          <a:xfrm>
            <a:off x="4917882" y="4167835"/>
            <a:ext cx="1025133" cy="661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A50B08-41C7-7E4F-ABBE-47DF9447ED12}"/>
              </a:ext>
            </a:extLst>
          </p:cNvPr>
          <p:cNvSpPr/>
          <p:nvPr/>
        </p:nvSpPr>
        <p:spPr>
          <a:xfrm>
            <a:off x="5856635" y="4119933"/>
            <a:ext cx="1025133" cy="661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0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BBF909-3C0D-4B4E-B602-58ED5BC010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4" name="Picture 3" descr="A picture containing table&#10;&#10;Description automatically generated">
            <a:extLst>
              <a:ext uri="{FF2B5EF4-FFF2-40B4-BE49-F238E27FC236}">
                <a16:creationId xmlns:a16="http://schemas.microsoft.com/office/drawing/2014/main" id="{713D837B-F8F7-F944-87D8-68B67DE9A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693"/>
            <a:ext cx="9144000" cy="19180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7">
                <a:extLst>
                  <a:ext uri="{FF2B5EF4-FFF2-40B4-BE49-F238E27FC236}">
                    <a16:creationId xmlns:a16="http://schemas.microsoft.com/office/drawing/2014/main" id="{BDAF7780-6E5B-CB49-B218-0C3C4CCA35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245" y="2069703"/>
                <a:ext cx="8795509" cy="2383295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673100" indent="-571500">
                  <a:buAutoNum type="romanLcPeriod"/>
                </a:pPr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2, 3, 1, 2, 3, 5, 3, 2, 4, 4, 1, 1, 3, 6</a:t>
                </a:r>
              </a:p>
              <a:p>
                <a:pPr marL="101600"/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	1, 1, 1, 2, 2, 2, 3, 3, 3, 3, 4, 4, 5, 6</a:t>
                </a:r>
              </a:p>
              <a:p>
                <a:pPr marL="101600"/>
                <a:endParaRPr 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101600"/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ii. Median of 14 numbers: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7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𝑡h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 + 8</m:t>
                        </m:r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𝑡h</m:t>
                        </m:r>
                      </m:num>
                      <m:den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  <m:r>
                      <a:rPr lang="en-IE" sz="280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=</a:t>
                </a:r>
                <a:r>
                  <a:rPr lang="en-US" sz="2800" dirty="0"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3</m:t>
                        </m:r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 +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3</m:t>
                        </m:r>
                      </m:num>
                      <m:den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= 3 </a:t>
                </a:r>
              </a:p>
            </p:txBody>
          </p:sp>
        </mc:Choice>
        <mc:Fallback>
          <p:sp>
            <p:nvSpPr>
              <p:cNvPr id="5" name="Text Placeholder 7">
                <a:extLst>
                  <a:ext uri="{FF2B5EF4-FFF2-40B4-BE49-F238E27FC236}">
                    <a16:creationId xmlns:a16="http://schemas.microsoft.com/office/drawing/2014/main" id="{BDAF7780-6E5B-CB49-B218-0C3C4CCA3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45" y="2069703"/>
                <a:ext cx="8795509" cy="2383295"/>
              </a:xfrm>
              <a:prstGeom prst="rect">
                <a:avLst/>
              </a:prstGeom>
              <a:blipFill>
                <a:blip r:embed="rId3"/>
                <a:stretch>
                  <a:fillRect l="-289" t="-4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148AAF4-6423-2C4D-9D97-D7ED03AA41AF}"/>
              </a:ext>
            </a:extLst>
          </p:cNvPr>
          <p:cNvSpPr/>
          <p:nvPr/>
        </p:nvSpPr>
        <p:spPr>
          <a:xfrm>
            <a:off x="868872" y="2052666"/>
            <a:ext cx="4750532" cy="5190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B796E0-A2FE-DE4A-83EF-494D8BFC9F16}"/>
              </a:ext>
            </a:extLst>
          </p:cNvPr>
          <p:cNvSpPr/>
          <p:nvPr/>
        </p:nvSpPr>
        <p:spPr>
          <a:xfrm>
            <a:off x="1126567" y="2514690"/>
            <a:ext cx="5897578" cy="487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6440A7-0BF2-8E46-B5E6-29D6ADE8D0A1}"/>
              </a:ext>
            </a:extLst>
          </p:cNvPr>
          <p:cNvSpPr/>
          <p:nvPr/>
        </p:nvSpPr>
        <p:spPr>
          <a:xfrm>
            <a:off x="695689" y="3468629"/>
            <a:ext cx="3410798" cy="5190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45D9A6-B28E-7C41-830D-734FB618F234}"/>
              </a:ext>
            </a:extLst>
          </p:cNvPr>
          <p:cNvSpPr/>
          <p:nvPr/>
        </p:nvSpPr>
        <p:spPr>
          <a:xfrm>
            <a:off x="4006926" y="3401866"/>
            <a:ext cx="1329846" cy="652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CE983-E27D-404D-A5B0-51BEBC77C8AA}"/>
              </a:ext>
            </a:extLst>
          </p:cNvPr>
          <p:cNvSpPr/>
          <p:nvPr/>
        </p:nvSpPr>
        <p:spPr>
          <a:xfrm>
            <a:off x="5397922" y="3401200"/>
            <a:ext cx="1485015" cy="652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2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713E0-26C0-1848-AD05-98DCC70EAF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0C667-4B9A-F744-88F8-89AFCB721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1768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7">
                <a:extLst>
                  <a:ext uri="{FF2B5EF4-FFF2-40B4-BE49-F238E27FC236}">
                    <a16:creationId xmlns:a16="http://schemas.microsoft.com/office/drawing/2014/main" id="{00A2AE0F-DC97-F842-AA17-A2F4820D9E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525" y="3176887"/>
                <a:ext cx="8795509" cy="2383295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01600"/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i. Which number of goals happened most often?	2</a:t>
                </a:r>
              </a:p>
              <a:p>
                <a:pPr marL="101600"/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ii. 14 + 18 + 8 + 8 + 6 + 8 = 62</a:t>
                </a:r>
              </a:p>
              <a:p>
                <a:pPr marL="101600"/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iii. Median of 62: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31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𝑠𝑡</m:t>
                        </m:r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+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32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𝑛𝑑</m:t>
                        </m:r>
                      </m:num>
                      <m:den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  <m:r>
                      <a:rPr lang="en-IE" sz="280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+</m:t>
                        </m:r>
                        <m:r>
                          <a:rPr lang="en-IE" sz="2800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num>
                      <m:den>
                        <m:r>
                          <a:rPr lang="en-IE" sz="2800" i="1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= 2</a:t>
                </a:r>
              </a:p>
              <a:p>
                <a:pPr marL="101600"/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1, 1, 1, 1, 1, 1, 1, 1, 1, 1, 1, 1, 1, 1, 2, 2, 2, 2, 2, 2, 2, 2, 2, 2, 2, 2, 2, 2, 2, 2, 2, 2 …</a:t>
                </a:r>
              </a:p>
            </p:txBody>
          </p:sp>
        </mc:Choice>
        <mc:Fallback>
          <p:sp>
            <p:nvSpPr>
              <p:cNvPr id="5" name="Text Placeholder 7">
                <a:extLst>
                  <a:ext uri="{FF2B5EF4-FFF2-40B4-BE49-F238E27FC236}">
                    <a16:creationId xmlns:a16="http://schemas.microsoft.com/office/drawing/2014/main" id="{00A2AE0F-DC97-F842-AA17-A2F4820D9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5" y="3176887"/>
                <a:ext cx="8795509" cy="2383295"/>
              </a:xfrm>
              <a:prstGeom prst="rect">
                <a:avLst/>
              </a:prstGeom>
              <a:blipFill>
                <a:blip r:embed="rId3"/>
                <a:stretch>
                  <a:fillRect l="-289" t="-3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85BCB19-9CE6-6545-A57A-B223406CF564}"/>
              </a:ext>
            </a:extLst>
          </p:cNvPr>
          <p:cNvSpPr/>
          <p:nvPr/>
        </p:nvSpPr>
        <p:spPr>
          <a:xfrm>
            <a:off x="483148" y="3176887"/>
            <a:ext cx="6807113" cy="5190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29A489-5D13-714C-B840-A212EF52D5D3}"/>
              </a:ext>
            </a:extLst>
          </p:cNvPr>
          <p:cNvSpPr/>
          <p:nvPr/>
        </p:nvSpPr>
        <p:spPr>
          <a:xfrm>
            <a:off x="7439995" y="3138196"/>
            <a:ext cx="705570" cy="487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22F8F3-8A56-DB48-93B5-FB565139A8C5}"/>
              </a:ext>
            </a:extLst>
          </p:cNvPr>
          <p:cNvSpPr/>
          <p:nvPr/>
        </p:nvSpPr>
        <p:spPr>
          <a:xfrm>
            <a:off x="534264" y="3625518"/>
            <a:ext cx="3312786" cy="381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394AD7-6272-524B-B6F3-4D60733DFEEE}"/>
              </a:ext>
            </a:extLst>
          </p:cNvPr>
          <p:cNvSpPr/>
          <p:nvPr/>
        </p:nvSpPr>
        <p:spPr>
          <a:xfrm>
            <a:off x="3885576" y="3586770"/>
            <a:ext cx="1625146" cy="429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BE762-A144-4A45-B71F-D23160A9A10C}"/>
              </a:ext>
            </a:extLst>
          </p:cNvPr>
          <p:cNvSpPr/>
          <p:nvPr/>
        </p:nvSpPr>
        <p:spPr>
          <a:xfrm>
            <a:off x="609077" y="4187430"/>
            <a:ext cx="2026057" cy="381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C1CBE4-B163-6D47-9A5B-A5BAC81D6EEF}"/>
              </a:ext>
            </a:extLst>
          </p:cNvPr>
          <p:cNvSpPr/>
          <p:nvPr/>
        </p:nvSpPr>
        <p:spPr>
          <a:xfrm>
            <a:off x="2673659" y="3991346"/>
            <a:ext cx="1443283" cy="699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4F6433-118F-BD4D-B687-CEE0910DEAAC}"/>
              </a:ext>
            </a:extLst>
          </p:cNvPr>
          <p:cNvSpPr/>
          <p:nvPr/>
        </p:nvSpPr>
        <p:spPr>
          <a:xfrm>
            <a:off x="4155468" y="4030005"/>
            <a:ext cx="1625146" cy="699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977A89-302C-C54D-8347-D71F0889AFD6}"/>
              </a:ext>
            </a:extLst>
          </p:cNvPr>
          <p:cNvSpPr/>
          <p:nvPr/>
        </p:nvSpPr>
        <p:spPr>
          <a:xfrm>
            <a:off x="204403" y="4689205"/>
            <a:ext cx="8149888" cy="31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8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02C297-E39E-E347-ADAB-A0280F394E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4E69DC3-CD5A-9C45-8C1F-C9306763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28"/>
            <a:ext cx="9144000" cy="2320277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6D99147-1F14-C74F-9A70-0DF262985405}"/>
              </a:ext>
            </a:extLst>
          </p:cNvPr>
          <p:cNvSpPr txBox="1">
            <a:spLocks/>
          </p:cNvSpPr>
          <p:nvPr/>
        </p:nvSpPr>
        <p:spPr>
          <a:xfrm>
            <a:off x="0" y="2601605"/>
            <a:ext cx="8795509" cy="238329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73100" indent="-571500">
              <a:buAutoNum type="romanL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11 peas in a pod to be the most common, it must be more common than 9-pea and 10-pea pods.</a:t>
            </a:r>
          </a:p>
          <a:p>
            <a:pPr marL="101600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	Mode: 13</a:t>
            </a:r>
          </a:p>
          <a:p>
            <a:pPr marL="101600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ii.  If median is 10 it has to be the middle number.</a:t>
            </a:r>
          </a:p>
          <a:p>
            <a:pPr marL="101600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Largest value of x:	21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9BB3C-DE3D-E547-8328-9CE4C30570C9}"/>
              </a:ext>
            </a:extLst>
          </p:cNvPr>
          <p:cNvSpPr/>
          <p:nvPr/>
        </p:nvSpPr>
        <p:spPr>
          <a:xfrm>
            <a:off x="507259" y="2658054"/>
            <a:ext cx="8113039" cy="894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8C3A4-5F80-5245-BEB3-0B6A474374D3}"/>
              </a:ext>
            </a:extLst>
          </p:cNvPr>
          <p:cNvSpPr/>
          <p:nvPr/>
        </p:nvSpPr>
        <p:spPr>
          <a:xfrm>
            <a:off x="1856073" y="3520421"/>
            <a:ext cx="1626960" cy="487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320790-0FEB-EA4E-950D-F9C0480B3219}"/>
              </a:ext>
            </a:extLst>
          </p:cNvPr>
          <p:cNvSpPr/>
          <p:nvPr/>
        </p:nvSpPr>
        <p:spPr>
          <a:xfrm>
            <a:off x="507259" y="3909701"/>
            <a:ext cx="7137289" cy="381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EF3729-0C7B-BD4F-9A3F-49D14D090721}"/>
              </a:ext>
            </a:extLst>
          </p:cNvPr>
          <p:cNvSpPr/>
          <p:nvPr/>
        </p:nvSpPr>
        <p:spPr>
          <a:xfrm>
            <a:off x="117213" y="4396936"/>
            <a:ext cx="4621042" cy="429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9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Quince template">
  <a:themeElements>
    <a:clrScheme name="Custom 347">
      <a:dk1>
        <a:srgbClr val="28324A"/>
      </a:dk1>
      <a:lt1>
        <a:srgbClr val="FFFFFF"/>
      </a:lt1>
      <a:dk2>
        <a:srgbClr val="707685"/>
      </a:dk2>
      <a:lt2>
        <a:srgbClr val="E5E5E5"/>
      </a:lt2>
      <a:accent1>
        <a:srgbClr val="00CEF6"/>
      </a:accent1>
      <a:accent2>
        <a:srgbClr val="3468BC"/>
      </a:accent2>
      <a:accent3>
        <a:srgbClr val="00A7C8"/>
      </a:accent3>
      <a:accent4>
        <a:srgbClr val="8EC400"/>
      </a:accent4>
      <a:accent5>
        <a:srgbClr val="AFF000"/>
      </a:accent5>
      <a:accent6>
        <a:srgbClr val="7F7F7F"/>
      </a:accent6>
      <a:hlink>
        <a:srgbClr val="28324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1139</Words>
  <Application>Microsoft Macintosh PowerPoint</Application>
  <PresentationFormat>On-screen Show (16:9)</PresentationFormat>
  <Paragraphs>192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Oswald</vt:lpstr>
      <vt:lpstr>Source Sans Pro</vt:lpstr>
      <vt:lpstr>Calibri</vt:lpstr>
      <vt:lpstr>Cambria Math</vt:lpstr>
      <vt:lpstr>Quince template</vt:lpstr>
      <vt:lpstr>Statistics 5th Year Maths 14th September 2020</vt:lpstr>
      <vt:lpstr>What are Statistics?</vt:lpstr>
      <vt:lpstr>PowerPoint Presentation</vt:lpstr>
      <vt:lpstr>Specifying the Question</vt:lpstr>
      <vt:lpstr>Collecting Data</vt:lpstr>
      <vt:lpstr>PowerPoint Presentation</vt:lpstr>
      <vt:lpstr>Processing and presenting the data</vt:lpstr>
      <vt:lpstr>Averages</vt:lpstr>
      <vt:lpstr>Exercise 7D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5th Year Maths 13th September 2020</dc:title>
  <cp:lastModifiedBy>MAC LIATHAIN, CIAN</cp:lastModifiedBy>
  <cp:revision>135</cp:revision>
  <dcterms:modified xsi:type="dcterms:W3CDTF">2020-09-14T14:08:54Z</dcterms:modified>
</cp:coreProperties>
</file>