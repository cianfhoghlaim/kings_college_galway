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8" r:id="rId2"/>
    <p:sldId id="264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7" r:id="rId1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Twinkl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A0DB"/>
    <a:srgbClr val="DE1E5A"/>
    <a:srgbClr val="BC0105"/>
    <a:srgbClr val="4DB1E3"/>
    <a:srgbClr val="80C1EB"/>
    <a:srgbClr val="ACDDFC"/>
    <a:srgbClr val="FFFFFF"/>
    <a:srgbClr val="4AA1D9"/>
    <a:srgbClr val="21A6F9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852" y="108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19/01/2020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19/01/2020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.uk/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.uk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sp>
        <p:nvSpPr>
          <p:cNvPr id="2" name="Rectangle 1">
            <a:hlinkClick r:id="rId4"/>
          </p:cNvPr>
          <p:cNvSpPr/>
          <p:nvPr userDrawn="1"/>
        </p:nvSpPr>
        <p:spPr>
          <a:xfrm>
            <a:off x="4137660" y="5561814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 userDrawn="1"/>
        </p:nvSpPr>
        <p:spPr>
          <a:xfrm>
            <a:off x="4137660" y="3152488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winkl.co.uk/search?term=percentages+powerpoi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winkl.co.uk/search?term=percentages+powerpoint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09E5FBCF-1185-4612-8260-EFAFAD999981}"/>
              </a:ext>
            </a:extLst>
          </p:cNvPr>
          <p:cNvSpPr/>
          <p:nvPr/>
        </p:nvSpPr>
        <p:spPr>
          <a:xfrm>
            <a:off x="3993160" y="5368954"/>
            <a:ext cx="1124124" cy="84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4039" y="1134071"/>
            <a:ext cx="76327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2000" dirty="0"/>
              <a:t>There are 100 people in a school.</a:t>
            </a:r>
          </a:p>
          <a:p>
            <a:pPr algn="ctr"/>
            <a:r>
              <a:rPr lang="en-AU" sz="2000" dirty="0"/>
              <a:t>5</a:t>
            </a:r>
            <a:r>
              <a:rPr lang="en-GB" sz="2000" dirty="0"/>
              <a:t>5 are boys. </a:t>
            </a:r>
          </a:p>
          <a:p>
            <a:pPr algn="ctr"/>
            <a:r>
              <a:rPr lang="en-GB" sz="2000" dirty="0"/>
              <a:t>What percentage of people in a school are boys?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5.5%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55%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45%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Arrow: Right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0B0B0E5-CB02-4BA7-8AAA-ECAC5CAD3F64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4039" y="1402202"/>
            <a:ext cx="76327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2000" dirty="0"/>
              <a:t>What is 60% as a fraction?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94E7A-3A35-409C-BA15-9F0FD64CC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50068"/>
              </p:ext>
            </p:extLst>
          </p:nvPr>
        </p:nvGraphicFramePr>
        <p:xfrm>
          <a:off x="4411010" y="2506584"/>
          <a:ext cx="3135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92">
                  <a:extLst>
                    <a:ext uri="{9D8B030D-6E8A-4147-A177-3AD203B41FA5}">
                      <a16:colId xmlns:a16="http://schemas.microsoft.com/office/drawing/2014/main" val="4192801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67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6</a:t>
                      </a:r>
                      <a:endParaRPr lang="en-GB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693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EC2EF24-52DA-4544-A2C3-BE0876695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89245"/>
              </p:ext>
            </p:extLst>
          </p:nvPr>
        </p:nvGraphicFramePr>
        <p:xfrm>
          <a:off x="4411010" y="3761111"/>
          <a:ext cx="3135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92">
                  <a:extLst>
                    <a:ext uri="{9D8B030D-6E8A-4147-A177-3AD203B41FA5}">
                      <a16:colId xmlns:a16="http://schemas.microsoft.com/office/drawing/2014/main" val="4192801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67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4</a:t>
                      </a:r>
                      <a:endParaRPr lang="en-GB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6930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DA71ED9-30A7-4A19-9FA7-621B7F9FB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37456"/>
              </p:ext>
            </p:extLst>
          </p:nvPr>
        </p:nvGraphicFramePr>
        <p:xfrm>
          <a:off x="4413938" y="4913928"/>
          <a:ext cx="3135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92">
                  <a:extLst>
                    <a:ext uri="{9D8B030D-6E8A-4147-A177-3AD203B41FA5}">
                      <a16:colId xmlns:a16="http://schemas.microsoft.com/office/drawing/2014/main" val="4192801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67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5</a:t>
                      </a:r>
                      <a:endParaRPr lang="en-GB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693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22A8CE8-76E5-4D8F-B886-6F62BAA40B09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6" name="Arrow: Left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987E05C-4B54-459A-BDFD-9358CD8F7608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113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30%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25%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50%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402202"/>
            <a:ext cx="76327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2000" dirty="0"/>
              <a:t>What is       as a percentage?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F1B4D8-A079-4FAB-A86B-F7E9E3A5C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260095"/>
              </p:ext>
            </p:extLst>
          </p:nvPr>
        </p:nvGraphicFramePr>
        <p:xfrm>
          <a:off x="3927433" y="1176976"/>
          <a:ext cx="3135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92">
                  <a:extLst>
                    <a:ext uri="{9D8B030D-6E8A-4147-A177-3AD203B41FA5}">
                      <a16:colId xmlns:a16="http://schemas.microsoft.com/office/drawing/2014/main" val="4192801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67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dirty="0"/>
                        <a:t>4</a:t>
                      </a:r>
                      <a:endParaRPr lang="en-GB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69305"/>
                  </a:ext>
                </a:extLst>
              </a:tr>
            </a:tbl>
          </a:graphicData>
        </a:graphic>
      </p:graphicFrame>
      <p:sp>
        <p:nvSpPr>
          <p:cNvPr id="15" name="Arrow: Right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29D0B5-61E5-4DF4-B103-BDE5AFAA6CF8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6" name="Arrow: Left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3254DC-6C20-4D85-8A2C-D40F4256B797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65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Amy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Jason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They both got the same result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402202"/>
            <a:ext cx="76327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2000" dirty="0"/>
              <a:t>A</a:t>
            </a:r>
            <a:r>
              <a:rPr lang="en-GB" sz="2000" dirty="0"/>
              <a:t>my got 30 out of 50 in a maths test. Jason got 65%. </a:t>
            </a:r>
            <a:br>
              <a:rPr lang="en-GB" sz="2000" dirty="0"/>
            </a:br>
            <a:r>
              <a:rPr lang="en-GB" sz="2000" dirty="0"/>
              <a:t>Who got the better result?</a:t>
            </a:r>
          </a:p>
        </p:txBody>
      </p:sp>
      <p:sp>
        <p:nvSpPr>
          <p:cNvPr id="13" name="Arrow: Right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FC2B45-625A-4B6C-A47C-A9E58F338C8B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4" name="Arrow: Left 1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9247178-2E0C-49ED-9D09-6BB3DD0A6440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1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32%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33%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43%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402202"/>
            <a:ext cx="76327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2000" dirty="0"/>
              <a:t>67% of students in the drama club are girls. </a:t>
            </a:r>
          </a:p>
          <a:p>
            <a:pPr algn="ctr"/>
            <a:r>
              <a:rPr lang="en-AU" sz="2000" dirty="0"/>
              <a:t>What percentage are boys?</a:t>
            </a:r>
            <a:endParaRPr lang="en-GB" sz="2000" dirty="0"/>
          </a:p>
        </p:txBody>
      </p:sp>
      <p:sp>
        <p:nvSpPr>
          <p:cNvPr id="12" name="Arrow: Right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38488D0-9098-448E-85F9-236D1399B522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3" name="Arrow: Left 1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9555F3-8029-45A1-9584-5F525CF09A8F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90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60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6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0.6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402202"/>
            <a:ext cx="76327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2000" dirty="0"/>
              <a:t>What is 1% of 600?</a:t>
            </a:r>
            <a:endParaRPr lang="en-GB" sz="2000" dirty="0"/>
          </a:p>
        </p:txBody>
      </p:sp>
      <p:sp>
        <p:nvSpPr>
          <p:cNvPr id="12" name="Arrow: Right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11359BB-77F5-4766-BF6B-3C419F422595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3" name="Arrow: Left 1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8A5429C-C1A9-4B09-90F9-F95590F87171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3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£47.50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£50.00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£57.50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402202"/>
            <a:ext cx="76327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2000" dirty="0"/>
              <a:t>What is 50% of £95?</a:t>
            </a:r>
            <a:endParaRPr lang="en-GB" sz="2000" dirty="0"/>
          </a:p>
        </p:txBody>
      </p:sp>
      <p:sp>
        <p:nvSpPr>
          <p:cNvPr id="12" name="Arrow: Right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E2C2391-5797-4172-BDC0-5656B6100E25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3" name="Arrow: Left 1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B8CC03C-1219-465A-8C1C-11041049B8E6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076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30 grams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40 grams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50 grams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1FAEC-135E-41D3-88E0-D8EC068DDBAF}"/>
              </a:ext>
            </a:extLst>
          </p:cNvPr>
          <p:cNvSpPr/>
          <p:nvPr/>
        </p:nvSpPr>
        <p:spPr>
          <a:xfrm>
            <a:off x="764039" y="1243940"/>
            <a:ext cx="76327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2000" dirty="0"/>
              <a:t>A 150 gram bar of flapjack contains 20% chocolate chips.</a:t>
            </a:r>
          </a:p>
          <a:p>
            <a:pPr algn="ctr"/>
            <a:r>
              <a:rPr lang="en-AU" sz="2000" dirty="0"/>
              <a:t>What is the weight of chocolate chips in grams?</a:t>
            </a:r>
            <a:endParaRPr lang="en-GB" sz="2000" dirty="0"/>
          </a:p>
        </p:txBody>
      </p:sp>
      <p:sp>
        <p:nvSpPr>
          <p:cNvPr id="12" name="Arrow: Right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0B41A8-344E-4B1E-A279-CCC4D3A24141}"/>
              </a:ext>
            </a:extLst>
          </p:cNvPr>
          <p:cNvSpPr/>
          <p:nvPr/>
        </p:nvSpPr>
        <p:spPr>
          <a:xfrm>
            <a:off x="7460027" y="5746459"/>
            <a:ext cx="928323" cy="5538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next</a:t>
            </a:r>
            <a:endParaRPr lang="en-GB" dirty="0"/>
          </a:p>
        </p:txBody>
      </p:sp>
      <p:sp>
        <p:nvSpPr>
          <p:cNvPr id="13" name="Arrow: Left 1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04C7E88-9A3D-43F4-936D-2029C8CD5890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9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4039" y="1402202"/>
            <a:ext cx="76327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2000" dirty="0"/>
              <a:t>In a survey 15 out of 50 </a:t>
            </a:r>
            <a:r>
              <a:rPr lang="en-GB" sz="2000"/>
              <a:t>children had </a:t>
            </a:r>
            <a:r>
              <a:rPr lang="en-GB" sz="2000" dirty="0"/>
              <a:t>blue eyes.</a:t>
            </a:r>
            <a:br>
              <a:rPr lang="en-GB" sz="2000" dirty="0"/>
            </a:br>
            <a:r>
              <a:rPr lang="en-GB" sz="2000" dirty="0"/>
              <a:t>What percentage is this?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916E36-9C08-4CE6-8816-AAB6C9CE7452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7.5%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8F3D3-DC82-4DBB-8C9A-ED3DEE0F39F4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15%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64E6C-E110-4124-A5F5-044423211EF9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30%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AF797-D4D1-4046-9239-85AC85D95B79}"/>
              </a:ext>
            </a:extLst>
          </p:cNvPr>
          <p:cNvSpPr/>
          <p:nvPr/>
        </p:nvSpPr>
        <p:spPr>
          <a:xfrm>
            <a:off x="2155971" y="2474753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F9588-F420-480E-87C9-EDE0D36040FE}"/>
              </a:ext>
            </a:extLst>
          </p:cNvPr>
          <p:cNvSpPr/>
          <p:nvPr/>
        </p:nvSpPr>
        <p:spPr>
          <a:xfrm>
            <a:off x="2155971" y="3697448"/>
            <a:ext cx="4823670" cy="80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Try again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9BA9-E96E-4101-B2AC-52116C62CDDE}"/>
              </a:ext>
            </a:extLst>
          </p:cNvPr>
          <p:cNvSpPr/>
          <p:nvPr/>
        </p:nvSpPr>
        <p:spPr>
          <a:xfrm>
            <a:off x="2164360" y="4873305"/>
            <a:ext cx="4823670" cy="80534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</a:rPr>
              <a:t>Correct!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4" name="Arrow: Left 1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0F0E2AA-6AE0-4F92-B7C1-DA4A39D45197}"/>
              </a:ext>
            </a:extLst>
          </p:cNvPr>
          <p:cNvSpPr/>
          <p:nvPr/>
        </p:nvSpPr>
        <p:spPr>
          <a:xfrm>
            <a:off x="738231" y="5754848"/>
            <a:ext cx="928323" cy="545488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back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31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26F698C0-9515-4C4F-85AB-E3E7059CC495}"/>
              </a:ext>
            </a:extLst>
          </p:cNvPr>
          <p:cNvSpPr/>
          <p:nvPr/>
        </p:nvSpPr>
        <p:spPr>
          <a:xfrm>
            <a:off x="4009938" y="3005356"/>
            <a:ext cx="1124124" cy="84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 Guidance.pptx" id="{34442D15-F5BB-4F73-9606-C8812E688AB8}" vid="{28CC8FB8-836C-49DA-A823-EC8BE3E520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143</TotalTime>
  <Words>243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Twinkl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Meghan Hardie</dc:creator>
  <cp:lastModifiedBy>Meghan Hardie</cp:lastModifiedBy>
  <cp:revision>8</cp:revision>
  <dcterms:created xsi:type="dcterms:W3CDTF">2020-01-13T00:05:48Z</dcterms:created>
  <dcterms:modified xsi:type="dcterms:W3CDTF">2020-01-19T21:17:50Z</dcterms:modified>
</cp:coreProperties>
</file>