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66" r:id="rId2"/>
    <p:sldId id="767" r:id="rId3"/>
    <p:sldId id="768" r:id="rId4"/>
    <p:sldId id="769" r:id="rId5"/>
    <p:sldId id="770" r:id="rId6"/>
    <p:sldId id="771" r:id="rId7"/>
    <p:sldId id="772" r:id="rId8"/>
    <p:sldId id="539" r:id="rId9"/>
    <p:sldId id="304" r:id="rId10"/>
    <p:sldId id="305" r:id="rId11"/>
    <p:sldId id="306" r:id="rId12"/>
    <p:sldId id="347" r:id="rId13"/>
    <p:sldId id="536" r:id="rId14"/>
    <p:sldId id="537" r:id="rId15"/>
    <p:sldId id="538" r:id="rId16"/>
    <p:sldId id="340" r:id="rId17"/>
    <p:sldId id="341" r:id="rId18"/>
    <p:sldId id="342" r:id="rId19"/>
    <p:sldId id="343" r:id="rId20"/>
    <p:sldId id="344" r:id="rId21"/>
    <p:sldId id="345" r:id="rId22"/>
    <p:sldId id="346" r:id="rId23"/>
    <p:sldId id="562" r:id="rId24"/>
    <p:sldId id="429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EFDA1-670B-4346-839F-51C2BC71C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BA1685-8254-40BA-A430-A7AC19996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9096F-F599-4FD8-82EB-172B06E6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3343A-D246-4F18-9658-501DEFD52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83217-C2E5-4523-A399-0F4CFF60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22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A5C0-F0C8-4D28-BB57-1DF4551F7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4296D-38E8-45FB-BCA7-B5287D660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1CCF66-BCF2-4B2B-9849-7CE91CA04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E2B7E-D4FB-4F5C-BFA4-59BDD4724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BFD88-6AE2-4859-91D4-6E556A382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272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11C5F-C81A-4029-BD91-14D181141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BA3A1-F3C2-40D5-B275-FA68229DF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CCAD9-BFBD-461C-9958-FB972523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94187-9EFF-4248-A9F8-F3C2B1D6E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1581F-6D08-413A-BA6D-AA2AC1C5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744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CA72F-D1E3-4E0C-8DBE-7254E92C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CB004-C4C6-46ED-BB9E-5FFF73FF54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E4D8E-BB9C-45FE-A74C-3C3672862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99AB19-EA57-4547-A60D-E89E4792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31619-DBEA-4C23-9252-0BCB66C4E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FA592-A93E-4916-B846-D70BF228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4833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1248-60CF-4452-932F-BF04AC29C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F5255-E300-4C02-A30B-CF055FEC7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43BAB-8F97-49E1-91AD-49F608765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7B2E7-05E8-472C-BC66-0EB0A09968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302C74-CC57-408D-9CC2-EFFB66CF8C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56D1F6-778C-467F-8412-D9514920B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5545C-4E6C-4794-A6CE-4C9EE8A0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118045-D432-44A9-A7EE-EA0490D7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090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1A3EA-CD7C-4F6F-A2BD-EB8B2A429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A8AB7-FB31-4373-9753-93AAEE5A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E42D9-788F-443E-92A3-76CE57C0E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FB77B5-CC48-4E20-81D7-F3E6A50EB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281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23EF7-B7D6-42B4-ACF1-0C9333BE8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E63E41-E706-449F-B575-AE94A58A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12461-49BD-4BD2-BCF4-AA74EBF66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472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DA8AD-D6F3-40A6-A913-47FE8783F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0503A-AF45-4940-89EE-C321425E3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F840E-0C09-438D-B644-AF49B94ACB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F056A0-F62B-411E-82BC-52873713A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2F7E18-E4E4-4483-89ED-A48700A09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A0059-3E66-40CD-8A4D-087E81222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85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D713-2E9F-4315-B6A1-52CFC92E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578B7B-2188-419C-94C6-2EC6462218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9A174F-D49D-4BDE-ADB9-D206223F5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FBE93-2A00-4404-BA09-B9F73B50C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485B9-3FAE-4F12-AE39-9BE9E59C2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23FF0E-C9BF-4F02-AEB2-EFABD2E1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347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1CBE3-F06D-4269-A264-4438FFA4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77887B-5C3B-48C8-907A-F5A6CBB3E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7018A-E388-4A53-B46C-C3E0D2720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796B8-9F10-409E-84CF-E1560E67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08FB7-CDEA-420D-9E93-CAD07193C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36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94B46E-A53C-46DC-89EE-22BBA4817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9B80E-E367-4317-925E-53C070AFF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914A4-F5F4-4EE1-9660-AE06DDD1D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C5031-3FE6-4B07-8807-5CB706E84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E587D1-9B34-4C83-B2A5-9BB73A50C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9067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EE7D0-9BBD-40AA-984E-DD9BE1A18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81C76-1D67-4E55-95DC-4820E597D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07CBD-D30F-4C00-B446-22F4C933CD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26DC72-5516-431D-8130-28A9767F7B95}" type="datetimeFigureOut">
              <a:rPr lang="en-GB" smtClean="0"/>
              <a:t>27/10/2018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FE5FE-32D2-4128-B24E-E1F98C1F4B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0668B-BC3A-4163-85DB-62315EC29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0BD37-C42B-4561-B2EB-1D6DC6ECC1F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987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youtube.com/watch?v=AWieLNN7nCU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youtube.com/watch?v=9ZEUoGutPzM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watch?v=T-DKppTXnFo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0Hv106IZ1fM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457B3BF0-63C6-4FF6-81F1-6CA78A547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237" y="2686050"/>
            <a:ext cx="8391525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520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04161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5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8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3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4.1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1075315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4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Oval 42"/>
          <p:cNvSpPr/>
          <p:nvPr/>
        </p:nvSpPr>
        <p:spPr>
          <a:xfrm>
            <a:off x="5826846" y="5429746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109E-6 1.85001E-6 L 0.0146 -0.07867 C 0.01776 -0.09618 0.02239 -0.1059 0.02725 -0.1059 C 0.03273 -0.1059 0.03711 -0.09618 0.04015 -0.07867 L 0.05524 1.85001E-6 " pathEditMode="relative" rAng="0" ptsTypes="FffFF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5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25 -1.60795E-6 L 0.06973 -0.0711 C 0.07277 -0.0871 0.07739 -0.09596 0.08226 -0.09596 C 0.08786 -0.09596 0.09224 -0.0871 0.09528 -0.0711 L 0.11037 -1.60795E-6 " pathEditMode="relative" rAng="0" ptsTypes="FffFF">
                                      <p:cBhvr>
                                        <p:cTn id="1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37 -1.60795E-6 L 0.12497 -0.0711 C 0.12814 -0.0871 0.13264 -0.09596 0.13751 -0.09596 C 0.14298 -0.09596 0.14748 -0.0871 0.15065 -0.0711 L 0.16562 -1.60795E-6 " pathEditMode="relative" rAng="0" ptsTypes="FffFF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3" grpId="1" animBg="1"/>
      <p:bldP spid="43" grpId="2" animBg="1"/>
      <p:bldP spid="43" grpId="3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04161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8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8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3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1075315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7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Oval 43"/>
          <p:cNvSpPr/>
          <p:nvPr/>
        </p:nvSpPr>
        <p:spPr>
          <a:xfrm>
            <a:off x="3135308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8063E-6 1.60579E-6 L -0.01338 -0.07111 C -0.01618 -0.08732 -0.02044 -0.09618 -0.02482 -0.09618 C -0.02969 -0.09618 -0.03382 -0.08732 -0.0365 -0.07111 L -0.04964 1.60579E-6 " pathEditMode="relative" rAng="0" ptsTypes="FffFF">
                                      <p:cBhvr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65 -1.60795E-6 L -0.06607 -0.0711 C -0.06948 -0.08731 -0.07459 -0.09617 -0.07994 -0.09617 C -0.08603 -0.09617 -0.0909 -0.08731 -0.0943 -0.0711 L -0.11037 -1.60795E-6 " pathEditMode="relative" rAng="0" ptsTypes="FffFF">
                                      <p:cBhvr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4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037 -1.60795E-6 L -0.12533 -0.0711 C -0.12837 -0.08731 -0.13312 -0.09617 -0.13799 -0.09617 C -0.14346 -0.09617 -0.14809 -0.08731 -0.15101 -0.0711 L -0.16561 -1.60795E-6 " pathEditMode="relative" rAng="0" ptsTypes="FffFF">
                                      <p:cBhvr>
                                        <p:cTn id="1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4" grpId="0" animBg="1"/>
      <p:bldP spid="44" grpId="1" animBg="1"/>
      <p:bldP spid="44" grpId="2" animBg="1"/>
      <p:bldP spid="44" grpId="3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1588897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710924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15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14.1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14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TextBox 43"/>
          <p:cNvSpPr txBox="1"/>
          <p:nvPr/>
        </p:nvSpPr>
        <p:spPr>
          <a:xfrm>
            <a:off x="1116307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4481077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8109E-6 1.85001E-6 L 0.0146 -0.07867 C 0.01776 -0.09618 0.02239 -0.1059 0.02725 -0.1059 C 0.03273 -0.1059 0.03711 -0.09618 0.04015 -0.07867 L 0.05524 1.85001E-6 " pathEditMode="relative" rAng="0" ptsTypes="FffFF">
                                      <p:cBhvr>
                                        <p:cTn id="10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5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525 -1.60795E-6 L 0.06973 -0.0711 C 0.07277 -0.0871 0.07739 -0.09596 0.08226 -0.09596 C 0.08786 -0.09596 0.09224 -0.0871 0.09528 -0.0711 L 0.11037 -1.60795E-6 " pathEditMode="relative" rAng="0" ptsTypes="FffFF">
                                      <p:cBhvr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37 -1.60795E-6 L 0.12497 -0.0711 C 0.12814 -0.0871 0.13264 -0.09596 0.13751 -0.09596 C 0.14298 -0.09596 0.14748 -0.0871 0.15065 -0.0711 L 0.16562 -1.60795E-6 " pathEditMode="relative" rAng="0" ptsTypes="FffFF">
                                      <p:cBhvr>
                                        <p:cTn id="1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14" presetID="4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562 -1.60795E-6 L 0.18022 -0.0711 C 0.18338 -0.0871 0.188 -0.09596 0.19287 -0.09596 C 0.19835 -0.09596 0.20273 -0.0871 0.20577 -0.0711 L 0.22086 -1.60795E-6 " pathEditMode="relative" rAng="0" ptsTypes="FffFF">
                                      <p:cBhvr>
                                        <p:cTn id="1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17" presetID="44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086 3.49687E-6 L 0.23558 -0.07111 C 0.23875 -0.0871 0.24337 -0.09596 0.24824 -0.09596 C 0.25371 -0.09596 0.25809 -0.0871 0.26126 -0.07111 L 0.2761 3.49687E-6 " pathEditMode="relative" rAng="0" ptsTypes="FffFF">
                                      <p:cBhvr>
                                        <p:cTn id="11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66154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32260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23116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465751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4961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893788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731577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5490404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1588897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66233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67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66.8</a:t>
            </a:r>
            <a:endParaRPr lang="en-GB" sz="2990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66.5</a:t>
            </a:r>
            <a:endParaRPr lang="en-GB" sz="2990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66.1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66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Oval 43"/>
          <p:cNvSpPr/>
          <p:nvPr/>
        </p:nvSpPr>
        <p:spPr>
          <a:xfrm>
            <a:off x="1722250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TextBox 42"/>
          <p:cNvSpPr txBox="1"/>
          <p:nvPr/>
        </p:nvSpPr>
        <p:spPr>
          <a:xfrm>
            <a:off x="1183943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8063E-6 1.60579E-6 L -0.01338 -0.07111 C -0.01618 -0.08732 -0.02044 -0.09618 -0.02482 -0.09618 C -0.02969 -0.09618 -0.03382 -0.08732 -0.0365 -0.07111 L -0.04964 1.60579E-6 " pathEditMode="relative" rAng="0" ptsTypes="FffFF">
                                      <p:cBhvr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4" grpId="0" animBg="1"/>
      <p:bldP spid="4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03" y="670173"/>
            <a:ext cx="9310562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these lengths to the nearest centimetre.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788" y="1746789"/>
            <a:ext cx="25426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8.8 cm -&gt;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788" y="2757743"/>
            <a:ext cx="25426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9.1 cm -&gt;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864" y="3767070"/>
            <a:ext cx="280557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18.2 cm -&gt;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12" y="4776397"/>
            <a:ext cx="280557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13.9 cm -&gt; </a:t>
            </a:r>
          </a:p>
        </p:txBody>
      </p:sp>
      <p:sp>
        <p:nvSpPr>
          <p:cNvPr id="10" name="Oval 9"/>
          <p:cNvSpPr/>
          <p:nvPr/>
        </p:nvSpPr>
        <p:spPr>
          <a:xfrm>
            <a:off x="847500" y="1746789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385808" y="2285096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1460" y="1746789"/>
            <a:ext cx="119135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cm</a:t>
            </a:r>
          </a:p>
        </p:txBody>
      </p:sp>
      <p:sp>
        <p:nvSpPr>
          <p:cNvPr id="14" name="Oval 13"/>
          <p:cNvSpPr/>
          <p:nvPr/>
        </p:nvSpPr>
        <p:spPr>
          <a:xfrm>
            <a:off x="847500" y="2756115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1385808" y="3294423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41460" y="2756116"/>
            <a:ext cx="119135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cm</a:t>
            </a:r>
          </a:p>
        </p:txBody>
      </p:sp>
      <p:sp>
        <p:nvSpPr>
          <p:cNvPr id="17" name="Oval 16"/>
          <p:cNvSpPr/>
          <p:nvPr/>
        </p:nvSpPr>
        <p:spPr>
          <a:xfrm>
            <a:off x="1041018" y="3765442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037" y="4303750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403722" y="3765443"/>
            <a:ext cx="14542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18 cm</a:t>
            </a:r>
          </a:p>
        </p:txBody>
      </p:sp>
      <p:sp>
        <p:nvSpPr>
          <p:cNvPr id="20" name="Oval 19"/>
          <p:cNvSpPr/>
          <p:nvPr/>
        </p:nvSpPr>
        <p:spPr>
          <a:xfrm>
            <a:off x="1025719" y="4774769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496738" y="5313077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40494" y="4774770"/>
            <a:ext cx="14542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14 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4" grpId="0" animBg="1"/>
      <p:bldP spid="16" grpId="0"/>
      <p:bldP spid="17" grpId="0" animBg="1"/>
      <p:bldP spid="19" grpId="0"/>
      <p:bldP spid="20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03" y="670173"/>
            <a:ext cx="9993441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Estimate by rounding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789" y="1746789"/>
            <a:ext cx="224933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2.9 + 4.2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" y="3767070"/>
            <a:ext cx="2177199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8.2 – 4.4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789" y="2421300"/>
            <a:ext cx="224933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3 + 4 =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789" y="4372666"/>
            <a:ext cx="224933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8 - 4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9166" y="1746789"/>
            <a:ext cx="2241319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7.8 x 3.1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6077" y="3767070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31.6 ÷ 4.3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166" y="2421300"/>
            <a:ext cx="250421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 x 3 = 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166" y="4372666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32 ÷ 4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488" y="1746789"/>
            <a:ext cx="244009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29.8 – 5.5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3399" y="3767070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54.1 ÷ 8.8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6488" y="2421300"/>
            <a:ext cx="2775119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30 - 6 =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6488" y="4372666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54 ÷ 9 = 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1AB92A78-0B01-4F24-B655-07A771B84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337" y="2676525"/>
            <a:ext cx="6029325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6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14788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1577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39039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14386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3596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42423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780212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3539038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643635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595000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804161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8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8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4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3" y="5968054"/>
            <a:ext cx="662361" cy="4374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43" b="1" dirty="0">
                <a:solidFill>
                  <a:srgbClr val="FF0000"/>
                </a:solidFill>
                <a:latin typeface="Comic Sans MS" pitchFamily="66" charset="0"/>
              </a:rPr>
              <a:t>7.1</a:t>
            </a:r>
            <a:endParaRPr lang="en-GB" sz="3364" dirty="0"/>
          </a:p>
        </p:txBody>
      </p:sp>
      <p:sp>
        <p:nvSpPr>
          <p:cNvPr id="40" name="Rectangle 39"/>
          <p:cNvSpPr/>
          <p:nvPr/>
        </p:nvSpPr>
        <p:spPr>
          <a:xfrm>
            <a:off x="1075315" y="5968054"/>
            <a:ext cx="389850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7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Oval 43"/>
          <p:cNvSpPr/>
          <p:nvPr/>
        </p:nvSpPr>
        <p:spPr>
          <a:xfrm>
            <a:off x="2260558" y="5380365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TextBox 42"/>
          <p:cNvSpPr txBox="1"/>
          <p:nvPr/>
        </p:nvSpPr>
        <p:spPr>
          <a:xfrm>
            <a:off x="5476531" y="1667559"/>
            <a:ext cx="2855269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879914" y="255425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851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3371E-6 1.70953E-6 L -0.01047 -0.07111 C -0.01266 -0.08732 -0.01594 -0.09618 -0.01935 -0.09618 C -0.02312 -0.09618 -0.02629 -0.08732 -0.02848 -0.07111 L -0.03858 1.70953E-6 " pathEditMode="relative" rAng="0" ptsTypes="FffFF">
                                      <p:cBhvr>
                                        <p:cTn id="10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298 1.70953E-6 L -0.04941 -0.07111 C -0.05281 -0.08732 -0.05793 -0.09618 -0.06328 -0.09618 C -0.06936 -0.09618 -0.07423 -0.08732 -0.07764 -0.07111 L -0.0937 1.70953E-6 " pathEditMode="relative" rAng="0" ptsTypes="FffFF">
                                      <p:cBhvr>
                                        <p:cTn id="10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4" grpId="0" animBg="1"/>
      <p:bldP spid="44" grpId="1" animBg="1"/>
      <p:bldP spid="44" grpId="2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47500" y="1653995"/>
            <a:ext cx="127150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7846" y="1653995"/>
            <a:ext cx="1383712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92087" y="1182975"/>
            <a:ext cx="599844" cy="1242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47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67204" y="1653995"/>
            <a:ext cx="1774845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9303" y="670173"/>
            <a:ext cx="714971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08193" y="2083231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596654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37876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193269" y="2419673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>
            <a:off x="4534491" y="3967308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316172" y="3361712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36024" y="2621539"/>
            <a:ext cx="1588897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7980077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80211" y="5631611"/>
            <a:ext cx="7670885" cy="0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307192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63430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61423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288538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615654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3942769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326988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597000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924115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43635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25</a:t>
            </a:r>
            <a:endParaRPr lang="en-GB" sz="3364" dirty="0"/>
          </a:p>
        </p:txBody>
      </p:sp>
      <p:sp>
        <p:nvSpPr>
          <p:cNvPr id="30" name="Rectangle 29"/>
          <p:cNvSpPr/>
          <p:nvPr/>
        </p:nvSpPr>
        <p:spPr>
          <a:xfrm>
            <a:off x="699334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24.9</a:t>
            </a:r>
            <a:endParaRPr lang="en-GB" sz="3364" dirty="0"/>
          </a:p>
        </p:txBody>
      </p:sp>
      <p:sp>
        <p:nvSpPr>
          <p:cNvPr id="31" name="Rectangle 30"/>
          <p:cNvSpPr/>
          <p:nvPr/>
        </p:nvSpPr>
        <p:spPr>
          <a:xfrm>
            <a:off x="632046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24.8</a:t>
            </a:r>
            <a:endParaRPr lang="en-GB" sz="3364" dirty="0"/>
          </a:p>
        </p:txBody>
      </p:sp>
      <p:sp>
        <p:nvSpPr>
          <p:cNvPr id="32" name="Rectangle 31"/>
          <p:cNvSpPr/>
          <p:nvPr/>
        </p:nvSpPr>
        <p:spPr>
          <a:xfrm>
            <a:off x="5647579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24.7</a:t>
            </a:r>
            <a:endParaRPr lang="en-GB" sz="2990" dirty="0"/>
          </a:p>
        </p:txBody>
      </p:sp>
      <p:sp>
        <p:nvSpPr>
          <p:cNvPr id="33" name="Rectangle 32"/>
          <p:cNvSpPr/>
          <p:nvPr/>
        </p:nvSpPr>
        <p:spPr>
          <a:xfrm>
            <a:off x="497469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24.6</a:t>
            </a:r>
            <a:endParaRPr lang="en-GB" sz="3364" dirty="0"/>
          </a:p>
        </p:txBody>
      </p:sp>
      <p:sp>
        <p:nvSpPr>
          <p:cNvPr id="34" name="Rectangle 33"/>
          <p:cNvSpPr/>
          <p:nvPr/>
        </p:nvSpPr>
        <p:spPr>
          <a:xfrm>
            <a:off x="4301810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24.5</a:t>
            </a:r>
            <a:endParaRPr lang="en-GB" sz="3364" dirty="0"/>
          </a:p>
        </p:txBody>
      </p:sp>
      <p:sp>
        <p:nvSpPr>
          <p:cNvPr id="35" name="Rectangle 34"/>
          <p:cNvSpPr/>
          <p:nvPr/>
        </p:nvSpPr>
        <p:spPr>
          <a:xfrm>
            <a:off x="3628925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24.4</a:t>
            </a:r>
            <a:endParaRPr lang="en-GB" sz="3364" dirty="0"/>
          </a:p>
        </p:txBody>
      </p:sp>
      <p:sp>
        <p:nvSpPr>
          <p:cNvPr id="36" name="Rectangle 35"/>
          <p:cNvSpPr/>
          <p:nvPr/>
        </p:nvSpPr>
        <p:spPr>
          <a:xfrm>
            <a:off x="2956041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24.3</a:t>
            </a:r>
            <a:endParaRPr lang="en-GB" sz="3364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251231" y="5631611"/>
            <a:ext cx="0" cy="269154"/>
          </a:xfrm>
          <a:prstGeom prst="line">
            <a:avLst/>
          </a:prstGeom>
          <a:ln w="1270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2283156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24.2</a:t>
            </a:r>
            <a:endParaRPr lang="en-GB" sz="2990" dirty="0"/>
          </a:p>
        </p:txBody>
      </p:sp>
      <p:sp>
        <p:nvSpPr>
          <p:cNvPr id="39" name="Rectangle 38"/>
          <p:cNvSpPr/>
          <p:nvPr/>
        </p:nvSpPr>
        <p:spPr>
          <a:xfrm>
            <a:off x="1587674" y="5968053"/>
            <a:ext cx="726481" cy="3799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869" b="1" dirty="0">
                <a:solidFill>
                  <a:srgbClr val="FF0000"/>
                </a:solidFill>
                <a:latin typeface="Comic Sans MS" pitchFamily="66" charset="0"/>
              </a:rPr>
              <a:t>24.1</a:t>
            </a:r>
            <a:endParaRPr lang="en-GB" sz="2990" dirty="0"/>
          </a:p>
        </p:txBody>
      </p:sp>
      <p:sp>
        <p:nvSpPr>
          <p:cNvPr id="40" name="Rectangle 39"/>
          <p:cNvSpPr/>
          <p:nvPr/>
        </p:nvSpPr>
        <p:spPr>
          <a:xfrm>
            <a:off x="937387" y="5968054"/>
            <a:ext cx="595035" cy="4950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617" b="1" dirty="0">
                <a:solidFill>
                  <a:srgbClr val="FF0000"/>
                </a:solidFill>
                <a:latin typeface="Comic Sans MS" pitchFamily="66" charset="0"/>
              </a:rPr>
              <a:t>24</a:t>
            </a:r>
            <a:endParaRPr lang="en-GB" sz="3364" dirty="0"/>
          </a:p>
        </p:txBody>
      </p:sp>
      <p:sp>
        <p:nvSpPr>
          <p:cNvPr id="41" name="Rectangle 40"/>
          <p:cNvSpPr/>
          <p:nvPr/>
        </p:nvSpPr>
        <p:spPr>
          <a:xfrm>
            <a:off x="914789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2" name="Rectangle 41"/>
          <p:cNvSpPr/>
          <p:nvPr/>
        </p:nvSpPr>
        <p:spPr>
          <a:xfrm>
            <a:off x="7643635" y="5968054"/>
            <a:ext cx="605596" cy="47101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3" name="Oval 42"/>
          <p:cNvSpPr/>
          <p:nvPr/>
        </p:nvSpPr>
        <p:spPr>
          <a:xfrm>
            <a:off x="6297865" y="5429746"/>
            <a:ext cx="269154" cy="2691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sp>
        <p:nvSpPr>
          <p:cNvPr id="44" name="TextBox 43"/>
          <p:cNvSpPr txBox="1"/>
          <p:nvPr/>
        </p:nvSpPr>
        <p:spPr>
          <a:xfrm>
            <a:off x="1116307" y="2621539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50877" y="1667559"/>
            <a:ext cx="2855269" cy="6675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738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54664" y="2635104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11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4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25383E-6 3.53577E-6 L 0.00426 -0.07867 C 0.00523 -0.09618 0.00669 -0.1059 0.00815 -0.1059 C 0.00973 -0.1059 0.01107 -0.09618 0.01192 -0.07867 L 0.01655 3.53577E-6 " pathEditMode="relative" rAng="0" ptsTypes="FffFF">
                                      <p:cBhvr>
                                        <p:cTn id="10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00" y="-53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44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3.53577E-6 L 0.03115 -0.07111 C 0.03419 -0.0871 0.03882 -0.09596 0.04369 -0.09596 C 0.04928 -0.09596 0.05366 -0.0871 0.05671 -0.07111 L 0.07179 3.53577E-6 " pathEditMode="relative" rAng="0" ptsTypes="FffFF">
                                      <p:cBhvr>
                                        <p:cTn id="1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44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79 3.53577E-6 L 0.0864 -0.07111 C 0.08956 -0.0871 0.09406 -0.09596 0.09893 -0.09596 C 0.10441 -0.09596 0.10891 -0.0871 0.11207 -0.07111 L 0.12704 3.53577E-6 " pathEditMode="relative" rAng="0" ptsTypes="FffFF">
                                      <p:cBhvr>
                                        <p:cTn id="1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-48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7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8" grpId="0"/>
      <p:bldP spid="39" grpId="0"/>
      <p:bldP spid="40" grpId="0"/>
      <p:bldP spid="41" grpId="0" animBg="1"/>
      <p:bldP spid="42" grpId="0" animBg="1"/>
      <p:bldP spid="43" grpId="0" animBg="1"/>
      <p:bldP spid="43" grpId="1" animBg="1"/>
      <p:bldP spid="43" grpId="2" animBg="1"/>
      <p:bldP spid="43" grpId="3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02" y="670173"/>
            <a:ext cx="8409674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Round these lengths to the nearest metre.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788" y="1746789"/>
            <a:ext cx="258436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8.83 m -&gt;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788" y="2757743"/>
            <a:ext cx="258436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9.19 m -&gt;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864" y="3767070"/>
            <a:ext cx="284725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26.28 m -&gt;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211" y="4776397"/>
            <a:ext cx="284725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14.94 m -&gt; </a:t>
            </a:r>
          </a:p>
        </p:txBody>
      </p:sp>
      <p:sp>
        <p:nvSpPr>
          <p:cNvPr id="10" name="Oval 9"/>
          <p:cNvSpPr/>
          <p:nvPr/>
        </p:nvSpPr>
        <p:spPr>
          <a:xfrm>
            <a:off x="847500" y="1746789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1385808" y="2285096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41461" y="1746789"/>
            <a:ext cx="9701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m</a:t>
            </a:r>
          </a:p>
        </p:txBody>
      </p:sp>
      <p:sp>
        <p:nvSpPr>
          <p:cNvPr id="14" name="Oval 13"/>
          <p:cNvSpPr/>
          <p:nvPr/>
        </p:nvSpPr>
        <p:spPr>
          <a:xfrm>
            <a:off x="847500" y="2756115"/>
            <a:ext cx="538308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1385808" y="3294423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41461" y="2756116"/>
            <a:ext cx="97013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9 m</a:t>
            </a:r>
          </a:p>
        </p:txBody>
      </p:sp>
      <p:sp>
        <p:nvSpPr>
          <p:cNvPr id="17" name="Oval 16"/>
          <p:cNvSpPr/>
          <p:nvPr/>
        </p:nvSpPr>
        <p:spPr>
          <a:xfrm>
            <a:off x="1041018" y="3765442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18" name="Straight Connector 17"/>
          <p:cNvCxnSpPr/>
          <p:nvPr/>
        </p:nvCxnSpPr>
        <p:spPr>
          <a:xfrm flipH="1">
            <a:off x="1512037" y="4303750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93036" y="3765443"/>
            <a:ext cx="1233030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26 m</a:t>
            </a:r>
          </a:p>
        </p:txBody>
      </p:sp>
      <p:sp>
        <p:nvSpPr>
          <p:cNvPr id="20" name="Oval 19"/>
          <p:cNvSpPr/>
          <p:nvPr/>
        </p:nvSpPr>
        <p:spPr>
          <a:xfrm>
            <a:off x="1025719" y="4774769"/>
            <a:ext cx="403731" cy="6055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21" name="Straight Connector 20"/>
          <p:cNvCxnSpPr/>
          <p:nvPr/>
        </p:nvCxnSpPr>
        <p:spPr>
          <a:xfrm flipH="1">
            <a:off x="1496738" y="5313077"/>
            <a:ext cx="336442" cy="0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460324" y="4774770"/>
            <a:ext cx="1233030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15 m</a:t>
            </a:r>
          </a:p>
        </p:txBody>
      </p:sp>
    </p:spTree>
    <p:extLst>
      <p:ext uri="{BB962C8B-B14F-4D97-AF65-F5344CB8AC3E}">
        <p14:creationId xmlns:p14="http://schemas.microsoft.com/office/powerpoint/2010/main" val="655352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/>
      <p:bldP spid="14" grpId="0" animBg="1"/>
      <p:bldP spid="16" grpId="0"/>
      <p:bldP spid="17" grpId="0" animBg="1"/>
      <p:bldP spid="19" grpId="0"/>
      <p:bldP spid="20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hlinkClick r:id="rId2"/>
            <a:extLst>
              <a:ext uri="{FF2B5EF4-FFF2-40B4-BE49-F238E27FC236}">
                <a16:creationId xmlns:a16="http://schemas.microsoft.com/office/drawing/2014/main" id="{5531C1A3-2627-4935-94C3-18FF960B3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325" y="2690812"/>
            <a:ext cx="546735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94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-5480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1.9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6480" y="333731"/>
            <a:ext cx="614302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tenth.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8" y="4721046"/>
            <a:ext cx="2789546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15.6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105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614302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tenth.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0.8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614302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tenth.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9.5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480" y="333731"/>
            <a:ext cx="614302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tenth.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4.6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60423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614302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tenth.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2808" y="1166152"/>
            <a:ext cx="11608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87730" y="1166152"/>
            <a:ext cx="12618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Units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410115" y="1166152"/>
            <a:ext cx="161294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Tenths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68077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148951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807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6904" y="1166152"/>
            <a:ext cx="258275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Hundredths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18442" y="1154757"/>
            <a:ext cx="277672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Thousandths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0040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250508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4481077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697075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337173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288539" y="4721046"/>
            <a:ext cx="208743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2.3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60423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0" y="333731"/>
            <a:ext cx="6143028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tenth.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126348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£10s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10005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115127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88838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701654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£9.50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7775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10p.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8" y="2083231"/>
            <a:ext cx="109677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126348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£10s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10005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115127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4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7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88838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3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4403770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£14.70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7775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10p.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7" y="208323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1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481" y="2083231"/>
            <a:ext cx="109677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126348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£10s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10005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115127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8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88838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2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701654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£8.80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7775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10p.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8" y="2083231"/>
            <a:ext cx="109677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18577" y="1166152"/>
            <a:ext cx="126348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£10s</a:t>
            </a:r>
            <a:endParaRPr lang="en-GB" sz="1869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4849" y="1166152"/>
            <a:ext cx="100059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£1s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385" y="1166152"/>
            <a:ext cx="115127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10ps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13846" y="1558488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94720" y="2110361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6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93846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5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180099" y="1166152"/>
            <a:ext cx="88838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1ps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2194" y="10854"/>
            <a:ext cx="901209" cy="20768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896" b="1" dirty="0">
                <a:solidFill>
                  <a:srgbClr val="002060"/>
                </a:solidFill>
                <a:latin typeface="Comic Sans MS" pitchFamily="66" charset="0"/>
              </a:rPr>
              <a:t>.</a:t>
            </a:r>
            <a:endParaRPr lang="en-GB" sz="4486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92547" y="2096796"/>
            <a:ext cx="886781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9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826846" y="1894930"/>
            <a:ext cx="1816788" cy="1816788"/>
          </a:xfrm>
          <a:prstGeom prst="ellipse">
            <a:avLst/>
          </a:prstGeom>
          <a:noFill/>
          <a:ln w="952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82"/>
          </a:p>
        </p:txBody>
      </p:sp>
      <p:cxnSp>
        <p:nvCxnSpPr>
          <p:cNvPr id="30" name="Straight Connector 29"/>
          <p:cNvCxnSpPr/>
          <p:nvPr/>
        </p:nvCxnSpPr>
        <p:spPr>
          <a:xfrm>
            <a:off x="7845500" y="3442565"/>
            <a:ext cx="1547635" cy="0"/>
          </a:xfrm>
          <a:prstGeom prst="line">
            <a:avLst/>
          </a:prstGeom>
          <a:ln w="952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798865" y="5461218"/>
            <a:ext cx="1278481" cy="0"/>
          </a:xfrm>
          <a:prstGeom prst="straightConnector1">
            <a:avLst/>
          </a:prstGeom>
          <a:ln w="127000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750231" y="4721046"/>
            <a:ext cx="3701654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£6.60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6481" y="333731"/>
            <a:ext cx="577754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Round to the nearest 10p.</a:t>
            </a:r>
            <a:endParaRPr lang="en-GB" sz="1869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56828" y="2083231"/>
            <a:ext cx="1096775" cy="1472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971" b="1" dirty="0">
                <a:solidFill>
                  <a:srgbClr val="002060"/>
                </a:solidFill>
                <a:latin typeface="Comic Sans MS" pitchFamily="66" charset="0"/>
              </a:rPr>
              <a:t>£</a:t>
            </a:r>
            <a:endParaRPr lang="en-GB" sz="1682" b="1" dirty="0">
              <a:solidFill>
                <a:srgbClr val="002060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hlinkClick r:id="rId2"/>
            <a:extLst>
              <a:ext uri="{FF2B5EF4-FFF2-40B4-BE49-F238E27FC236}">
                <a16:creationId xmlns:a16="http://schemas.microsoft.com/office/drawing/2014/main" id="{0EB82C6B-F6B8-4026-8C47-8F132F932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9412" y="2719387"/>
            <a:ext cx="63531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944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9303" y="670173"/>
            <a:ext cx="9993441" cy="5524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990" b="1" dirty="0">
                <a:solidFill>
                  <a:srgbClr val="FF0000"/>
                </a:solidFill>
                <a:latin typeface="Comic Sans MS" pitchFamily="66" charset="0"/>
              </a:rPr>
              <a:t>Estimate by rounding to the nearest whole number. </a:t>
            </a:r>
            <a:endParaRPr lang="en-GB" sz="1682" b="1" dirty="0">
              <a:solidFill>
                <a:srgbClr val="FF0000"/>
              </a:solidFill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789" y="1746789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2.9 + 4.23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" y="3767070"/>
            <a:ext cx="27029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8.26 – 4.41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789" y="2421300"/>
            <a:ext cx="224933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3 + 4 =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789" y="4372666"/>
            <a:ext cx="224933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8 - 4 =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9166" y="1746789"/>
            <a:ext cx="2053767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7 x 3.14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6077" y="3767070"/>
            <a:ext cx="232467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31.67 ÷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9166" y="2421300"/>
            <a:ext cx="2504212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7 x 3 = 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9166" y="4372666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32 ÷ 4 = 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06488" y="1746789"/>
            <a:ext cx="2702984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29.8 – 5.57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3399" y="3767070"/>
            <a:ext cx="2324675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FF0000"/>
                </a:solidFill>
                <a:latin typeface="Comic Sans MS" pitchFamily="66" charset="0"/>
              </a:rPr>
              <a:t>54.14 ÷ 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6488" y="2421300"/>
            <a:ext cx="2775119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30 - 6 = 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6488" y="4372666"/>
            <a:ext cx="2512226" cy="6100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364" b="1" dirty="0">
                <a:solidFill>
                  <a:srgbClr val="002060"/>
                </a:solidFill>
                <a:latin typeface="Comic Sans MS" pitchFamily="66" charset="0"/>
              </a:rPr>
              <a:t>54 ÷ 9 = 6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D1E7232-117C-4418-A1A4-4A9A830D7F0B}"/>
              </a:ext>
            </a:extLst>
          </p:cNvPr>
          <p:cNvSpPr/>
          <p:nvPr/>
        </p:nvSpPr>
        <p:spPr>
          <a:xfrm>
            <a:off x="925422" y="1757422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47E0467-AEC7-4CCF-BA37-52A93AE9EB86}"/>
              </a:ext>
            </a:extLst>
          </p:cNvPr>
          <p:cNvCxnSpPr/>
          <p:nvPr/>
        </p:nvCxnSpPr>
        <p:spPr>
          <a:xfrm>
            <a:off x="1414130" y="2299248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4D494682-CC56-4543-8C96-9BA39EC69561}"/>
              </a:ext>
            </a:extLst>
          </p:cNvPr>
          <p:cNvSpPr/>
          <p:nvPr/>
        </p:nvSpPr>
        <p:spPr>
          <a:xfrm>
            <a:off x="2268711" y="1752949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7208770-9E42-49E9-A730-D9815F98F0F2}"/>
              </a:ext>
            </a:extLst>
          </p:cNvPr>
          <p:cNvCxnSpPr/>
          <p:nvPr/>
        </p:nvCxnSpPr>
        <p:spPr>
          <a:xfrm>
            <a:off x="2768052" y="2294775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40EE213-C96D-48A7-8E0F-63ED09A9D5CB}"/>
              </a:ext>
            </a:extLst>
          </p:cNvPr>
          <p:cNvSpPr/>
          <p:nvPr/>
        </p:nvSpPr>
        <p:spPr>
          <a:xfrm>
            <a:off x="925422" y="3754877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0CE9B4-7025-4421-9FF7-772BCFE73981}"/>
              </a:ext>
            </a:extLst>
          </p:cNvPr>
          <p:cNvCxnSpPr/>
          <p:nvPr/>
        </p:nvCxnSpPr>
        <p:spPr>
          <a:xfrm>
            <a:off x="1414130" y="4296703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A7D1839-8F63-4D0D-B96B-261304851D97}"/>
              </a:ext>
            </a:extLst>
          </p:cNvPr>
          <p:cNvSpPr/>
          <p:nvPr/>
        </p:nvSpPr>
        <p:spPr>
          <a:xfrm>
            <a:off x="2475852" y="3782226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731DF1C-984F-4588-A8A2-A98EA2FE4E5F}"/>
              </a:ext>
            </a:extLst>
          </p:cNvPr>
          <p:cNvCxnSpPr/>
          <p:nvPr/>
        </p:nvCxnSpPr>
        <p:spPr>
          <a:xfrm>
            <a:off x="2964560" y="4324052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68F3088-795B-483B-AA34-7E9BDA9B4274}"/>
              </a:ext>
            </a:extLst>
          </p:cNvPr>
          <p:cNvSpPr/>
          <p:nvPr/>
        </p:nvSpPr>
        <p:spPr>
          <a:xfrm>
            <a:off x="5424614" y="1779889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30638C-EF44-4A5E-B848-7056C6D86566}"/>
              </a:ext>
            </a:extLst>
          </p:cNvPr>
          <p:cNvCxnSpPr/>
          <p:nvPr/>
        </p:nvCxnSpPr>
        <p:spPr>
          <a:xfrm>
            <a:off x="5913322" y="2321715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8B533DCC-DD1E-43A7-85DD-8305A2A4FB12}"/>
              </a:ext>
            </a:extLst>
          </p:cNvPr>
          <p:cNvSpPr/>
          <p:nvPr/>
        </p:nvSpPr>
        <p:spPr>
          <a:xfrm>
            <a:off x="4810487" y="3771593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4494AF-96DC-4DD7-95C6-544812FEDC97}"/>
              </a:ext>
            </a:extLst>
          </p:cNvPr>
          <p:cNvCxnSpPr/>
          <p:nvPr/>
        </p:nvCxnSpPr>
        <p:spPr>
          <a:xfrm>
            <a:off x="5299195" y="4313419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F194BBB3-F91A-4E8D-8852-E5C3EAEB5EC7}"/>
              </a:ext>
            </a:extLst>
          </p:cNvPr>
          <p:cNvSpPr/>
          <p:nvPr/>
        </p:nvSpPr>
        <p:spPr>
          <a:xfrm>
            <a:off x="8407835" y="1754747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B5382F-ECFB-4EFC-9438-A84FF15E2661}"/>
              </a:ext>
            </a:extLst>
          </p:cNvPr>
          <p:cNvCxnSpPr/>
          <p:nvPr/>
        </p:nvCxnSpPr>
        <p:spPr>
          <a:xfrm>
            <a:off x="8896543" y="2296573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ED964847-442A-486E-A554-DD3BACE4077A}"/>
              </a:ext>
            </a:extLst>
          </p:cNvPr>
          <p:cNvSpPr/>
          <p:nvPr/>
        </p:nvSpPr>
        <p:spPr>
          <a:xfrm>
            <a:off x="9637643" y="1769256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881521-5238-41DA-9096-779BC0636C4A}"/>
              </a:ext>
            </a:extLst>
          </p:cNvPr>
          <p:cNvCxnSpPr/>
          <p:nvPr/>
        </p:nvCxnSpPr>
        <p:spPr>
          <a:xfrm>
            <a:off x="10126351" y="2311082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8EE058B9-A161-4AC7-B243-C735932FE354}"/>
              </a:ext>
            </a:extLst>
          </p:cNvPr>
          <p:cNvSpPr/>
          <p:nvPr/>
        </p:nvSpPr>
        <p:spPr>
          <a:xfrm>
            <a:off x="8386569" y="3778110"/>
            <a:ext cx="393016" cy="552459"/>
          </a:xfrm>
          <a:prstGeom prst="ellipse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4217A53-BCA7-4D99-B312-AE64E050DD10}"/>
              </a:ext>
            </a:extLst>
          </p:cNvPr>
          <p:cNvCxnSpPr/>
          <p:nvPr/>
        </p:nvCxnSpPr>
        <p:spPr>
          <a:xfrm>
            <a:off x="8875277" y="4319936"/>
            <a:ext cx="276446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63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5" grpId="0"/>
      <p:bldP spid="16" grpId="0"/>
      <p:bldP spid="2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518</Words>
  <Application>Microsoft Office PowerPoint</Application>
  <PresentationFormat>Widescreen</PresentationFormat>
  <Paragraphs>294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Simon Rigelsford</dc:creator>
  <cp:lastModifiedBy>Simon Rigelsford</cp:lastModifiedBy>
  <cp:revision>7</cp:revision>
  <dcterms:created xsi:type="dcterms:W3CDTF">2018-10-07T10:34:37Z</dcterms:created>
  <dcterms:modified xsi:type="dcterms:W3CDTF">2018-10-27T12:39:21Z</dcterms:modified>
</cp:coreProperties>
</file>