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65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ga-I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3E7E9"/>
          </a:solidFill>
        </a:fill>
      </a:tcStyle>
    </a:wholeTbl>
    <a:band1H>
      <a:tcStyle>
        <a:tcBdr/>
        <a:fill>
          <a:solidFill>
            <a:srgbClr val="E6CCC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CCC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B71E4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B71E4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B71E4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B71E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6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D0BB0-7AE0-4A33-9ABE-C87BA802166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417783" y="802294"/>
            <a:ext cx="8637074" cy="2541428"/>
          </a:xfrm>
        </p:spPr>
        <p:txBody>
          <a:bodyPr bIns="0" anchor="b"/>
          <a:lstStyle>
            <a:lvl1pPr>
              <a:defRPr sz="6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A1B5E-CF24-4C40-BD73-77C1109D53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17783" y="3531202"/>
            <a:ext cx="8637074" cy="977621"/>
          </a:xfrm>
        </p:spPr>
        <p:txBody>
          <a:bodyPr tIns="91440" bIns="91440"/>
          <a:lstStyle>
            <a:lvl1pPr marL="0" indent="0">
              <a:buNone/>
              <a:defRPr sz="1800" cap="all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3F10B-3887-450A-ACF5-68E79E6620B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6C23A6-78E6-42E3-94BA-A63A2B171135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8428-A34F-4B45-9D66-6673836778F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2416503" y="329302"/>
            <a:ext cx="4973915" cy="309204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14EAB-A068-4B0D-B595-1807CE32B8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437665" y="798975"/>
            <a:ext cx="811017" cy="503578"/>
          </a:xfrm>
        </p:spPr>
        <p:txBody>
          <a:bodyPr/>
          <a:lstStyle>
            <a:lvl1pPr>
              <a:defRPr/>
            </a:lvl1pPr>
          </a:lstStyle>
          <a:p>
            <a:pPr lvl="0"/>
            <a:fld id="{D581E0E4-5DED-43B9-8F1F-9B22D386B88D}" type="slidenum">
              <a:t>‹#›</a:t>
            </a:fld>
            <a:endParaRPr lang="ga-IE"/>
          </a:p>
        </p:txBody>
      </p: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DF91EB52-E666-4248-AC4A-F8DEEE4CA836}"/>
              </a:ext>
            </a:extLst>
          </p:cNvPr>
          <p:cNvCxnSpPr/>
          <p:nvPr/>
        </p:nvCxnSpPr>
        <p:spPr>
          <a:xfrm>
            <a:off x="2417783" y="3528541"/>
            <a:ext cx="8637066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8001529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B105-4C81-44FB-B327-FD6CF571281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4DDDB-2287-4D9A-9706-7A861AC7CBE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EEDAD-3793-49F8-87E4-A5E2438BA3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FA6072-B8D7-4350-A675-56C8064B538C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D7269-361D-45E8-92ED-8B5AE89BF5F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A0B36-EC80-45AD-94D6-3C612BAAC2E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5F466C-10CE-4D66-8D72-5E0856AB9B18}" type="slidenum">
              <a:t>‹#›</a:t>
            </a:fld>
            <a:endParaRPr lang="ga-IE"/>
          </a:p>
        </p:txBody>
      </p:sp>
      <p:cxnSp>
        <p:nvCxnSpPr>
          <p:cNvPr id="7" name="Straight Connector 32">
            <a:extLst>
              <a:ext uri="{FF2B5EF4-FFF2-40B4-BE49-F238E27FC236}">
                <a16:creationId xmlns:a16="http://schemas.microsoft.com/office/drawing/2014/main" id="{F3EB1021-0D5A-42A0-A869-6FA0B0A1B6B5}"/>
              </a:ext>
            </a:extLst>
          </p:cNvPr>
          <p:cNvCxnSpPr/>
          <p:nvPr/>
        </p:nvCxnSpPr>
        <p:spPr>
          <a:xfrm>
            <a:off x="1453896" y="1847088"/>
            <a:ext cx="9607518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5686286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B3CB-CDC2-4677-B238-D25E58735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4243" y="1756132"/>
            <a:ext cx="8643155" cy="1887952"/>
          </a:xfrm>
        </p:spPr>
        <p:txBody>
          <a:bodyPr anchor="b"/>
          <a:lstStyle>
            <a:lvl1pPr>
              <a:defRPr sz="3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0583E-3090-4160-8AB0-CBD847FF4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54243" y="3806199"/>
            <a:ext cx="8630445" cy="1012926"/>
          </a:xfrm>
        </p:spPr>
        <p:txBody>
          <a:bodyPr tIns="91440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9D1FB-8060-47BF-B34E-01A57B62C7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ABBA94-A883-4275-B8F4-DC89AE0AE86C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EA4A7-55B2-4EF9-8FD5-7B6434088D2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41DF6-4AF8-47FE-8386-F6275E372A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B084FB-0BDD-4203-AA66-5173914811FF}" type="slidenum">
              <a:t>‹#›</a:t>
            </a:fld>
            <a:endParaRPr lang="ga-IE"/>
          </a:p>
        </p:txBody>
      </p: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0614AD86-CA67-4F9B-B8A9-7BB890FE6779}"/>
              </a:ext>
            </a:extLst>
          </p:cNvPr>
          <p:cNvCxnSpPr/>
          <p:nvPr/>
        </p:nvCxnSpPr>
        <p:spPr>
          <a:xfrm>
            <a:off x="1454243" y="3804982"/>
            <a:ext cx="8630445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56012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3DBF-7878-45C3-81D6-0C9C242DB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9214" y="804891"/>
            <a:ext cx="9605634" cy="105930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3C09-BD6E-4A03-8671-05B7CB0C32C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7330" y="2010875"/>
            <a:ext cx="4645152" cy="344859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03B05-3635-49AC-84A2-472DFC8C9DE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413775" y="2017340"/>
            <a:ext cx="4645152" cy="344151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F05FB-BAC8-4A68-9619-EE38AF5F1E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FC03982-F6E2-4F19-BED3-641F9831EE3D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CB365-5342-47AB-B500-675D5662D28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7CFD4-2A3D-495E-9A09-2409E4E25E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B600B9-7934-4090-873D-A445D521BF7F}" type="slidenum">
              <a:t>‹#›</a:t>
            </a:fld>
            <a:endParaRPr lang="ga-IE"/>
          </a:p>
        </p:txBody>
      </p:sp>
      <p:cxnSp>
        <p:nvCxnSpPr>
          <p:cNvPr id="8" name="Straight Connector 34">
            <a:extLst>
              <a:ext uri="{FF2B5EF4-FFF2-40B4-BE49-F238E27FC236}">
                <a16:creationId xmlns:a16="http://schemas.microsoft.com/office/drawing/2014/main" id="{9BED69CB-1AAE-4274-B4C7-3C12191FAD0A}"/>
              </a:ext>
            </a:extLst>
          </p:cNvPr>
          <p:cNvCxnSpPr/>
          <p:nvPr/>
        </p:nvCxnSpPr>
        <p:spPr>
          <a:xfrm>
            <a:off x="1453896" y="1847088"/>
            <a:ext cx="9607518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99687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8F2D-14FD-4051-8D95-B4FA63558E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193" y="804159"/>
            <a:ext cx="9607664" cy="105631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D4D26-97F8-4655-8663-C8837BB2F9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7193" y="2019552"/>
            <a:ext cx="4645152" cy="801947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200" cap="all">
                <a:solidFill>
                  <a:srgbClr val="B71E4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6A2CB-C3FC-4CCF-B3D7-7C4D7892408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447193" y="2824270"/>
            <a:ext cx="4645152" cy="26444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892FD-6A69-4A59-B686-682FC028D61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412358" y="2023000"/>
            <a:ext cx="4645152" cy="80223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200" cap="all">
                <a:solidFill>
                  <a:srgbClr val="B71E4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4255E-83E7-4733-A5E7-5818EAF87A4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412358" y="2821490"/>
            <a:ext cx="4645152" cy="263736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AB7B8-0563-417D-A88F-141484C1C2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18F354-12E0-4D39-B140-35D5AFE98D6D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8D588-125F-4572-9185-B9BDA372375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D74D7-839B-4C85-8A66-808118B95FA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E173C4-3A58-4321-A9C9-31715A5E5ACD}" type="slidenum">
              <a:t>‹#›</a:t>
            </a:fld>
            <a:endParaRPr lang="ga-IE"/>
          </a:p>
        </p:txBody>
      </p:sp>
      <p:cxnSp>
        <p:nvCxnSpPr>
          <p:cNvPr id="10" name="Straight Connector 28">
            <a:extLst>
              <a:ext uri="{FF2B5EF4-FFF2-40B4-BE49-F238E27FC236}">
                <a16:creationId xmlns:a16="http://schemas.microsoft.com/office/drawing/2014/main" id="{7D00F4AC-F5F4-476A-B1BE-D87B7FA87F3C}"/>
              </a:ext>
            </a:extLst>
          </p:cNvPr>
          <p:cNvCxnSpPr/>
          <p:nvPr/>
        </p:nvCxnSpPr>
        <p:spPr>
          <a:xfrm>
            <a:off x="1453896" y="1847088"/>
            <a:ext cx="9607518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3102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F4E7-B97E-4551-B743-4DF0E6E17FC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91584-F575-411C-9215-A9087793204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EF7988-FEED-4188-B0A9-6AB91BB9581F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2FB84-DF8D-444E-9612-4680E0B275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D8164-74A2-4A73-BB99-1358E7EDEA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EC2565-9E55-4A6C-948A-4B50E699B5CB}" type="slidenum">
              <a:t>‹#›</a:t>
            </a:fld>
            <a:endParaRPr lang="ga-IE"/>
          </a:p>
        </p:txBody>
      </p: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7D215B5F-47CF-4EF7-974C-B7274D41E1E9}"/>
              </a:ext>
            </a:extLst>
          </p:cNvPr>
          <p:cNvCxnSpPr/>
          <p:nvPr/>
        </p:nvCxnSpPr>
        <p:spPr>
          <a:xfrm>
            <a:off x="1453896" y="1847088"/>
            <a:ext cx="9607518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415586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D995A3-74A9-4F68-B724-6023850070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17E046-7D48-4698-8074-ADBBF6254A4C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ED342-CCB1-4A68-947C-06AE79079F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7FD07-9E41-48C3-93DA-4045A6B83A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221C17C-2CAA-456D-90B7-AA9B098A7CA4}" type="slidenum"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88002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DC8A8-823E-4E20-97D0-6D3A1B9F3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4669" y="798975"/>
            <a:ext cx="3273094" cy="2247119"/>
          </a:xfrm>
        </p:spPr>
        <p:txBody>
          <a:bodyPr anchor="b"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C9A7-EE44-4D07-B5DE-64497EE482A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43711" y="798975"/>
            <a:ext cx="6012472" cy="4658822"/>
          </a:xfrm>
        </p:spPr>
        <p:txBody>
          <a:bodyPr anchor="ctr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4768E-DC8F-435C-AFAE-631C42ADBD1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44669" y="3205493"/>
            <a:ext cx="3275015" cy="224818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70A6F-2C8B-4B42-AEED-07A6A385C5F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88D018-49BC-4A7C-941B-802AD13F36C9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60B8A-FDFE-475D-93C6-C60DF49EEC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596B6-4716-4FF9-96CB-226D21EB33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797DEA-35A7-4156-A217-9801C2D8B38F}" type="slidenum">
              <a:t>‹#›</a:t>
            </a:fld>
            <a:endParaRPr lang="ga-IE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78DCD1EC-0781-46C9-909C-E8D239052518}"/>
              </a:ext>
            </a:extLst>
          </p:cNvPr>
          <p:cNvCxnSpPr/>
          <p:nvPr/>
        </p:nvCxnSpPr>
        <p:spPr>
          <a:xfrm>
            <a:off x="1448281" y="3205493"/>
            <a:ext cx="3269492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11244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6A901BA8-EA4A-470C-BABC-D6570A28CCF8}"/>
              </a:ext>
            </a:extLst>
          </p:cNvPr>
          <p:cNvGrpSpPr/>
          <p:nvPr/>
        </p:nvGrpSpPr>
        <p:grpSpPr>
          <a:xfrm>
            <a:off x="7477387" y="482172"/>
            <a:ext cx="4074529" cy="5149105"/>
            <a:chOff x="7477387" y="482172"/>
            <a:chExt cx="4074529" cy="5149105"/>
          </a:xfrm>
        </p:grpSpPr>
        <p:sp>
          <p:nvSpPr>
            <p:cNvPr id="3" name="Rectangle 17">
              <a:extLst>
                <a:ext uri="{FF2B5EF4-FFF2-40B4-BE49-F238E27FC236}">
                  <a16:creationId xmlns:a16="http://schemas.microsoft.com/office/drawing/2014/main" id="{F1567841-38BD-45A6-8994-CB9A246D7621}"/>
                </a:ext>
              </a:extLst>
            </p:cNvPr>
            <p:cNvSpPr/>
            <p:nvPr/>
          </p:nvSpPr>
          <p:spPr>
            <a:xfrm>
              <a:off x="7477387" y="482172"/>
              <a:ext cx="4074529" cy="514910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/>
            </a:gradFill>
            <a:ln cap="flat">
              <a:noFill/>
              <a:prstDash val="solid"/>
            </a:ln>
            <a:effectLst>
              <a:outerShdw dist="228601" dir="4740049" algn="tl">
                <a:srgbClr val="000000">
                  <a:alpha val="34000"/>
                </a:srgbClr>
              </a:outerShdw>
            </a:effectLst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ga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4" name="Rectangle 18">
              <a:extLst>
                <a:ext uri="{FF2B5EF4-FFF2-40B4-BE49-F238E27FC236}">
                  <a16:creationId xmlns:a16="http://schemas.microsoft.com/office/drawing/2014/main" id="{A6AD8BAE-E631-4A4D-B3E1-63E2078E7718}"/>
                </a:ext>
              </a:extLst>
            </p:cNvPr>
            <p:cNvSpPr/>
            <p:nvPr/>
          </p:nvSpPr>
          <p:spPr>
            <a:xfrm>
              <a:off x="7790450" y="812508"/>
              <a:ext cx="3450287" cy="4466450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/>
            </a:gradFill>
            <a:ln w="50804" cap="flat">
              <a:solidFill>
                <a:srgbClr val="191919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ga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4394CDC5-4EAA-4AEE-A7D8-19F7130C9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207" y="1129512"/>
            <a:ext cx="5532330" cy="1830583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FDF78ED-71F6-41DC-9F54-A8EA5DAF53CF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8124389" y="1122544"/>
            <a:ext cx="2791169" cy="3866330"/>
          </a:xfrm>
          <a:solidFill>
            <a:srgbClr val="D9D9D9"/>
          </a:solidFill>
        </p:spPr>
        <p:txBody>
          <a:bodyPr anchorCtr="1"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F567C5E-1EA0-466A-BA97-7B94FB3FF18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50329" y="3145993"/>
            <a:ext cx="5524402" cy="200374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6619389B-AA34-40F0-BE76-60FCA00AE63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1447385" y="5469858"/>
            <a:ext cx="5527346" cy="320122"/>
          </a:xfrm>
        </p:spPr>
        <p:txBody>
          <a:bodyPr/>
          <a:lstStyle>
            <a:lvl1pPr algn="l">
              <a:defRPr/>
            </a:lvl1pPr>
          </a:lstStyle>
          <a:p>
            <a:pPr lvl="0"/>
            <a:fld id="{F576A398-C8B1-4F13-A164-DB13F4BB52D0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150D0C-7BB2-4CA8-AAFA-D58B6D2B2A8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447385" y="318640"/>
            <a:ext cx="5541007" cy="320926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18678CB-B8BE-44EB-AD42-7B904462BA8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AE2FFC-564C-4D1D-A485-3EB4D62B130B}" type="slidenum">
              <a:t>‹#›</a:t>
            </a:fld>
            <a:endParaRPr lang="ga-IE"/>
          </a:p>
        </p:txBody>
      </p:sp>
      <p:cxnSp>
        <p:nvCxnSpPr>
          <p:cNvPr id="11" name="Straight Connector 30">
            <a:extLst>
              <a:ext uri="{FF2B5EF4-FFF2-40B4-BE49-F238E27FC236}">
                <a16:creationId xmlns:a16="http://schemas.microsoft.com/office/drawing/2014/main" id="{21E93CDF-916F-4142-9926-050695472B63}"/>
              </a:ext>
            </a:extLst>
          </p:cNvPr>
          <p:cNvCxnSpPr/>
          <p:nvPr/>
        </p:nvCxnSpPr>
        <p:spPr>
          <a:xfrm>
            <a:off x="1447385" y="3143606"/>
            <a:ext cx="5527347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23880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C266-8434-40C5-8F11-BB4D928DFB1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9B4E9-D16C-47C8-8B9A-1C9F39E4607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CD580-B54B-408B-9D5E-F95BEBCEABE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66F14A-5409-49D3-8893-A00D96B446FD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5BE71-8305-42E0-A1B2-A9A0F9BDF44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CB581-0692-4248-8DCE-1C4B01ADFB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65FE00-D003-477D-83FF-849F090189CE}" type="slidenum">
              <a:t>‹#›</a:t>
            </a:fld>
            <a:endParaRPr lang="ga-IE"/>
          </a:p>
        </p:txBody>
      </p:sp>
      <p:cxnSp>
        <p:nvCxnSpPr>
          <p:cNvPr id="7" name="Straight Connector 25">
            <a:extLst>
              <a:ext uri="{FF2B5EF4-FFF2-40B4-BE49-F238E27FC236}">
                <a16:creationId xmlns:a16="http://schemas.microsoft.com/office/drawing/2014/main" id="{915D1C5D-8024-43BF-81ED-59E99C12CEB1}"/>
              </a:ext>
            </a:extLst>
          </p:cNvPr>
          <p:cNvCxnSpPr/>
          <p:nvPr/>
        </p:nvCxnSpPr>
        <p:spPr>
          <a:xfrm>
            <a:off x="1453896" y="1847088"/>
            <a:ext cx="9607518" cy="0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428796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F6D5E-B363-4A32-8F5A-4AF793DD7DC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9439113" y="798975"/>
            <a:ext cx="1615744" cy="4659892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6566C-6FC6-4C0F-8D91-9846BA10026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1444669" y="798975"/>
            <a:ext cx="7828827" cy="4659892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C556A-42C2-4FDF-892A-21D9D76DD83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94FB6D-0DE3-4C02-90B9-74C04B335CD1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ED63F-8767-4CF6-B5C1-A7626749B29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ga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7DEC1-13CD-4A10-8B3E-5326E4FEDC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3E1762-07B0-4521-8B36-6DF5A363CD76}" type="slidenum">
              <a:t>‹#›</a:t>
            </a:fld>
            <a:endParaRPr lang="ga-IE"/>
          </a:p>
        </p:txBody>
      </p: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6C8E81BB-FE68-40EE-BCF0-D21B912100AF}"/>
              </a:ext>
            </a:extLst>
          </p:cNvPr>
          <p:cNvCxnSpPr/>
          <p:nvPr/>
        </p:nvCxnSpPr>
        <p:spPr>
          <a:xfrm>
            <a:off x="9439113" y="798975"/>
            <a:ext cx="0" cy="4659883"/>
          </a:xfrm>
          <a:prstGeom prst="straightConnector1">
            <a:avLst/>
          </a:prstGeom>
          <a:noFill/>
          <a:ln w="31747" cap="flat">
            <a:solidFill>
              <a:srgbClr val="B71E4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54312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43000" r="57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F6DDF51-ED49-4F1C-8825-3C864CA349EA}"/>
              </a:ext>
            </a:extLst>
          </p:cNvPr>
          <p:cNvSpPr/>
          <p:nvPr/>
        </p:nvSpPr>
        <p:spPr>
          <a:xfrm>
            <a:off x="0" y="2019479"/>
            <a:ext cx="12191996" cy="4105939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ga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EE613D7-1A90-4A9A-8C16-AB13AB84E8D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538" b="-1538"/>
          <a:stretch>
            <a:fillRect/>
          </a:stretch>
        </p:blipFill>
        <p:spPr>
          <a:xfrm>
            <a:off x="0" y="6126480"/>
            <a:ext cx="12191996" cy="7429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3D09A15-7091-494E-838A-146AB79CF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82" y="804516"/>
            <a:ext cx="9603275" cy="10492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4D2CBF-DB79-4E99-977E-0771EBBCBB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51582" y="2015730"/>
            <a:ext cx="9603275" cy="34506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DC5770-04FF-4242-B0F0-C7FC1E25BF28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554141" y="330372"/>
            <a:ext cx="3500716" cy="3092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ga-IE" sz="1000" b="0" i="0" u="none" strike="noStrike" kern="1200" cap="none" spc="0" baseline="0">
                <a:solidFill>
                  <a:srgbClr val="898989"/>
                </a:solidFill>
                <a:uFillTx/>
                <a:latin typeface="Gill Sans MT"/>
              </a:defRPr>
            </a:lvl1pPr>
          </a:lstStyle>
          <a:p>
            <a:pPr lvl="0"/>
            <a:fld id="{1F9DB33B-77CF-4040-9DBF-6ACCDD11AAD9}" type="datetime1">
              <a:rPr lang="ga-IE"/>
              <a:pPr lvl="0"/>
              <a:t>09/03/2020</a:t>
            </a:fld>
            <a:endParaRPr lang="ga-I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3E2E01A-CD61-4FE1-8613-93396E2022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1451582" y="329302"/>
            <a:ext cx="5938835" cy="3092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ga-IE" sz="1000" b="0" i="0" u="none" strike="noStrike" kern="1200" cap="none" spc="0" baseline="0">
                <a:solidFill>
                  <a:srgbClr val="898989"/>
                </a:solidFill>
                <a:uFillTx/>
                <a:latin typeface="Gill Sans MT"/>
              </a:defRPr>
            </a:lvl1pPr>
          </a:lstStyle>
          <a:p>
            <a:pPr lvl="0"/>
            <a:endParaRPr lang="ga-I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ACEC736-DC4A-46B6-BE25-7D29294F5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480060" y="798975"/>
            <a:ext cx="811017" cy="5035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ga-IE" sz="2800" b="0" i="0" u="none" strike="noStrike" kern="1200" cap="none" spc="0" baseline="0">
                <a:solidFill>
                  <a:srgbClr val="B71E42"/>
                </a:solidFill>
                <a:uFillTx/>
                <a:latin typeface="Gill Sans MT"/>
              </a:defRPr>
            </a:lvl1pPr>
          </a:lstStyle>
          <a:p>
            <a:pPr lvl="0"/>
            <a:fld id="{073C43F1-B555-4ED2-96F1-1A87363B0897}" type="slidenum">
              <a:t>‹#›</a:t>
            </a:fld>
            <a:endParaRPr lang="ga-IE"/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A14A895A-B102-44F1-BF24-AD9A9C1B87B5}"/>
              </a:ext>
            </a:extLst>
          </p:cNvPr>
          <p:cNvCxnSpPr/>
          <p:nvPr/>
        </p:nvCxnSpPr>
        <p:spPr>
          <a:xfrm>
            <a:off x="0" y="6128409"/>
            <a:ext cx="12191996" cy="0"/>
          </a:xfrm>
          <a:prstGeom prst="straightConnector1">
            <a:avLst/>
          </a:prstGeom>
          <a:noFill/>
          <a:ln w="12701" cap="flat">
            <a:solidFill>
              <a:srgbClr val="000001">
                <a:alpha val="20000"/>
              </a:srgbClr>
            </a:solidFill>
            <a:prstDash val="solid"/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200" b="0" i="0" u="none" strike="noStrike" kern="1200" cap="all" spc="0" baseline="0">
          <a:solidFill>
            <a:srgbClr val="000000"/>
          </a:solidFill>
          <a:uFillTx/>
          <a:latin typeface="Gill Sans MT"/>
        </a:defRPr>
      </a:lvl1pPr>
    </p:titleStyle>
    <p:bodyStyle>
      <a:lvl1pPr marL="228600" marR="0" lvl="0" indent="-228600" algn="l" defTabSz="914400" rtl="0" fontAlgn="auto" hangingPunct="1">
        <a:lnSpc>
          <a:spcPct val="120000"/>
        </a:lnSpc>
        <a:spcBef>
          <a:spcPts val="1000"/>
        </a:spcBef>
        <a:spcAft>
          <a:spcPts val="0"/>
        </a:spcAft>
        <a:buClr>
          <a:srgbClr val="B71E42"/>
        </a:buClr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Gill Sans MT"/>
        </a:defRPr>
      </a:lvl1pPr>
      <a:lvl2pPr marL="685800" marR="0" lvl="1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Clr>
          <a:srgbClr val="B71E42"/>
        </a:buClr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Gill Sans MT"/>
        </a:defRPr>
      </a:lvl2pPr>
      <a:lvl3pPr marL="1143000" marR="0" lvl="2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Clr>
          <a:srgbClr val="B71E42"/>
        </a:buClr>
        <a:buSzPct val="100000"/>
        <a:buFont typeface="Arial" pitchFamily="34"/>
        <a:buChar char="•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Gill Sans MT"/>
        </a:defRPr>
      </a:lvl3pPr>
      <a:lvl4pPr marL="1600200" marR="0" lvl="3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Clr>
          <a:srgbClr val="B71E42"/>
        </a:buClr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000000"/>
          </a:solidFill>
          <a:uFillTx/>
          <a:latin typeface="Gill Sans MT"/>
        </a:defRPr>
      </a:lvl4pPr>
      <a:lvl5pPr marL="2057400" marR="0" lvl="4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Clr>
          <a:srgbClr val="B71E42"/>
        </a:buClr>
        <a:buSzPct val="100000"/>
        <a:buFont typeface="Arial" pitchFamily="34"/>
        <a:buChar char="•"/>
        <a:tabLst/>
        <a:defRPr lang="en-US" sz="1200" b="0" i="0" u="none" strike="noStrike" kern="1200" cap="none" spc="0" baseline="0">
          <a:solidFill>
            <a:srgbClr val="000000"/>
          </a:solidFill>
          <a:uFillTx/>
          <a:latin typeface="Gill Sans M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ga-I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gradFill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3D697E6D-07ED-417A-8350-31811E6FBB66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CEAE7"/>
              </a:gs>
              <a:gs pos="100000">
                <a:srgbClr val="CAC6C1"/>
              </a:gs>
            </a:gsLst>
            <a:path path="circle">
              <a:fillToRect l="50001" t="50000" r="49999" b="50000"/>
            </a:path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EF2C918-5BC4-4E5C-B9E6-FB90565B8AED}"/>
              </a:ext>
            </a:extLst>
          </p:cNvPr>
          <p:cNvSpPr>
            <a:spLocks noMove="1" noResize="1"/>
          </p:cNvSpPr>
          <p:nvPr/>
        </p:nvSpPr>
        <p:spPr>
          <a:xfrm>
            <a:off x="0" y="2019479"/>
            <a:ext cx="12191996" cy="4105939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8D38BBA-78E0-4045-B687-F3C7CA95985C}"/>
              </a:ext>
            </a:extLst>
          </p:cNvPr>
          <p:cNvSpPr>
            <a:spLocks noMove="1" noResize="1"/>
          </p:cNvSpPr>
          <p:nvPr/>
        </p:nvSpPr>
        <p:spPr>
          <a:xfrm>
            <a:off x="643335" y="638507"/>
            <a:ext cx="10905335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  <a:lin ang="5400000"/>
          </a:gradFill>
          <a:ln cap="flat">
            <a:noFill/>
            <a:prstDash val="solid"/>
          </a:ln>
          <a:effectLst>
            <a:outerShdw dist="228601" dir="4740049" algn="tl">
              <a:srgbClr val="000000">
                <a:alpha val="34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3B01DF9-A6C6-46B3-9471-C40233751C97}"/>
              </a:ext>
            </a:extLst>
          </p:cNvPr>
          <p:cNvSpPr>
            <a:spLocks noMove="1" noResize="1"/>
          </p:cNvSpPr>
          <p:nvPr/>
        </p:nvSpPr>
        <p:spPr>
          <a:xfrm>
            <a:off x="870207" y="865662"/>
            <a:ext cx="10451592" cy="4389120"/>
          </a:xfrm>
          <a:prstGeom prst="rect">
            <a:avLst/>
          </a:prstGeom>
          <a:gradFill>
            <a:gsLst>
              <a:gs pos="0">
                <a:srgbClr val="656565"/>
              </a:gs>
              <a:gs pos="100000">
                <a:srgbClr val="3E3E3E"/>
              </a:gs>
            </a:gsLst>
            <a:path path="circle">
              <a:fillToRect l="43000" r="57000" b="100000"/>
            </a:path>
          </a:gradFill>
          <a:ln w="50804" cap="flat">
            <a:solidFill>
              <a:srgbClr val="191919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377EB303-8E2F-4A1E-88F3-4D407A233FF2}"/>
              </a:ext>
            </a:extLst>
          </p:cNvPr>
          <p:cNvSpPr>
            <a:spLocks noMove="1" noResize="1"/>
          </p:cNvSpPr>
          <p:nvPr/>
        </p:nvSpPr>
        <p:spPr>
          <a:xfrm>
            <a:off x="1034799" y="1030254"/>
            <a:ext cx="10122408" cy="4059936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7E7E7"/>
              </a:gs>
            </a:gsLst>
            <a:path path="circle">
              <a:fillToRect l="43000" r="57000" b="100000"/>
            </a:path>
          </a:gradFill>
          <a:ln w="15873" cap="flat">
            <a:solidFill>
              <a:srgbClr val="94949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42F73B-3942-4585-AA4B-9D70DF70A20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57067" y="1584554"/>
            <a:ext cx="9099258" cy="2537249"/>
          </a:xfrm>
        </p:spPr>
        <p:txBody>
          <a:bodyPr anchor="ctr" anchorCtr="1"/>
          <a:lstStyle/>
          <a:p>
            <a:pPr lvl="0" algn="ctr"/>
            <a:r>
              <a:rPr lang="en-GB" sz="7200">
                <a:solidFill>
                  <a:srgbClr val="454545"/>
                </a:solidFill>
              </a:rPr>
              <a:t>Revising Trigonometry</a:t>
            </a:r>
            <a:endParaRPr lang="ga-IE" sz="7200">
              <a:solidFill>
                <a:srgbClr val="454545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D080659-EFB3-44DE-8395-61B9885EE5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35369" y="4133234"/>
            <a:ext cx="9120957" cy="744376"/>
          </a:xfrm>
        </p:spPr>
        <p:txBody>
          <a:bodyPr anchorCtr="1"/>
          <a:lstStyle/>
          <a:p>
            <a:endParaRPr lang="ga-IE"/>
          </a:p>
        </p:txBody>
      </p:sp>
      <p:pic>
        <p:nvPicPr>
          <p:cNvPr id="9" name="Picture 17">
            <a:extLst>
              <a:ext uri="{FF2B5EF4-FFF2-40B4-BE49-F238E27FC236}">
                <a16:creationId xmlns:a16="http://schemas.microsoft.com/office/drawing/2014/main" id="{E22D060C-1F0F-4F74-A3EC-944EF89BC923}"/>
              </a:ext>
            </a:extLst>
          </p:cNvPr>
          <p:cNvPicPr>
            <a:picLocks noMove="1" noResize="1"/>
          </p:cNvPicPr>
          <p:nvPr/>
        </p:nvPicPr>
        <p:blipFill>
          <a:blip r:embed="rId2"/>
          <a:srcRect t="1538" b="-1538"/>
          <a:stretch>
            <a:fillRect/>
          </a:stretch>
        </p:blipFill>
        <p:spPr>
          <a:xfrm>
            <a:off x="0" y="6126480"/>
            <a:ext cx="12191996" cy="74295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10" name="Straight Connector 19">
            <a:extLst>
              <a:ext uri="{FF2B5EF4-FFF2-40B4-BE49-F238E27FC236}">
                <a16:creationId xmlns:a16="http://schemas.microsoft.com/office/drawing/2014/main" id="{EC194500-6B2F-4E1B-99FF-E53389B852B7}"/>
              </a:ext>
            </a:extLst>
          </p:cNvPr>
          <p:cNvCxnSpPr>
            <a:cxnSpLocks noMove="1" noResize="1"/>
          </p:cNvCxnSpPr>
          <p:nvPr/>
        </p:nvCxnSpPr>
        <p:spPr>
          <a:xfrm>
            <a:off x="0" y="6128409"/>
            <a:ext cx="12191996" cy="0"/>
          </a:xfrm>
          <a:prstGeom prst="straightConnector1">
            <a:avLst/>
          </a:prstGeom>
          <a:noFill/>
          <a:ln w="12701" cap="flat">
            <a:solidFill>
              <a:srgbClr val="000001">
                <a:alpha val="20000"/>
              </a:srgbClr>
            </a:solidFill>
            <a:prstDash val="solid"/>
            <a:miter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1A85-0F50-4F16-BD88-E1AE1847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5" name="Content Placeholder 4" descr="A close up of a mountain&#10;&#10;Description automatically generated">
            <a:extLst>
              <a:ext uri="{FF2B5EF4-FFF2-40B4-BE49-F238E27FC236}">
                <a16:creationId xmlns:a16="http://schemas.microsoft.com/office/drawing/2014/main" id="{6A98922F-1D13-4644-AFC6-6479D31F4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47" y="252825"/>
            <a:ext cx="10425505" cy="5800659"/>
          </a:xfrm>
        </p:spPr>
      </p:pic>
    </p:spTree>
    <p:extLst>
      <p:ext uri="{BB962C8B-B14F-4D97-AF65-F5344CB8AC3E}">
        <p14:creationId xmlns:p14="http://schemas.microsoft.com/office/powerpoint/2010/main" val="1231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D07E-799E-4EF2-90D1-347ABC52D68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/>
              <a:t>Every Trigonometry question involves…?</a:t>
            </a:r>
            <a:endParaRPr lang="ga-IE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35E66A3-40E7-4CDB-9CED-C97857DABD1B}"/>
              </a:ext>
            </a:extLst>
          </p:cNvPr>
          <p:cNvGraphicFramePr>
            <a:graphicFrameLocks noGrp="1"/>
          </p:cNvGraphicFramePr>
          <p:nvPr/>
        </p:nvGraphicFramePr>
        <p:xfrm>
          <a:off x="1584572" y="2228676"/>
          <a:ext cx="9022860" cy="3643143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511430">
                  <a:extLst>
                    <a:ext uri="{9D8B030D-6E8A-4147-A177-3AD203B41FA5}">
                      <a16:colId xmlns:a16="http://schemas.microsoft.com/office/drawing/2014/main" val="2314534489"/>
                    </a:ext>
                  </a:extLst>
                </a:gridCol>
                <a:gridCol w="4511430">
                  <a:extLst>
                    <a:ext uri="{9D8B030D-6E8A-4147-A177-3AD203B41FA5}">
                      <a16:colId xmlns:a16="http://schemas.microsoft.com/office/drawing/2014/main" val="2968095462"/>
                    </a:ext>
                  </a:extLst>
                </a:gridCol>
              </a:tblGrid>
              <a:tr h="840498">
                <a:tc>
                  <a:txBody>
                    <a:bodyPr/>
                    <a:lstStyle/>
                    <a:p>
                      <a:pPr lvl="0" algn="ctr"/>
                      <a:r>
                        <a:rPr lang="en-GB" sz="4000"/>
                        <a:t>Angles</a:t>
                      </a:r>
                      <a:endParaRPr lang="ga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000"/>
                        <a:t>Sides</a:t>
                      </a:r>
                      <a:endParaRPr lang="ga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753"/>
                  </a:ext>
                </a:extLst>
              </a:tr>
              <a:tr h="2802645">
                <a:tc>
                  <a:txBody>
                    <a:bodyPr/>
                    <a:lstStyle/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ga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ga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06255"/>
                  </a:ext>
                </a:extLst>
              </a:tr>
            </a:tbl>
          </a:graphicData>
        </a:graphic>
      </p:graphicFrame>
      <p:pic>
        <p:nvPicPr>
          <p:cNvPr id="4" name="Picture 7">
            <a:extLst>
              <a:ext uri="{FF2B5EF4-FFF2-40B4-BE49-F238E27FC236}">
                <a16:creationId xmlns:a16="http://schemas.microsoft.com/office/drawing/2014/main" id="{0C5F9DD0-77F6-4BD4-A0CB-8355C02F3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164" y="3200774"/>
            <a:ext cx="4171072" cy="251603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A78C1D44-1543-486D-8730-72B72394C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179" y="3200774"/>
            <a:ext cx="4281943" cy="251603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7CC7-D4C0-4557-9260-C83AE3EA5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82" y="53528"/>
            <a:ext cx="9603275" cy="1049237"/>
          </a:xfrm>
        </p:spPr>
        <p:txBody>
          <a:bodyPr anchorCtr="1"/>
          <a:lstStyle/>
          <a:p>
            <a:pPr lvl="0" algn="ctr"/>
            <a:r>
              <a:rPr lang="en-GB"/>
              <a:t>HOW YOU ANSWER TRIGONOMETRY QUESTIONS DEPENDS ON THE TYPE OF TRIANGLE</a:t>
            </a:r>
            <a:endParaRPr lang="ga-IE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00D78F65-E1FE-4A24-ABBB-F3F1B28AA182}"/>
              </a:ext>
            </a:extLst>
          </p:cNvPr>
          <p:cNvGraphicFramePr>
            <a:graphicFrameLocks noGrp="1"/>
          </p:cNvGraphicFramePr>
          <p:nvPr/>
        </p:nvGraphicFramePr>
        <p:xfrm>
          <a:off x="1466816" y="995315"/>
          <a:ext cx="9603266" cy="580915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801633">
                  <a:extLst>
                    <a:ext uri="{9D8B030D-6E8A-4147-A177-3AD203B41FA5}">
                      <a16:colId xmlns:a16="http://schemas.microsoft.com/office/drawing/2014/main" val="1647387642"/>
                    </a:ext>
                  </a:extLst>
                </a:gridCol>
                <a:gridCol w="4801633">
                  <a:extLst>
                    <a:ext uri="{9D8B030D-6E8A-4147-A177-3AD203B41FA5}">
                      <a16:colId xmlns:a16="http://schemas.microsoft.com/office/drawing/2014/main" val="1733245982"/>
                    </a:ext>
                  </a:extLst>
                </a:gridCol>
              </a:tblGrid>
              <a:tr h="656100">
                <a:tc>
                  <a:txBody>
                    <a:bodyPr/>
                    <a:lstStyle/>
                    <a:p>
                      <a:pPr lvl="0" algn="ctr"/>
                      <a:r>
                        <a:rPr lang="en-GB" sz="4000"/>
                        <a:t>Non Right-Angled</a:t>
                      </a:r>
                      <a:endParaRPr lang="ga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GB" sz="4000"/>
                        <a:t>Right-Angled</a:t>
                      </a:r>
                      <a:endParaRPr lang="ga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14733"/>
                  </a:ext>
                </a:extLst>
              </a:tr>
              <a:tr h="2810819">
                <a:tc>
                  <a:txBody>
                    <a:bodyPr/>
                    <a:lstStyle/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ga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en-GB"/>
                    </a:p>
                    <a:p>
                      <a:pPr lvl="0"/>
                      <a:endParaRPr lang="ga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226259"/>
                  </a:ext>
                </a:extLst>
              </a:tr>
              <a:tr h="1999152">
                <a:tc>
                  <a:txBody>
                    <a:bodyPr/>
                    <a:lstStyle/>
                    <a:p>
                      <a:pPr lvl="0"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ga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078339"/>
                  </a:ext>
                </a:extLst>
              </a:tr>
            </a:tbl>
          </a:graphicData>
        </a:graphic>
      </p:graphicFrame>
      <p:pic>
        <p:nvPicPr>
          <p:cNvPr id="4" name="Picture 5">
            <a:extLst>
              <a:ext uri="{FF2B5EF4-FFF2-40B4-BE49-F238E27FC236}">
                <a16:creationId xmlns:a16="http://schemas.microsoft.com/office/drawing/2014/main" id="{920EA3F6-D052-4B09-97FE-1A699E8B9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48" y="1824035"/>
            <a:ext cx="4528154" cy="281519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8A8B1B09-3F05-4D42-80A1-B37C1A0D1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874" y="1824035"/>
            <a:ext cx="4358076" cy="281519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1A547A1A-8561-4B6F-9A94-6FF1A94778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508" y="4830930"/>
            <a:ext cx="4806817" cy="18590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64564C7E-6352-476D-887E-6AC4E3CB6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268" y="4830930"/>
            <a:ext cx="2686580" cy="1859048"/>
          </a:xfrm>
          <a:prstGeom prst="rect">
            <a:avLst/>
          </a:prstGeom>
          <a:noFill/>
          <a:ln w="9528" cap="flat">
            <a:solidFill>
              <a:srgbClr val="92D050"/>
            </a:solidFill>
            <a:prstDash val="solid"/>
            <a:miter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80901AD3-C16E-42DE-80A6-F6D44F514B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3528" y="6123096"/>
            <a:ext cx="3200400" cy="6000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816A7EAA-5A0D-4734-9B94-5966A57068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1986" y="5155478"/>
            <a:ext cx="3200400" cy="60173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80F4A58F-808C-4E35-AD37-7A6AD36F9A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319750" y="1506327"/>
            <a:ext cx="9603275" cy="3450616"/>
          </a:xfrm>
        </p:spPr>
        <p:txBody>
          <a:bodyPr/>
          <a:lstStyle/>
          <a:p>
            <a:endParaRPr lang="ga-IE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CF26ABA2-E91D-4A5C-8D35-17682C0A68FE}"/>
              </a:ext>
            </a:extLst>
          </p:cNvPr>
          <p:cNvSpPr txBox="1"/>
          <p:nvPr/>
        </p:nvSpPr>
        <p:spPr>
          <a:xfrm>
            <a:off x="1994626" y="4731553"/>
            <a:ext cx="3756071" cy="18158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1" i="0" u="none" strike="noStrike" kern="1200" cap="none" spc="0" baseline="0">
                <a:solidFill>
                  <a:srgbClr val="000000"/>
                </a:solidFill>
                <a:uFillTx/>
                <a:latin typeface="Gill Sans MT"/>
              </a:rPr>
              <a:t>Sine Rule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800" b="1" i="0" u="none" strike="noStrike" kern="1200" cap="none" spc="0" baseline="0">
              <a:solidFill>
                <a:srgbClr val="000000"/>
              </a:solidFill>
              <a:uFillTx/>
              <a:latin typeface="Gill Sans MT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1" i="0" u="none" strike="noStrike" kern="1200" cap="none" spc="0" baseline="0">
                <a:solidFill>
                  <a:srgbClr val="000000"/>
                </a:solidFill>
                <a:uFillTx/>
                <a:latin typeface="Gill Sans MT"/>
              </a:rPr>
              <a:t>Cosine Rule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ga-IE" sz="2800" b="1" i="0" u="none" strike="noStrike" kern="1200" cap="none" spc="0" baseline="0">
              <a:solidFill>
                <a:srgbClr val="000000"/>
              </a:solidFill>
              <a:uFillTx/>
              <a:latin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437F-0E43-4572-B9E1-99048B761D7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E8F14-1605-45A9-AE2C-A8B8C26F807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0DD39-09E0-483D-805D-E106EC083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749A-EDD4-4897-8BD4-302C793A020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GB"/>
              <a:t>Revision question 1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E0B33-5EC5-440F-A504-B56EAE03B13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ga-IE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41490F1-DC0F-4579-821D-C885A3DEB4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1740" y="1853753"/>
            <a:ext cx="10113108" cy="42195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76B863-E509-4B5B-ADDA-56CB8B8B9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7" y="3040270"/>
            <a:ext cx="4475064" cy="301321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9C84-13A1-43E7-8558-D694B348DB6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GB"/>
              <a:t>Revision question 2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E1598-0B18-47EA-85D5-F9230E7F5BA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66232" y="1853753"/>
            <a:ext cx="4644420" cy="4842269"/>
          </a:xfrm>
          <a:solidFill>
            <a:srgbClr val="FFFFFF"/>
          </a:solidFill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en-GB" sz="2200"/>
              <a:t>James and Rachel are standing at the beach, </a:t>
            </a:r>
            <a:r>
              <a:rPr lang="en-GB" sz="2200" i="1"/>
              <a:t>10 metres apart</a:t>
            </a:r>
            <a:r>
              <a:rPr lang="en-GB" sz="2200"/>
              <a:t>. James and Rachel both see a ship in the water. </a:t>
            </a:r>
          </a:p>
          <a:p>
            <a:pPr lvl="0">
              <a:lnSpc>
                <a:spcPct val="110000"/>
              </a:lnSpc>
            </a:pPr>
            <a:endParaRPr lang="en-GB" sz="2200"/>
          </a:p>
          <a:p>
            <a:pPr lvl="0">
              <a:lnSpc>
                <a:spcPct val="110000"/>
              </a:lnSpc>
            </a:pPr>
            <a:r>
              <a:rPr lang="en-GB" sz="2200"/>
              <a:t>The </a:t>
            </a:r>
            <a:r>
              <a:rPr lang="en-GB" sz="2200" i="1"/>
              <a:t>angle between James</a:t>
            </a:r>
            <a:r>
              <a:rPr lang="en-GB" sz="2200"/>
              <a:t>’ spot on the coastline and </a:t>
            </a:r>
            <a:r>
              <a:rPr lang="en-GB" sz="2200" i="1"/>
              <a:t>the ship </a:t>
            </a:r>
            <a:r>
              <a:rPr lang="en-GB" sz="2200"/>
              <a:t>is </a:t>
            </a:r>
            <a:r>
              <a:rPr lang="en-GB" sz="2200" i="1"/>
              <a:t>35 degrees</a:t>
            </a:r>
            <a:r>
              <a:rPr lang="en-GB" sz="2200"/>
              <a:t>. The </a:t>
            </a:r>
            <a:r>
              <a:rPr lang="en-GB" sz="2200" i="1"/>
              <a:t>angle between Rachel’</a:t>
            </a:r>
            <a:r>
              <a:rPr lang="en-GB" sz="2200"/>
              <a:t>s spot on the coastline and </a:t>
            </a:r>
            <a:r>
              <a:rPr lang="en-GB" sz="2200" i="1"/>
              <a:t>the ship </a:t>
            </a:r>
            <a:r>
              <a:rPr lang="en-GB" sz="2200"/>
              <a:t>is </a:t>
            </a:r>
            <a:r>
              <a:rPr lang="en-GB" sz="2200" i="1"/>
              <a:t>45 degrees.</a:t>
            </a:r>
          </a:p>
          <a:p>
            <a:pPr lvl="0">
              <a:lnSpc>
                <a:spcPct val="110000"/>
              </a:lnSpc>
            </a:pPr>
            <a:endParaRPr lang="en-GB" sz="2200"/>
          </a:p>
          <a:p>
            <a:pPr lvl="0">
              <a:lnSpc>
                <a:spcPct val="110000"/>
              </a:lnSpc>
            </a:pPr>
            <a:r>
              <a:rPr lang="en-GB" sz="2200" i="1"/>
              <a:t>How far away is the ship </a:t>
            </a:r>
            <a:r>
              <a:rPr lang="en-GB" sz="2200"/>
              <a:t>from James?</a:t>
            </a:r>
            <a:endParaRPr lang="ga-IE" sz="220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4D873BC-96B3-457F-9B37-D0C814647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020" y="2148839"/>
            <a:ext cx="4876796" cy="36576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54E3-3343-4E7D-8379-FEF1AF33EFF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GB"/>
              <a:t>Revision question 3</a:t>
            </a:r>
            <a:endParaRPr lang="ga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13D82-96EA-4E4A-882F-F7752872D19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56638" y="2015730"/>
            <a:ext cx="5339364" cy="4292083"/>
          </a:xfrm>
          <a:solidFill>
            <a:srgbClr val="FFFFFF"/>
          </a:solidFill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en-GB" sz="2200"/>
              <a:t>A plane has flown </a:t>
            </a:r>
            <a:r>
              <a:rPr lang="en-GB" sz="2200" i="1"/>
              <a:t>20 miles north </a:t>
            </a:r>
            <a:r>
              <a:rPr lang="en-GB" sz="2200"/>
              <a:t>of its departure airport, Airport A.</a:t>
            </a:r>
          </a:p>
          <a:p>
            <a:pPr lvl="0">
              <a:lnSpc>
                <a:spcPct val="110000"/>
              </a:lnSpc>
            </a:pPr>
            <a:r>
              <a:rPr lang="en-GB" sz="2200"/>
              <a:t>The pilot discovers that a passenger may be infected with the Coronavirus.</a:t>
            </a:r>
          </a:p>
          <a:p>
            <a:pPr lvl="0">
              <a:lnSpc>
                <a:spcPct val="110000"/>
              </a:lnSpc>
            </a:pPr>
            <a:r>
              <a:rPr lang="en-GB" sz="2200"/>
              <a:t>It has to emergency land at Emergency Airport B, </a:t>
            </a:r>
            <a:r>
              <a:rPr lang="en-GB" sz="2200" i="1"/>
              <a:t>15 miles away, 63 degrees to the South East.</a:t>
            </a:r>
          </a:p>
          <a:p>
            <a:pPr lvl="0">
              <a:lnSpc>
                <a:spcPct val="110000"/>
              </a:lnSpc>
            </a:pPr>
            <a:r>
              <a:rPr lang="en-GB" sz="2200"/>
              <a:t>After it lands at Airport B, </a:t>
            </a:r>
            <a:r>
              <a:rPr lang="en-GB" sz="2200" i="1"/>
              <a:t>how far </a:t>
            </a:r>
            <a:r>
              <a:rPr lang="en-GB" sz="2200"/>
              <a:t>will the plane have to travel to get back to Airport A?</a:t>
            </a:r>
          </a:p>
          <a:p>
            <a:pPr lvl="0">
              <a:lnSpc>
                <a:spcPct val="110000"/>
              </a:lnSpc>
            </a:pPr>
            <a:endParaRPr lang="en-GB" sz="2200"/>
          </a:p>
          <a:p>
            <a:pPr marL="0" lvl="0" indent="0">
              <a:lnSpc>
                <a:spcPct val="110000"/>
              </a:lnSpc>
              <a:buNone/>
            </a:pPr>
            <a:endParaRPr lang="en-GB" sz="220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4139B57-D879-4D38-821C-E54EAFAEF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672" y="2246781"/>
            <a:ext cx="5315324" cy="298851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0B0E07D551E44A920DD6F75320C37E" ma:contentTypeVersion="11" ma:contentTypeDescription="Create a new document." ma:contentTypeScope="" ma:versionID="a0dba9ec6844acdb3dc0ba19d18d3aa9">
  <xsd:schema xmlns:xsd="http://www.w3.org/2001/XMLSchema" xmlns:xs="http://www.w3.org/2001/XMLSchema" xmlns:p="http://schemas.microsoft.com/office/2006/metadata/properties" xmlns:ns3="ef13da6f-05c8-441f-a86a-82621619beaf" xmlns:ns4="8d2690ea-9f46-4d32-9b3c-2060f39aafc9" targetNamespace="http://schemas.microsoft.com/office/2006/metadata/properties" ma:root="true" ma:fieldsID="a1e6aa98eac2550066209b2c6b6c90bd" ns3:_="" ns4:_="">
    <xsd:import namespace="ef13da6f-05c8-441f-a86a-82621619beaf"/>
    <xsd:import namespace="8d2690ea-9f46-4d32-9b3c-2060f39aafc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13da6f-05c8-441f-a86a-82621619bea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2690ea-9f46-4d32-9b3c-2060f39aaf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3F78F2-8357-400C-83BF-DF6BC1A627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13da6f-05c8-441f-a86a-82621619beaf"/>
    <ds:schemaRef ds:uri="8d2690ea-9f46-4d32-9b3c-2060f39aaf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1533E6-A1F3-4553-A19A-09467C6CBA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171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Gallery</vt:lpstr>
      <vt:lpstr>Revising Trigonometry</vt:lpstr>
      <vt:lpstr>PowerPoint Presentation</vt:lpstr>
      <vt:lpstr>Every Trigonometry question involves…?</vt:lpstr>
      <vt:lpstr>HOW YOU ANSWER TRIGONOMETRY QUESTIONS DEPENDS ON THE TYPE OF TRIANGLE</vt:lpstr>
      <vt:lpstr>PowerPoint Presentation</vt:lpstr>
      <vt:lpstr>Revision question 1</vt:lpstr>
      <vt:lpstr>Revision question 2</vt:lpstr>
      <vt:lpstr>Revision question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Revising Trigonometry</dc:title>
  <dc:creator>Cian Lyons</dc:creator>
  <cp:lastModifiedBy>Cian Lyons</cp:lastModifiedBy>
  <cp:revision>12</cp:revision>
  <dcterms:created xsi:type="dcterms:W3CDTF">2020-03-04T08:21:55Z</dcterms:created>
  <dcterms:modified xsi:type="dcterms:W3CDTF">2020-03-09T23:34:30Z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0x0101003B0B0E07D551E44A920DD6F75320C37E</vt:lpwstr>
  </property>
</Properties>
</file>