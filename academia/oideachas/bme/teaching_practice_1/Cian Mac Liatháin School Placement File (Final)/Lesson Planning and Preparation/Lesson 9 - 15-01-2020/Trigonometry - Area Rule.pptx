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2"/>
  </p:notesMasterIdLst>
  <p:sldIdLst>
    <p:sldId id="268" r:id="rId2"/>
    <p:sldId id="281" r:id="rId3"/>
    <p:sldId id="280" r:id="rId4"/>
    <p:sldId id="256" r:id="rId5"/>
    <p:sldId id="266" r:id="rId6"/>
    <p:sldId id="257" r:id="rId7"/>
    <p:sldId id="264" r:id="rId8"/>
    <p:sldId id="265" r:id="rId9"/>
    <p:sldId id="274" r:id="rId10"/>
    <p:sldId id="27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5FB"/>
    <a:srgbClr val="22CC32"/>
    <a:srgbClr val="FFFFCC"/>
    <a:srgbClr val="A0ABFE"/>
    <a:srgbClr val="A9D18E"/>
    <a:srgbClr val="9DC3E6"/>
    <a:srgbClr val="F8CBAD"/>
    <a:srgbClr val="00FF00"/>
    <a:srgbClr val="B8C0FE"/>
    <a:srgbClr val="B4B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60" autoAdjust="0"/>
    <p:restoredTop sz="92786" autoAdjust="0"/>
  </p:normalViewPr>
  <p:slideViewPr>
    <p:cSldViewPr snapToGrid="0">
      <p:cViewPr varScale="1">
        <p:scale>
          <a:sx n="31" d="100"/>
          <a:sy n="31" d="100"/>
        </p:scale>
        <p:origin x="60" y="12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358AE3-F241-4332-825C-1A150B29EF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454A9-4E7B-4DAF-8878-77CF4F14F41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D1143A9-685B-46EE-A640-16645A2A4B6E}" type="datetimeFigureOut">
              <a:rPr lang="en-GB"/>
              <a:pPr>
                <a:defRPr/>
              </a:pPr>
              <a:t>24/04/2020</a:t>
            </a:fld>
            <a:endParaRPr lang="en-GB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75FCFEC-61E2-4220-BB27-665899DED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8AFE1BF-3179-47D9-8531-B04C63CC3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2002E-0B41-4ABE-9854-F46D528FBD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3D7C3-61D7-4C9E-8CB0-C6BA2B45A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7C06BA1-57DB-4746-8580-4D3F90665C5D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Clipart – Questions Clipart</a:t>
            </a:r>
            <a:r>
              <a:rPr lang="en-US" altLang="en-US" baseline="0" dirty="0"/>
              <a:t> #</a:t>
            </a:r>
            <a:r>
              <a:rPr lang="en-US" altLang="en-US" dirty="0"/>
              <a:t>29226: taken from </a:t>
            </a:r>
            <a:r>
              <a:rPr lang="en-GB" altLang="en-US" dirty="0"/>
              <a:t>- h</a:t>
            </a:r>
            <a:r>
              <a:rPr lang="en-GB" dirty="0"/>
              <a:t>ttp://clipartix.com/questions-clipart-image-29226/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42C2E8-7174-429A-B1AB-34A7DAB48F10}" type="slidenum">
              <a:rPr lang="en-MY" smtClean="0"/>
              <a:pPr/>
              <a:t>3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2432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NOTE: However you label the triangle it is ALWAYS the angle and the two sides that make that 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C06BA1-57DB-4746-8580-4D3F90665C5D}" type="slidenum">
              <a:rPr lang="en-GB" altLang="en-US" smtClean="0"/>
              <a:pPr>
                <a:defRPr/>
              </a:pPr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59124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C06BA1-57DB-4746-8580-4D3F90665C5D}" type="slidenum">
              <a:rPr lang="en-GB" altLang="en-US" smtClean="0"/>
              <a:pPr>
                <a:defRPr/>
              </a:pPr>
              <a:t>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01615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0D043-D459-4C98-8806-00DFE524F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C0D68-62AF-43DB-8BB9-9AB30822D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CFFC8-BD8A-45A3-AB80-8B45E0CB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FDAAC-20A1-4F06-89AF-FF24BC29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DA0BD-21C0-4D64-B96D-760BD28D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B71441-A11B-471B-B261-4DEECCC41547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84392426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BF8B-6331-4D00-8B80-9859677D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45C4-459A-40E1-9FD5-AEAB333F6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4A6B3-17F3-4A7C-A3A7-65D42A73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A0516-4888-47DA-A677-83F8C2A1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887D1-4F8B-4529-BCF6-663F16EE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BD6D34-77B1-4BA3-BCBC-1661C8AF3ED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35478484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E7F7-831D-4206-AF2F-47C7FB5D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D000-61B4-4CF2-9FD2-68D0ACFEE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BA327-C77D-4342-AB18-7FBF5B0D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244E2-3763-46DF-9513-4A87CCA9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516F-3FCB-4BCA-8FA5-D84F72ED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BC4A9-EF30-4BD1-A659-DAC08D0CFF1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02495330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2948-2963-416D-A061-3C3FA844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9B281-55C2-4249-9B3D-5F795F2EB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3A3B8-10CB-4121-9157-CA589C358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70AA-A59C-4ECB-BF36-E3D6BAD9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1A25-19FF-4789-8A76-D56B43ED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66023-CEFE-48B9-9784-CB5A20C3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1C781-FDE8-4EDA-BF5F-4996D5A09ED6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56183720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6C32-3B67-4FCF-A430-985D1212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26A31-C66A-474F-9D8D-55BB1FF8C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16E84-8784-4F72-86C7-32CF65F84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3A47C-AC39-4762-BF1D-ECD53AFF2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894119-1A15-435A-96C3-5E2F8D8CD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D651DC-14A5-42EB-93E2-09915640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6753F-48A0-4133-BBBD-9C9D0CAD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53B75-E389-4414-8E3C-5A54C2B4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69DD0-769B-46A5-9160-83511A8A87A3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543735554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CEE3-FFE2-4C82-9B77-92E3821A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E893D-36D0-4AE7-94DB-76AC5DE2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65D6A-CA8A-42E7-8A55-20EB73CC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BC341-B151-4867-8A7B-C6C2C617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AD511B-A638-4697-9FB8-5B7CDC543412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4180704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74E4D-59EB-4748-8F8A-1F441242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5B913-766C-410D-AC6D-88B1F0A8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665D-246C-47FF-B887-C7D9FD98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21668B-2E65-405D-8234-B77836FE9EAA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61221852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27FE-346A-4840-A099-603158EA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00269-AB3A-4DDA-AF24-5CE7C553B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33DEB-B7CB-40A7-8AA1-C05F9C729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96535-575A-460B-8328-3E94E001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7E86F-4388-4207-9505-B87BBBAE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ABDF1-A50C-4057-A9F1-B88AC6C5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C1FFF-07C8-4B42-8BEB-2A7D9685C77C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7841916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43E4-0C2A-44EA-B026-C7D8F1C14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19E0D-4A12-4CA4-A12F-036C05B3A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2C089-779F-40F7-AA12-DB86734B1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9313-DFE5-478B-8D58-DAB28BC4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A3494-DD9E-41AE-94B2-20526EA4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70887-DE6C-431C-AC7C-46836525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D04420-2A2C-49F8-A5F2-70DCEB8327B4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72799655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9A54-E119-4354-A9C3-6CC27C9E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D5F4E-BCD6-4943-BE8D-00879AE3B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064D8-6F4E-4E79-985B-386AFD48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9DF9-B1CD-4277-8D7D-AB85D268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91E1B-1847-4EE8-9F8D-38A57685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8871DE-0C66-4776-B3E9-CB6FDC0D1F54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42428557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C01E56-4BA1-431C-BC2F-C718C6A6B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37C62-89E1-4B79-A073-E84A30971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C1DCB-525D-4515-A85D-A312958F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BC2C6-43AE-492C-BCC6-3C699039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FF4C-717B-4954-A230-06F97B9B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B78737-52AD-4DD3-8B59-848E2573B4AE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13685195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C1F58E-6BEB-4B5A-961E-DD0A700E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3DCB9-E22A-42BC-86D1-5268009CB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EBEEA-0431-425E-86C0-DD3ACB5ED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49AD7-CEB3-4B02-B0B5-970C49403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B2A15A-2B7B-4CA7-9194-2B1F6319472F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063CF-09C8-44B7-9B2D-2C0D110FE9F1}"/>
              </a:ext>
            </a:extLst>
          </p:cNvPr>
          <p:cNvSpPr txBox="1"/>
          <p:nvPr userDrawn="1"/>
        </p:nvSpPr>
        <p:spPr>
          <a:xfrm>
            <a:off x="4000500" y="128588"/>
            <a:ext cx="5014913" cy="830262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u="sng" dirty="0"/>
              <a:t>Lesson Objectives</a:t>
            </a:r>
            <a:r>
              <a:rPr lang="en-US" sz="1600" b="1" dirty="0"/>
              <a:t>:  </a:t>
            </a:r>
            <a:r>
              <a:rPr lang="en-US" sz="1600" b="1" dirty="0">
                <a:solidFill>
                  <a:srgbClr val="FF0000"/>
                </a:solidFill>
              </a:rPr>
              <a:t>To know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what the area rule using trig is; </a:t>
            </a:r>
            <a:r>
              <a:rPr lang="en-US" sz="1600" b="1" dirty="0">
                <a:solidFill>
                  <a:srgbClr val="FF9900"/>
                </a:solidFill>
              </a:rPr>
              <a:t> To understand </a:t>
            </a:r>
            <a:r>
              <a:rPr lang="en-US" sz="1600" dirty="0">
                <a:solidFill>
                  <a:schemeClr val="tx1"/>
                </a:solidFill>
              </a:rPr>
              <a:t>where the formula comes from; </a:t>
            </a:r>
            <a:r>
              <a:rPr lang="en-US" sz="1600" b="1" dirty="0">
                <a:solidFill>
                  <a:srgbClr val="00B050"/>
                </a:solidFill>
              </a:rPr>
              <a:t> To be able to </a:t>
            </a:r>
            <a:r>
              <a:rPr lang="en-US" sz="1600" dirty="0">
                <a:solidFill>
                  <a:schemeClr val="tx1"/>
                </a:solidFill>
              </a:rPr>
              <a:t>use the formula to work out the area of triangles</a:t>
            </a:r>
            <a:endParaRPr lang="en-MY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39152A-EC05-4EDC-AEE2-4E583CC1C91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-7938"/>
            <a:ext cx="332949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3600" b="1" dirty="0">
                <a:latin typeface="+mn-lt"/>
              </a:rPr>
              <a:t>Trig - Area Rule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E76502-A197-4DE4-8FA5-DC192B02B1C9}"/>
              </a:ext>
            </a:extLst>
          </p:cNvPr>
          <p:cNvSpPr txBox="1"/>
          <p:nvPr userDrawn="1"/>
        </p:nvSpPr>
        <p:spPr>
          <a:xfrm>
            <a:off x="-304800" y="6626423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©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BE7977-06DC-4606-85C6-D3B5380CE4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6489992"/>
            <a:ext cx="1176656" cy="36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0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dissolv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image" Target="../media/image5.w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oleObject" Target="../embeddings/oleObject1.bin"/><Relationship Id="rId5" Type="http://schemas.openxmlformats.org/officeDocument/2006/relationships/tags" Target="../tags/tag4.xml"/><Relationship Id="rId10" Type="http://schemas.openxmlformats.org/officeDocument/2006/relationships/image" Target="../media/image6.JPG"/><Relationship Id="rId4" Type="http://schemas.openxmlformats.org/officeDocument/2006/relationships/tags" Target="../tags/tag3.xml"/><Relationship Id="rId9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8.JPG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0D43-D545-41B8-9E32-75995A61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821356"/>
            <a:ext cx="7886700" cy="1325563"/>
          </a:xfrm>
        </p:spPr>
        <p:txBody>
          <a:bodyPr/>
          <a:lstStyle/>
          <a:p>
            <a:r>
              <a:rPr lang="en-GB" b="1" dirty="0"/>
              <a:t>What do we know about Area from Right-angles Triangles?</a:t>
            </a:r>
            <a:endParaRPr lang="ga-IE" b="1" dirty="0"/>
          </a:p>
        </p:txBody>
      </p:sp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D80FE501-96BB-45B5-9A29-5F177185B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55" y="2163655"/>
            <a:ext cx="6554289" cy="3872989"/>
          </a:xfrm>
        </p:spPr>
      </p:pic>
    </p:spTree>
    <p:extLst>
      <p:ext uri="{BB962C8B-B14F-4D97-AF65-F5344CB8AC3E}">
        <p14:creationId xmlns:p14="http://schemas.microsoft.com/office/powerpoint/2010/main" val="1236749540"/>
      </p:ext>
    </p:extLst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8">
            <a:extLst>
              <a:ext uri="{FF2B5EF4-FFF2-40B4-BE49-F238E27FC236}">
                <a16:creationId xmlns:a16="http://schemas.microsoft.com/office/drawing/2014/main" id="{CC9818D5-BB56-4D84-9A3F-108CD6A90653}"/>
              </a:ext>
            </a:extLst>
          </p:cNvPr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774700" y="1081088"/>
            <a:ext cx="7585076" cy="2832100"/>
            <a:chOff x="476" y="352"/>
            <a:chExt cx="4778" cy="1784"/>
          </a:xfrm>
        </p:grpSpPr>
        <p:grpSp>
          <p:nvGrpSpPr>
            <p:cNvPr id="8210" name="Group 57">
              <a:extLst>
                <a:ext uri="{FF2B5EF4-FFF2-40B4-BE49-F238E27FC236}">
                  <a16:creationId xmlns:a16="http://schemas.microsoft.com/office/drawing/2014/main" id="{D911EEBA-0C48-4220-AA44-AB2B44A47A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352"/>
              <a:ext cx="2994" cy="1784"/>
              <a:chOff x="476" y="352"/>
              <a:chExt cx="2994" cy="1784"/>
            </a:xfrm>
          </p:grpSpPr>
          <p:grpSp>
            <p:nvGrpSpPr>
              <p:cNvPr id="8212" name="Group 56">
                <a:extLst>
                  <a:ext uri="{FF2B5EF4-FFF2-40B4-BE49-F238E27FC236}">
                    <a16:creationId xmlns:a16="http://schemas.microsoft.com/office/drawing/2014/main" id="{441D34C6-A6D4-440B-A782-F0E29F09E8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8" y="663"/>
                <a:ext cx="2314" cy="1134"/>
                <a:chOff x="748" y="663"/>
                <a:chExt cx="2314" cy="1134"/>
              </a:xfrm>
            </p:grpSpPr>
            <p:sp>
              <p:nvSpPr>
                <p:cNvPr id="7195" name="Line 6">
                  <a:extLst>
                    <a:ext uri="{FF2B5EF4-FFF2-40B4-BE49-F238E27FC236}">
                      <a16:creationId xmlns:a16="http://schemas.microsoft.com/office/drawing/2014/main" id="{CD2F29CA-B8D1-4386-8627-C6C1F6E946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" y="1797"/>
                  <a:ext cx="231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GB" dirty="0">
                    <a:latin typeface="+mn-lt"/>
                  </a:endParaRPr>
                </a:p>
              </p:txBody>
            </p:sp>
            <p:sp>
              <p:nvSpPr>
                <p:cNvPr id="7196" name="Line 7">
                  <a:extLst>
                    <a:ext uri="{FF2B5EF4-FFF2-40B4-BE49-F238E27FC236}">
                      <a16:creationId xmlns:a16="http://schemas.microsoft.com/office/drawing/2014/main" id="{373A65C9-40E1-4BD2-B1E4-5BB89255A3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48" y="663"/>
                  <a:ext cx="772" cy="113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GB" dirty="0">
                    <a:latin typeface="+mn-lt"/>
                  </a:endParaRPr>
                </a:p>
              </p:txBody>
            </p:sp>
            <p:sp>
              <p:nvSpPr>
                <p:cNvPr id="7197" name="Line 8">
                  <a:extLst>
                    <a:ext uri="{FF2B5EF4-FFF2-40B4-BE49-F238E27FC236}">
                      <a16:creationId xmlns:a16="http://schemas.microsoft.com/office/drawing/2014/main" id="{41064197-570F-4255-9B27-31951241A4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0" y="663"/>
                  <a:ext cx="1542" cy="1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GB" dirty="0">
                    <a:latin typeface="+mn-lt"/>
                  </a:endParaRPr>
                </a:p>
              </p:txBody>
            </p:sp>
          </p:grpSp>
          <p:sp>
            <p:nvSpPr>
              <p:cNvPr id="7189" name="Text Box 9">
                <a:extLst>
                  <a:ext uri="{FF2B5EF4-FFF2-40B4-BE49-F238E27FC236}">
                    <a16:creationId xmlns:a16="http://schemas.microsoft.com/office/drawing/2014/main" id="{810734C5-4C08-40C3-8EC3-A7371C2DCB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1706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7190" name="Text Box 10">
                <a:extLst>
                  <a:ext uri="{FF2B5EF4-FFF2-40B4-BE49-F238E27FC236}">
                    <a16:creationId xmlns:a16="http://schemas.microsoft.com/office/drawing/2014/main" id="{A755EDC7-9A2A-46E9-94A6-4080BDB22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4" y="352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7191" name="Text Box 11">
                <a:extLst>
                  <a:ext uri="{FF2B5EF4-FFF2-40B4-BE49-F238E27FC236}">
                    <a16:creationId xmlns:a16="http://schemas.microsoft.com/office/drawing/2014/main" id="{272D4119-922B-4EEE-BD97-F1BF5E143A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2" y="1706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7192" name="Text Box 12">
                <a:extLst>
                  <a:ext uri="{FF2B5EF4-FFF2-40B4-BE49-F238E27FC236}">
                    <a16:creationId xmlns:a16="http://schemas.microsoft.com/office/drawing/2014/main" id="{9B6C2FEC-2516-4CE9-8387-DF7CCB8092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5" y="838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dirty="0">
                    <a:latin typeface="+mn-lt"/>
                  </a:rPr>
                  <a:t>a</a:t>
                </a:r>
              </a:p>
            </p:txBody>
          </p:sp>
          <p:sp>
            <p:nvSpPr>
              <p:cNvPr id="7193" name="Text Box 13">
                <a:extLst>
                  <a:ext uri="{FF2B5EF4-FFF2-40B4-BE49-F238E27FC236}">
                    <a16:creationId xmlns:a16="http://schemas.microsoft.com/office/drawing/2014/main" id="{80C62130-6AB3-4065-B27F-D79C87C9F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7" y="1806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dirty="0">
                    <a:latin typeface="+mn-lt"/>
                  </a:rPr>
                  <a:t>b</a:t>
                </a:r>
              </a:p>
            </p:txBody>
          </p:sp>
          <p:sp>
            <p:nvSpPr>
              <p:cNvPr id="7194" name="Text Box 14">
                <a:extLst>
                  <a:ext uri="{FF2B5EF4-FFF2-40B4-BE49-F238E27FC236}">
                    <a16:creationId xmlns:a16="http://schemas.microsoft.com/office/drawing/2014/main" id="{F5D4F716-FECD-410E-A7A1-6081A98F7B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" y="1071"/>
                <a:ext cx="408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800" dirty="0">
                    <a:latin typeface="+mn-lt"/>
                  </a:rPr>
                  <a:t>c</a:t>
                </a:r>
              </a:p>
            </p:txBody>
          </p:sp>
        </p:grpSp>
        <p:sp>
          <p:nvSpPr>
            <p:cNvPr id="7187" name="Text Box 19">
              <a:extLst>
                <a:ext uri="{FF2B5EF4-FFF2-40B4-BE49-F238E27FC236}">
                  <a16:creationId xmlns:a16="http://schemas.microsoft.com/office/drawing/2014/main" id="{75719DE6-8812-4F75-8E45-4F463824F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" y="852"/>
              <a:ext cx="1279" cy="998"/>
            </a:xfrm>
            <a:prstGeom prst="rect">
              <a:avLst/>
            </a:prstGeom>
            <a:solidFill>
              <a:srgbClr val="DBD5F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600"/>
                </a:spcBef>
                <a:defRPr/>
              </a:pPr>
              <a:r>
                <a:rPr lang="en-GB" altLang="en-US" sz="2800" dirty="0">
                  <a:latin typeface="+mn-lt"/>
                </a:rPr>
                <a:t>Area of a triangle </a:t>
              </a:r>
            </a:p>
            <a:p>
              <a:pPr algn="ctr" eaLnBrk="1" hangingPunct="1">
                <a:spcBef>
                  <a:spcPts val="600"/>
                </a:spcBef>
                <a:defRPr/>
              </a:pPr>
              <a:r>
                <a:rPr lang="en-GB" altLang="en-US" sz="2800" b="1" dirty="0">
                  <a:latin typeface="+mn-lt"/>
                </a:rPr>
                <a:t>= </a:t>
              </a:r>
              <a:r>
                <a:rPr lang="en-GB" altLang="en-US" sz="3600" b="1" dirty="0">
                  <a:latin typeface="+mn-lt"/>
                </a:rPr>
                <a:t>½(bh)</a:t>
              </a:r>
            </a:p>
          </p:txBody>
        </p:sp>
      </p:grpSp>
      <p:grpSp>
        <p:nvGrpSpPr>
          <p:cNvPr id="6" name="Group 21">
            <a:extLst>
              <a:ext uri="{FF2B5EF4-FFF2-40B4-BE49-F238E27FC236}">
                <a16:creationId xmlns:a16="http://schemas.microsoft.com/office/drawing/2014/main" id="{8F2316B5-57AE-43D3-A6BC-D7098D9418D6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073275" y="1582738"/>
            <a:ext cx="647700" cy="2384425"/>
            <a:chOff x="1338" y="754"/>
            <a:chExt cx="408" cy="1502"/>
          </a:xfrm>
        </p:grpSpPr>
        <p:sp>
          <p:nvSpPr>
            <p:cNvPr id="7182" name="Line 16">
              <a:extLst>
                <a:ext uri="{FF2B5EF4-FFF2-40B4-BE49-F238E27FC236}">
                  <a16:creationId xmlns:a16="http://schemas.microsoft.com/office/drawing/2014/main" id="{994B8C98-4206-4255-8C10-59AA69A80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754"/>
              <a:ext cx="0" cy="1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GB" dirty="0">
                <a:latin typeface="+mn-lt"/>
              </a:endParaRPr>
            </a:p>
          </p:txBody>
        </p:sp>
        <p:sp>
          <p:nvSpPr>
            <p:cNvPr id="7183" name="Rectangle 17">
              <a:extLst>
                <a:ext uri="{FF2B5EF4-FFF2-40B4-BE49-F238E27FC236}">
                  <a16:creationId xmlns:a16="http://schemas.microsoft.com/office/drawing/2014/main" id="{6FA1BA07-9DF9-4AB0-9585-8DB6C6A6F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752"/>
              <a:ext cx="136" cy="13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3200" dirty="0">
                <a:latin typeface="+mn-lt"/>
              </a:endParaRPr>
            </a:p>
          </p:txBody>
        </p:sp>
        <p:sp>
          <p:nvSpPr>
            <p:cNvPr id="7184" name="Text Box 18">
              <a:extLst>
                <a:ext uri="{FF2B5EF4-FFF2-40B4-BE49-F238E27FC236}">
                  <a16:creationId xmlns:a16="http://schemas.microsoft.com/office/drawing/2014/main" id="{ECD14C41-621B-4423-9FC6-CE1D90A0C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1888"/>
              <a:ext cx="227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3200" dirty="0">
                  <a:solidFill>
                    <a:srgbClr val="0000FF"/>
                  </a:solidFill>
                  <a:latin typeface="+mn-lt"/>
                </a:rPr>
                <a:t>P</a:t>
              </a:r>
            </a:p>
          </p:txBody>
        </p:sp>
        <p:sp>
          <p:nvSpPr>
            <p:cNvPr id="7185" name="Text Box 20">
              <a:extLst>
                <a:ext uri="{FF2B5EF4-FFF2-40B4-BE49-F238E27FC236}">
                  <a16:creationId xmlns:a16="http://schemas.microsoft.com/office/drawing/2014/main" id="{8E360237-635C-4CDC-B74A-32E2470C4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253"/>
              <a:ext cx="40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3200" dirty="0">
                  <a:solidFill>
                    <a:srgbClr val="0000FF"/>
                  </a:solidFill>
                  <a:latin typeface="+mn-lt"/>
                </a:rPr>
                <a:t>h</a:t>
              </a:r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7945A4C8-88F7-460A-A3B6-D8E434965EE5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777875" y="3819525"/>
            <a:ext cx="6691313" cy="909638"/>
            <a:chOff x="657" y="2037"/>
            <a:chExt cx="2450" cy="573"/>
          </a:xfrm>
        </p:grpSpPr>
        <p:sp>
          <p:nvSpPr>
            <p:cNvPr id="7180" name="Text Box 22">
              <a:extLst>
                <a:ext uri="{FF2B5EF4-FFF2-40B4-BE49-F238E27FC236}">
                  <a16:creationId xmlns:a16="http://schemas.microsoft.com/office/drawing/2014/main" id="{66C49C11-DDB0-4244-A8E8-B1307A7B0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131"/>
              <a:ext cx="24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GB" altLang="en-US" sz="2800" dirty="0">
                  <a:latin typeface="+mn-lt"/>
                </a:rPr>
                <a:t>In triangle PBC,  Sin C = </a:t>
              </a:r>
            </a:p>
          </p:txBody>
        </p:sp>
        <p:graphicFrame>
          <p:nvGraphicFramePr>
            <p:cNvPr id="8205" name="Object 23">
              <a:extLst>
                <a:ext uri="{FF2B5EF4-FFF2-40B4-BE49-F238E27FC236}">
                  <a16:creationId xmlns:a16="http://schemas.microsoft.com/office/drawing/2014/main" id="{3D082DC9-0124-4960-BB18-B89273FA5B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4" y="2037"/>
            <a:ext cx="195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9" name="Equation" r:id="rId11" imgW="177723" imgH="507780" progId="Equation.3">
                    <p:embed/>
                  </p:oleObj>
                </mc:Choice>
                <mc:Fallback>
                  <p:oleObj name="Equation" r:id="rId11" imgW="177723" imgH="50778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2037"/>
                          <a:ext cx="195" cy="5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3" name="Text Box 25">
            <a:extLst>
              <a:ext uri="{FF2B5EF4-FFF2-40B4-BE49-F238E27FC236}">
                <a16:creationId xmlns:a16="http://schemas.microsoft.com/office/drawing/2014/main" id="{8D8B18AD-2F5A-4E34-A96A-02C4EAA5AD40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55688" y="4687888"/>
            <a:ext cx="4148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(</a:t>
            </a:r>
            <a:r>
              <a:rPr lang="en-GB" altLang="en-US" sz="2800" b="1" dirty="0">
                <a:solidFill>
                  <a:srgbClr val="0070C0"/>
                </a:solidFill>
                <a:latin typeface="+mn-lt"/>
                <a:sym typeface="Symbol" panose="05050102010706020507" pitchFamily="18" charset="2"/>
              </a:rPr>
              <a:t>xa</a:t>
            </a: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)    h = a sin C	(</a:t>
            </a:r>
            <a:r>
              <a:rPr lang="en-GB" altLang="en-US" sz="2800" b="1" dirty="0">
                <a:solidFill>
                  <a:srgbClr val="0070C0"/>
                </a:solidFill>
                <a:latin typeface="+mn-lt"/>
                <a:sym typeface="Symbol" panose="05050102010706020507" pitchFamily="18" charset="2"/>
              </a:rPr>
              <a:t>xa</a:t>
            </a: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075" name="Text Box 27">
            <a:extLst>
              <a:ext uri="{FF2B5EF4-FFF2-40B4-BE49-F238E27FC236}">
                <a16:creationId xmlns:a16="http://schemas.microsoft.com/office/drawing/2014/main" id="{1849FBB7-28C4-4DAC-8E9E-115DC967E4E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71525" y="5280025"/>
            <a:ext cx="5070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Substituting this into </a:t>
            </a:r>
            <a:r>
              <a:rPr lang="en-GB" altLang="en-US" sz="2800" b="1" dirty="0">
                <a:solidFill>
                  <a:srgbClr val="FF0000"/>
                </a:solidFill>
                <a:latin typeface="+mn-lt"/>
                <a:sym typeface="Symbol" panose="05050102010706020507" pitchFamily="18" charset="2"/>
              </a:rPr>
              <a:t>½bh</a:t>
            </a:r>
            <a:r>
              <a:rPr lang="en-GB" altLang="en-US" sz="2800" b="1" dirty="0">
                <a:solidFill>
                  <a:srgbClr val="0070C0"/>
                </a:solidFill>
                <a:latin typeface="+mn-lt"/>
                <a:sym typeface="Symbol" panose="05050102010706020507" pitchFamily="18" charset="2"/>
              </a:rPr>
              <a:t> </a:t>
            </a:r>
            <a:r>
              <a:rPr lang="en-GB" altLang="en-US" sz="2800" dirty="0">
                <a:latin typeface="+mn-lt"/>
                <a:sym typeface="Symbol" panose="05050102010706020507" pitchFamily="18" charset="2"/>
              </a:rPr>
              <a:t>gives:</a:t>
            </a:r>
          </a:p>
        </p:txBody>
      </p:sp>
      <p:grpSp>
        <p:nvGrpSpPr>
          <p:cNvPr id="8" name="Group 63">
            <a:extLst>
              <a:ext uri="{FF2B5EF4-FFF2-40B4-BE49-F238E27FC236}">
                <a16:creationId xmlns:a16="http://schemas.microsoft.com/office/drawing/2014/main" id="{77BABB01-79C5-4EA1-B5E3-9F9F78B68F0F}"/>
              </a:ext>
            </a:extLst>
          </p:cNvPr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212850" y="1582738"/>
            <a:ext cx="3667125" cy="1800225"/>
            <a:chOff x="751" y="663"/>
            <a:chExt cx="2310" cy="1134"/>
          </a:xfrm>
        </p:grpSpPr>
        <p:sp>
          <p:nvSpPr>
            <p:cNvPr id="7177" name="Line 59">
              <a:extLst>
                <a:ext uri="{FF2B5EF4-FFF2-40B4-BE49-F238E27FC236}">
                  <a16:creationId xmlns:a16="http://schemas.microsoft.com/office/drawing/2014/main" id="{CCC1BC8B-604D-4F55-A4E6-B0652EE92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19" y="663"/>
              <a:ext cx="1542" cy="113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GB" dirty="0">
                <a:latin typeface="+mn-lt"/>
              </a:endParaRPr>
            </a:p>
          </p:txBody>
        </p:sp>
        <p:sp>
          <p:nvSpPr>
            <p:cNvPr id="7178" name="Line 60">
              <a:extLst>
                <a:ext uri="{FF2B5EF4-FFF2-40B4-BE49-F238E27FC236}">
                  <a16:creationId xmlns:a16="http://schemas.microsoft.com/office/drawing/2014/main" id="{47264647-C4A2-4E22-9A45-20F729CE6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797"/>
              <a:ext cx="231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GB" dirty="0">
                <a:latin typeface="+mn-lt"/>
              </a:endParaRPr>
            </a:p>
          </p:txBody>
        </p:sp>
        <p:sp>
          <p:nvSpPr>
            <p:cNvPr id="7179" name="Oval 61">
              <a:extLst>
                <a:ext uri="{FF2B5EF4-FFF2-40B4-BE49-F238E27FC236}">
                  <a16:creationId xmlns:a16="http://schemas.microsoft.com/office/drawing/2014/main" id="{AC41C81C-8CBC-4417-AA16-957003AE7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" y="1650"/>
              <a:ext cx="65" cy="65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3200" dirty="0">
                <a:latin typeface="+mn-lt"/>
              </a:endParaRPr>
            </a:p>
          </p:txBody>
        </p:sp>
      </p:grpSp>
      <p:sp>
        <p:nvSpPr>
          <p:cNvPr id="1047" name="Text Box 28">
            <a:extLst>
              <a:ext uri="{FF2B5EF4-FFF2-40B4-BE49-F238E27FC236}">
                <a16:creationId xmlns:a16="http://schemas.microsoft.com/office/drawing/2014/main" id="{6479DBC8-A289-4053-B0B2-2821A16EC4E5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322888" y="5946775"/>
            <a:ext cx="3529012" cy="646113"/>
          </a:xfrm>
          <a:prstGeom prst="rect">
            <a:avLst/>
          </a:prstGeom>
          <a:solidFill>
            <a:srgbClr val="DBD5FB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2800" b="1" dirty="0">
                <a:solidFill>
                  <a:schemeClr val="tx1"/>
                </a:solidFill>
                <a:sym typeface="Symbol" pitchFamily="18" charset="2"/>
              </a:rPr>
              <a:t>Area =</a:t>
            </a:r>
            <a:r>
              <a:rPr lang="en-GB" sz="32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GB" sz="3600" b="1" dirty="0">
                <a:solidFill>
                  <a:schemeClr val="tx1"/>
                </a:solidFill>
                <a:sym typeface="Symbol" pitchFamily="18" charset="2"/>
              </a:rPr>
              <a:t>½ ab.SinC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3" grpId="0"/>
      <p:bldP spid="2075" grpId="0"/>
      <p:bldP spid="10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28">
            <a:extLst>
              <a:ext uri="{FF2B5EF4-FFF2-40B4-BE49-F238E27FC236}">
                <a16:creationId xmlns:a16="http://schemas.microsoft.com/office/drawing/2014/main" id="{6ECA7878-66A2-4F11-96EA-BC4437B98B7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67010" y="3409315"/>
            <a:ext cx="2940050" cy="646112"/>
          </a:xfrm>
          <a:prstGeom prst="rect">
            <a:avLst/>
          </a:prstGeom>
          <a:solidFill>
            <a:srgbClr val="9DC3E6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3200" b="1" dirty="0">
                <a:sym typeface="Symbol" pitchFamily="18" charset="2"/>
              </a:rPr>
              <a:t>=  </a:t>
            </a:r>
            <a:r>
              <a:rPr lang="en-GB" sz="3600" b="1" dirty="0">
                <a:solidFill>
                  <a:schemeClr val="tx1"/>
                </a:solidFill>
                <a:sym typeface="Symbol" pitchFamily="18" charset="2"/>
              </a:rPr>
              <a:t>½ ac.SinB </a:t>
            </a:r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DEB82572-5BC9-4E7D-B0E6-2C8D6BF6731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67010" y="5134928"/>
            <a:ext cx="2940050" cy="646112"/>
          </a:xfrm>
          <a:prstGeom prst="rect">
            <a:avLst/>
          </a:prstGeom>
          <a:solidFill>
            <a:srgbClr val="A9D18E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GB" sz="3200" b="1" dirty="0">
                <a:sym typeface="Symbol" pitchFamily="18" charset="2"/>
              </a:rPr>
              <a:t>=  </a:t>
            </a:r>
            <a:r>
              <a:rPr lang="en-GB" sz="3600" b="1" dirty="0">
                <a:solidFill>
                  <a:schemeClr val="tx1"/>
                </a:solidFill>
                <a:sym typeface="Symbol" pitchFamily="18" charset="2"/>
              </a:rPr>
              <a:t>½ bc.SinA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Rectangle 27">
            <a:extLst>
              <a:ext uri="{FF2B5EF4-FFF2-40B4-BE49-F238E27FC236}">
                <a16:creationId xmlns:a16="http://schemas.microsoft.com/office/drawing/2014/main" id="{D7FDE1D3-F500-46C8-8AE0-B6159953AB9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466492" y="4961303"/>
            <a:ext cx="442668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/>
              <a:t>Area = ½ x 5 x 6 x sin 63</a:t>
            </a:r>
            <a:r>
              <a:rPr lang="en-GB" sz="2800" baseline="30000" dirty="0"/>
              <a:t>o</a:t>
            </a:r>
            <a:endParaRPr lang="en-GB" sz="2800" u="sng" dirty="0">
              <a:solidFill>
                <a:srgbClr val="0000FF"/>
              </a:solidFill>
            </a:endParaRPr>
          </a:p>
        </p:txBody>
      </p:sp>
      <p:sp>
        <p:nvSpPr>
          <p:cNvPr id="3116" name="Text Box 44">
            <a:extLst>
              <a:ext uri="{FF2B5EF4-FFF2-40B4-BE49-F238E27FC236}">
                <a16:creationId xmlns:a16="http://schemas.microsoft.com/office/drawing/2014/main" id="{8675F11D-3444-49F7-A998-6DC0FB48C6D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45250" y="5738813"/>
            <a:ext cx="2447925" cy="523220"/>
          </a:xfrm>
          <a:prstGeom prst="rect">
            <a:avLst/>
          </a:prstGeom>
          <a:solidFill>
            <a:srgbClr val="22CC32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GB" sz="2800" dirty="0">
                <a:solidFill>
                  <a:schemeClr val="tx1"/>
                </a:solidFill>
              </a:rPr>
              <a:t>= </a:t>
            </a:r>
            <a:r>
              <a:rPr lang="en-GB" sz="2800" b="1" dirty="0">
                <a:solidFill>
                  <a:schemeClr val="tx1"/>
                </a:solidFill>
              </a:rPr>
              <a:t>13.4 </a:t>
            </a:r>
            <a:r>
              <a:rPr lang="en-GB" sz="2800" dirty="0">
                <a:solidFill>
                  <a:schemeClr val="tx1"/>
                </a:solidFill>
              </a:rPr>
              <a:t>cm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9" grpId="0" animBg="1"/>
      <p:bldP spid="31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7">
            <a:extLst>
              <a:ext uri="{FF2B5EF4-FFF2-40B4-BE49-F238E27FC236}">
                <a16:creationId xmlns:a16="http://schemas.microsoft.com/office/drawing/2014/main" id="{99FD621C-B1DA-47D3-8D51-E6320AEF0A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97215" y="4947613"/>
            <a:ext cx="4795960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/>
              <a:t>Area = ½ x 15 x 8.5 x sin 25</a:t>
            </a:r>
            <a:r>
              <a:rPr lang="en-GB" sz="2800" baseline="30000" dirty="0"/>
              <a:t>o</a:t>
            </a:r>
            <a:endParaRPr lang="en-GB" sz="2800" u="sng" dirty="0">
              <a:solidFill>
                <a:srgbClr val="0000FF"/>
              </a:solidFill>
            </a:endParaRPr>
          </a:p>
        </p:txBody>
      </p:sp>
      <p:sp>
        <p:nvSpPr>
          <p:cNvPr id="32" name="Text Box 44">
            <a:extLst>
              <a:ext uri="{FF2B5EF4-FFF2-40B4-BE49-F238E27FC236}">
                <a16:creationId xmlns:a16="http://schemas.microsoft.com/office/drawing/2014/main" id="{BEAA147F-FA51-451D-B0EA-11CA91C85B1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35725" y="5738813"/>
            <a:ext cx="2457450" cy="523220"/>
          </a:xfrm>
          <a:prstGeom prst="rect">
            <a:avLst/>
          </a:prstGeom>
          <a:solidFill>
            <a:srgbClr val="22CC32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GB" sz="2800" dirty="0">
                <a:solidFill>
                  <a:schemeClr val="tx1"/>
                </a:solidFill>
              </a:rPr>
              <a:t>= </a:t>
            </a:r>
            <a:r>
              <a:rPr lang="en-GB" sz="2800" b="1" dirty="0">
                <a:solidFill>
                  <a:schemeClr val="tx1"/>
                </a:solidFill>
              </a:rPr>
              <a:t>26.9 </a:t>
            </a:r>
            <a:r>
              <a:rPr lang="en-GB" sz="2800" dirty="0">
                <a:solidFill>
                  <a:schemeClr val="tx1"/>
                </a:solidFill>
              </a:rPr>
              <a:t>cm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7">
            <a:extLst>
              <a:ext uri="{FF2B5EF4-FFF2-40B4-BE49-F238E27FC236}">
                <a16:creationId xmlns:a16="http://schemas.microsoft.com/office/drawing/2014/main" id="{8B84E774-AFCC-4BC8-8AB7-232AB1C8C8B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09292" y="5110490"/>
            <a:ext cx="4769827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/>
              <a:t>Area = ½ x 9.1 x 18 x sin130</a:t>
            </a:r>
            <a:r>
              <a:rPr lang="en-GB" sz="2800" baseline="30000" dirty="0"/>
              <a:t>o</a:t>
            </a:r>
            <a:endParaRPr lang="en-GB" sz="2800" u="sng" dirty="0">
              <a:solidFill>
                <a:srgbClr val="0000FF"/>
              </a:solidFill>
            </a:endParaRPr>
          </a:p>
        </p:txBody>
      </p:sp>
      <p:sp>
        <p:nvSpPr>
          <p:cNvPr id="19" name="Text Box 44">
            <a:extLst>
              <a:ext uri="{FF2B5EF4-FFF2-40B4-BE49-F238E27FC236}">
                <a16:creationId xmlns:a16="http://schemas.microsoft.com/office/drawing/2014/main" id="{37940618-E9B3-4DB3-8BA5-8042451DDF0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80419" y="5868540"/>
            <a:ext cx="2298700" cy="523220"/>
          </a:xfrm>
          <a:prstGeom prst="rect">
            <a:avLst/>
          </a:prstGeom>
          <a:solidFill>
            <a:srgbClr val="22CC32"/>
          </a:solidFill>
          <a:ln w="28575"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GB" sz="2800" dirty="0">
                <a:solidFill>
                  <a:schemeClr val="tx1"/>
                </a:solidFill>
              </a:rPr>
              <a:t>= </a:t>
            </a:r>
            <a:r>
              <a:rPr lang="en-GB" sz="2800" b="1" dirty="0">
                <a:solidFill>
                  <a:schemeClr val="tx1"/>
                </a:solidFill>
              </a:rPr>
              <a:t>62.7 </a:t>
            </a:r>
            <a:r>
              <a:rPr lang="en-GB" sz="2800" dirty="0">
                <a:solidFill>
                  <a:schemeClr val="tx1"/>
                </a:solidFill>
              </a:rPr>
              <a:t>m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TTEN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1523</TotalTime>
  <Words>147</Words>
  <Application>Microsoft Office PowerPoint</Application>
  <PresentationFormat>On-screen Show (4:3)</PresentationFormat>
  <Paragraphs>28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Equation</vt:lpstr>
      <vt:lpstr>PowerPoint Presentation</vt:lpstr>
      <vt:lpstr>What do we know about Area from Right-angles Triangles?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Alfer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a Triangle</dc:title>
  <dc:creator>Mr A J Ferris</dc:creator>
  <cp:lastModifiedBy>Cian Lyons</cp:lastModifiedBy>
  <cp:revision>86</cp:revision>
  <dcterms:created xsi:type="dcterms:W3CDTF">2005-07-02T16:34:46Z</dcterms:created>
  <dcterms:modified xsi:type="dcterms:W3CDTF">2020-04-24T16:55:36Z</dcterms:modified>
</cp:coreProperties>
</file>