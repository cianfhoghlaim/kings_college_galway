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8.xml" ContentType="application/vnd.openxmlformats-officedocument.presentationml.notesSlide+xml"/>
  <Override PartName="/ppt/tags/tag30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18"/>
  </p:notesMasterIdLst>
  <p:sldIdLst>
    <p:sldId id="271" r:id="rId2"/>
    <p:sldId id="270" r:id="rId3"/>
    <p:sldId id="268" r:id="rId4"/>
    <p:sldId id="280" r:id="rId5"/>
    <p:sldId id="256" r:id="rId6"/>
    <p:sldId id="266" r:id="rId7"/>
    <p:sldId id="257" r:id="rId8"/>
    <p:sldId id="264" r:id="rId9"/>
    <p:sldId id="265" r:id="rId10"/>
    <p:sldId id="274" r:id="rId11"/>
    <p:sldId id="275" r:id="rId12"/>
    <p:sldId id="272" r:id="rId13"/>
    <p:sldId id="273" r:id="rId14"/>
    <p:sldId id="345" r:id="rId15"/>
    <p:sldId id="311" r:id="rId16"/>
    <p:sldId id="347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D5FB"/>
    <a:srgbClr val="22CC32"/>
    <a:srgbClr val="FFFFCC"/>
    <a:srgbClr val="A0ABFE"/>
    <a:srgbClr val="A9D18E"/>
    <a:srgbClr val="9DC3E6"/>
    <a:srgbClr val="F8CBAD"/>
    <a:srgbClr val="00FF00"/>
    <a:srgbClr val="B8C0FE"/>
    <a:srgbClr val="B4B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60" autoAdjust="0"/>
    <p:restoredTop sz="92786" autoAdjust="0"/>
  </p:normalViewPr>
  <p:slideViewPr>
    <p:cSldViewPr snapToGrid="0">
      <p:cViewPr varScale="1">
        <p:scale>
          <a:sx n="65" d="100"/>
          <a:sy n="65" d="100"/>
        </p:scale>
        <p:origin x="105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7358AE3-F241-4332-825C-1A150B29EF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B454A9-4E7B-4DAF-8878-77CF4F14F41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AD1143A9-685B-46EE-A640-16645A2A4B6E}" type="datetimeFigureOut">
              <a:rPr lang="en-GB"/>
              <a:pPr>
                <a:defRPr/>
              </a:pPr>
              <a:t>29/05/2019</a:t>
            </a:fld>
            <a:endParaRPr lang="en-GB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75FCFEC-61E2-4220-BB27-665899DED0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8AFE1BF-3179-47D9-8531-B04C63CC32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2002E-0B41-4ABE-9854-F46D528FBD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3D7C3-61D7-4C9E-8CB0-C6BA2B45A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7C06BA1-57DB-4746-8580-4D3F90665C5D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4E50CE89-9A94-45D6-B302-A3C12F6B7D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2887E56C-D745-4C5B-B2F1-7956AB95C7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GB" altLang="en-US" dirty="0"/>
              <a:t>Clipart Image: looking up – taken from: https://openclipart.org/detail/202166/aufschauender</a:t>
            </a:r>
          </a:p>
          <a:p>
            <a:r>
              <a:rPr lang="en-GB" altLang="en-US" dirty="0"/>
              <a:t>Menara Tower - By Photo by CEphoto, Uwe Aranas, CC BY-SA 3.0, https://commons.wikimedia.org/w/index.php?curid=34239888</a:t>
            </a:r>
          </a:p>
          <a:p>
            <a:r>
              <a:rPr lang="en-GB" altLang="en-US" dirty="0"/>
              <a:t>Sky Tower - By Sids1 from New Zealand - Auckland Sky Tower, CC BY 2.0, https://commons.wikimedia.org/w/index.php?curid=37286267</a:t>
            </a:r>
          </a:p>
          <a:p>
            <a:r>
              <a:rPr lang="en-GB" altLang="en-US" dirty="0"/>
              <a:t>Oriental Pearl - By Dmitry A. Mottl - Own work, CC BY-SA 4.0, https://commons.wikimedia.org/w/index.php?curid=37902070</a:t>
            </a:r>
          </a:p>
          <a:p>
            <a:r>
              <a:rPr lang="en-GB" altLang="en-US" dirty="0"/>
              <a:t>BT Tower - By User:Mahlum - Own work, Public Domain, https://commons.wikimedia.org/w/index.php?curid=1738000</a:t>
            </a:r>
          </a:p>
          <a:p>
            <a:endParaRPr lang="en-GB" altLang="en-US" dirty="0"/>
          </a:p>
          <a:p>
            <a:endParaRPr lang="en-GB" altLang="en-US" dirty="0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97505833-E093-4460-AE18-F89C78C6C7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2A1497-9B46-4E53-873C-D8D28894B100}" type="slidenum">
              <a:rPr lang="en-GB" altLang="en-US" smtClean="0"/>
              <a:pPr/>
              <a:t>1</a:t>
            </a:fld>
            <a:endParaRPr lang="en-GB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51B3CF50-305B-4E06-8B06-DD1D1AC5C5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77E833D9-EFB4-4550-AC9E-687D464E13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GB" altLang="en-US" dirty="0"/>
              <a:t>Clipart Image: looking up – taken from: https://openclipart.org/detail/202166/aufschauender</a:t>
            </a:r>
          </a:p>
          <a:p>
            <a:r>
              <a:rPr lang="en-GB" altLang="en-US" dirty="0"/>
              <a:t>Menara Tower - By Photo by CEphoto, Uwe Aranas, CC BY-SA 3.0, https://commons.wikimedia.org/w/index.php?curid=34239888</a:t>
            </a:r>
          </a:p>
          <a:p>
            <a:r>
              <a:rPr lang="en-GB" altLang="en-US" dirty="0"/>
              <a:t>Sky Tower - By Sids1 from New Zealand - Auckland Sky Tower, CC BY 2.0, https://commons.wikimedia.org/w/index.php?curid=37286267</a:t>
            </a:r>
          </a:p>
          <a:p>
            <a:r>
              <a:rPr lang="en-GB" altLang="en-US" dirty="0"/>
              <a:t>Oriental Pearl - By Dmitry A. Mottl - Own work, CC BY-SA 4.0, https://commons.wikimedia.org/w/index.php?curid=37902070</a:t>
            </a:r>
          </a:p>
          <a:p>
            <a:r>
              <a:rPr lang="en-GB" altLang="en-US" dirty="0"/>
              <a:t>BT Tower - By User:Mahlum - Own work, Public Domain, https://commons.wikimedia.org/w/index.php?curid=1738000</a:t>
            </a:r>
          </a:p>
          <a:p>
            <a:endParaRPr lang="en-GB" altLang="en-US" dirty="0"/>
          </a:p>
          <a:p>
            <a:endParaRPr lang="en-GB" altLang="en-US" dirty="0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D9418A1-E7A2-4E37-A89F-4A50B1C9DF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259B16-F39E-4868-AD95-C11F4D50D313}" type="slidenum">
              <a:rPr lang="en-GB" altLang="en-US" smtClean="0"/>
              <a:pPr/>
              <a:t>2</a:t>
            </a:fld>
            <a:endParaRPr lang="en-GB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Clipart – Questions Clipart</a:t>
            </a:r>
            <a:r>
              <a:rPr lang="en-US" altLang="en-US" baseline="0" dirty="0"/>
              <a:t> #</a:t>
            </a:r>
            <a:r>
              <a:rPr lang="en-US" altLang="en-US" dirty="0"/>
              <a:t>29226: taken from </a:t>
            </a:r>
            <a:r>
              <a:rPr lang="en-GB" altLang="en-US" dirty="0"/>
              <a:t>- h</a:t>
            </a:r>
            <a:r>
              <a:rPr lang="en-GB" dirty="0"/>
              <a:t>ttp://clipartix.com/questions-clipart-image-29226/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2C2E8-7174-429A-B1AB-34A7DAB48F10}" type="slidenum">
              <a:rPr lang="en-MY" smtClean="0"/>
              <a:pPr/>
              <a:t>4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724322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NOTE: However you label the triangle it is ALWAYS the angle and the two sides that make that angle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7C06BA1-57DB-4746-8580-4D3F90665C5D}" type="slidenum">
              <a:rPr lang="en-GB" altLang="en-US" smtClean="0"/>
              <a:pPr>
                <a:defRPr/>
              </a:pPr>
              <a:t>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859124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7C06BA1-57DB-4746-8580-4D3F90665C5D}" type="slidenum">
              <a:rPr lang="en-GB" altLang="en-US" smtClean="0"/>
              <a:pPr>
                <a:defRPr/>
              </a:pPr>
              <a:t>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101615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8DC338D5-14C1-4771-A08C-7C3431150F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74F6E257-953B-4830-824B-D4EC660A13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Stop watch: taken from - </a:t>
            </a:r>
            <a:r>
              <a:rPr lang="en-GB" altLang="en-US" dirty="0"/>
              <a:t>https://www.flickr.com/photos/133046299@N03/26065725796/in/photolist-FHkEas-owcyQq-x7CFfr-NEDYNn-vBvpcX-65m1aJ-BPkRi8-PmYqqh-ziYXty-D2Mg3V-2exsSB-AZDGsA-x5eKg9-Hx9qQg-GBx2m9-9RSt1J-Hub933-KxnKih-vVKasq-Hx9pwe-Hx9qki-KWkMs7-KeaLNj-x5JTnA-CK9UVZ-KMnzv1-c2LFqN-awKby9-dcY8Sx-Ub6a2m-VqtSuF-d8EYR5-vB7KDq-xVExkw-enDhSt-BTMt8K-rQVH5i-w9BQsg-5sBuSW-wNUiHq-4fsVw-xmRcGg-9n7U7e-JR4v8C-wNUwhy-AJegJa-31fb1T-JXjse1-jRrEbV-x5JTTA/ http</a:t>
            </a:r>
            <a:r>
              <a:rPr lang="en-US" altLang="en-US" dirty="0"/>
              <a:t>://creativecommons.org/licenses/publicdomain/</a:t>
            </a:r>
            <a:endParaRPr lang="en-GB" altLang="en-US" dirty="0"/>
          </a:p>
          <a:p>
            <a:endParaRPr lang="en-GB" altLang="en-US" dirty="0"/>
          </a:p>
          <a:p>
            <a:endParaRPr lang="en-GB" altLang="en-US" dirty="0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3E71F1BA-70D3-4609-9A73-300DB4EDE3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E4BCCDD-0DC7-4EC9-A121-C90B60B70305}" type="slidenum">
              <a:rPr lang="en-GB" altLang="en-US" smtClean="0"/>
              <a:pPr/>
              <a:t>12</a:t>
            </a:fld>
            <a:endParaRPr lang="en-GB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7F2CE4AA-52BF-4C2C-B4F0-6C71FF783B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A4A80167-F342-4D5A-8A7B-EAF5157F29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Clipart - Thumbs Up Like Hand : taken from - https://openclipart.org/detail/241293/thumbs-up-like-handhttp://creativecommons.org/licenses/publicdomain/</a:t>
            </a:r>
            <a:endParaRPr lang="en-GB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C6FBFE49-39C9-4B7D-BACA-DDEF6E9299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9B807C-2464-4FD9-A018-93A7DA695279}" type="slidenum">
              <a:rPr lang="en-GB" altLang="en-US" smtClean="0">
                <a:latin typeface="Calibri" panose="020F0502020204030204" pitchFamily="34" charset="0"/>
              </a:rPr>
              <a:pPr/>
              <a:t>14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Pinterest Logo - By Pinterest - Pinterest, Public Domain, https://commons.wikimedia.org/w/index.php?curid=35304734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Clipart Image: Pin – taken from - https://openclipart.org/detail/31699/pin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Facebook Logo - By RomanLier - This file was derived from: Facebook logo thumbs up like transparent.png:Umberto NURS, CC BY-SA 4.0, https://commons.wikimedia.org/w/index.php?curid=38423808</a:t>
            </a:r>
          </a:p>
          <a:p>
            <a:r>
              <a:rPr lang="en-GB" dirty="0"/>
              <a:t>Instagram Logo - By Instagram - Own work, Public Domain, https://commons.wikimedia.org/w/index.php?curid=48863359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368F9E-1C50-4C30-9FFD-B824798E8BA4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9942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Clipart Image: Pin – taken from - https://openclipart.org/detail/31699/pin</a:t>
            </a:r>
          </a:p>
          <a:p>
            <a:r>
              <a:rPr lang="en-GB" dirty="0"/>
              <a:t>Clipart Image: Page – taken from - https://openclipart.org/detail/25850/file-diagram</a:t>
            </a:r>
          </a:p>
          <a:p>
            <a:r>
              <a:rPr lang="en-GB" dirty="0"/>
              <a:t>Clipart Image: warning sign – taken from - https://openclipart.org/detail/48349/warning-sign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368F9E-1C50-4C30-9FFD-B824798E8BA4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1720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0D043-D459-4C98-8806-00DFE524F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3C0D68-62AF-43DB-8BB9-9AB30822D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CFFC8-BD8A-45A3-AB80-8B45E0CBDE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FDAAC-20A1-4F06-89AF-FF24BC29E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DA0BD-21C0-4D64-B96D-760BD28D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B71441-A11B-471B-B261-4DEECCC41547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484392426"/>
      </p:ext>
    </p:extLst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7BF8B-6331-4D00-8B80-9859677D5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E45C4-459A-40E1-9FD5-AEAB333F6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4A6B3-17F3-4A7C-A3A7-65D42A736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A0516-4888-47DA-A677-83F8C2A1D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887D1-4F8B-4529-BCF6-663F16EEA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BD6D34-77B1-4BA3-BCBC-1661C8AF3ED1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835478484"/>
      </p:ext>
    </p:extLst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E7F7-831D-4206-AF2F-47C7FB5D2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D000-61B4-4CF2-9FD2-68D0ACFEE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BA327-C77D-4342-AB18-7FBF5B0DBA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244E2-3763-46DF-9513-4A87CCA9E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1516F-3FCB-4BCA-8FA5-D84F72ED0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EBC4A9-EF30-4BD1-A659-DAC08D0CFF11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602495330"/>
      </p:ext>
    </p:extLst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02948-2963-416D-A061-3C3FA844C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9B281-55C2-4249-9B3D-5F795F2EB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3A3B8-10CB-4121-9157-CA589C358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770AA-A59C-4ECB-BF36-E3D6BAD992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D1A25-19FF-4789-8A76-D56B43ED6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66023-CEFE-48B9-9784-CB5A20C3C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1C781-FDE8-4EDA-BF5F-4996D5A09ED6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256183720"/>
      </p:ext>
    </p:extLst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26C32-3B67-4FCF-A430-985D12129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26A31-C66A-474F-9D8D-55BB1FF8C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316E84-8784-4F72-86C7-32CF65F84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3A47C-AC39-4762-BF1D-ECD53AFF2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894119-1A15-435A-96C3-5E2F8D8CDC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D651DC-14A5-42EB-93E2-099156409E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16753F-48A0-4133-BBBD-9C9D0CADB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A53B75-E389-4414-8E3C-5A54C2B4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969DD0-769B-46A5-9160-83511A8A87A3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543735554"/>
      </p:ext>
    </p:extLst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CEE3-FFE2-4C82-9B77-92E3821A5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6E893D-36D0-4AE7-94DB-76AC5DE26D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265D6A-CA8A-42E7-8A55-20EB73CC0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BC341-B151-4867-8A7B-C6C2C617B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AD511B-A638-4697-9FB8-5B7CDC543412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74180704"/>
      </p:ext>
    </p:extLst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F74E4D-59EB-4748-8F8A-1F44124205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55B913-766C-410D-AC6D-88B1F0A8C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4665D-246C-47FF-B887-C7D9FD98C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21668B-2E65-405D-8234-B77836FE9EAA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361221852"/>
      </p:ext>
    </p:extLst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027FE-346A-4840-A099-603158EAD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00269-AB3A-4DDA-AF24-5CE7C553B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33DEB-B7CB-40A7-8AA1-C05F9C729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96535-575A-460B-8328-3E94E001A3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7E86F-4388-4207-9505-B87BBBAE3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ABDF1-A50C-4057-A9F1-B88AC6C5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EC1FFF-07C8-4B42-8BEB-2A7D9685C77C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7841916"/>
      </p:ext>
    </p:extLst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243E4-0C2A-44EA-B026-C7D8F1C14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719E0D-4A12-4CA4-A12F-036C05B3AE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F2C089-779F-40F7-AA12-DB86734B1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9313-DFE5-478B-8D58-DAB28BC483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A3494-DD9E-41AE-94B2-20526EA48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70887-DE6C-431C-AC7C-46836525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D04420-2A2C-49F8-A5F2-70DCEB8327B4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772799655"/>
      </p:ext>
    </p:extLst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79A54-E119-4354-A9C3-6CC27C9E8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8D5F4E-BCD6-4943-BE8D-00879AE3B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064D8-6F4E-4E79-985B-386AFD48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29DF9-B1CD-4277-8D7D-AB85D2680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91E1B-1847-4EE8-9F8D-38A576859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8871DE-0C66-4776-B3E9-CB6FDC0D1F54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842428557"/>
      </p:ext>
    </p:extLst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C01E56-4BA1-431C-BC2F-C718C6A6BC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D37C62-89E1-4B79-A073-E84A30971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C1DCB-525D-4515-A85D-A312958F45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BC2C6-43AE-492C-BCC6-3C6990395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6FF4C-717B-4954-A230-06F97B9B7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B78737-52AD-4DD3-8B59-848E2573B4AE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13685195"/>
      </p:ext>
    </p:extLst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C1F58E-6BEB-4B5A-961E-DD0A700E9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3DCB9-E22A-42BC-86D1-5268009CB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EBEEA-0431-425E-86C0-DD3ACB5ED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49AD7-CEB3-4B02-B0B5-970C49403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4B2A15A-2B7B-4CA7-9194-2B1F6319472F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B063CF-09C8-44B7-9B2D-2C0D110FE9F1}"/>
              </a:ext>
            </a:extLst>
          </p:cNvPr>
          <p:cNvSpPr txBox="1"/>
          <p:nvPr userDrawn="1"/>
        </p:nvSpPr>
        <p:spPr>
          <a:xfrm>
            <a:off x="4000500" y="128588"/>
            <a:ext cx="5014913" cy="83026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u="sng" dirty="0"/>
              <a:t>Lesson Objectives</a:t>
            </a:r>
            <a:r>
              <a:rPr lang="en-US" sz="1600" b="1" dirty="0"/>
              <a:t>:  </a:t>
            </a:r>
            <a:r>
              <a:rPr lang="en-US" sz="1600" b="1" dirty="0">
                <a:solidFill>
                  <a:srgbClr val="FF0000"/>
                </a:solidFill>
              </a:rPr>
              <a:t>To know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what the area rule using trig is; </a:t>
            </a:r>
            <a:r>
              <a:rPr lang="en-US" sz="1600" b="1" dirty="0">
                <a:solidFill>
                  <a:srgbClr val="FF9900"/>
                </a:solidFill>
              </a:rPr>
              <a:t> To understand </a:t>
            </a:r>
            <a:r>
              <a:rPr lang="en-US" sz="1600" dirty="0">
                <a:solidFill>
                  <a:schemeClr val="tx1"/>
                </a:solidFill>
              </a:rPr>
              <a:t>where the formula comes from; </a:t>
            </a:r>
            <a:r>
              <a:rPr lang="en-US" sz="1600" b="1" dirty="0">
                <a:solidFill>
                  <a:srgbClr val="00B050"/>
                </a:solidFill>
              </a:rPr>
              <a:t> To be able to </a:t>
            </a:r>
            <a:r>
              <a:rPr lang="en-US" sz="1600" dirty="0">
                <a:solidFill>
                  <a:schemeClr val="tx1"/>
                </a:solidFill>
              </a:rPr>
              <a:t>use the formula to work out the area of triangles</a:t>
            </a:r>
            <a:endParaRPr lang="en-MY" sz="16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39152A-EC05-4EDC-AEE2-4E583CC1C91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-7938"/>
            <a:ext cx="3329492" cy="646331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3600" b="1" dirty="0">
                <a:latin typeface="+mn-lt"/>
              </a:rPr>
              <a:t>Trig - Area Rule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E76502-A197-4DE4-8FA5-DC192B02B1C9}"/>
              </a:ext>
            </a:extLst>
          </p:cNvPr>
          <p:cNvSpPr txBox="1"/>
          <p:nvPr userDrawn="1"/>
        </p:nvSpPr>
        <p:spPr>
          <a:xfrm>
            <a:off x="-304800" y="6626423"/>
            <a:ext cx="152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dirty="0"/>
              <a:t>©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BE7977-06DC-4606-85C6-D3B5380CE4B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" y="6489992"/>
            <a:ext cx="1176656" cy="36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09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ransition>
    <p:dissolve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image" Target="../media/image6.wmf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tags" Target="../tags/tag5.xml"/><Relationship Id="rId11" Type="http://schemas.openxmlformats.org/officeDocument/2006/relationships/oleObject" Target="../embeddings/oleObject1.bin"/><Relationship Id="rId5" Type="http://schemas.openxmlformats.org/officeDocument/2006/relationships/tags" Target="../tags/tag4.xml"/><Relationship Id="rId10" Type="http://schemas.openxmlformats.org/officeDocument/2006/relationships/image" Target="../media/image7.JPG"/><Relationship Id="rId4" Type="http://schemas.openxmlformats.org/officeDocument/2006/relationships/tags" Target="../tags/tag3.xml"/><Relationship Id="rId9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8.JPG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9.JPG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image" Target="../media/image1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13" Type="http://schemas.openxmlformats.org/officeDocument/2006/relationships/hyperlink" Target="https://www.facebook.com/orjust4u/" TargetMode="External"/><Relationship Id="rId18" Type="http://schemas.openxmlformats.org/officeDocument/2006/relationships/image" Target="../media/image21.png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18.png"/><Relationship Id="rId17" Type="http://schemas.openxmlformats.org/officeDocument/2006/relationships/hyperlink" Target="http://www.resourcehub.shop/" TargetMode="External"/><Relationship Id="rId2" Type="http://schemas.openxmlformats.org/officeDocument/2006/relationships/tags" Target="../tags/tag24.xml"/><Relationship Id="rId16" Type="http://schemas.openxmlformats.org/officeDocument/2006/relationships/image" Target="../media/image20.png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hyperlink" Target="https://www.pinterest.com/outstandingresources/" TargetMode="External"/><Relationship Id="rId5" Type="http://schemas.openxmlformats.org/officeDocument/2006/relationships/tags" Target="../tags/tag27.xml"/><Relationship Id="rId15" Type="http://schemas.openxmlformats.org/officeDocument/2006/relationships/hyperlink" Target="https://www.instagram.com/outstanding_resources/" TargetMode="External"/><Relationship Id="rId10" Type="http://schemas.openxmlformats.org/officeDocument/2006/relationships/image" Target="../media/image17.JPG"/><Relationship Id="rId4" Type="http://schemas.openxmlformats.org/officeDocument/2006/relationships/tags" Target="../tags/tag26.xml"/><Relationship Id="rId9" Type="http://schemas.openxmlformats.org/officeDocument/2006/relationships/notesSlide" Target="../notesSlides/notesSlide8.xml"/><Relationship Id="rId1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6" Type="http://schemas.openxmlformats.org/officeDocument/2006/relationships/image" Target="../media/image21.png"/><Relationship Id="rId5" Type="http://schemas.openxmlformats.org/officeDocument/2006/relationships/hyperlink" Target="http://www.resourcehub.shop/" TargetMode="External"/><Relationship Id="rId4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0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8">
            <a:extLst>
              <a:ext uri="{FF2B5EF4-FFF2-40B4-BE49-F238E27FC236}">
                <a16:creationId xmlns:a16="http://schemas.microsoft.com/office/drawing/2014/main" id="{CC9818D5-BB56-4D84-9A3F-108CD6A90653}"/>
              </a:ext>
            </a:extLst>
          </p:cNvPr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774700" y="1081088"/>
            <a:ext cx="7585076" cy="2832100"/>
            <a:chOff x="476" y="352"/>
            <a:chExt cx="4778" cy="1784"/>
          </a:xfrm>
        </p:grpSpPr>
        <p:grpSp>
          <p:nvGrpSpPr>
            <p:cNvPr id="8210" name="Group 57">
              <a:extLst>
                <a:ext uri="{FF2B5EF4-FFF2-40B4-BE49-F238E27FC236}">
                  <a16:creationId xmlns:a16="http://schemas.microsoft.com/office/drawing/2014/main" id="{D911EEBA-0C48-4220-AA44-AB2B44A47A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" y="352"/>
              <a:ext cx="2994" cy="1784"/>
              <a:chOff x="476" y="352"/>
              <a:chExt cx="2994" cy="1784"/>
            </a:xfrm>
          </p:grpSpPr>
          <p:grpSp>
            <p:nvGrpSpPr>
              <p:cNvPr id="8212" name="Group 56">
                <a:extLst>
                  <a:ext uri="{FF2B5EF4-FFF2-40B4-BE49-F238E27FC236}">
                    <a16:creationId xmlns:a16="http://schemas.microsoft.com/office/drawing/2014/main" id="{441D34C6-A6D4-440B-A782-F0E29F09E8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8" y="663"/>
                <a:ext cx="2314" cy="1134"/>
                <a:chOff x="748" y="663"/>
                <a:chExt cx="2314" cy="1134"/>
              </a:xfrm>
            </p:grpSpPr>
            <p:sp>
              <p:nvSpPr>
                <p:cNvPr id="7195" name="Line 6">
                  <a:extLst>
                    <a:ext uri="{FF2B5EF4-FFF2-40B4-BE49-F238E27FC236}">
                      <a16:creationId xmlns:a16="http://schemas.microsoft.com/office/drawing/2014/main" id="{CD2F29CA-B8D1-4386-8627-C6C1F6E946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48" y="1797"/>
                  <a:ext cx="231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GB" dirty="0">
                    <a:latin typeface="+mn-lt"/>
                  </a:endParaRPr>
                </a:p>
              </p:txBody>
            </p:sp>
            <p:sp>
              <p:nvSpPr>
                <p:cNvPr id="7196" name="Line 7">
                  <a:extLst>
                    <a:ext uri="{FF2B5EF4-FFF2-40B4-BE49-F238E27FC236}">
                      <a16:creationId xmlns:a16="http://schemas.microsoft.com/office/drawing/2014/main" id="{373A65C9-40E1-4BD2-B1E4-5BB89255A3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48" y="663"/>
                  <a:ext cx="772" cy="113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GB" dirty="0">
                    <a:latin typeface="+mn-lt"/>
                  </a:endParaRPr>
                </a:p>
              </p:txBody>
            </p:sp>
            <p:sp>
              <p:nvSpPr>
                <p:cNvPr id="7197" name="Line 8">
                  <a:extLst>
                    <a:ext uri="{FF2B5EF4-FFF2-40B4-BE49-F238E27FC236}">
                      <a16:creationId xmlns:a16="http://schemas.microsoft.com/office/drawing/2014/main" id="{41064197-570F-4255-9B27-31951241A4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0" y="663"/>
                  <a:ext cx="1542" cy="11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GB" dirty="0">
                    <a:latin typeface="+mn-lt"/>
                  </a:endParaRPr>
                </a:p>
              </p:txBody>
            </p:sp>
          </p:grpSp>
          <p:sp>
            <p:nvSpPr>
              <p:cNvPr id="7189" name="Text Box 9">
                <a:extLst>
                  <a:ext uri="{FF2B5EF4-FFF2-40B4-BE49-F238E27FC236}">
                    <a16:creationId xmlns:a16="http://schemas.microsoft.com/office/drawing/2014/main" id="{810734C5-4C08-40C3-8EC3-A7371C2DCB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" y="1706"/>
                <a:ext cx="408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GB" altLang="en-US" sz="2800" b="1" dirty="0">
                    <a:latin typeface="+mn-lt"/>
                  </a:rPr>
                  <a:t>A</a:t>
                </a:r>
              </a:p>
            </p:txBody>
          </p:sp>
          <p:sp>
            <p:nvSpPr>
              <p:cNvPr id="7190" name="Text Box 10">
                <a:extLst>
                  <a:ext uri="{FF2B5EF4-FFF2-40B4-BE49-F238E27FC236}">
                    <a16:creationId xmlns:a16="http://schemas.microsoft.com/office/drawing/2014/main" id="{A755EDC7-9A2A-46E9-94A6-4080BDB22A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4" y="352"/>
                <a:ext cx="408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GB" altLang="en-US" sz="2800" b="1" dirty="0">
                    <a:latin typeface="+mn-lt"/>
                  </a:rPr>
                  <a:t>B</a:t>
                </a:r>
              </a:p>
            </p:txBody>
          </p:sp>
          <p:sp>
            <p:nvSpPr>
              <p:cNvPr id="7191" name="Text Box 11">
                <a:extLst>
                  <a:ext uri="{FF2B5EF4-FFF2-40B4-BE49-F238E27FC236}">
                    <a16:creationId xmlns:a16="http://schemas.microsoft.com/office/drawing/2014/main" id="{272D4119-922B-4EEE-BD97-F1BF5E143A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2" y="1706"/>
                <a:ext cx="408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GB" altLang="en-US" sz="2800" b="1" dirty="0">
                    <a:latin typeface="+mn-lt"/>
                  </a:rPr>
                  <a:t>C</a:t>
                </a:r>
              </a:p>
            </p:txBody>
          </p:sp>
          <p:sp>
            <p:nvSpPr>
              <p:cNvPr id="7192" name="Text Box 12">
                <a:extLst>
                  <a:ext uri="{FF2B5EF4-FFF2-40B4-BE49-F238E27FC236}">
                    <a16:creationId xmlns:a16="http://schemas.microsoft.com/office/drawing/2014/main" id="{9B6C2FEC-2516-4CE9-8387-DF7CCB8092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5" y="838"/>
                <a:ext cx="408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GB" altLang="en-US" sz="2800" dirty="0">
                    <a:latin typeface="+mn-lt"/>
                  </a:rPr>
                  <a:t>a</a:t>
                </a:r>
              </a:p>
            </p:txBody>
          </p:sp>
          <p:sp>
            <p:nvSpPr>
              <p:cNvPr id="7193" name="Text Box 13">
                <a:extLst>
                  <a:ext uri="{FF2B5EF4-FFF2-40B4-BE49-F238E27FC236}">
                    <a16:creationId xmlns:a16="http://schemas.microsoft.com/office/drawing/2014/main" id="{80C62130-6AB3-4065-B27F-D79C87C9F4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7" y="1806"/>
                <a:ext cx="408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GB" altLang="en-US" sz="2800" dirty="0">
                    <a:latin typeface="+mn-lt"/>
                  </a:rPr>
                  <a:t>b</a:t>
                </a:r>
              </a:p>
            </p:txBody>
          </p:sp>
          <p:sp>
            <p:nvSpPr>
              <p:cNvPr id="7194" name="Text Box 14">
                <a:extLst>
                  <a:ext uri="{FF2B5EF4-FFF2-40B4-BE49-F238E27FC236}">
                    <a16:creationId xmlns:a16="http://schemas.microsoft.com/office/drawing/2014/main" id="{F5D4F716-FECD-410E-A7A1-6081A98F7B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9" y="1071"/>
                <a:ext cx="408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GB" altLang="en-US" sz="2800" dirty="0">
                    <a:latin typeface="+mn-lt"/>
                  </a:rPr>
                  <a:t>c</a:t>
                </a:r>
              </a:p>
            </p:txBody>
          </p:sp>
        </p:grpSp>
        <p:sp>
          <p:nvSpPr>
            <p:cNvPr id="7187" name="Text Box 19">
              <a:extLst>
                <a:ext uri="{FF2B5EF4-FFF2-40B4-BE49-F238E27FC236}">
                  <a16:creationId xmlns:a16="http://schemas.microsoft.com/office/drawing/2014/main" id="{75719DE6-8812-4F75-8E45-4F463824F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5" y="852"/>
              <a:ext cx="1279" cy="998"/>
            </a:xfrm>
            <a:prstGeom prst="rect">
              <a:avLst/>
            </a:prstGeom>
            <a:solidFill>
              <a:srgbClr val="DBD5FB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600"/>
                </a:spcBef>
                <a:defRPr/>
              </a:pPr>
              <a:r>
                <a:rPr lang="en-GB" altLang="en-US" sz="2800" dirty="0">
                  <a:latin typeface="+mn-lt"/>
                </a:rPr>
                <a:t>Area of a triangle </a:t>
              </a:r>
            </a:p>
            <a:p>
              <a:pPr algn="ctr" eaLnBrk="1" hangingPunct="1">
                <a:spcBef>
                  <a:spcPts val="600"/>
                </a:spcBef>
                <a:defRPr/>
              </a:pPr>
              <a:r>
                <a:rPr lang="en-GB" altLang="en-US" sz="2800" b="1" dirty="0">
                  <a:latin typeface="+mn-lt"/>
                </a:rPr>
                <a:t>= </a:t>
              </a:r>
              <a:r>
                <a:rPr lang="en-GB" altLang="en-US" sz="3600" b="1" dirty="0">
                  <a:latin typeface="+mn-lt"/>
                </a:rPr>
                <a:t>½(bh)</a:t>
              </a:r>
            </a:p>
          </p:txBody>
        </p:sp>
      </p:grpSp>
      <p:grpSp>
        <p:nvGrpSpPr>
          <p:cNvPr id="6" name="Group 21">
            <a:extLst>
              <a:ext uri="{FF2B5EF4-FFF2-40B4-BE49-F238E27FC236}">
                <a16:creationId xmlns:a16="http://schemas.microsoft.com/office/drawing/2014/main" id="{8F2316B5-57AE-43D3-A6BC-D7098D9418D6}"/>
              </a:ext>
            </a:extLst>
          </p:cNvPr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2073275" y="1582738"/>
            <a:ext cx="647700" cy="2384425"/>
            <a:chOff x="1338" y="754"/>
            <a:chExt cx="408" cy="1502"/>
          </a:xfrm>
        </p:grpSpPr>
        <p:sp>
          <p:nvSpPr>
            <p:cNvPr id="7182" name="Line 16">
              <a:extLst>
                <a:ext uri="{FF2B5EF4-FFF2-40B4-BE49-F238E27FC236}">
                  <a16:creationId xmlns:a16="http://schemas.microsoft.com/office/drawing/2014/main" id="{994B8C98-4206-4255-8C10-59AA69A808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5" y="754"/>
              <a:ext cx="0" cy="1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GB" dirty="0">
                <a:latin typeface="+mn-lt"/>
              </a:endParaRPr>
            </a:p>
          </p:txBody>
        </p:sp>
        <p:sp>
          <p:nvSpPr>
            <p:cNvPr id="7183" name="Rectangle 17">
              <a:extLst>
                <a:ext uri="{FF2B5EF4-FFF2-40B4-BE49-F238E27FC236}">
                  <a16:creationId xmlns:a16="http://schemas.microsoft.com/office/drawing/2014/main" id="{6FA1BA07-9DF9-4AB0-9585-8DB6C6A6F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1752"/>
              <a:ext cx="136" cy="136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z="3200" dirty="0">
                <a:latin typeface="+mn-lt"/>
              </a:endParaRPr>
            </a:p>
          </p:txBody>
        </p:sp>
        <p:sp>
          <p:nvSpPr>
            <p:cNvPr id="7184" name="Text Box 18">
              <a:extLst>
                <a:ext uri="{FF2B5EF4-FFF2-40B4-BE49-F238E27FC236}">
                  <a16:creationId xmlns:a16="http://schemas.microsoft.com/office/drawing/2014/main" id="{ECD14C41-621B-4423-9FC6-CE1D90A0C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1888"/>
              <a:ext cx="227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3200" dirty="0">
                  <a:solidFill>
                    <a:srgbClr val="0000FF"/>
                  </a:solidFill>
                  <a:latin typeface="+mn-lt"/>
                </a:rPr>
                <a:t>P</a:t>
              </a:r>
            </a:p>
          </p:txBody>
        </p:sp>
        <p:sp>
          <p:nvSpPr>
            <p:cNvPr id="7185" name="Text Box 20">
              <a:extLst>
                <a:ext uri="{FF2B5EF4-FFF2-40B4-BE49-F238E27FC236}">
                  <a16:creationId xmlns:a16="http://schemas.microsoft.com/office/drawing/2014/main" id="{8E360237-635C-4CDC-B74A-32E2470C4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1253"/>
              <a:ext cx="408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3200" dirty="0">
                  <a:solidFill>
                    <a:srgbClr val="0000FF"/>
                  </a:solidFill>
                  <a:latin typeface="+mn-lt"/>
                </a:rPr>
                <a:t>h</a:t>
              </a:r>
            </a:p>
          </p:txBody>
        </p:sp>
      </p:grpSp>
      <p:grpSp>
        <p:nvGrpSpPr>
          <p:cNvPr id="7" name="Group 24">
            <a:extLst>
              <a:ext uri="{FF2B5EF4-FFF2-40B4-BE49-F238E27FC236}">
                <a16:creationId xmlns:a16="http://schemas.microsoft.com/office/drawing/2014/main" id="{7945A4C8-88F7-460A-A3B6-D8E434965EE5}"/>
              </a:ext>
            </a:extLst>
          </p:cNvPr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777875" y="3819525"/>
            <a:ext cx="6691313" cy="909638"/>
            <a:chOff x="657" y="2037"/>
            <a:chExt cx="2450" cy="573"/>
          </a:xfrm>
        </p:grpSpPr>
        <p:sp>
          <p:nvSpPr>
            <p:cNvPr id="7180" name="Text Box 22">
              <a:extLst>
                <a:ext uri="{FF2B5EF4-FFF2-40B4-BE49-F238E27FC236}">
                  <a16:creationId xmlns:a16="http://schemas.microsoft.com/office/drawing/2014/main" id="{66C49C11-DDB0-4244-A8E8-B1307A7B07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131"/>
              <a:ext cx="24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dirty="0">
                  <a:latin typeface="+mn-lt"/>
                </a:rPr>
                <a:t>In triangle PBC,  Sin C = </a:t>
              </a:r>
            </a:p>
          </p:txBody>
        </p:sp>
        <p:graphicFrame>
          <p:nvGraphicFramePr>
            <p:cNvPr id="8205" name="Object 23">
              <a:extLst>
                <a:ext uri="{FF2B5EF4-FFF2-40B4-BE49-F238E27FC236}">
                  <a16:creationId xmlns:a16="http://schemas.microsoft.com/office/drawing/2014/main" id="{3D082DC9-0124-4960-BB18-B89273FA5B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4" y="2037"/>
            <a:ext cx="195" cy="5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35" name="Equation" r:id="rId11" imgW="177723" imgH="507780" progId="Equation.3">
                    <p:embed/>
                  </p:oleObj>
                </mc:Choice>
                <mc:Fallback>
                  <p:oleObj name="Equation" r:id="rId11" imgW="177723" imgH="50778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4" y="2037"/>
                          <a:ext cx="195" cy="5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73" name="Text Box 25">
            <a:extLst>
              <a:ext uri="{FF2B5EF4-FFF2-40B4-BE49-F238E27FC236}">
                <a16:creationId xmlns:a16="http://schemas.microsoft.com/office/drawing/2014/main" id="{8D8B18AD-2F5A-4E34-A96A-02C4EAA5AD40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055688" y="4687888"/>
            <a:ext cx="41481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dirty="0">
                <a:latin typeface="+mn-lt"/>
                <a:sym typeface="Symbol" panose="05050102010706020507" pitchFamily="18" charset="2"/>
              </a:rPr>
              <a:t>(</a:t>
            </a:r>
            <a:r>
              <a:rPr lang="en-GB" altLang="en-US" sz="2800" b="1" dirty="0">
                <a:solidFill>
                  <a:srgbClr val="0070C0"/>
                </a:solidFill>
                <a:latin typeface="+mn-lt"/>
                <a:sym typeface="Symbol" panose="05050102010706020507" pitchFamily="18" charset="2"/>
              </a:rPr>
              <a:t>xa</a:t>
            </a:r>
            <a:r>
              <a:rPr lang="en-GB" altLang="en-US" sz="2800" dirty="0">
                <a:latin typeface="+mn-lt"/>
                <a:sym typeface="Symbol" panose="05050102010706020507" pitchFamily="18" charset="2"/>
              </a:rPr>
              <a:t>)    h = a sin C	(</a:t>
            </a:r>
            <a:r>
              <a:rPr lang="en-GB" altLang="en-US" sz="2800" b="1" dirty="0">
                <a:solidFill>
                  <a:srgbClr val="0070C0"/>
                </a:solidFill>
                <a:latin typeface="+mn-lt"/>
                <a:sym typeface="Symbol" panose="05050102010706020507" pitchFamily="18" charset="2"/>
              </a:rPr>
              <a:t>xa</a:t>
            </a:r>
            <a:r>
              <a:rPr lang="en-GB" altLang="en-US" sz="2800" dirty="0">
                <a:latin typeface="+mn-lt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075" name="Text Box 27">
            <a:extLst>
              <a:ext uri="{FF2B5EF4-FFF2-40B4-BE49-F238E27FC236}">
                <a16:creationId xmlns:a16="http://schemas.microsoft.com/office/drawing/2014/main" id="{1849FBB7-28C4-4DAC-8E9E-115DC967E4EA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71525" y="5280025"/>
            <a:ext cx="50704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dirty="0">
                <a:latin typeface="+mn-lt"/>
                <a:sym typeface="Symbol" panose="05050102010706020507" pitchFamily="18" charset="2"/>
              </a:rPr>
              <a:t>Substituting this into </a:t>
            </a:r>
            <a:r>
              <a:rPr lang="en-GB" altLang="en-US" sz="2800" b="1" dirty="0">
                <a:solidFill>
                  <a:srgbClr val="FF0000"/>
                </a:solidFill>
                <a:latin typeface="+mn-lt"/>
                <a:sym typeface="Symbol" panose="05050102010706020507" pitchFamily="18" charset="2"/>
              </a:rPr>
              <a:t>½bh</a:t>
            </a:r>
            <a:r>
              <a:rPr lang="en-GB" altLang="en-US" sz="2800" b="1" dirty="0">
                <a:solidFill>
                  <a:srgbClr val="0070C0"/>
                </a:solidFill>
                <a:latin typeface="+mn-lt"/>
                <a:sym typeface="Symbol" panose="05050102010706020507" pitchFamily="18" charset="2"/>
              </a:rPr>
              <a:t> </a:t>
            </a:r>
            <a:r>
              <a:rPr lang="en-GB" altLang="en-US" sz="2800" dirty="0">
                <a:latin typeface="+mn-lt"/>
                <a:sym typeface="Symbol" panose="05050102010706020507" pitchFamily="18" charset="2"/>
              </a:rPr>
              <a:t>gives:</a:t>
            </a:r>
          </a:p>
        </p:txBody>
      </p:sp>
      <p:grpSp>
        <p:nvGrpSpPr>
          <p:cNvPr id="8" name="Group 63">
            <a:extLst>
              <a:ext uri="{FF2B5EF4-FFF2-40B4-BE49-F238E27FC236}">
                <a16:creationId xmlns:a16="http://schemas.microsoft.com/office/drawing/2014/main" id="{77BABB01-79C5-4EA1-B5E3-9F9F78B68F0F}"/>
              </a:ext>
            </a:extLst>
          </p:cNvPr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1212850" y="1582738"/>
            <a:ext cx="3667125" cy="1800225"/>
            <a:chOff x="751" y="663"/>
            <a:chExt cx="2310" cy="1134"/>
          </a:xfrm>
        </p:grpSpPr>
        <p:sp>
          <p:nvSpPr>
            <p:cNvPr id="7177" name="Line 59">
              <a:extLst>
                <a:ext uri="{FF2B5EF4-FFF2-40B4-BE49-F238E27FC236}">
                  <a16:creationId xmlns:a16="http://schemas.microsoft.com/office/drawing/2014/main" id="{CCC1BC8B-604D-4F55-A4E6-B0652EE92D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19" y="663"/>
              <a:ext cx="1542" cy="113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GB" dirty="0">
                <a:latin typeface="+mn-lt"/>
              </a:endParaRPr>
            </a:p>
          </p:txBody>
        </p:sp>
        <p:sp>
          <p:nvSpPr>
            <p:cNvPr id="7178" name="Line 60">
              <a:extLst>
                <a:ext uri="{FF2B5EF4-FFF2-40B4-BE49-F238E27FC236}">
                  <a16:creationId xmlns:a16="http://schemas.microsoft.com/office/drawing/2014/main" id="{47264647-C4A2-4E22-9A45-20F729CE6E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" y="1797"/>
              <a:ext cx="231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GB" dirty="0">
                <a:latin typeface="+mn-lt"/>
              </a:endParaRPr>
            </a:p>
          </p:txBody>
        </p:sp>
        <p:sp>
          <p:nvSpPr>
            <p:cNvPr id="7179" name="Oval 61">
              <a:extLst>
                <a:ext uri="{FF2B5EF4-FFF2-40B4-BE49-F238E27FC236}">
                  <a16:creationId xmlns:a16="http://schemas.microsoft.com/office/drawing/2014/main" id="{AC41C81C-8CBC-4417-AA16-957003AE7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8" y="1650"/>
              <a:ext cx="65" cy="65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z="3200" dirty="0">
                <a:latin typeface="+mn-lt"/>
              </a:endParaRPr>
            </a:p>
          </p:txBody>
        </p:sp>
      </p:grpSp>
      <p:sp>
        <p:nvSpPr>
          <p:cNvPr id="1047" name="Text Box 28">
            <a:extLst>
              <a:ext uri="{FF2B5EF4-FFF2-40B4-BE49-F238E27FC236}">
                <a16:creationId xmlns:a16="http://schemas.microsoft.com/office/drawing/2014/main" id="{6479DBC8-A289-4053-B0B2-2821A16EC4E5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322888" y="5946775"/>
            <a:ext cx="3529012" cy="646113"/>
          </a:xfrm>
          <a:prstGeom prst="rect">
            <a:avLst/>
          </a:prstGeom>
          <a:solidFill>
            <a:srgbClr val="DBD5FB"/>
          </a:solidFill>
          <a:ln w="28575">
            <a:solidFill>
              <a:schemeClr val="tx1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GB" sz="2800" b="1" dirty="0">
                <a:solidFill>
                  <a:schemeClr val="tx1"/>
                </a:solidFill>
                <a:sym typeface="Symbol" pitchFamily="18" charset="2"/>
              </a:rPr>
              <a:t>Area =</a:t>
            </a:r>
            <a:r>
              <a:rPr lang="en-GB" sz="3200" b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GB" sz="3600" b="1" dirty="0">
                <a:solidFill>
                  <a:schemeClr val="tx1"/>
                </a:solidFill>
                <a:sym typeface="Symbol" pitchFamily="18" charset="2"/>
              </a:rPr>
              <a:t>½ ab.SinC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3" grpId="0"/>
      <p:bldP spid="2075" grpId="0"/>
      <p:bldP spid="104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Box 28">
            <a:extLst>
              <a:ext uri="{FF2B5EF4-FFF2-40B4-BE49-F238E27FC236}">
                <a16:creationId xmlns:a16="http://schemas.microsoft.com/office/drawing/2014/main" id="{6ECA7878-66A2-4F11-96EA-BC4437B98B7A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267010" y="3409315"/>
            <a:ext cx="2940050" cy="646112"/>
          </a:xfrm>
          <a:prstGeom prst="rect">
            <a:avLst/>
          </a:prstGeom>
          <a:solidFill>
            <a:srgbClr val="9DC3E6"/>
          </a:solidFill>
          <a:ln w="28575">
            <a:solidFill>
              <a:schemeClr val="tx1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GB" sz="3200" b="1" dirty="0">
                <a:sym typeface="Symbol" pitchFamily="18" charset="2"/>
              </a:rPr>
              <a:t>=  </a:t>
            </a:r>
            <a:r>
              <a:rPr lang="en-GB" sz="3600" b="1" dirty="0">
                <a:solidFill>
                  <a:schemeClr val="tx1"/>
                </a:solidFill>
                <a:sym typeface="Symbol" pitchFamily="18" charset="2"/>
              </a:rPr>
              <a:t>½ ac.SinB </a:t>
            </a:r>
          </a:p>
        </p:txBody>
      </p:sp>
      <p:sp>
        <p:nvSpPr>
          <p:cNvPr id="34" name="Text Box 28">
            <a:extLst>
              <a:ext uri="{FF2B5EF4-FFF2-40B4-BE49-F238E27FC236}">
                <a16:creationId xmlns:a16="http://schemas.microsoft.com/office/drawing/2014/main" id="{DEB82572-5BC9-4E7D-B0E6-2C8D6BF6731C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67010" y="5134928"/>
            <a:ext cx="2940050" cy="646112"/>
          </a:xfrm>
          <a:prstGeom prst="rect">
            <a:avLst/>
          </a:prstGeom>
          <a:solidFill>
            <a:srgbClr val="A9D18E"/>
          </a:solidFill>
          <a:ln w="28575">
            <a:solidFill>
              <a:schemeClr val="tx1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GB" sz="3200" b="1" dirty="0">
                <a:sym typeface="Symbol" pitchFamily="18" charset="2"/>
              </a:rPr>
              <a:t>=  </a:t>
            </a:r>
            <a:r>
              <a:rPr lang="en-GB" sz="3600" b="1" dirty="0">
                <a:solidFill>
                  <a:schemeClr val="tx1"/>
                </a:solidFill>
                <a:sym typeface="Symbol" pitchFamily="18" charset="2"/>
              </a:rPr>
              <a:t>½ bc.SinA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9" name="Rectangle 27">
            <a:extLst>
              <a:ext uri="{FF2B5EF4-FFF2-40B4-BE49-F238E27FC236}">
                <a16:creationId xmlns:a16="http://schemas.microsoft.com/office/drawing/2014/main" id="{D7FDE1D3-F500-46C8-8AE0-B6159953AB9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466492" y="4961303"/>
            <a:ext cx="4426683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GB" sz="2800" dirty="0"/>
              <a:t>Area = ½ x 5 x 6 x sin 63</a:t>
            </a:r>
            <a:r>
              <a:rPr lang="en-GB" sz="2800" baseline="30000" dirty="0"/>
              <a:t>o</a:t>
            </a:r>
            <a:endParaRPr lang="en-GB" sz="2800" u="sng" dirty="0">
              <a:solidFill>
                <a:srgbClr val="0000FF"/>
              </a:solidFill>
            </a:endParaRPr>
          </a:p>
        </p:txBody>
      </p:sp>
      <p:sp>
        <p:nvSpPr>
          <p:cNvPr id="3116" name="Text Box 44">
            <a:extLst>
              <a:ext uri="{FF2B5EF4-FFF2-40B4-BE49-F238E27FC236}">
                <a16:creationId xmlns:a16="http://schemas.microsoft.com/office/drawing/2014/main" id="{8675F11D-3444-49F7-A998-6DC0FB48C6D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445250" y="5738813"/>
            <a:ext cx="2447925" cy="523220"/>
          </a:xfrm>
          <a:prstGeom prst="rect">
            <a:avLst/>
          </a:prstGeom>
          <a:solidFill>
            <a:srgbClr val="22CC32"/>
          </a:solidFill>
          <a:ln w="28575">
            <a:solidFill>
              <a:schemeClr val="tx1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GB" sz="2800" dirty="0">
                <a:solidFill>
                  <a:schemeClr val="tx1"/>
                </a:solidFill>
              </a:rPr>
              <a:t>= </a:t>
            </a:r>
            <a:r>
              <a:rPr lang="en-GB" sz="2800" b="1" dirty="0">
                <a:solidFill>
                  <a:schemeClr val="tx1"/>
                </a:solidFill>
              </a:rPr>
              <a:t>13.4 </a:t>
            </a:r>
            <a:r>
              <a:rPr lang="en-GB" sz="2800" dirty="0">
                <a:solidFill>
                  <a:schemeClr val="tx1"/>
                </a:solidFill>
              </a:rPr>
              <a:t>cm</a:t>
            </a:r>
            <a:r>
              <a:rPr lang="en-GB" sz="2800" baseline="30000" dirty="0">
                <a:solidFill>
                  <a:schemeClr val="tx1"/>
                </a:solidFill>
              </a:rPr>
              <a:t>2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9" grpId="0" animBg="1"/>
      <p:bldP spid="31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7">
            <a:extLst>
              <a:ext uri="{FF2B5EF4-FFF2-40B4-BE49-F238E27FC236}">
                <a16:creationId xmlns:a16="http://schemas.microsoft.com/office/drawing/2014/main" id="{99FD621C-B1DA-47D3-8D51-E6320AEF0A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097215" y="4947613"/>
            <a:ext cx="4795960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GB" sz="2800" dirty="0"/>
              <a:t>Area = ½ x 15 x 8.5 x sin 25</a:t>
            </a:r>
            <a:r>
              <a:rPr lang="en-GB" sz="2800" baseline="30000" dirty="0"/>
              <a:t>o</a:t>
            </a:r>
            <a:endParaRPr lang="en-GB" sz="2800" u="sng" dirty="0">
              <a:solidFill>
                <a:srgbClr val="0000FF"/>
              </a:solidFill>
            </a:endParaRPr>
          </a:p>
        </p:txBody>
      </p:sp>
      <p:sp>
        <p:nvSpPr>
          <p:cNvPr id="32" name="Text Box 44">
            <a:extLst>
              <a:ext uri="{FF2B5EF4-FFF2-40B4-BE49-F238E27FC236}">
                <a16:creationId xmlns:a16="http://schemas.microsoft.com/office/drawing/2014/main" id="{BEAA147F-FA51-451D-B0EA-11CA91C85B14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435725" y="5738813"/>
            <a:ext cx="2457450" cy="523220"/>
          </a:xfrm>
          <a:prstGeom prst="rect">
            <a:avLst/>
          </a:prstGeom>
          <a:solidFill>
            <a:srgbClr val="22CC32"/>
          </a:solidFill>
          <a:ln w="28575">
            <a:solidFill>
              <a:schemeClr val="tx1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GB" sz="2800" dirty="0">
                <a:solidFill>
                  <a:schemeClr val="tx1"/>
                </a:solidFill>
              </a:rPr>
              <a:t>= </a:t>
            </a:r>
            <a:r>
              <a:rPr lang="en-GB" sz="2800" b="1" dirty="0">
                <a:solidFill>
                  <a:schemeClr val="tx1"/>
                </a:solidFill>
              </a:rPr>
              <a:t>26.9 </a:t>
            </a:r>
            <a:r>
              <a:rPr lang="en-GB" sz="2800" dirty="0">
                <a:solidFill>
                  <a:schemeClr val="tx1"/>
                </a:solidFill>
              </a:rPr>
              <a:t>cm</a:t>
            </a:r>
            <a:r>
              <a:rPr lang="en-GB" sz="2800" baseline="30000" dirty="0">
                <a:solidFill>
                  <a:schemeClr val="tx1"/>
                </a:solidFill>
              </a:rPr>
              <a:t>2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7">
            <a:extLst>
              <a:ext uri="{FF2B5EF4-FFF2-40B4-BE49-F238E27FC236}">
                <a16:creationId xmlns:a16="http://schemas.microsoft.com/office/drawing/2014/main" id="{8B84E774-AFCC-4BC8-8AB7-232AB1C8C8B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009292" y="5110490"/>
            <a:ext cx="4769827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GB" sz="2800" dirty="0"/>
              <a:t>Area = ½ x 9.1 x 18 x sin130</a:t>
            </a:r>
            <a:r>
              <a:rPr lang="en-GB" sz="2800" baseline="30000" dirty="0"/>
              <a:t>o</a:t>
            </a:r>
            <a:endParaRPr lang="en-GB" sz="2800" u="sng" dirty="0">
              <a:solidFill>
                <a:srgbClr val="0000FF"/>
              </a:solidFill>
            </a:endParaRPr>
          </a:p>
        </p:txBody>
      </p:sp>
      <p:sp>
        <p:nvSpPr>
          <p:cNvPr id="19" name="Text Box 44">
            <a:extLst>
              <a:ext uri="{FF2B5EF4-FFF2-40B4-BE49-F238E27FC236}">
                <a16:creationId xmlns:a16="http://schemas.microsoft.com/office/drawing/2014/main" id="{37940618-E9B3-4DB3-8BA5-8042451DDF0B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480419" y="5868540"/>
            <a:ext cx="2298700" cy="523220"/>
          </a:xfrm>
          <a:prstGeom prst="rect">
            <a:avLst/>
          </a:prstGeom>
          <a:solidFill>
            <a:srgbClr val="22CC32"/>
          </a:solidFill>
          <a:ln w="28575">
            <a:solidFill>
              <a:schemeClr val="tx1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GB" sz="2800" dirty="0">
                <a:solidFill>
                  <a:schemeClr val="tx1"/>
                </a:solidFill>
              </a:rPr>
              <a:t>= </a:t>
            </a:r>
            <a:r>
              <a:rPr lang="en-GB" sz="2800" b="1" dirty="0">
                <a:solidFill>
                  <a:schemeClr val="tx1"/>
                </a:solidFill>
              </a:rPr>
              <a:t>62.7 </a:t>
            </a:r>
            <a:r>
              <a:rPr lang="en-GB" sz="2800" dirty="0">
                <a:solidFill>
                  <a:schemeClr val="tx1"/>
                </a:solidFill>
              </a:rPr>
              <a:t>m</a:t>
            </a:r>
            <a:r>
              <a:rPr lang="en-GB" sz="2800" baseline="30000" dirty="0">
                <a:solidFill>
                  <a:schemeClr val="tx1"/>
                </a:solidFill>
              </a:rPr>
              <a:t>2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067C698-8603-49BC-9129-0F5A379C263D}"/>
              </a:ext>
            </a:extLst>
          </p:cNvPr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797719" y="1738313"/>
            <a:ext cx="2252662" cy="2657475"/>
            <a:chOff x="577015" y="2656800"/>
            <a:chExt cx="2252585" cy="2657675"/>
          </a:xfrm>
        </p:grpSpPr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07D8DFEF-F002-4219-A2E0-C201B8418C2D}"/>
                </a:ext>
              </a:extLst>
            </p:cNvPr>
            <p:cNvSpPr/>
            <p:nvPr/>
          </p:nvSpPr>
          <p:spPr>
            <a:xfrm flipH="1">
              <a:off x="691311" y="2656800"/>
              <a:ext cx="1331866" cy="2087720"/>
            </a:xfrm>
            <a:prstGeom prst="rtTriangle">
              <a:avLst/>
            </a:prstGeom>
            <a:solidFill>
              <a:schemeClr val="bg1"/>
            </a:solidFill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dirty="0"/>
            </a:p>
          </p:txBody>
        </p:sp>
        <p:sp>
          <p:nvSpPr>
            <p:cNvPr id="17419" name="TextBox 3">
              <a:extLst>
                <a:ext uri="{FF2B5EF4-FFF2-40B4-BE49-F238E27FC236}">
                  <a16:creationId xmlns:a16="http://schemas.microsoft.com/office/drawing/2014/main" id="{7579AEC1-5702-472A-91CA-FCA956B733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600" y="4852810"/>
              <a:ext cx="113400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2400" b="1" dirty="0"/>
                <a:t>2.5cm</a:t>
              </a:r>
            </a:p>
          </p:txBody>
        </p:sp>
        <p:sp>
          <p:nvSpPr>
            <p:cNvPr id="17420" name="TextBox 7">
              <a:extLst>
                <a:ext uri="{FF2B5EF4-FFF2-40B4-BE49-F238E27FC236}">
                  <a16:creationId xmlns:a16="http://schemas.microsoft.com/office/drawing/2014/main" id="{23A4FAFB-4C3A-4112-A4E4-F87518FE8E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015" y="3357663"/>
              <a:ext cx="806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2400" b="1" dirty="0"/>
                <a:t>5cm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D28F4-2CFC-4045-A694-4AC1EE5F0EF6}"/>
                </a:ext>
              </a:extLst>
            </p:cNvPr>
            <p:cNvSpPr/>
            <p:nvPr/>
          </p:nvSpPr>
          <p:spPr>
            <a:xfrm>
              <a:off x="1644267" y="4387305"/>
              <a:ext cx="373049" cy="35721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dirty="0"/>
            </a:p>
          </p:txBody>
        </p:sp>
        <p:sp>
          <p:nvSpPr>
            <p:cNvPr id="17422" name="TextBox 9">
              <a:extLst>
                <a:ext uri="{FF2B5EF4-FFF2-40B4-BE49-F238E27FC236}">
                  <a16:creationId xmlns:a16="http://schemas.microsoft.com/office/drawing/2014/main" id="{7E528349-7873-4519-86CB-77469A29E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3200" y="3522432"/>
              <a:ext cx="806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2400" b="1" dirty="0"/>
                <a:t>h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A6CDC57-CD3D-41AC-82DA-B73AD7113D4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53952" y="4685238"/>
            <a:ext cx="2696429" cy="4603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400" b="1" dirty="0"/>
              <a:t>h</a:t>
            </a:r>
            <a:r>
              <a:rPr lang="en-GB" sz="2400" b="1" baseline="30000" dirty="0"/>
              <a:t>2</a:t>
            </a:r>
            <a:r>
              <a:rPr lang="en-GB" sz="2400" b="1" dirty="0"/>
              <a:t> = 5</a:t>
            </a:r>
            <a:r>
              <a:rPr lang="en-GB" sz="2400" b="1" baseline="30000" dirty="0"/>
              <a:t>2</a:t>
            </a:r>
            <a:r>
              <a:rPr lang="en-GB" sz="2400" b="1" dirty="0"/>
              <a:t> – 2.5</a:t>
            </a:r>
            <a:r>
              <a:rPr lang="en-GB" sz="2400" b="1" baseline="30000" dirty="0"/>
              <a:t>2</a:t>
            </a:r>
            <a:r>
              <a:rPr lang="en-GB" sz="2400" b="1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63093D-4C7B-4E21-B988-B044739E1FD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53952" y="5255150"/>
            <a:ext cx="2696429" cy="4619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400" b="1" dirty="0"/>
              <a:t>h</a:t>
            </a:r>
            <a:r>
              <a:rPr lang="en-GB" sz="2400" b="1" baseline="30000" dirty="0"/>
              <a:t>2</a:t>
            </a:r>
            <a:r>
              <a:rPr lang="en-GB" sz="2400" b="1" dirty="0"/>
              <a:t> = 18.75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4156A2-3A27-45E4-B99D-A482A8AE471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53952" y="5826650"/>
            <a:ext cx="2696429" cy="4619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400" b="1" dirty="0"/>
              <a:t>h</a:t>
            </a:r>
            <a:r>
              <a:rPr lang="en-GB" sz="2400" b="1" baseline="30000" dirty="0"/>
              <a:t>2</a:t>
            </a:r>
            <a:r>
              <a:rPr lang="en-GB" sz="2400" b="1" dirty="0"/>
              <a:t> = 4.330127 …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070B0D-6B86-4AF1-8BBA-53DCAFBAFAD7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317875" y="1244600"/>
            <a:ext cx="2706688" cy="34163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GB" altLang="en-US" sz="2400" b="1" u="sng" dirty="0">
                <a:latin typeface="+mn-lt"/>
              </a:rPr>
              <a:t>Method One:</a:t>
            </a:r>
          </a:p>
          <a:p>
            <a:pPr algn="ctr">
              <a:defRPr/>
            </a:pPr>
            <a:endParaRPr lang="en-GB" altLang="en-US" sz="2400" dirty="0">
              <a:latin typeface="+mn-lt"/>
            </a:endParaRPr>
          </a:p>
          <a:p>
            <a:pPr algn="ctr">
              <a:defRPr/>
            </a:pPr>
            <a:r>
              <a:rPr lang="en-GB" altLang="en-US" sz="2400" dirty="0">
                <a:latin typeface="+mn-lt"/>
              </a:rPr>
              <a:t>Use Pythagoras to work out the height and then a triangle.</a:t>
            </a:r>
          </a:p>
          <a:p>
            <a:pPr algn="ctr">
              <a:defRPr/>
            </a:pPr>
            <a:endParaRPr lang="en-GB" altLang="en-US" sz="2400" dirty="0">
              <a:latin typeface="+mn-lt"/>
            </a:endParaRPr>
          </a:p>
          <a:p>
            <a:pPr algn="ctr">
              <a:defRPr/>
            </a:pPr>
            <a:r>
              <a:rPr lang="en-GB" altLang="en-US" sz="2400" dirty="0">
                <a:latin typeface="+mn-lt"/>
              </a:rPr>
              <a:t>½ (5 x 4.330127…)</a:t>
            </a:r>
          </a:p>
          <a:p>
            <a:pPr algn="ctr">
              <a:defRPr/>
            </a:pPr>
            <a:r>
              <a:rPr lang="en-GB" altLang="en-US" sz="2400" dirty="0">
                <a:latin typeface="+mn-lt"/>
              </a:rPr>
              <a:t>= 10.825 … </a:t>
            </a:r>
            <a:r>
              <a:rPr lang="en-GB" altLang="en-US" sz="2400" b="1" dirty="0">
                <a:latin typeface="+mn-lt"/>
              </a:rPr>
              <a:t>X3</a:t>
            </a:r>
          </a:p>
          <a:p>
            <a:pPr algn="ctr">
              <a:defRPr/>
            </a:pPr>
            <a:r>
              <a:rPr lang="en-GB" altLang="en-US" sz="2400" dirty="0">
                <a:latin typeface="+mn-lt"/>
              </a:rPr>
              <a:t>= </a:t>
            </a:r>
            <a:r>
              <a:rPr lang="en-GB" altLang="en-US" sz="2400" b="1" dirty="0">
                <a:solidFill>
                  <a:srgbClr val="FF0000"/>
                </a:solidFill>
                <a:latin typeface="+mn-lt"/>
              </a:rPr>
              <a:t>32.5cm</a:t>
            </a:r>
            <a:r>
              <a:rPr lang="en-GB" altLang="en-US" sz="2400" b="1" baseline="300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GB" altLang="en-US" sz="2400" b="1" baseline="30000" dirty="0">
                <a:latin typeface="+mn-lt"/>
              </a:rPr>
              <a:t> </a:t>
            </a:r>
            <a:r>
              <a:rPr lang="en-GB" altLang="en-US" sz="2400" dirty="0">
                <a:latin typeface="+mn-lt"/>
              </a:rPr>
              <a:t>(to 3.s.f)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962C1E-8592-400C-978B-9F80C5DDD657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192838" y="1244600"/>
            <a:ext cx="2644775" cy="34163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GB" altLang="en-US" sz="2400" b="1" u="sng" dirty="0">
                <a:latin typeface="+mn-lt"/>
              </a:rPr>
              <a:t>Method Two:</a:t>
            </a:r>
          </a:p>
          <a:p>
            <a:pPr algn="ctr">
              <a:defRPr/>
            </a:pPr>
            <a:endParaRPr lang="en-GB" altLang="en-US" sz="2400" dirty="0">
              <a:latin typeface="+mn-lt"/>
            </a:endParaRPr>
          </a:p>
          <a:p>
            <a:pPr algn="ctr">
              <a:defRPr/>
            </a:pPr>
            <a:r>
              <a:rPr lang="en-GB" altLang="en-US" sz="2400" dirty="0">
                <a:latin typeface="+mn-lt"/>
              </a:rPr>
              <a:t>Use Pythagoras to work out the height</a:t>
            </a:r>
          </a:p>
          <a:p>
            <a:pPr algn="ctr">
              <a:defRPr/>
            </a:pPr>
            <a:r>
              <a:rPr lang="en-GB" altLang="en-US" sz="2400" dirty="0">
                <a:latin typeface="+mn-lt"/>
              </a:rPr>
              <a:t>then the trapezium.</a:t>
            </a:r>
          </a:p>
          <a:p>
            <a:pPr algn="ctr">
              <a:defRPr/>
            </a:pPr>
            <a:endParaRPr lang="en-GB" altLang="en-US" sz="2400" dirty="0">
              <a:latin typeface="+mn-lt"/>
            </a:endParaRPr>
          </a:p>
          <a:p>
            <a:pPr algn="ctr">
              <a:defRPr/>
            </a:pPr>
            <a:r>
              <a:rPr lang="en-GB" altLang="en-US" sz="2400" dirty="0">
                <a:latin typeface="+mn-lt"/>
              </a:rPr>
              <a:t>½ (5+10) x 4.330127…</a:t>
            </a:r>
          </a:p>
          <a:p>
            <a:pPr algn="ctr">
              <a:defRPr/>
            </a:pPr>
            <a:r>
              <a:rPr lang="en-GB" altLang="en-US" sz="2400" dirty="0">
                <a:latin typeface="+mn-lt"/>
              </a:rPr>
              <a:t>= </a:t>
            </a:r>
            <a:r>
              <a:rPr lang="en-GB" altLang="en-US" sz="2400" b="1" dirty="0">
                <a:solidFill>
                  <a:srgbClr val="FF0000"/>
                </a:solidFill>
                <a:latin typeface="+mn-lt"/>
              </a:rPr>
              <a:t>32.5cm</a:t>
            </a:r>
            <a:r>
              <a:rPr lang="en-GB" altLang="en-US" sz="2400" b="1" baseline="30000" dirty="0">
                <a:solidFill>
                  <a:srgbClr val="FF0000"/>
                </a:solidFill>
                <a:latin typeface="+mn-lt"/>
              </a:rPr>
              <a:t>2 </a:t>
            </a:r>
            <a:r>
              <a:rPr lang="en-GB" altLang="en-US" sz="2400" dirty="0">
                <a:latin typeface="+mn-lt"/>
              </a:rPr>
              <a:t>(to 3.s.f)</a:t>
            </a:r>
            <a:endParaRPr lang="en-GB" altLang="en-US" sz="2400" b="1" baseline="30000" dirty="0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DFBC8F-843E-4AB8-B868-25D4A1819E2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145756" y="4783138"/>
            <a:ext cx="4094163" cy="19367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2400" b="1" u="sng" dirty="0">
                <a:latin typeface="+mn-lt"/>
              </a:rPr>
              <a:t>Method Three:</a:t>
            </a:r>
          </a:p>
          <a:p>
            <a:pPr algn="ctr">
              <a:defRPr/>
            </a:pPr>
            <a:endParaRPr lang="en-GB" sz="2400" dirty="0">
              <a:latin typeface="+mn-lt"/>
            </a:endParaRPr>
          </a:p>
          <a:p>
            <a:pPr algn="ctr">
              <a:defRPr/>
            </a:pPr>
            <a:r>
              <a:rPr lang="en-GB" sz="2400" dirty="0">
                <a:latin typeface="+mn-lt"/>
              </a:rPr>
              <a:t>Use the area rule (½ abSinC)</a:t>
            </a:r>
          </a:p>
          <a:p>
            <a:pPr algn="ctr">
              <a:defRPr/>
            </a:pPr>
            <a:r>
              <a:rPr lang="en-GB" sz="2400" dirty="0">
                <a:latin typeface="+mn-lt"/>
              </a:rPr>
              <a:t>= ½ (5)(5).Sin(60°) </a:t>
            </a:r>
            <a:r>
              <a:rPr lang="en-GB" sz="2400" b="1" dirty="0">
                <a:latin typeface="+mn-lt"/>
              </a:rPr>
              <a:t>X3</a:t>
            </a:r>
            <a:r>
              <a:rPr lang="en-GB" sz="2400" dirty="0">
                <a:latin typeface="+mn-lt"/>
              </a:rPr>
              <a:t> </a:t>
            </a:r>
          </a:p>
          <a:p>
            <a:pPr algn="ctr">
              <a:defRPr/>
            </a:pPr>
            <a:r>
              <a:rPr lang="en-GB" sz="2400" dirty="0">
                <a:latin typeface="+mn-lt"/>
              </a:rPr>
              <a:t>= </a:t>
            </a:r>
            <a:r>
              <a:rPr lang="en-GB" sz="2400" b="1" dirty="0">
                <a:solidFill>
                  <a:srgbClr val="FF0000"/>
                </a:solidFill>
                <a:latin typeface="+mn-lt"/>
              </a:rPr>
              <a:t>32.5cm</a:t>
            </a:r>
            <a:r>
              <a:rPr lang="en-GB" sz="2400" b="1" baseline="30000" dirty="0">
                <a:solidFill>
                  <a:srgbClr val="FF0000"/>
                </a:solidFill>
                <a:latin typeface="+mn-lt"/>
              </a:rPr>
              <a:t>2 </a:t>
            </a:r>
            <a:r>
              <a:rPr lang="en-GB" sz="2400" dirty="0">
                <a:latin typeface="+mn-lt"/>
              </a:rPr>
              <a:t>(to 3.s.f)</a:t>
            </a:r>
            <a:endParaRPr lang="en-GB" sz="2400" b="1" baseline="30000" dirty="0"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0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https://upload.wikimedia.org/wikipedia/commons/0/08/Pinterest-logo.png">
            <a:hlinkClick r:id="rId11"/>
            <a:extLst>
              <a:ext uri="{FF2B5EF4-FFF2-40B4-BE49-F238E27FC236}">
                <a16:creationId xmlns:a16="http://schemas.microsoft.com/office/drawing/2014/main" id="{0A6A6591-3F34-44B1-BC96-B8020F4E1A7C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548" y="340796"/>
            <a:ext cx="1188000" cy="11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DAA40F1-E36B-4684-827A-7883EAC5A36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17512" y="1655434"/>
            <a:ext cx="2959087" cy="674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890" b="1" dirty="0">
                <a:solidFill>
                  <a:srgbClr val="BD081C"/>
                </a:solidFill>
                <a:latin typeface="+mn-lt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https://www.pinterest.com/outstandingresources/</a:t>
            </a:r>
            <a:endParaRPr lang="en-GB" sz="1890" b="1" dirty="0">
              <a:solidFill>
                <a:srgbClr val="BD081C"/>
              </a:solidFill>
              <a:latin typeface="+mn-lt"/>
            </a:endParaRPr>
          </a:p>
        </p:txBody>
      </p:sp>
      <p:pic>
        <p:nvPicPr>
          <p:cNvPr id="26" name="Picture 6" descr="https://upload.wikimedia.org/wikipedia/commons/thumb/d/df/Facebook_logo_thumbs_up_like_transparent_SVG.svg/1920px-Facebook_logo_thumbs_up_like_transparent_SVG.svg.png">
            <a:hlinkClick r:id="rId13"/>
            <a:extLst>
              <a:ext uri="{FF2B5EF4-FFF2-40B4-BE49-F238E27FC236}">
                <a16:creationId xmlns:a16="http://schemas.microsoft.com/office/drawing/2014/main" id="{18A299E1-BDD5-432F-BBE7-7D2431F0867F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292" y="2437746"/>
            <a:ext cx="1392333" cy="1156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77A1EA3-91BF-4163-A497-180D09C7EFD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17512" y="3715544"/>
            <a:ext cx="2959087" cy="674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890" b="1" dirty="0">
                <a:solidFill>
                  <a:srgbClr val="6276AE"/>
                </a:solidFill>
                <a:latin typeface="+mn-lt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https://www.facebook.com/orjust4u/</a:t>
            </a:r>
            <a:endParaRPr lang="en-GB" sz="1890" b="1" dirty="0">
              <a:solidFill>
                <a:srgbClr val="6276AE"/>
              </a:solidFill>
              <a:latin typeface="+mn-lt"/>
            </a:endParaRPr>
          </a:p>
        </p:txBody>
      </p:sp>
      <p:pic>
        <p:nvPicPr>
          <p:cNvPr id="28" name="Picture 8" descr="https://upload.wikimedia.org/wikipedia/commons/thumb/e/e7/Instagram_logo_2016.svg/1920px-Instagram_logo_2016.svg.png">
            <a:hlinkClick r:id="rId15"/>
            <a:extLst>
              <a:ext uri="{FF2B5EF4-FFF2-40B4-BE49-F238E27FC236}">
                <a16:creationId xmlns:a16="http://schemas.microsoft.com/office/drawing/2014/main" id="{E82F4E1B-828E-49B9-BB22-E1877556A184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548" y="4623655"/>
            <a:ext cx="1152000" cy="1151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0D88B0D9-4573-433F-B20C-4B2065C6D9FF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86656" y="5906270"/>
            <a:ext cx="3055258" cy="674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890" b="1" dirty="0">
                <a:latin typeface="+mn-lt"/>
                <a:hlinkClick r:id="rId15"/>
              </a:rPr>
              <a:t>https://www.instagram.com/outstanding_resources/</a:t>
            </a:r>
            <a:endParaRPr lang="en-GB" sz="1890" b="1" dirty="0">
              <a:latin typeface="+mn-lt"/>
            </a:endParaRPr>
          </a:p>
        </p:txBody>
      </p:sp>
      <p:pic>
        <p:nvPicPr>
          <p:cNvPr id="31" name="Picture 30">
            <a:hlinkClick r:id="rId17"/>
            <a:extLst>
              <a:ext uri="{FF2B5EF4-FFF2-40B4-BE49-F238E27FC236}">
                <a16:creationId xmlns:a16="http://schemas.microsoft.com/office/drawing/2014/main" id="{D740CEB4-6183-47EB-BC31-F5F5363CFB2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3" t="40715" r="24260" b="3401"/>
          <a:stretch/>
        </p:blipFill>
        <p:spPr>
          <a:xfrm>
            <a:off x="6292588" y="6047049"/>
            <a:ext cx="2851413" cy="810952"/>
          </a:xfrm>
          <a:prstGeom prst="rect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40375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hlinkClick r:id="rId5"/>
            <a:extLst>
              <a:ext uri="{FF2B5EF4-FFF2-40B4-BE49-F238E27FC236}">
                <a16:creationId xmlns:a16="http://schemas.microsoft.com/office/drawing/2014/main" id="{D20FFF84-686F-4A54-BB45-496936AFF51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3" t="40715" r="24260" b="3401"/>
          <a:stretch/>
        </p:blipFill>
        <p:spPr>
          <a:xfrm>
            <a:off x="6292588" y="6047049"/>
            <a:ext cx="2851413" cy="810952"/>
          </a:xfrm>
          <a:prstGeom prst="rect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27860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1482</TotalTime>
  <Words>765</Words>
  <Application>Microsoft Office PowerPoint</Application>
  <PresentationFormat>On-screen Show (4:3)</PresentationFormat>
  <Paragraphs>80</Paragraphs>
  <Slides>16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Alfer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Area of a Triangle</dc:title>
  <dc:creator>Mr A J Ferris</dc:creator>
  <cp:lastModifiedBy>Andrew J. Ferris</cp:lastModifiedBy>
  <cp:revision>83</cp:revision>
  <dcterms:created xsi:type="dcterms:W3CDTF">2005-07-02T16:34:46Z</dcterms:created>
  <dcterms:modified xsi:type="dcterms:W3CDTF">2019-05-29T22:08:48Z</dcterms:modified>
</cp:coreProperties>
</file>