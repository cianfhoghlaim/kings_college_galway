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1" r:id="rId6"/>
    <p:sldId id="264" r:id="rId7"/>
    <p:sldId id="263" r:id="rId8"/>
    <p:sldId id="262" r:id="rId9"/>
    <p:sldId id="268" r:id="rId10"/>
    <p:sldId id="274" r:id="rId11"/>
    <p:sldId id="270" r:id="rId12"/>
    <p:sldId id="271" r:id="rId13"/>
    <p:sldId id="272" r:id="rId14"/>
    <p:sldId id="273" r:id="rId15"/>
    <p:sldId id="269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02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69F0933B-5849-4942-83AD-1C2E77E4CEF3}" type="datetimeFigureOut">
              <a:rPr lang="ru-RU" smtClean="0"/>
              <a:t>24.11.2013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F4E3261-AD91-4D88-870B-CAD0ECD44B27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ducation.ie/en/Press-Events/Conferences/Patronage-and-Pluralism-in-the-Primary-Sector/" TargetMode="External"/><Relationship Id="rId2" Type="http://schemas.openxmlformats.org/officeDocument/2006/relationships/hyperlink" Target="http://www.britannica.com/EBchecked/topic/449591/Penal-Law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sz="4400" dirty="0" smtClean="0"/>
              <a:t>ED116: History and Structure of Irish Education</a:t>
            </a:r>
            <a:endParaRPr lang="ru-RU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3717032"/>
            <a:ext cx="6400800" cy="1728192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‘Losing my religion’? </a:t>
            </a:r>
            <a:endParaRPr lang="en-IE" dirty="0" smtClean="0"/>
          </a:p>
          <a:p>
            <a:endParaRPr lang="en-IE" dirty="0"/>
          </a:p>
          <a:p>
            <a:r>
              <a:rPr lang="en-IE" dirty="0" smtClean="0"/>
              <a:t>The </a:t>
            </a:r>
            <a:r>
              <a:rPr lang="en-IE" dirty="0"/>
              <a:t>Stanley Letter/’Act’ (1831) and the Forum </a:t>
            </a:r>
            <a:r>
              <a:rPr lang="en-IE" dirty="0" smtClean="0"/>
              <a:t>on Patronage </a:t>
            </a:r>
            <a:r>
              <a:rPr lang="en-IE" dirty="0"/>
              <a:t>and </a:t>
            </a:r>
            <a:r>
              <a:rPr lang="en-IE" dirty="0" smtClean="0"/>
              <a:t>Pluralism </a:t>
            </a:r>
            <a:r>
              <a:rPr lang="en-IE" dirty="0"/>
              <a:t>in the Primary Sector (2011- </a:t>
            </a:r>
            <a:r>
              <a:rPr lang="en-IE" dirty="0" smtClean="0"/>
              <a:t>)</a:t>
            </a:r>
          </a:p>
          <a:p>
            <a:endParaRPr lang="en-IE" dirty="0"/>
          </a:p>
        </p:txBody>
      </p:sp>
      <p:sp>
        <p:nvSpPr>
          <p:cNvPr id="4" name="TextBox 3"/>
          <p:cNvSpPr txBox="1"/>
          <p:nvPr/>
        </p:nvSpPr>
        <p:spPr>
          <a:xfrm>
            <a:off x="4932040" y="5733256"/>
            <a:ext cx="374441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E" sz="1400" dirty="0"/>
              <a:t>Cian Mac Liatháin – 11476078</a:t>
            </a:r>
          </a:p>
          <a:p>
            <a:pPr algn="r"/>
            <a:r>
              <a:rPr lang="en-IE" sz="1400" dirty="0"/>
              <a:t>Sean Doyle - 13533297</a:t>
            </a:r>
            <a:endParaRPr lang="ru-RU" sz="1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5536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7584" y="2276872"/>
            <a:ext cx="7745505" cy="3877815"/>
          </a:xfrm>
        </p:spPr>
        <p:txBody>
          <a:bodyPr/>
          <a:lstStyle/>
          <a:p>
            <a:pPr marL="0" indent="0">
              <a:buNone/>
            </a:pPr>
            <a:r>
              <a:rPr lang="en-IE" dirty="0" smtClean="0"/>
              <a:t> </a:t>
            </a:r>
            <a:endParaRPr lang="ru-R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4400" dirty="0" smtClean="0"/>
              <a:t>Patronage in Irish Education</a:t>
            </a:r>
            <a:endParaRPr lang="ru-RU" sz="4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178773"/>
              </p:ext>
            </p:extLst>
          </p:nvPr>
        </p:nvGraphicFramePr>
        <p:xfrm>
          <a:off x="2627784" y="2348880"/>
          <a:ext cx="406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</a:tblGrid>
              <a:tr h="336078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Type of school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dirty="0" smtClean="0">
                          <a:effectLst/>
                        </a:rPr>
                        <a:t>Percentage</a:t>
                      </a:r>
                      <a:endParaRPr lang="en-IE" dirty="0">
                        <a:effectLst/>
                      </a:endParaRPr>
                    </a:p>
                  </a:txBody>
                  <a:tcPr anchor="ctr"/>
                </a:tc>
              </a:tr>
              <a:tr h="336078"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Roman Catholic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91.1%</a:t>
                      </a:r>
                    </a:p>
                  </a:txBody>
                  <a:tcPr anchor="ctr"/>
                </a:tc>
              </a:tr>
              <a:tr h="58008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Church of Ireland (Anglican)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5.7%</a:t>
                      </a:r>
                    </a:p>
                  </a:txBody>
                  <a:tcPr anchor="ctr"/>
                </a:tc>
              </a:tr>
              <a:tr h="58008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Multi-denominational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2.3%</a:t>
                      </a:r>
                    </a:p>
                  </a:txBody>
                  <a:tcPr anchor="ctr"/>
                </a:tc>
              </a:tr>
              <a:tr h="336078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Presbyterian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0.4%</a:t>
                      </a:r>
                    </a:p>
                  </a:txBody>
                  <a:tcPr anchor="ctr"/>
                </a:tc>
              </a:tr>
              <a:tr h="580080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Inter-Denominational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0.3%</a:t>
                      </a:r>
                    </a:p>
                  </a:txBody>
                  <a:tcPr anchor="ctr"/>
                </a:tc>
              </a:tr>
              <a:tr h="336078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Muslim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0.1%</a:t>
                      </a:r>
                    </a:p>
                  </a:txBody>
                  <a:tcPr anchor="ctr"/>
                </a:tc>
              </a:tr>
              <a:tr h="336078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Methodist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&lt;0.1%</a:t>
                      </a:r>
                    </a:p>
                  </a:txBody>
                  <a:tcPr anchor="ctr"/>
                </a:tc>
              </a:tr>
              <a:tr h="336078">
                <a:tc>
                  <a:txBody>
                    <a:bodyPr/>
                    <a:lstStyle/>
                    <a:p>
                      <a:r>
                        <a:rPr lang="en-GB">
                          <a:effectLst/>
                        </a:rPr>
                        <a:t>Jewish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&lt;0.1%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19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GB" sz="4800" dirty="0">
                <a:latin typeface="+mj-lt"/>
              </a:rPr>
              <a:t>Battle of the Boyne (1690</a:t>
            </a:r>
            <a:r>
              <a:rPr lang="en-GB" sz="4800" dirty="0" smtClean="0">
                <a:latin typeface="+mj-lt"/>
              </a:rPr>
              <a:t>)</a:t>
            </a:r>
            <a:endParaRPr lang="ru-RU" dirty="0"/>
          </a:p>
        </p:txBody>
      </p:sp>
      <p:pic>
        <p:nvPicPr>
          <p:cNvPr id="1030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203" y="2247900"/>
            <a:ext cx="5765594" cy="387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184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 smtClean="0"/>
          </a:p>
          <a:p>
            <a:pPr marL="411480" lvl="1" indent="0">
              <a:buNone/>
            </a:pPr>
            <a:r>
              <a:rPr lang="en-IE" sz="2400" dirty="0" smtClean="0"/>
              <a:t>“Laws </a:t>
            </a:r>
            <a:r>
              <a:rPr lang="en-IE" sz="2400" dirty="0"/>
              <a:t>passed against Roman Catholics in Britain and Ireland after the Reformation that penalized the practice of the Roman Catholic religion and imposed civil disabilities on </a:t>
            </a:r>
            <a:r>
              <a:rPr lang="en-IE" sz="2400" dirty="0" smtClean="0"/>
              <a:t>Catholics” </a:t>
            </a:r>
          </a:p>
          <a:p>
            <a:pPr marL="411480" lvl="1" indent="0" algn="r">
              <a:buNone/>
            </a:pPr>
            <a:endParaRPr lang="en-IE" sz="2400" dirty="0"/>
          </a:p>
          <a:p>
            <a:pPr marL="411480" lvl="1" indent="0" algn="r">
              <a:buNone/>
            </a:pPr>
            <a:endParaRPr lang="en-IE" sz="2400" dirty="0" smtClean="0"/>
          </a:p>
          <a:p>
            <a:pPr marL="411480" lvl="1" indent="0" algn="r">
              <a:buNone/>
            </a:pPr>
            <a:r>
              <a:rPr lang="en-IE" sz="2000" dirty="0" smtClean="0"/>
              <a:t>(Britannica, 2013)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4800" dirty="0"/>
              <a:t>Penal Laws (1607</a:t>
            </a:r>
            <a:r>
              <a:rPr lang="en-IE" sz="4800" dirty="0" smtClean="0"/>
              <a:t>)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43653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E" dirty="0" smtClean="0"/>
          </a:p>
          <a:p>
            <a:r>
              <a:rPr lang="en-IE" dirty="0" smtClean="0"/>
              <a:t>"</a:t>
            </a:r>
            <a:r>
              <a:rPr lang="en-IE" dirty="0"/>
              <a:t>no person of the popish religion shall publicly or in private houses teach school, or instruct youth in learning within this realm..." </a:t>
            </a:r>
            <a:endParaRPr lang="en-IE" dirty="0" smtClean="0"/>
          </a:p>
          <a:p>
            <a:pPr marL="0" indent="0">
              <a:buNone/>
            </a:pPr>
            <a:endParaRPr lang="en-IE" dirty="0" smtClean="0"/>
          </a:p>
          <a:p>
            <a:r>
              <a:rPr lang="en-IE" dirty="0" smtClean="0"/>
              <a:t>Hedge Schools: Catholic hedge-priests and hedge-masters teaching in secret. </a:t>
            </a:r>
          </a:p>
          <a:p>
            <a:endParaRPr lang="en-IE" sz="2000" dirty="0"/>
          </a:p>
          <a:p>
            <a:pPr marL="0" indent="0" algn="r">
              <a:buNone/>
            </a:pPr>
            <a:r>
              <a:rPr lang="en-IE" sz="2000" dirty="0" smtClean="0"/>
              <a:t>(Barker, 2013)</a:t>
            </a:r>
            <a:endParaRPr lang="ru-RU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/>
              <a:t>Education Act (1695 </a:t>
            </a:r>
            <a:r>
              <a:rPr lang="en-GB" sz="4400" dirty="0" smtClean="0"/>
              <a:t>)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458392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smtClean="0"/>
              <a:t>“With </a:t>
            </a:r>
            <a:r>
              <a:rPr lang="en-IE" dirty="0"/>
              <a:t>the dismantling of the laws, one witnessed a growing assurance of the Catholic </a:t>
            </a:r>
            <a:r>
              <a:rPr lang="en-IE" dirty="0" smtClean="0"/>
              <a:t>establishment </a:t>
            </a:r>
            <a:r>
              <a:rPr lang="en-IE" dirty="0"/>
              <a:t>in the late eighteenth century which in turn led to the growth of an </a:t>
            </a:r>
            <a:r>
              <a:rPr lang="en-IE" dirty="0" smtClean="0"/>
              <a:t>exclusive </a:t>
            </a:r>
            <a:r>
              <a:rPr lang="en-IE" dirty="0"/>
              <a:t>Catholic system of education</a:t>
            </a:r>
            <a:r>
              <a:rPr lang="en-IE" dirty="0" smtClean="0"/>
              <a:t>.”</a:t>
            </a:r>
          </a:p>
          <a:p>
            <a:endParaRPr lang="en-IE" dirty="0" smtClean="0"/>
          </a:p>
          <a:p>
            <a:r>
              <a:rPr lang="en-IE" dirty="0" smtClean="0"/>
              <a:t>By 1825: Presentation Sisters had 46 schools and the Christian Brothers had 24. </a:t>
            </a:r>
          </a:p>
          <a:p>
            <a:pPr marL="0" indent="0" algn="r">
              <a:buNone/>
            </a:pPr>
            <a:r>
              <a:rPr lang="en-IE" sz="2000" dirty="0" smtClean="0"/>
              <a:t>(</a:t>
            </a:r>
            <a:r>
              <a:rPr lang="en-IE" sz="2000" dirty="0"/>
              <a:t>Hanna, 2007)</a:t>
            </a:r>
          </a:p>
          <a:p>
            <a:endParaRPr lang="en-IE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4400" dirty="0" smtClean="0"/>
              <a:t>Penal Laws Repealed (1782)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08372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smtClean="0"/>
              <a:t>From Chief Secretary for Ireland Edward Stanley to the Duke of Leinster.</a:t>
            </a:r>
          </a:p>
          <a:p>
            <a:endParaRPr lang="en-IE" dirty="0" smtClean="0"/>
          </a:p>
          <a:p>
            <a:r>
              <a:rPr lang="en-IE" dirty="0" smtClean="0"/>
              <a:t>Formally established the national education system.</a:t>
            </a:r>
          </a:p>
          <a:p>
            <a:endParaRPr lang="en-IE" dirty="0"/>
          </a:p>
          <a:p>
            <a:r>
              <a:rPr lang="en-IE" dirty="0" smtClean="0"/>
              <a:t>Board of Commission of National Education: dispersed funding for school grants and the hiring of teacher.</a:t>
            </a:r>
            <a:endParaRPr lang="ru-R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4400" dirty="0" smtClean="0"/>
              <a:t>The Stanley Letter (1831)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4206571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smtClean="0"/>
              <a:t>“...</a:t>
            </a:r>
            <a:r>
              <a:rPr lang="en-IE" dirty="0"/>
              <a:t>unite in one system, children of all </a:t>
            </a:r>
            <a:r>
              <a:rPr lang="en-IE" dirty="0" smtClean="0"/>
              <a:t>creeds” (The Stanley Letter, 1831)</a:t>
            </a:r>
          </a:p>
          <a:p>
            <a:endParaRPr lang="en-IE" b="1" dirty="0"/>
          </a:p>
          <a:p>
            <a:r>
              <a:rPr lang="en-IE" dirty="0" smtClean="0"/>
              <a:t>Mixed religion schools.</a:t>
            </a:r>
          </a:p>
          <a:p>
            <a:endParaRPr lang="en-IE" dirty="0"/>
          </a:p>
          <a:p>
            <a:r>
              <a:rPr lang="en-IE" dirty="0" smtClean="0"/>
              <a:t>Religious education separate from everyday education.</a:t>
            </a:r>
          </a:p>
          <a:p>
            <a:endParaRPr lang="en-IE" b="1" dirty="0"/>
          </a:p>
          <a:p>
            <a:endParaRPr lang="en-IE" b="1" dirty="0" smtClean="0"/>
          </a:p>
          <a:p>
            <a:endParaRPr lang="en-IE" b="1" dirty="0"/>
          </a:p>
          <a:p>
            <a:endParaRPr lang="ru-RU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4400" dirty="0"/>
              <a:t>The Stanley Letter (1831)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253248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132855"/>
            <a:ext cx="7745505" cy="4608513"/>
          </a:xfrm>
        </p:spPr>
        <p:txBody>
          <a:bodyPr>
            <a:noAutofit/>
          </a:bodyPr>
          <a:lstStyle/>
          <a:p>
            <a:r>
              <a:rPr lang="en-IE" dirty="0" smtClean="0"/>
              <a:t>Churches unhappy with losing power: “put pressure on the government to allow aid to be given to schools under the management of individual churches.”</a:t>
            </a:r>
          </a:p>
          <a:p>
            <a:endParaRPr lang="en-IE" b="1" dirty="0"/>
          </a:p>
          <a:p>
            <a:r>
              <a:rPr lang="en-IE" dirty="0" smtClean="0"/>
              <a:t>1850: only 4% of national schools were mixed religion.</a:t>
            </a:r>
          </a:p>
          <a:p>
            <a:endParaRPr lang="en-IE" dirty="0"/>
          </a:p>
          <a:p>
            <a:r>
              <a:rPr lang="en-IE" dirty="0" smtClean="0"/>
              <a:t>Royal Commission of Inquiry into Irish Education (1868-1870): no request for separate system due to expectations being met.</a:t>
            </a:r>
          </a:p>
          <a:p>
            <a:pPr marL="0" indent="0" algn="r">
              <a:buNone/>
            </a:pPr>
            <a:r>
              <a:rPr lang="en-IE" sz="2000" dirty="0" smtClean="0"/>
              <a:t>(</a:t>
            </a:r>
            <a:r>
              <a:rPr lang="en-IE" sz="2000" dirty="0" err="1"/>
              <a:t>Akenson</a:t>
            </a:r>
            <a:r>
              <a:rPr lang="en-IE" sz="2000" dirty="0"/>
              <a:t>, 1970)</a:t>
            </a:r>
          </a:p>
          <a:p>
            <a:endParaRPr lang="en-I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4400" dirty="0" smtClean="0"/>
              <a:t>Christian Dominance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767395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dirty="0" smtClean="0"/>
          </a:p>
          <a:p>
            <a:pPr marL="0" indent="0">
              <a:buNone/>
            </a:pPr>
            <a:r>
              <a:rPr lang="en-IE" dirty="0" smtClean="0"/>
              <a:t>“In </a:t>
            </a:r>
            <a:r>
              <a:rPr lang="en-IE" dirty="0"/>
              <a:t>2011, the Minister for Education and Skills set up </a:t>
            </a:r>
            <a:r>
              <a:rPr lang="en-IE" dirty="0" smtClean="0"/>
              <a:t>a group of consultants </a:t>
            </a:r>
            <a:r>
              <a:rPr lang="en-IE" dirty="0"/>
              <a:t>with people and </a:t>
            </a:r>
            <a:r>
              <a:rPr lang="en-IE" dirty="0" smtClean="0"/>
              <a:t>make recommendations </a:t>
            </a:r>
            <a:r>
              <a:rPr lang="en-IE" dirty="0"/>
              <a:t>about how primary schools </a:t>
            </a:r>
            <a:r>
              <a:rPr lang="en-IE" dirty="0" smtClean="0"/>
              <a:t>can become </a:t>
            </a:r>
            <a:r>
              <a:rPr lang="en-IE" dirty="0"/>
              <a:t>more inclusive of </a:t>
            </a:r>
            <a:r>
              <a:rPr lang="en-IE" dirty="0" smtClean="0"/>
              <a:t>different traditions, religions and beliefs</a:t>
            </a:r>
            <a:r>
              <a:rPr lang="en-IE" dirty="0"/>
              <a:t>. </a:t>
            </a:r>
            <a:r>
              <a:rPr lang="en-IE" dirty="0" smtClean="0"/>
              <a:t>“ </a:t>
            </a:r>
          </a:p>
          <a:p>
            <a:pPr marL="0" indent="0">
              <a:buNone/>
            </a:pPr>
            <a:endParaRPr lang="en-IE" sz="2000" dirty="0"/>
          </a:p>
          <a:p>
            <a:pPr marL="0" indent="0">
              <a:buNone/>
            </a:pPr>
            <a:endParaRPr lang="en-IE" sz="2000" dirty="0" smtClean="0"/>
          </a:p>
          <a:p>
            <a:pPr marL="0" indent="0" algn="r">
              <a:buNone/>
            </a:pPr>
            <a:r>
              <a:rPr lang="en-IE" sz="2000" dirty="0" smtClean="0"/>
              <a:t>(Department of Education, 2013)</a:t>
            </a:r>
            <a:endParaRPr lang="en-IE" sz="2000" dirty="0"/>
          </a:p>
          <a:p>
            <a:endParaRPr lang="en-I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3600" dirty="0"/>
              <a:t>Forum on Patronage and Pluralism in the Primary Sector (2011)</a:t>
            </a:r>
          </a:p>
        </p:txBody>
      </p:sp>
    </p:spTree>
    <p:extLst>
      <p:ext uri="{BB962C8B-B14F-4D97-AF65-F5344CB8AC3E}">
        <p14:creationId xmlns:p14="http://schemas.microsoft.com/office/powerpoint/2010/main" val="664778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 smtClean="0"/>
              <a:t>96% of schools under Denominational Patronage</a:t>
            </a:r>
            <a:br>
              <a:rPr lang="en-IE" dirty="0" smtClean="0"/>
            </a:br>
            <a:endParaRPr lang="en-IE" dirty="0"/>
          </a:p>
          <a:p>
            <a:r>
              <a:rPr lang="en-IE" dirty="0" smtClean="0"/>
              <a:t>Projected increase in enrolment 2017 +</a:t>
            </a:r>
          </a:p>
          <a:p>
            <a:endParaRPr lang="en-IE" dirty="0"/>
          </a:p>
          <a:p>
            <a:r>
              <a:rPr lang="en-IE" dirty="0" smtClean="0"/>
              <a:t>Modernisation:</a:t>
            </a:r>
          </a:p>
          <a:p>
            <a:pPr lvl="1"/>
            <a:r>
              <a:rPr lang="en-IE" dirty="0" smtClean="0"/>
              <a:t>Intercultural Society</a:t>
            </a:r>
          </a:p>
          <a:p>
            <a:pPr lvl="1"/>
            <a:r>
              <a:rPr lang="en-IE" dirty="0" smtClean="0"/>
              <a:t>Increasing minority of non-believers</a:t>
            </a:r>
          </a:p>
          <a:p>
            <a:pPr lvl="1"/>
            <a:r>
              <a:rPr lang="en-IE" dirty="0" smtClean="0"/>
              <a:t>Pressure for more variance</a:t>
            </a:r>
          </a:p>
          <a:p>
            <a:pPr lvl="1"/>
            <a:endParaRPr lang="en-IE" dirty="0"/>
          </a:p>
          <a:p>
            <a:pPr marL="411480" lvl="1" indent="0" algn="r">
              <a:buNone/>
            </a:pPr>
            <a:r>
              <a:rPr lang="en-IE" sz="2400" dirty="0"/>
              <a:t>(</a:t>
            </a:r>
            <a:r>
              <a:rPr lang="en-IE" sz="2000" dirty="0"/>
              <a:t>Department of Education, 2013)</a:t>
            </a:r>
          </a:p>
          <a:p>
            <a:pPr lvl="1"/>
            <a:endParaRPr lang="en-I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3600" dirty="0"/>
              <a:t>Forum on Patronage and Pluralism in the Primary </a:t>
            </a:r>
            <a:r>
              <a:rPr lang="en-IE" sz="3600" dirty="0" smtClean="0"/>
              <a:t>Sector (2011)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3876585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smtClean="0"/>
              <a:t>Enrolment policies – clear and fair. Appeals process should be in place e.g.  Ombudsman for Children</a:t>
            </a:r>
          </a:p>
          <a:p>
            <a:endParaRPr lang="en-IE" dirty="0"/>
          </a:p>
          <a:p>
            <a:r>
              <a:rPr lang="en-IE" dirty="0" smtClean="0"/>
              <a:t>Religion class -  appropriate provisions must be made for other children</a:t>
            </a:r>
          </a:p>
          <a:p>
            <a:endParaRPr lang="en-IE" dirty="0"/>
          </a:p>
          <a:p>
            <a:r>
              <a:rPr lang="en-IE" dirty="0" smtClean="0"/>
              <a:t>Children should be taught ethics and about different religions and beliefs</a:t>
            </a:r>
            <a:endParaRPr lang="en-I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4400" dirty="0" smtClean="0"/>
              <a:t>The Advisory Group’s Conclusions</a:t>
            </a:r>
            <a:endParaRPr lang="en-IE" sz="4400" dirty="0"/>
          </a:p>
        </p:txBody>
      </p:sp>
    </p:spTree>
    <p:extLst>
      <p:ext uri="{BB962C8B-B14F-4D97-AF65-F5344CB8AC3E}">
        <p14:creationId xmlns:p14="http://schemas.microsoft.com/office/powerpoint/2010/main" val="932673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smtClean="0"/>
              <a:t>Religious sacraments – concerned over time spent preparing.</a:t>
            </a:r>
          </a:p>
          <a:p>
            <a:endParaRPr lang="en-IE" dirty="0"/>
          </a:p>
          <a:p>
            <a:r>
              <a:rPr lang="en-IE" dirty="0" smtClean="0"/>
              <a:t>Statues, symbols, assemblies and prayers – all children of the school should be represented in a balanced way</a:t>
            </a:r>
            <a:endParaRPr lang="en-I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4400" dirty="0"/>
              <a:t>The Advisory Group’s Conclusions</a:t>
            </a:r>
          </a:p>
        </p:txBody>
      </p:sp>
    </p:spTree>
    <p:extLst>
      <p:ext uri="{BB962C8B-B14F-4D97-AF65-F5344CB8AC3E}">
        <p14:creationId xmlns:p14="http://schemas.microsoft.com/office/powerpoint/2010/main" val="2457273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7745505" cy="4421013"/>
          </a:xfrm>
        </p:spPr>
        <p:txBody>
          <a:bodyPr>
            <a:normAutofit/>
          </a:bodyPr>
          <a:lstStyle/>
          <a:p>
            <a:r>
              <a:rPr lang="en-IE" dirty="0" smtClean="0"/>
              <a:t>43 select areas were asked what type of school they would like for their children to attend.</a:t>
            </a:r>
          </a:p>
          <a:p>
            <a:endParaRPr lang="en-IE" dirty="0"/>
          </a:p>
          <a:p>
            <a:r>
              <a:rPr lang="en-IE" dirty="0" smtClean="0"/>
              <a:t>The Minister for Education is seeking to have the school buildings of 28 of these areas transferred.</a:t>
            </a:r>
          </a:p>
          <a:p>
            <a:endParaRPr lang="en-IE" dirty="0"/>
          </a:p>
          <a:p>
            <a:r>
              <a:rPr lang="en-IE" dirty="0" smtClean="0"/>
              <a:t>Work in progress – request for more parental suggestions by 22 November 2013</a:t>
            </a:r>
          </a:p>
          <a:p>
            <a:pPr algn="r"/>
            <a:endParaRPr lang="en-IE" dirty="0" smtClean="0"/>
          </a:p>
          <a:p>
            <a:pPr marL="0" indent="0" algn="r">
              <a:buNone/>
            </a:pPr>
            <a:r>
              <a:rPr lang="en-IE" sz="2000" dirty="0" smtClean="0"/>
              <a:t>(</a:t>
            </a:r>
            <a:r>
              <a:rPr lang="en-IE" sz="2000" dirty="0"/>
              <a:t>Department of Education, 2013)</a:t>
            </a:r>
          </a:p>
          <a:p>
            <a:endParaRPr lang="en-IE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4400" dirty="0" smtClean="0"/>
              <a:t>What has been implemented?</a:t>
            </a:r>
            <a:endParaRPr lang="en-IE" sz="4400" dirty="0"/>
          </a:p>
        </p:txBody>
      </p:sp>
    </p:spTree>
    <p:extLst>
      <p:ext uri="{BB962C8B-B14F-4D97-AF65-F5344CB8AC3E}">
        <p14:creationId xmlns:p14="http://schemas.microsoft.com/office/powerpoint/2010/main" val="13384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 dirty="0" err="1" smtClean="0"/>
              <a:t>Akenson</a:t>
            </a:r>
            <a:r>
              <a:rPr lang="en-GB" sz="1800" dirty="0" smtClean="0"/>
              <a:t>, D. H. (1970) ‘The Irish Educational Experiment’</a:t>
            </a:r>
          </a:p>
          <a:p>
            <a:r>
              <a:rPr lang="en-GB" sz="1800" dirty="0" smtClean="0"/>
              <a:t>Barker, H. (2013) ‘Hedge Britannia: A Curious History of a British </a:t>
            </a:r>
            <a:r>
              <a:rPr lang="en-GB" sz="1800" dirty="0" err="1" smtClean="0"/>
              <a:t>Obesession</a:t>
            </a:r>
            <a:r>
              <a:rPr lang="en-GB" sz="1800" dirty="0" smtClean="0"/>
              <a:t>’</a:t>
            </a:r>
          </a:p>
          <a:p>
            <a:r>
              <a:rPr lang="en-GB" sz="1800" dirty="0" smtClean="0"/>
              <a:t>Britannica (2013) ‘Penal Laws’ [online] available at: </a:t>
            </a:r>
            <a:r>
              <a:rPr lang="en-GB" sz="1800" dirty="0" smtClean="0">
                <a:hlinkClick r:id="rId2"/>
              </a:rPr>
              <a:t>http</a:t>
            </a:r>
            <a:r>
              <a:rPr lang="en-GB" sz="1800" dirty="0">
                <a:hlinkClick r:id="rId2"/>
              </a:rPr>
              <a:t>://</a:t>
            </a:r>
            <a:r>
              <a:rPr lang="en-GB" sz="1800" dirty="0" smtClean="0">
                <a:hlinkClick r:id="rId2"/>
              </a:rPr>
              <a:t>www.britannica.com/EBchecked/topic/449591/Penal-Laws</a:t>
            </a:r>
            <a:r>
              <a:rPr lang="en-GB" sz="1800" dirty="0" smtClean="0"/>
              <a:t> [accessed on 23 Nov 2013]</a:t>
            </a:r>
            <a:endParaRPr lang="en-GB" sz="1800" dirty="0"/>
          </a:p>
          <a:p>
            <a:r>
              <a:rPr lang="en-GB" sz="1800" dirty="0" smtClean="0"/>
              <a:t>Department of Education (2013) ‘Forum on Patronage and Pluralism’ [online</a:t>
            </a:r>
            <a:r>
              <a:rPr lang="en-GB" sz="1800" dirty="0"/>
              <a:t>] available at</a:t>
            </a:r>
            <a:r>
              <a:rPr lang="en-GB" sz="1800" dirty="0" smtClean="0"/>
              <a:t>: </a:t>
            </a:r>
            <a:r>
              <a:rPr lang="en-GB" sz="1800" dirty="0" smtClean="0">
                <a:hlinkClick r:id="rId3"/>
              </a:rPr>
              <a:t>http</a:t>
            </a:r>
            <a:r>
              <a:rPr lang="en-GB" sz="1800" dirty="0">
                <a:hlinkClick r:id="rId3"/>
              </a:rPr>
              <a:t>://www.education.ie/en/Press-Events/Conferences/Patronage-and-Pluralism-in-the-Primary-Sector</a:t>
            </a:r>
            <a:r>
              <a:rPr lang="en-GB" sz="1800" dirty="0" smtClean="0">
                <a:hlinkClick r:id="rId3"/>
              </a:rPr>
              <a:t>/</a:t>
            </a:r>
            <a:r>
              <a:rPr lang="en-GB" sz="1800" dirty="0" smtClean="0"/>
              <a:t> [accessed 23 Nov 2013]</a:t>
            </a:r>
            <a:endParaRPr lang="en-GB" sz="1800" dirty="0"/>
          </a:p>
          <a:p>
            <a:r>
              <a:rPr lang="en-GB" sz="1800" dirty="0" smtClean="0"/>
              <a:t>Hanna, T. (2007) ‘The Role of the Catholic Church in the Provision of Education in Ireland’</a:t>
            </a:r>
            <a:endParaRPr lang="ru-RU" sz="1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sz="4400" dirty="0" smtClean="0"/>
              <a:t>Bibliography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283878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1139</TotalTime>
  <Words>681</Words>
  <Application>Microsoft Office PowerPoint</Application>
  <PresentationFormat>On-screen Show (4:3)</PresentationFormat>
  <Paragraphs>106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Hardcover</vt:lpstr>
      <vt:lpstr>ED116: History and Structure of Irish Education</vt:lpstr>
      <vt:lpstr>Patronage in Irish Education</vt:lpstr>
      <vt:lpstr>Battle of the Boyne (1690)</vt:lpstr>
      <vt:lpstr>Penal Laws (1607)</vt:lpstr>
      <vt:lpstr>Education Act (1695 )</vt:lpstr>
      <vt:lpstr>Penal Laws Repealed (1782)</vt:lpstr>
      <vt:lpstr>The Stanley Letter (1831)</vt:lpstr>
      <vt:lpstr>The Stanley Letter (1831)</vt:lpstr>
      <vt:lpstr>Christian Dominance</vt:lpstr>
      <vt:lpstr>Forum on Patronage and Pluralism in the Primary Sector (2011)</vt:lpstr>
      <vt:lpstr>Forum on Patronage and Pluralism in the Primary Sector (2011)</vt:lpstr>
      <vt:lpstr>The Advisory Group’s Conclusions</vt:lpstr>
      <vt:lpstr>The Advisory Group’s Conclusions</vt:lpstr>
      <vt:lpstr>What has been implemented?</vt:lpstr>
      <vt:lpstr>Bibliography</vt:lpstr>
    </vt:vector>
  </TitlesOfParts>
  <Company>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ED116: History and Structure or Irish Education</dc:title>
  <dc:creator>MX</dc:creator>
  <cp:lastModifiedBy>MX</cp:lastModifiedBy>
  <cp:revision>23</cp:revision>
  <dcterms:created xsi:type="dcterms:W3CDTF">2013-11-25T03:36:10Z</dcterms:created>
  <dcterms:modified xsi:type="dcterms:W3CDTF">2013-11-25T08:21:37Z</dcterms:modified>
</cp:coreProperties>
</file>