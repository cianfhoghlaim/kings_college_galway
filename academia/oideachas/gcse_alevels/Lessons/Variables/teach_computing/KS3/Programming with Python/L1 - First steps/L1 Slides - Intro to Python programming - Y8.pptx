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5143500" cx="9144000"/>
  <p:notesSz cx="6858000" cy="9144000"/>
  <p:embeddedFontLst>
    <p:embeddedFont>
      <p:font typeface="Quicksand"/>
      <p:regular r:id="rId31"/>
      <p:bold r:id="rId32"/>
    </p:embeddedFont>
    <p:embeddedFont>
      <p:font typeface="Roboto Mono"/>
      <p:regular r:id="rId33"/>
      <p:bold r:id="rId34"/>
      <p:italic r:id="rId35"/>
      <p:boldItalic r:id="rId36"/>
    </p:embeddedFont>
    <p:embeddedFont>
      <p:font typeface="Quicksand Light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Quicksand-regular.fntdata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6.xml"/><Relationship Id="rId32" Type="http://schemas.openxmlformats.org/officeDocument/2006/relationships/font" Target="fonts/Quicksand-bold.fntdata"/><Relationship Id="rId13" Type="http://schemas.openxmlformats.org/officeDocument/2006/relationships/slide" Target="slides/slide9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8.xml"/><Relationship Id="rId34" Type="http://schemas.openxmlformats.org/officeDocument/2006/relationships/font" Target="fonts/RobotoMono-bold.fntdata"/><Relationship Id="rId15" Type="http://schemas.openxmlformats.org/officeDocument/2006/relationships/slide" Target="slides/slide11.xml"/><Relationship Id="rId37" Type="http://schemas.openxmlformats.org/officeDocument/2006/relationships/font" Target="fonts/QuicksandLight-regular.fntdata"/><Relationship Id="rId14" Type="http://schemas.openxmlformats.org/officeDocument/2006/relationships/slide" Target="slides/slide10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schemas.openxmlformats.org/officeDocument/2006/relationships/font" Target="fonts/QuicksandLight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ncce.io/tcc" TargetMode="External"/><Relationship Id="rId3" Type="http://schemas.openxmlformats.org/officeDocument/2006/relationships/hyperlink" Target="about:blank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n.wikipedia.org/wiki/Scratch_(programming_language)#/media/File:Scratch_Cat.png" TargetMode="External"/><Relationship Id="rId3" Type="http://schemas.openxmlformats.org/officeDocument/2006/relationships/hyperlink" Target="https://www.python.org/community/logos/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futurelearn.com/courses/block-to-text-based-programming/7/steps/556352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Category:Lord_Kitchener_Wants_You#/media/File:KitchenerWants.tif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BA5"/>
              </a:buClr>
              <a:buSzPts val="1100"/>
              <a:buFont typeface="Arial"/>
              <a:buNone/>
            </a:pPr>
            <a:r>
              <a:rPr lang="en-GB" sz="10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Last updated 16-04-21</a:t>
            </a:r>
            <a:endParaRPr sz="10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BA5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BA5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Resources are updated regularly — the latest version is available at: </a:t>
            </a:r>
            <a:r>
              <a:rPr lang="en-GB" sz="9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ncce.io/tcc</a:t>
            </a:r>
            <a:r>
              <a:rPr lang="en-GB" sz="9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9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BA5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BA5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This resource is licensed under the Open Government Licence, version 3. For more information on this licence, see</a:t>
            </a:r>
            <a:r>
              <a:rPr lang="en-GB" sz="9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ncce.io/ogl</a:t>
            </a:r>
            <a:r>
              <a:rPr lang="en-GB" sz="9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6aecee55ec_6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6aecee55ec_6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09b719e41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09b719e41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60944449ec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60944449ec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sources: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2"/>
              </a:rPr>
              <a:t>https://en.wikipedia.org/wiki/Scratch_(programming_language)#/media/File:Scratch_Cat.png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https://www.python.org/community/logos/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60944449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60944449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60944449e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60944449e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658fb1ff7f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658fb1ff7f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658fb1ff7f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658fb1ff7f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658fb1ff7f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658fb1ff7f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Then why do we use text-based programming? Because the things that you can express are infinite, and there are only so many blocks.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658fb1ff7f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658fb1ff7f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Then why do we use text-based programming? Because the things that you can express are infinite, and there are only so many blocks.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658fb1ff7f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658fb1ff7f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Then why do we use text-based programming? Because the things that you can express are infinite, and there are only so many blocks.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Teachers may be interested in this discussion: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2"/>
              </a:rPr>
              <a:t>https://www.futurelearn.com/courses/block-to-text-based-programming/7/steps/556352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659c6b86e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659c6b86e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2"/>
              </a:rPr>
              <a:t>https://commons.wikimedia.org/wiki/Category:Lord_Kitchener_Wants_You#/media/File:KitchenerWants.tif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6c9924a01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6c9924a01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6aecee55ec_6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6aecee55ec_6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658fb1ff7f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658fb1ff7f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6c9924a017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6c9924a01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659c6b86e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659c6b86e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6c9924a017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6c9924a017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6c9924a017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6c9924a017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658fb1ff7f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658fb1ff7f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6c9924a017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6c9924a01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658fb1ff7f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658fb1ff7f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6c9924a017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6c9924a017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659c6b86e8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659c6b86e8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6aecee55ec_6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6aecee55ec_6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6016eeabfd_2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6016eeabfd_2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3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title"/>
          </p:nvPr>
        </p:nvSpPr>
        <p:spPr>
          <a:xfrm>
            <a:off x="526875" y="576775"/>
            <a:ext cx="8095800" cy="20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5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32725" y="2665400"/>
            <a:ext cx="8095800" cy="7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67675" y="4249150"/>
            <a:ext cx="1465423" cy="65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/ Questions / Lists">
  <p:cSld name="TITLE_4_1_1_1_2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" type="body"/>
          </p:nvPr>
        </p:nvSpPr>
        <p:spPr>
          <a:xfrm>
            <a:off x="310900" y="1017725"/>
            <a:ext cx="8522100" cy="3811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0900" y="310900"/>
            <a:ext cx="8522100" cy="70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 and text under (with heading)">
  <p:cSld name="TITLE_4_1_1_2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0900" y="1017725"/>
            <a:ext cx="8521200" cy="309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310900" y="4117599"/>
            <a:ext cx="8521200" cy="6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" name="Google Shape;25;p4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 and text under (no heading)">
  <p:cSld name="TITLE_4_1_1_1_4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0900" y="472000"/>
            <a:ext cx="8521200" cy="3795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310900" y="4282175"/>
            <a:ext cx="85212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 (no text under)">
  <p:cSld name="TITLE_4_1_1_1_3_2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idx="1" type="body"/>
          </p:nvPr>
        </p:nvSpPr>
        <p:spPr>
          <a:xfrm>
            <a:off x="310900" y="1017725"/>
            <a:ext cx="8521200" cy="3811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310900" y="319600"/>
            <a:ext cx="8521200" cy="70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6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or Images side by side">
  <p:cSld name="TITLE_4_1_1_1_3_1_1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4736600" y="1170100"/>
            <a:ext cx="4096500" cy="365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text">
  <p:cSld name="TITLE_4_1_1_1_1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310900" y="319600"/>
            <a:ext cx="8521200" cy="45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600"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" name="Google Shape;45;p8"/>
          <p:cNvSpPr txBox="1"/>
          <p:nvPr>
            <p:ph idx="1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155CC">
            <a:alpha val="559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2725"/>
            <a:ext cx="9144000" cy="30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10900" y="310900"/>
            <a:ext cx="8521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icksand"/>
              <a:buNone/>
              <a:defRPr b="1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0900" y="1017725"/>
            <a:ext cx="8521500" cy="3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Char char="●"/>
              <a:defRPr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lvl="1" rtl="0" algn="ctr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2pPr>
            <a:lvl3pPr lvl="2" rtl="0" algn="ctr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3pPr>
            <a:lvl4pPr lvl="3" rtl="0" algn="ctr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4pPr>
            <a:lvl5pPr lvl="4" rtl="0" algn="ctr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5pPr>
            <a:lvl6pPr lvl="5" rtl="0" algn="ctr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6pPr>
            <a:lvl7pPr lvl="6" rtl="0" algn="ctr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7pPr>
            <a:lvl8pPr lvl="7" rtl="0" algn="ctr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8pPr>
            <a:lvl9pPr lvl="8" rtl="0" algn="ctr">
              <a:buNone/>
              <a:defRPr sz="800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96">
          <p15:clr>
            <a:srgbClr val="EA4335"/>
          </p15:clr>
        </p15:guide>
        <p15:guide id="2" orient="horz" pos="196">
          <p15:clr>
            <a:srgbClr val="EA4335"/>
          </p15:clr>
        </p15:guide>
        <p15:guide id="3" orient="horz" pos="641">
          <p15:clr>
            <a:srgbClr val="EA4335"/>
          </p15:clr>
        </p15:guide>
        <p15:guide id="4" pos="2776">
          <p15:clr>
            <a:srgbClr val="EA4335"/>
          </p15:clr>
        </p15:guide>
        <p15:guide id="5" orient="horz" pos="812">
          <p15:clr>
            <a:srgbClr val="EA4335"/>
          </p15:clr>
        </p15:guide>
        <p15:guide id="6" pos="2984">
          <p15:clr>
            <a:srgbClr val="EA4335"/>
          </p15:clr>
        </p15:guide>
        <p15:guide id="7" pos="5564">
          <p15:clr>
            <a:srgbClr val="EA4335"/>
          </p15:clr>
        </p15:guide>
        <p15:guide id="8" orient="horz" pos="2592">
          <p15:clr>
            <a:srgbClr val="EA4335"/>
          </p15:clr>
        </p15:guide>
        <p15:guide id="9" pos="2448">
          <p15:clr>
            <a:srgbClr val="EA4335"/>
          </p15:clr>
        </p15:guide>
        <p15:guide id="10" pos="3312">
          <p15:clr>
            <a:srgbClr val="EA4335"/>
          </p15:clr>
        </p15:guide>
        <p15:guide id="11" orient="horz" pos="304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526875" y="576775"/>
            <a:ext cx="8095800" cy="20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Lesson 1: First steps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532725" y="2665400"/>
            <a:ext cx="8095800" cy="7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Year 8 – Intro to Python programming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Starter activity</a:t>
            </a:r>
            <a:endParaRPr/>
          </a:p>
        </p:txBody>
      </p:sp>
      <p:sp>
        <p:nvSpPr>
          <p:cNvPr id="57" name="Google Shape;57;p10"/>
          <p:cNvSpPr txBox="1"/>
          <p:nvPr/>
        </p:nvSpPr>
        <p:spPr>
          <a:xfrm>
            <a:off x="310900" y="310900"/>
            <a:ext cx="8522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Can you follow these instructions?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8" name="Google Shape;58;p10"/>
          <p:cNvSpPr txBox="1"/>
          <p:nvPr/>
        </p:nvSpPr>
        <p:spPr>
          <a:xfrm>
            <a:off x="310900" y="2081495"/>
            <a:ext cx="18774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Align</a:t>
            </a: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the two strips at one end.</a:t>
            </a:r>
            <a:endParaRPr b="1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9" name="Google Shape;59;p10"/>
          <p:cNvSpPr txBox="1"/>
          <p:nvPr/>
        </p:nvSpPr>
        <p:spPr>
          <a:xfrm>
            <a:off x="2522375" y="2099102"/>
            <a:ext cx="1877400" cy="8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Cut</a:t>
            </a: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the longer strip where the shorter strip ends.</a:t>
            </a:r>
            <a:endParaRPr b="1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0" name="Google Shape;60;p10"/>
          <p:cNvSpPr txBox="1"/>
          <p:nvPr/>
        </p:nvSpPr>
        <p:spPr>
          <a:xfrm>
            <a:off x="4733825" y="2099100"/>
            <a:ext cx="2211600" cy="8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Discard</a:t>
            </a: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the part that you have cut off that is the same length as the shorter strip. </a:t>
            </a:r>
            <a:endParaRPr b="1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1" name="Google Shape;61;p10"/>
          <p:cNvSpPr txBox="1"/>
          <p:nvPr/>
        </p:nvSpPr>
        <p:spPr>
          <a:xfrm>
            <a:off x="6945300" y="2081500"/>
            <a:ext cx="18774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Repeat</a:t>
            </a: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        to        until the strips are equal in length.</a:t>
            </a:r>
            <a:endParaRPr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Measure that length and report it — it’s the required result.</a:t>
            </a:r>
            <a:endParaRPr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2" name="Google Shape;62;p10"/>
          <p:cNvSpPr/>
          <p:nvPr/>
        </p:nvSpPr>
        <p:spPr>
          <a:xfrm>
            <a:off x="381058" y="1827309"/>
            <a:ext cx="270000" cy="270000"/>
          </a:xfrm>
          <a:prstGeom prst="ellipse">
            <a:avLst/>
          </a:prstGeom>
          <a:solidFill>
            <a:srgbClr val="5B5BA5"/>
          </a:solidFill>
          <a:ln>
            <a:noFill/>
          </a:ln>
        </p:spPr>
        <p:txBody>
          <a:bodyPr anchorCtr="0" anchor="ctr" bIns="18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endParaRPr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3" name="Google Shape;63;p10"/>
          <p:cNvSpPr/>
          <p:nvPr/>
        </p:nvSpPr>
        <p:spPr>
          <a:xfrm>
            <a:off x="2593883" y="1827309"/>
            <a:ext cx="270000" cy="270000"/>
          </a:xfrm>
          <a:prstGeom prst="ellipse">
            <a:avLst/>
          </a:prstGeom>
          <a:solidFill>
            <a:srgbClr val="5B5BA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b</a:t>
            </a:r>
            <a:endParaRPr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4" name="Google Shape;64;p10"/>
          <p:cNvSpPr/>
          <p:nvPr/>
        </p:nvSpPr>
        <p:spPr>
          <a:xfrm>
            <a:off x="4806708" y="1827309"/>
            <a:ext cx="270000" cy="270000"/>
          </a:xfrm>
          <a:prstGeom prst="ellipse">
            <a:avLst/>
          </a:prstGeom>
          <a:solidFill>
            <a:srgbClr val="5B5BA5"/>
          </a:solidFill>
          <a:ln>
            <a:noFill/>
          </a:ln>
        </p:spPr>
        <p:txBody>
          <a:bodyPr anchorCtr="0" anchor="ctr" bIns="18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c</a:t>
            </a:r>
            <a:endParaRPr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5" name="Google Shape;65;p10"/>
          <p:cNvSpPr/>
          <p:nvPr/>
        </p:nvSpPr>
        <p:spPr>
          <a:xfrm>
            <a:off x="7749008" y="2133059"/>
            <a:ext cx="270000" cy="270000"/>
          </a:xfrm>
          <a:prstGeom prst="ellipse">
            <a:avLst/>
          </a:prstGeom>
          <a:solidFill>
            <a:srgbClr val="5B5BA5"/>
          </a:solidFill>
          <a:ln>
            <a:noFill/>
          </a:ln>
        </p:spPr>
        <p:txBody>
          <a:bodyPr anchorCtr="0" anchor="ctr" bIns="18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endParaRPr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6" name="Google Shape;66;p10"/>
          <p:cNvSpPr/>
          <p:nvPr/>
        </p:nvSpPr>
        <p:spPr>
          <a:xfrm>
            <a:off x="8325383" y="2133059"/>
            <a:ext cx="270000" cy="270000"/>
          </a:xfrm>
          <a:prstGeom prst="ellipse">
            <a:avLst/>
          </a:prstGeom>
          <a:solidFill>
            <a:srgbClr val="5B5BA5"/>
          </a:solidFill>
          <a:ln>
            <a:noFill/>
          </a:ln>
        </p:spPr>
        <p:txBody>
          <a:bodyPr anchorCtr="0" anchor="ctr" bIns="18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c</a:t>
            </a:r>
            <a:endParaRPr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67" name="Google Shape;67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577" y="3159900"/>
            <a:ext cx="442846" cy="1667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7284" y="3159900"/>
            <a:ext cx="388382" cy="1589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6173" y="3159900"/>
            <a:ext cx="273505" cy="158921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0"/>
          <p:cNvSpPr txBox="1"/>
          <p:nvPr/>
        </p:nvSpPr>
        <p:spPr>
          <a:xfrm>
            <a:off x="310900" y="1289300"/>
            <a:ext cx="64425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You have two strips of paper. One is X cm long, the other is Y cm long.</a:t>
            </a:r>
            <a:endParaRPr b="1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Starter activity</a:t>
            </a:r>
            <a:endParaRPr/>
          </a:p>
        </p:txBody>
      </p:sp>
      <p:sp>
        <p:nvSpPr>
          <p:cNvPr id="76" name="Google Shape;76;p11"/>
          <p:cNvSpPr txBox="1"/>
          <p:nvPr/>
        </p:nvSpPr>
        <p:spPr>
          <a:xfrm>
            <a:off x="310900" y="310900"/>
            <a:ext cx="8522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Euclid’s method: finds the LCF of X and Y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7" name="Google Shape;77;p11"/>
          <p:cNvSpPr txBox="1"/>
          <p:nvPr/>
        </p:nvSpPr>
        <p:spPr>
          <a:xfrm>
            <a:off x="310900" y="1289300"/>
            <a:ext cx="4096500" cy="11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Following these instructions solves a problem: it calculates the </a:t>
            </a:r>
            <a:r>
              <a:rPr b="1"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largest</a:t>
            </a:r>
            <a:r>
              <a:rPr b="1"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common </a:t>
            </a:r>
            <a:r>
              <a:rPr b="1"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factor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of X and Y.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8" name="Google Shape;78;p11"/>
          <p:cNvSpPr txBox="1"/>
          <p:nvPr/>
        </p:nvSpPr>
        <p:spPr>
          <a:xfrm>
            <a:off x="310900" y="2432300"/>
            <a:ext cx="4096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This </a:t>
            </a:r>
            <a:r>
              <a:rPr lang="en-GB" sz="1800">
                <a:solidFill>
                  <a:srgbClr val="FFFFFF"/>
                </a:solidFill>
                <a:highlight>
                  <a:schemeClr val="dk1"/>
                </a:highlight>
                <a:latin typeface="Quicksand"/>
                <a:ea typeface="Quicksand"/>
                <a:cs typeface="Quicksand"/>
                <a:sym typeface="Quicksand"/>
              </a:rPr>
              <a:t> algorithm 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was recorded by Euclid in around 300 BC.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79" name="Google Shape;79;p11"/>
          <p:cNvGrpSpPr/>
          <p:nvPr/>
        </p:nvGrpSpPr>
        <p:grpSpPr>
          <a:xfrm>
            <a:off x="4856100" y="1035139"/>
            <a:ext cx="3977100" cy="1967161"/>
            <a:chOff x="4856100" y="1035139"/>
            <a:chExt cx="3977100" cy="1967161"/>
          </a:xfrm>
        </p:grpSpPr>
        <p:sp>
          <p:nvSpPr>
            <p:cNvPr id="80" name="Google Shape;80;p11"/>
            <p:cNvSpPr txBox="1"/>
            <p:nvPr/>
          </p:nvSpPr>
          <p:spPr>
            <a:xfrm>
              <a:off x="5257800" y="1289300"/>
              <a:ext cx="3575400" cy="17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54000" wrap="square" tIns="91425">
              <a:noAutofit/>
            </a:bodyPr>
            <a:lstStyle/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5B5BA5"/>
                  </a:solidFill>
                  <a:latin typeface="Quicksand"/>
                  <a:ea typeface="Quicksand"/>
                  <a:cs typeface="Quicksand"/>
                  <a:sym typeface="Quicksand"/>
                </a:rPr>
                <a:t>This</a:t>
              </a:r>
              <a:r>
                <a:rPr lang="en-GB">
                  <a:solidFill>
                    <a:srgbClr val="5B5BA5"/>
                  </a:solidFill>
                  <a:latin typeface="Quicksand"/>
                  <a:ea typeface="Quicksand"/>
                  <a:cs typeface="Quicksand"/>
                  <a:sym typeface="Quicksand"/>
                </a:rPr>
                <a:t> is the granddaddy of all </a:t>
              </a:r>
              <a:r>
                <a:rPr b="1" lang="en-GB">
                  <a:solidFill>
                    <a:srgbClr val="5B5BA5"/>
                  </a:solidFill>
                  <a:latin typeface="Quicksand"/>
                  <a:ea typeface="Quicksand"/>
                  <a:cs typeface="Quicksand"/>
                  <a:sym typeface="Quicksand"/>
                </a:rPr>
                <a:t>algorithms</a:t>
              </a:r>
              <a:r>
                <a:rPr lang="en-GB">
                  <a:solidFill>
                    <a:srgbClr val="5B5BA5"/>
                  </a:solidFill>
                  <a:latin typeface="Quicksand"/>
                  <a:ea typeface="Quicksand"/>
                  <a:cs typeface="Quicksand"/>
                  <a:sym typeface="Quicksand"/>
                </a:rPr>
                <a:t>, because it is the oldest non-trivial </a:t>
              </a:r>
              <a:r>
                <a:rPr b="1" lang="en-GB">
                  <a:solidFill>
                    <a:srgbClr val="5B5BA5"/>
                  </a:solidFill>
                  <a:latin typeface="Quicksand"/>
                  <a:ea typeface="Quicksand"/>
                  <a:cs typeface="Quicksand"/>
                  <a:sym typeface="Quicksand"/>
                </a:rPr>
                <a:t>algorithm</a:t>
              </a:r>
              <a:r>
                <a:rPr lang="en-GB">
                  <a:solidFill>
                    <a:srgbClr val="5B5BA5"/>
                  </a:solidFill>
                  <a:latin typeface="Quicksand"/>
                  <a:ea typeface="Quicksand"/>
                  <a:cs typeface="Quicksand"/>
                  <a:sym typeface="Quicksand"/>
                </a:rPr>
                <a:t> that has survived to the present day.</a:t>
              </a:r>
              <a:endParaRPr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endParaRPr>
            </a:p>
            <a:p>
              <a:pPr indent="0" lvl="0" marL="0" rtl="0" algn="l">
                <a:lnSpc>
                  <a:spcPct val="114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5B5BA5"/>
                  </a:solidFill>
                  <a:latin typeface="Quicksand"/>
                  <a:ea typeface="Quicksand"/>
                  <a:cs typeface="Quicksand"/>
                  <a:sym typeface="Quicksand"/>
                </a:rPr>
                <a:t>Donald Knuth</a:t>
              </a:r>
              <a:endParaRPr sz="12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endParaRPr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200">
                  <a:solidFill>
                    <a:srgbClr val="5B5BA5"/>
                  </a:solidFill>
                  <a:latin typeface="Quicksand"/>
                  <a:ea typeface="Quicksand"/>
                  <a:cs typeface="Quicksand"/>
                  <a:sym typeface="Quicksand"/>
                </a:rPr>
                <a:t>The Art of Computer Programming</a:t>
              </a:r>
              <a:endParaRPr sz="12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81" name="Google Shape;81;p11"/>
            <p:cNvSpPr txBox="1"/>
            <p:nvPr/>
          </p:nvSpPr>
          <p:spPr>
            <a:xfrm>
              <a:off x="4856100" y="1035139"/>
              <a:ext cx="385200" cy="70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54000" wrap="square" tIns="91425">
              <a:noAutofit/>
            </a:bodyPr>
            <a:lstStyle/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3000">
                  <a:solidFill>
                    <a:srgbClr val="5B5BA5"/>
                  </a:solidFill>
                  <a:latin typeface="Quicksand"/>
                  <a:ea typeface="Quicksand"/>
                  <a:cs typeface="Quicksand"/>
                  <a:sym typeface="Quicksand"/>
                </a:rPr>
                <a:t>❠</a:t>
              </a:r>
              <a:endParaRPr sz="30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82" name="Google Shape;82;p11"/>
          <p:cNvSpPr txBox="1"/>
          <p:nvPr/>
        </p:nvSpPr>
        <p:spPr>
          <a:xfrm>
            <a:off x="310900" y="3270500"/>
            <a:ext cx="4096500" cy="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Have you heard of the term ‘algorithm’ before?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Unit o</a:t>
            </a:r>
            <a:r>
              <a:rPr lang="en-GB"/>
              <a:t>bjectives</a:t>
            </a:r>
            <a:endParaRPr/>
          </a:p>
        </p:txBody>
      </p:sp>
      <p:sp>
        <p:nvSpPr>
          <p:cNvPr id="88" name="Google Shape;88;p12"/>
          <p:cNvSpPr txBox="1"/>
          <p:nvPr/>
        </p:nvSpPr>
        <p:spPr>
          <a:xfrm>
            <a:off x="310900" y="1322525"/>
            <a:ext cx="4670700" cy="24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B5BA5"/>
              </a:buClr>
              <a:buSzPts val="1800"/>
              <a:buFont typeface="Quicksand"/>
              <a:buChar char="●"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Used a block-based programming language (Scratch) to create programs that involved: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42900" lvl="1" marL="9144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B5BA5"/>
              </a:buClr>
              <a:buSzPts val="1800"/>
              <a:buFont typeface="Quicksand"/>
              <a:buChar char="○"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V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ariables, operators, and expressions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42900" lvl="1" marL="9144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B5BA5"/>
              </a:buClr>
              <a:buSzPts val="1800"/>
              <a:buFont typeface="Quicksand"/>
              <a:buChar char="○"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Sequence, selection, and iteration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42900" lvl="1" marL="9144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B5BA5"/>
              </a:buClr>
              <a:buSzPts val="1800"/>
              <a:buFont typeface="Quicksand"/>
              <a:buChar char="○"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Subroutines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42900" lvl="1" marL="9144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B5BA5"/>
              </a:buClr>
              <a:buSzPts val="1800"/>
              <a:buFont typeface="Quicksand"/>
              <a:buChar char="○"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Lists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89" name="Google Shape;89;p12"/>
          <p:cNvSpPr txBox="1"/>
          <p:nvPr/>
        </p:nvSpPr>
        <p:spPr>
          <a:xfrm>
            <a:off x="310900" y="463300"/>
            <a:ext cx="4096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In the previous units, you...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0" name="Google Shape;90;p12"/>
          <p:cNvSpPr txBox="1"/>
          <p:nvPr/>
        </p:nvSpPr>
        <p:spPr>
          <a:xfrm>
            <a:off x="4889000" y="463300"/>
            <a:ext cx="4096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In this unit, you will...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1" name="Google Shape;91;p12"/>
          <p:cNvSpPr txBox="1"/>
          <p:nvPr/>
        </p:nvSpPr>
        <p:spPr>
          <a:xfrm>
            <a:off x="4889000" y="1319300"/>
            <a:ext cx="39945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Char char="●"/>
            </a:pP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Use a text-based programming language (Python) to build on these concepts and extend them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92" name="Google Shape;9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2298" y="3875257"/>
            <a:ext cx="589040" cy="7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2"/>
          <p:cNvSpPr txBox="1"/>
          <p:nvPr/>
        </p:nvSpPr>
        <p:spPr>
          <a:xfrm>
            <a:off x="5270000" y="4017959"/>
            <a:ext cx="40965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print(</a:t>
            </a:r>
            <a:r>
              <a:rPr lang="en-GB">
                <a:solidFill>
                  <a:srgbClr val="0C343D"/>
                </a:solidFill>
                <a:latin typeface="Roboto Mono"/>
                <a:ea typeface="Roboto Mono"/>
                <a:cs typeface="Roboto Mono"/>
                <a:sym typeface="Roboto Mono"/>
              </a:rPr>
              <a:t>"Hello Python!"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94" name="Google Shape;94;p12"/>
          <p:cNvPicPr preferRelativeResize="0"/>
          <p:nvPr/>
        </p:nvPicPr>
        <p:blipFill rotWithShape="1">
          <a:blip r:embed="rId4">
            <a:alphaModFix/>
          </a:blip>
          <a:srcRect b="56743" l="0" r="32318" t="0"/>
          <a:stretch/>
        </p:blipFill>
        <p:spPr>
          <a:xfrm>
            <a:off x="623988" y="3967034"/>
            <a:ext cx="1963575" cy="56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2"/>
          <p:cNvPicPr preferRelativeResize="0"/>
          <p:nvPr/>
        </p:nvPicPr>
        <p:blipFill rotWithShape="1">
          <a:blip r:embed="rId5">
            <a:alphaModFix/>
          </a:blip>
          <a:srcRect b="0" l="1969" r="1969" t="0"/>
          <a:stretch/>
        </p:blipFill>
        <p:spPr>
          <a:xfrm>
            <a:off x="2736898" y="3851948"/>
            <a:ext cx="589040" cy="7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Objectives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310900" y="1322525"/>
            <a:ext cx="8124300" cy="29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BA5"/>
              </a:buClr>
              <a:buSzPts val="1800"/>
              <a:buFont typeface="Quicksand"/>
              <a:buChar char="●"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Define </a:t>
            </a:r>
            <a:r>
              <a:rPr b="1"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algorithms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and </a:t>
            </a:r>
            <a:r>
              <a:rPr b="1"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programs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and describe how they are executed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A5"/>
              </a:buClr>
              <a:buSzPts val="1800"/>
              <a:buFont typeface="Quicksand"/>
              <a:buChar char="●"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Write and execute your first Python programs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They will involve displaying messages, assigning values to variables, and </a:t>
            </a:r>
            <a:endParaRPr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receiving input from the keyboard.</a:t>
            </a:r>
            <a:endParaRPr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B5BA5"/>
              </a:buClr>
              <a:buSzPts val="1800"/>
              <a:buFont typeface="Quicksand"/>
              <a:buChar char="●"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Battle </a:t>
            </a:r>
            <a:r>
              <a:rPr b="1"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syntax errors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!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310900" y="310900"/>
            <a:ext cx="8522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In this lesson, you will...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310900" y="310900"/>
            <a:ext cx="8522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Algorithms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4736600" y="4423625"/>
            <a:ext cx="40965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5B5BA5"/>
              </a:solidFill>
              <a:highlight>
                <a:srgbClr val="FFFF00"/>
              </a:highlight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310900" y="1319300"/>
            <a:ext cx="4096500" cy="11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An </a:t>
            </a:r>
            <a:r>
              <a:rPr lang="en-GB" sz="1800">
                <a:solidFill>
                  <a:srgbClr val="FFFFFF"/>
                </a:solidFill>
                <a:highlight>
                  <a:schemeClr val="dk1"/>
                </a:highlight>
                <a:latin typeface="Quicksand"/>
                <a:ea typeface="Quicksand"/>
                <a:cs typeface="Quicksand"/>
                <a:sym typeface="Quicksand"/>
              </a:rPr>
              <a:t> algorithm 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is a set of </a:t>
            </a:r>
            <a:r>
              <a:rPr b="1"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precise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instructions, 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expressed in 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some sort of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b="1"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language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(e.g. textual, visual).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310900" y="2386100"/>
            <a:ext cx="4096500" cy="11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Understanding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the language is necessary in order to </a:t>
            </a:r>
            <a:r>
              <a:rPr b="1"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execute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the instructions.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10900" y="3452900"/>
            <a:ext cx="4096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Executing these instructions is meant to solve a </a:t>
            </a:r>
            <a:r>
              <a:rPr b="1"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problem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. </a:t>
            </a:r>
            <a:endParaRPr b="1"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13" name="Google Shape;11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2496" y="1483000"/>
            <a:ext cx="2915559" cy="2591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2525" y="1225250"/>
            <a:ext cx="3495525" cy="310683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310900" y="310900"/>
            <a:ext cx="8522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Programs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5179500" y="5506600"/>
            <a:ext cx="40965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Python is a </a:t>
            </a:r>
            <a:r>
              <a:rPr b="1"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programming language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310900" y="1319300"/>
            <a:ext cx="4096500" cy="11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A </a:t>
            </a:r>
            <a:r>
              <a:rPr lang="en-GB" sz="1800">
                <a:solidFill>
                  <a:srgbClr val="FFFFFF"/>
                </a:solidFill>
                <a:highlight>
                  <a:schemeClr val="dk1"/>
                </a:highlight>
                <a:latin typeface="Quicksand"/>
                <a:ea typeface="Quicksand"/>
                <a:cs typeface="Quicksand"/>
                <a:sym typeface="Quicksand"/>
              </a:rPr>
              <a:t> program 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is a set of precise instructions, 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expressed in a </a:t>
            </a:r>
            <a:r>
              <a:rPr b="1"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programming </a:t>
            </a:r>
            <a:r>
              <a:rPr b="1"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language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310900" y="2386100"/>
            <a:ext cx="4096500" cy="11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Translating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the programming language is necessary for a machine to be able to </a:t>
            </a:r>
            <a:r>
              <a:rPr b="1"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execute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the instructions.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310900" y="310900"/>
            <a:ext cx="8522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Python </a:t>
            </a: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programs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310900" y="1289300"/>
            <a:ext cx="4096500" cy="14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To execute a Python program, you need a </a:t>
            </a:r>
            <a:r>
              <a:rPr b="1"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Python </a:t>
            </a:r>
            <a:r>
              <a:rPr b="1"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interpreter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This is a program that translates and executes your Python program.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310900" y="3037200"/>
            <a:ext cx="4096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The Python interpreter doesn’t necessarily run on your computer.</a:t>
            </a:r>
            <a:endParaRPr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2513" y="1225263"/>
            <a:ext cx="3495525" cy="3106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310900" y="310900"/>
            <a:ext cx="8522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Syntax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4736600" y="1289300"/>
            <a:ext cx="40965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All languages have rules for </a:t>
            </a:r>
            <a:r>
              <a:rPr b="1"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syntax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, i.e. how sentences can be assembled.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4736600" y="2394200"/>
            <a:ext cx="40965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Speech or text in a language must follow its syntax.</a:t>
            </a:r>
            <a:endParaRPr b="1"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4736600" y="3194300"/>
            <a:ext cx="40965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Humans can infer 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meaning even in cases when syntax rules are violated.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For example, “tonigth see you”, instead of “see you tonight”, will probably be understood.</a:t>
            </a:r>
            <a:endParaRPr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310900" y="1289300"/>
            <a:ext cx="40965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All programming languages have rules for </a:t>
            </a:r>
            <a:r>
              <a:rPr b="1"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syntax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, i.e. how statements can be assembled.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310900" y="2394200"/>
            <a:ext cx="40965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Programs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written in a programming language must follow its syntax.</a:t>
            </a:r>
            <a:endParaRPr b="1"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310900" y="3194300"/>
            <a:ext cx="40965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Programs with </a:t>
            </a:r>
            <a:r>
              <a:rPr b="1"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syntax errors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cannot be translated and executed.</a:t>
            </a:r>
            <a:endParaRPr b="1"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310900" y="310900"/>
            <a:ext cx="8522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Syntax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4736600" y="2628587"/>
            <a:ext cx="40965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In Scratch, syntax errors are not possible: rules are enforced by the blocks and the way they fit together.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310900" y="1289300"/>
            <a:ext cx="40965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All programming languages have rules for </a:t>
            </a:r>
            <a:r>
              <a:rPr b="1"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syntax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, i.e.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how statements can be assembled.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310900" y="2394200"/>
            <a:ext cx="40965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Programs written in a programming language must follow its syntax.</a:t>
            </a:r>
            <a:endParaRPr b="1"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310900" y="3194300"/>
            <a:ext cx="40965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Programs with </a:t>
            </a:r>
            <a:r>
              <a:rPr lang="en-GB" sz="1800">
                <a:solidFill>
                  <a:srgbClr val="FFFFFF"/>
                </a:solidFill>
                <a:highlight>
                  <a:schemeClr val="dk1"/>
                </a:highlight>
                <a:latin typeface="Quicksand"/>
                <a:ea typeface="Quicksand"/>
                <a:cs typeface="Quicksand"/>
                <a:sym typeface="Quicksand"/>
              </a:rPr>
              <a:t> syntax errors 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cannot be translated and executed.</a:t>
            </a:r>
            <a:endParaRPr b="1"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1969" r="1969" t="0"/>
          <a:stretch/>
        </p:blipFill>
        <p:spPr>
          <a:xfrm>
            <a:off x="4808037" y="410009"/>
            <a:ext cx="442631" cy="53832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4736600" y="3710153"/>
            <a:ext cx="40965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You can still make </a:t>
            </a:r>
            <a:r>
              <a:rPr lang="en-GB" sz="1800">
                <a:solidFill>
                  <a:srgbClr val="FFFFFF"/>
                </a:solidFill>
                <a:highlight>
                  <a:schemeClr val="dk1"/>
                </a:highlight>
                <a:latin typeface="Quicksand"/>
                <a:ea typeface="Quicksand"/>
                <a:cs typeface="Quicksand"/>
                <a:sym typeface="Quicksand"/>
              </a:rPr>
              <a:t> logical  errors 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! That’s when your program doesn’t work the way it should.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57" name="Google Shape;157;p18"/>
          <p:cNvPicPr preferRelativeResize="0"/>
          <p:nvPr/>
        </p:nvPicPr>
        <p:blipFill rotWithShape="1">
          <a:blip r:embed="rId4">
            <a:alphaModFix/>
          </a:blip>
          <a:srcRect b="39932" l="0" r="32184" t="0"/>
          <a:stretch/>
        </p:blipFill>
        <p:spPr>
          <a:xfrm>
            <a:off x="4830351" y="1289300"/>
            <a:ext cx="1693126" cy="126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/>
          <p:nvPr/>
        </p:nvSpPr>
        <p:spPr>
          <a:xfrm>
            <a:off x="310900" y="310900"/>
            <a:ext cx="8522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Syntax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63" name="Google Shape;16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5521" y="415992"/>
            <a:ext cx="449525" cy="54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4736600" y="2719545"/>
            <a:ext cx="40965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In Python, you can 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(</a:t>
            </a:r>
            <a:r>
              <a:rPr b="1" lang="en-GB" sz="1800">
                <a:solidFill>
                  <a:srgbClr val="FF0000"/>
                </a:solidFill>
                <a:latin typeface="Quicksand"/>
                <a:ea typeface="Quicksand"/>
                <a:cs typeface="Quicksand"/>
                <a:sym typeface="Quicksand"/>
              </a:rPr>
              <a:t>and you will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) 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make syntax errors. You will need to follow the syntax rules.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310900" y="1289300"/>
            <a:ext cx="40965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All programming languages have rules for </a:t>
            </a:r>
            <a:r>
              <a:rPr b="1"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syntax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, i.e.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how statements can be assembled.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310900" y="2394200"/>
            <a:ext cx="40965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Programs written in a programming language must follow its syntax.</a:t>
            </a:r>
            <a:endParaRPr b="1"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310900" y="3194300"/>
            <a:ext cx="40965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Programs with </a:t>
            </a:r>
            <a:r>
              <a:rPr b="1"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syntax errors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cannot be translated and executed.</a:t>
            </a:r>
            <a:endParaRPr b="1"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4736600" y="3862545"/>
            <a:ext cx="4096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S</a:t>
            </a: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yntax errors can be frustrating when you start learning a text-based programming language.</a:t>
            </a:r>
            <a:endParaRPr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4726200" y="1289312"/>
            <a:ext cx="40965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if remaining &lt; 10: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print("We are getting there")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else: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print("Still some way to go")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/>
        </p:nvSpPr>
        <p:spPr>
          <a:xfrm>
            <a:off x="310900" y="310900"/>
            <a:ext cx="8522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Syntax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6" name="Google Shape;176;p20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310900" y="1289300"/>
            <a:ext cx="44256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SyntaxError</a:t>
            </a:r>
            <a:r>
              <a:rPr lang="en-GB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: invalid syntax</a:t>
            </a:r>
            <a:endParaRPr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10900" y="1822700"/>
            <a:ext cx="44256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SyntaxError</a:t>
            </a:r>
            <a:r>
              <a:rPr lang="en-GB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: Missing parentheses in call to 'print'.</a:t>
            </a:r>
            <a:endParaRPr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310900" y="2508500"/>
            <a:ext cx="44256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SyntaxError</a:t>
            </a:r>
            <a:r>
              <a:rPr lang="en-GB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: EOL while scanning string literal</a:t>
            </a:r>
            <a:endParaRPr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5300" y="1259718"/>
            <a:ext cx="2063095" cy="214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6313250" y="2841164"/>
            <a:ext cx="19215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Has this happened to</a:t>
            </a:r>
            <a:endParaRPr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6237050" y="3044970"/>
            <a:ext cx="14400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0000" wrap="square" tIns="0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4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YOU</a:t>
            </a:r>
            <a:endParaRPr b="1" sz="4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7531702" y="3366238"/>
            <a:ext cx="256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?</a:t>
            </a:r>
            <a:endParaRPr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310900" y="3422900"/>
            <a:ext cx="40965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Don’t be overwhelmed by these errors. They are here to discourage the faint-hearted. </a:t>
            </a:r>
            <a:r>
              <a:rPr b="1"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You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can fix them!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310900" y="310900"/>
            <a:ext cx="8522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Your first steps in Python</a:t>
            </a:r>
            <a:endParaRPr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310900" y="1289300"/>
            <a:ext cx="4096500" cy="24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Use </a:t>
            </a:r>
            <a:r>
              <a:rPr lang="en-GB" sz="1800">
                <a:solidFill>
                  <a:srgbClr val="FFFFFF"/>
                </a:solidFill>
                <a:highlight>
                  <a:schemeClr val="dk1"/>
                </a:highlight>
                <a:latin typeface="Quicksand"/>
                <a:ea typeface="Quicksand"/>
                <a:cs typeface="Quicksand"/>
                <a:sym typeface="Quicksand"/>
              </a:rPr>
              <a:t> pair programming 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2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Driver</a:t>
            </a:r>
            <a:endParaRPr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Control the keyboard and mouse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Navigator</a:t>
            </a:r>
            <a:endParaRPr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Provide support and instructions.</a:t>
            </a:r>
            <a:endParaRPr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2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Alternate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between roles.</a:t>
            </a:r>
            <a:endParaRPr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92" name="Google Shape;19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600" y="1289307"/>
            <a:ext cx="4086099" cy="2724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/>
        </p:nvSpPr>
        <p:spPr>
          <a:xfrm>
            <a:off x="310900" y="310900"/>
            <a:ext cx="8522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Your first steps in Python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98" name="Google Shape;198;p22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4736600" y="1289300"/>
            <a:ext cx="4091400" cy="14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Every time you learn a new programming language, 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it’s a tradition to get your first program to say “hello”.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310900" y="1289300"/>
            <a:ext cx="44256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print("Hello world!")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201" name="Google Shape;201;p22"/>
          <p:cNvGrpSpPr/>
          <p:nvPr/>
        </p:nvGrpSpPr>
        <p:grpSpPr>
          <a:xfrm>
            <a:off x="4441389" y="2868591"/>
            <a:ext cx="3861850" cy="404400"/>
            <a:chOff x="4960850" y="3956300"/>
            <a:chExt cx="3861850" cy="404400"/>
          </a:xfrm>
        </p:grpSpPr>
        <p:sp>
          <p:nvSpPr>
            <p:cNvPr id="202" name="Google Shape;202;p22"/>
            <p:cNvSpPr txBox="1"/>
            <p:nvPr/>
          </p:nvSpPr>
          <p:spPr>
            <a:xfrm>
              <a:off x="5257800" y="3956300"/>
              <a:ext cx="3564900" cy="40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54000" wrap="square" tIns="91425">
              <a:noAutofit/>
            </a:bodyPr>
            <a:lstStyle/>
            <a:p>
              <a:pPr indent="0" lvl="0" marL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5B5BA5"/>
                  </a:solidFill>
                  <a:latin typeface="Quicksand"/>
                  <a:ea typeface="Quicksand"/>
                  <a:cs typeface="Quicksand"/>
                  <a:sym typeface="Quicksand"/>
                </a:rPr>
                <a:t>Live coding</a:t>
              </a:r>
              <a:endParaRPr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pic>
          <p:nvPicPr>
            <p:cNvPr id="203" name="Google Shape;203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60850" y="4030962"/>
              <a:ext cx="270000" cy="270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900" y="1274000"/>
            <a:ext cx="6000426" cy="323261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3"/>
          <p:cNvSpPr txBox="1"/>
          <p:nvPr/>
        </p:nvSpPr>
        <p:spPr>
          <a:xfrm>
            <a:off x="310900" y="310900"/>
            <a:ext cx="8522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Walk-through of the environment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10" name="Google Shape;210;p23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pic>
        <p:nvPicPr>
          <p:cNvPr id="211" name="Google Shape;21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900" y="1289300"/>
            <a:ext cx="6000436" cy="353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sp>
        <p:nvSpPr>
          <p:cNvPr id="217" name="Google Shape;217;p24"/>
          <p:cNvSpPr txBox="1"/>
          <p:nvPr/>
        </p:nvSpPr>
        <p:spPr>
          <a:xfrm>
            <a:off x="310900" y="310900"/>
            <a:ext cx="8522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Your first steps in Python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18" name="Google Shape;218;p24"/>
          <p:cNvSpPr txBox="1"/>
          <p:nvPr/>
        </p:nvSpPr>
        <p:spPr>
          <a:xfrm>
            <a:off x="310900" y="1292775"/>
            <a:ext cx="40965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Complete the </a:t>
            </a:r>
            <a:r>
              <a:rPr b="1"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first task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in your </a:t>
            </a:r>
            <a:r>
              <a:rPr b="1"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worksheet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to create your own ‘Hello world’ program.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219" name="Google Shape;21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600" y="1292775"/>
            <a:ext cx="3719437" cy="353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"/>
          <p:cNvSpPr txBox="1"/>
          <p:nvPr/>
        </p:nvSpPr>
        <p:spPr>
          <a:xfrm>
            <a:off x="310900" y="1289300"/>
            <a:ext cx="44256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print("Hello world!")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373736" y="1366575"/>
            <a:ext cx="578700" cy="271500"/>
          </a:xfrm>
          <a:prstGeom prst="rect">
            <a:avLst/>
          </a:prstGeom>
          <a:solidFill>
            <a:srgbClr val="5B5BA5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6" name="Google Shape;226;p25"/>
          <p:cNvGrpSpPr/>
          <p:nvPr/>
        </p:nvGrpSpPr>
        <p:grpSpPr>
          <a:xfrm>
            <a:off x="952426" y="1366575"/>
            <a:ext cx="1682332" cy="271500"/>
            <a:chOff x="952426" y="1366575"/>
            <a:chExt cx="1682332" cy="271500"/>
          </a:xfrm>
        </p:grpSpPr>
        <p:sp>
          <p:nvSpPr>
            <p:cNvPr id="227" name="Google Shape;227;p25"/>
            <p:cNvSpPr/>
            <p:nvPr/>
          </p:nvSpPr>
          <p:spPr>
            <a:xfrm>
              <a:off x="952426" y="1366575"/>
              <a:ext cx="96600" cy="271500"/>
            </a:xfrm>
            <a:prstGeom prst="rect">
              <a:avLst/>
            </a:prstGeom>
            <a:solidFill>
              <a:srgbClr val="5B5BA5">
                <a:alpha val="25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5"/>
            <p:cNvSpPr/>
            <p:nvPr/>
          </p:nvSpPr>
          <p:spPr>
            <a:xfrm>
              <a:off x="2538157" y="1366575"/>
              <a:ext cx="96600" cy="271500"/>
            </a:xfrm>
            <a:prstGeom prst="rect">
              <a:avLst/>
            </a:prstGeom>
            <a:solidFill>
              <a:srgbClr val="5B5BA5">
                <a:alpha val="25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9" name="Google Shape;229;p25"/>
          <p:cNvGrpSpPr/>
          <p:nvPr/>
        </p:nvGrpSpPr>
        <p:grpSpPr>
          <a:xfrm>
            <a:off x="1049026" y="1366575"/>
            <a:ext cx="1489132" cy="271500"/>
            <a:chOff x="1049026" y="1366575"/>
            <a:chExt cx="1489132" cy="271500"/>
          </a:xfrm>
        </p:grpSpPr>
        <p:sp>
          <p:nvSpPr>
            <p:cNvPr id="230" name="Google Shape;230;p25"/>
            <p:cNvSpPr/>
            <p:nvPr/>
          </p:nvSpPr>
          <p:spPr>
            <a:xfrm>
              <a:off x="1049026" y="1366575"/>
              <a:ext cx="96600" cy="271500"/>
            </a:xfrm>
            <a:prstGeom prst="rect">
              <a:avLst/>
            </a:prstGeom>
            <a:solidFill>
              <a:srgbClr val="5B5BA5">
                <a:alpha val="25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5"/>
            <p:cNvSpPr/>
            <p:nvPr/>
          </p:nvSpPr>
          <p:spPr>
            <a:xfrm>
              <a:off x="2441557" y="1366575"/>
              <a:ext cx="96600" cy="271500"/>
            </a:xfrm>
            <a:prstGeom prst="rect">
              <a:avLst/>
            </a:prstGeom>
            <a:solidFill>
              <a:srgbClr val="5B5BA5">
                <a:alpha val="25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2" name="Google Shape;232;p25"/>
          <p:cNvSpPr txBox="1"/>
          <p:nvPr/>
        </p:nvSpPr>
        <p:spPr>
          <a:xfrm>
            <a:off x="310900" y="310900"/>
            <a:ext cx="8522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Your first steps in Python: commentary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3" name="Google Shape;233;p25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sp>
        <p:nvSpPr>
          <p:cNvPr id="234" name="Google Shape;234;p25"/>
          <p:cNvSpPr txBox="1"/>
          <p:nvPr/>
        </p:nvSpPr>
        <p:spPr>
          <a:xfrm>
            <a:off x="4736600" y="3422900"/>
            <a:ext cx="40860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Have you used (single or double) </a:t>
            </a: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quotation marks around the message to be displayed?</a:t>
            </a:r>
            <a:endParaRPr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5" name="Google Shape;235;p25"/>
          <p:cNvSpPr txBox="1"/>
          <p:nvPr/>
        </p:nvSpPr>
        <p:spPr>
          <a:xfrm>
            <a:off x="4736600" y="2660900"/>
            <a:ext cx="40860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Have you used</a:t>
            </a: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(opening and closing) round brackets around the message to be displayed?</a:t>
            </a:r>
            <a:endParaRPr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236" name="Google Shape;236;p25"/>
          <p:cNvGrpSpPr/>
          <p:nvPr/>
        </p:nvGrpSpPr>
        <p:grpSpPr>
          <a:xfrm>
            <a:off x="4736583" y="1289300"/>
            <a:ext cx="4086088" cy="1085400"/>
            <a:chOff x="5257800" y="1289300"/>
            <a:chExt cx="3564900" cy="1085400"/>
          </a:xfrm>
        </p:grpSpPr>
        <p:sp>
          <p:nvSpPr>
            <p:cNvPr id="237" name="Google Shape;237;p25"/>
            <p:cNvSpPr txBox="1"/>
            <p:nvPr/>
          </p:nvSpPr>
          <p:spPr>
            <a:xfrm>
              <a:off x="5257800" y="1289300"/>
              <a:ext cx="35649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54000" wrap="square" tIns="91425">
              <a:noAutofit/>
            </a:bodyPr>
            <a:lstStyle/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>
                  <a:solidFill>
                    <a:srgbClr val="5B5BA5"/>
                  </a:solidFill>
                  <a:latin typeface="Quicksand"/>
                  <a:ea typeface="Quicksand"/>
                  <a:cs typeface="Quicksand"/>
                  <a:sym typeface="Quicksand"/>
                </a:rPr>
                <a:t>Checklist:</a:t>
              </a:r>
              <a:endParaRPr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8" name="Google Shape;238;p25"/>
            <p:cNvSpPr txBox="1"/>
            <p:nvPr/>
          </p:nvSpPr>
          <p:spPr>
            <a:xfrm>
              <a:off x="5257800" y="1746500"/>
              <a:ext cx="3564900" cy="6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54000" wrap="square" tIns="91425">
              <a:noAutofit/>
            </a:bodyPr>
            <a:lstStyle/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5B5BA5"/>
                  </a:solidFill>
                  <a:latin typeface="Quicksand"/>
                  <a:ea typeface="Quicksand"/>
                  <a:cs typeface="Quicksand"/>
                  <a:sym typeface="Quicksand"/>
                </a:rPr>
                <a:t>Have you spelt </a:t>
              </a:r>
              <a:r>
                <a:rPr lang="en-GB">
                  <a:solidFill>
                    <a:srgbClr val="5B5B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print</a:t>
              </a:r>
              <a:r>
                <a:rPr lang="en-GB">
                  <a:solidFill>
                    <a:srgbClr val="5B5BA5"/>
                  </a:solidFill>
                  <a:latin typeface="Quicksand"/>
                  <a:ea typeface="Quicksand"/>
                  <a:cs typeface="Quicksand"/>
                  <a:sym typeface="Quicksand"/>
                </a:rPr>
                <a:t> correctly?</a:t>
              </a:r>
              <a:endParaRPr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endParaRPr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>
                  <a:solidFill>
                    <a:srgbClr val="5B5BA5"/>
                  </a:solidFill>
                  <a:latin typeface="Quicksand"/>
                  <a:ea typeface="Quicksand"/>
                  <a:cs typeface="Quicksand"/>
                  <a:sym typeface="Quicksand"/>
                </a:rPr>
                <a:t>Python is case-sensitive: using capitals makes a difference.</a:t>
              </a:r>
              <a:endParaRPr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239" name="Google Shape;239;p25"/>
          <p:cNvGrpSpPr/>
          <p:nvPr/>
        </p:nvGrpSpPr>
        <p:grpSpPr>
          <a:xfrm>
            <a:off x="4487810" y="1857595"/>
            <a:ext cx="187374" cy="202642"/>
            <a:chOff x="2928963" y="2771995"/>
            <a:chExt cx="187374" cy="202642"/>
          </a:xfrm>
        </p:grpSpPr>
        <p:sp>
          <p:nvSpPr>
            <p:cNvPr id="240" name="Google Shape;240;p25"/>
            <p:cNvSpPr txBox="1"/>
            <p:nvPr/>
          </p:nvSpPr>
          <p:spPr>
            <a:xfrm>
              <a:off x="2936336" y="2771995"/>
              <a:ext cx="1800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>
                  <a:solidFill>
                    <a:srgbClr val="5B5BA5"/>
                  </a:solidFill>
                  <a:latin typeface="Quicksand"/>
                  <a:ea typeface="Quicksand"/>
                  <a:cs typeface="Quicksand"/>
                  <a:sym typeface="Quicksand"/>
                </a:rPr>
                <a:t>✔</a:t>
              </a:r>
              <a:endParaRPr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1" name="Google Shape;241;p25"/>
            <p:cNvSpPr/>
            <p:nvPr/>
          </p:nvSpPr>
          <p:spPr>
            <a:xfrm>
              <a:off x="2928963" y="2794637"/>
              <a:ext cx="180000" cy="1800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2" name="Google Shape;242;p25"/>
          <p:cNvGrpSpPr/>
          <p:nvPr/>
        </p:nvGrpSpPr>
        <p:grpSpPr>
          <a:xfrm>
            <a:off x="4487810" y="2771995"/>
            <a:ext cx="187374" cy="202642"/>
            <a:chOff x="2928963" y="2771995"/>
            <a:chExt cx="187374" cy="202642"/>
          </a:xfrm>
        </p:grpSpPr>
        <p:sp>
          <p:nvSpPr>
            <p:cNvPr id="243" name="Google Shape;243;p25"/>
            <p:cNvSpPr txBox="1"/>
            <p:nvPr/>
          </p:nvSpPr>
          <p:spPr>
            <a:xfrm>
              <a:off x="2936336" y="2771995"/>
              <a:ext cx="1800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>
                  <a:solidFill>
                    <a:srgbClr val="5B5BA5"/>
                  </a:solidFill>
                  <a:latin typeface="Quicksand"/>
                  <a:ea typeface="Quicksand"/>
                  <a:cs typeface="Quicksand"/>
                  <a:sym typeface="Quicksand"/>
                </a:rPr>
                <a:t>✔</a:t>
              </a:r>
              <a:endParaRPr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4" name="Google Shape;244;p25"/>
            <p:cNvSpPr/>
            <p:nvPr/>
          </p:nvSpPr>
          <p:spPr>
            <a:xfrm>
              <a:off x="2928963" y="2794637"/>
              <a:ext cx="180000" cy="1800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" name="Google Shape;245;p25"/>
          <p:cNvGrpSpPr/>
          <p:nvPr/>
        </p:nvGrpSpPr>
        <p:grpSpPr>
          <a:xfrm>
            <a:off x="4487810" y="3533995"/>
            <a:ext cx="187374" cy="202642"/>
            <a:chOff x="2928963" y="2771995"/>
            <a:chExt cx="187374" cy="202642"/>
          </a:xfrm>
        </p:grpSpPr>
        <p:sp>
          <p:nvSpPr>
            <p:cNvPr id="246" name="Google Shape;246;p25"/>
            <p:cNvSpPr txBox="1"/>
            <p:nvPr/>
          </p:nvSpPr>
          <p:spPr>
            <a:xfrm>
              <a:off x="2936336" y="2771995"/>
              <a:ext cx="1800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>
                  <a:solidFill>
                    <a:srgbClr val="5B5BA5"/>
                  </a:solidFill>
                  <a:latin typeface="Quicksand"/>
                  <a:ea typeface="Quicksand"/>
                  <a:cs typeface="Quicksand"/>
                  <a:sym typeface="Quicksand"/>
                </a:rPr>
                <a:t>✔</a:t>
              </a:r>
              <a:endParaRPr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7" name="Google Shape;247;p25"/>
            <p:cNvSpPr/>
            <p:nvPr/>
          </p:nvSpPr>
          <p:spPr>
            <a:xfrm>
              <a:off x="2928963" y="2794637"/>
              <a:ext cx="180000" cy="1800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"/>
          <p:cNvSpPr txBox="1"/>
          <p:nvPr/>
        </p:nvSpPr>
        <p:spPr>
          <a:xfrm>
            <a:off x="310900" y="1289300"/>
            <a:ext cx="44256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print("Hello world!")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3" name="Google Shape;253;p26"/>
          <p:cNvSpPr txBox="1"/>
          <p:nvPr/>
        </p:nvSpPr>
        <p:spPr>
          <a:xfrm>
            <a:off x="310900" y="310900"/>
            <a:ext cx="8522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Your first steps in Python: commentary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54" name="Google Shape;254;p26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pic>
        <p:nvPicPr>
          <p:cNvPr id="255" name="Google Shape;255;p26"/>
          <p:cNvPicPr preferRelativeResize="0"/>
          <p:nvPr/>
        </p:nvPicPr>
        <p:blipFill rotWithShape="1">
          <a:blip r:embed="rId3">
            <a:alphaModFix/>
          </a:blip>
          <a:srcRect b="57713" l="0" r="32450" t="0"/>
          <a:stretch/>
        </p:blipFill>
        <p:spPr>
          <a:xfrm>
            <a:off x="387111" y="2052393"/>
            <a:ext cx="1772190" cy="62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6"/>
          <p:cNvSpPr txBox="1"/>
          <p:nvPr/>
        </p:nvSpPr>
        <p:spPr>
          <a:xfrm>
            <a:off x="4736600" y="1289300"/>
            <a:ext cx="4096500" cy="968700"/>
          </a:xfrm>
          <a:prstGeom prst="rect">
            <a:avLst/>
          </a:prstGeom>
          <a:solidFill>
            <a:srgbClr val="5B5BA5"/>
          </a:solidFill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You will need the </a:t>
            </a:r>
            <a:r>
              <a:rPr lang="en-GB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GB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function</a:t>
            </a:r>
            <a:r>
              <a:rPr lang="en-GB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:</a:t>
            </a:r>
            <a:endParaRPr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when your program must display text, numbers, or the values of variables and expressions.</a:t>
            </a:r>
            <a:endParaRPr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sp>
        <p:nvSpPr>
          <p:cNvPr id="262" name="Google Shape;262;p27"/>
          <p:cNvSpPr txBox="1"/>
          <p:nvPr/>
        </p:nvSpPr>
        <p:spPr>
          <a:xfrm>
            <a:off x="310900" y="310900"/>
            <a:ext cx="8522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Your first steps in Python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63" name="Google Shape;263;p27"/>
          <p:cNvSpPr txBox="1"/>
          <p:nvPr/>
        </p:nvSpPr>
        <p:spPr>
          <a:xfrm>
            <a:off x="310900" y="1292775"/>
            <a:ext cx="40965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Complete the </a:t>
            </a:r>
            <a:r>
              <a:rPr b="1"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second</a:t>
            </a:r>
            <a:r>
              <a:rPr b="1"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task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in your </a:t>
            </a:r>
            <a:r>
              <a:rPr b="1"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worksheet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to greet the user by name.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264" name="Google Shape;26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600" y="1289300"/>
            <a:ext cx="4096500" cy="3286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8"/>
          <p:cNvSpPr txBox="1"/>
          <p:nvPr/>
        </p:nvSpPr>
        <p:spPr>
          <a:xfrm>
            <a:off x="310900" y="1289300"/>
            <a:ext cx="44256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user =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"Claude"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print("Hello", user)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0" name="Google Shape;270;p28"/>
          <p:cNvSpPr/>
          <p:nvPr/>
        </p:nvSpPr>
        <p:spPr>
          <a:xfrm>
            <a:off x="373725" y="1352100"/>
            <a:ext cx="1625400" cy="271500"/>
          </a:xfrm>
          <a:prstGeom prst="rect">
            <a:avLst/>
          </a:prstGeom>
          <a:solidFill>
            <a:srgbClr val="5B5BA5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8"/>
          <p:cNvSpPr/>
          <p:nvPr/>
        </p:nvSpPr>
        <p:spPr>
          <a:xfrm>
            <a:off x="917402" y="1352100"/>
            <a:ext cx="143700" cy="271500"/>
          </a:xfrm>
          <a:prstGeom prst="rect">
            <a:avLst/>
          </a:prstGeom>
          <a:solidFill>
            <a:srgbClr val="5B5BA5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8"/>
          <p:cNvSpPr txBox="1"/>
          <p:nvPr/>
        </p:nvSpPr>
        <p:spPr>
          <a:xfrm>
            <a:off x="310900" y="310900"/>
            <a:ext cx="8522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Your first steps in Python: commentary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73" name="Google Shape;273;p28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sp>
        <p:nvSpPr>
          <p:cNvPr id="274" name="Google Shape;274;p28"/>
          <p:cNvSpPr/>
          <p:nvPr/>
        </p:nvSpPr>
        <p:spPr>
          <a:xfrm>
            <a:off x="373725" y="1352100"/>
            <a:ext cx="480000" cy="271500"/>
          </a:xfrm>
          <a:prstGeom prst="rect">
            <a:avLst/>
          </a:prstGeom>
          <a:solidFill>
            <a:srgbClr val="5B5BA5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8"/>
          <p:cNvSpPr txBox="1"/>
          <p:nvPr/>
        </p:nvSpPr>
        <p:spPr>
          <a:xfrm>
            <a:off x="4736600" y="2432300"/>
            <a:ext cx="40860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5B5BA5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is a variable, i.e.</a:t>
            </a: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a name for a value.</a:t>
            </a:r>
            <a:endParaRPr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76" name="Google Shape;276;p28"/>
          <p:cNvSpPr txBox="1"/>
          <p:nvPr/>
        </p:nvSpPr>
        <p:spPr>
          <a:xfrm>
            <a:off x="4736600" y="2846225"/>
            <a:ext cx="40860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The variable </a:t>
            </a:r>
            <a:r>
              <a:rPr lang="en-GB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en-GB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currently refers to t</a:t>
            </a:r>
            <a:r>
              <a:rPr lang="en-GB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he value </a:t>
            </a:r>
            <a:r>
              <a:rPr lang="en-GB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"Claude"</a:t>
            </a:r>
            <a:r>
              <a:rPr lang="en-GB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. 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77" name="Google Shape;277;p28"/>
          <p:cNvSpPr txBox="1"/>
          <p:nvPr/>
        </p:nvSpPr>
        <p:spPr>
          <a:xfrm>
            <a:off x="4736600" y="3566675"/>
            <a:ext cx="40860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The </a:t>
            </a:r>
            <a:r>
              <a:rPr lang="en-GB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quotation marks around the value show the </a:t>
            </a:r>
            <a:r>
              <a:rPr b="1" lang="en-GB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type</a:t>
            </a:r>
            <a:r>
              <a:rPr lang="en-GB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of the value: it is a </a:t>
            </a:r>
            <a:r>
              <a:rPr b="1" lang="en-GB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string</a:t>
            </a:r>
            <a:r>
              <a:rPr lang="en-GB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(a piece of text).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278" name="Google Shape;278;p28"/>
          <p:cNvGrpSpPr/>
          <p:nvPr/>
        </p:nvGrpSpPr>
        <p:grpSpPr>
          <a:xfrm>
            <a:off x="1147753" y="1352100"/>
            <a:ext cx="851366" cy="271500"/>
            <a:chOff x="1576017" y="1352100"/>
            <a:chExt cx="851366" cy="271500"/>
          </a:xfrm>
        </p:grpSpPr>
        <p:sp>
          <p:nvSpPr>
            <p:cNvPr id="279" name="Google Shape;279;p28"/>
            <p:cNvSpPr/>
            <p:nvPr/>
          </p:nvSpPr>
          <p:spPr>
            <a:xfrm>
              <a:off x="1576017" y="1352100"/>
              <a:ext cx="96600" cy="271500"/>
            </a:xfrm>
            <a:prstGeom prst="rect">
              <a:avLst/>
            </a:prstGeom>
            <a:solidFill>
              <a:srgbClr val="5B5BA5">
                <a:alpha val="25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8"/>
            <p:cNvSpPr/>
            <p:nvPr/>
          </p:nvSpPr>
          <p:spPr>
            <a:xfrm>
              <a:off x="2330782" y="1352100"/>
              <a:ext cx="96600" cy="271500"/>
            </a:xfrm>
            <a:prstGeom prst="rect">
              <a:avLst/>
            </a:prstGeom>
            <a:solidFill>
              <a:srgbClr val="5B5BA5">
                <a:alpha val="25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81" name="Google Shape;281;p28"/>
          <p:cNvPicPr preferRelativeResize="0"/>
          <p:nvPr/>
        </p:nvPicPr>
        <p:blipFill rotWithShape="1">
          <a:blip r:embed="rId3">
            <a:alphaModFix/>
          </a:blip>
          <a:srcRect b="58073" l="0" r="32171" t="0"/>
          <a:stretch/>
        </p:blipFill>
        <p:spPr>
          <a:xfrm>
            <a:off x="373725" y="2472200"/>
            <a:ext cx="1968700" cy="52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8"/>
          <p:cNvSpPr txBox="1"/>
          <p:nvPr/>
        </p:nvSpPr>
        <p:spPr>
          <a:xfrm>
            <a:off x="4731350" y="1289300"/>
            <a:ext cx="4096500" cy="968700"/>
          </a:xfrm>
          <a:prstGeom prst="rect">
            <a:avLst/>
          </a:prstGeom>
          <a:solidFill>
            <a:srgbClr val="5B5BA5"/>
          </a:solidFill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You will need an assignment statement:</a:t>
            </a:r>
            <a:endParaRPr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when your program must use a name</a:t>
            </a:r>
            <a:endParaRPr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(an identifier) to keep track of a value.</a:t>
            </a:r>
            <a:endParaRPr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9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sp>
        <p:nvSpPr>
          <p:cNvPr id="288" name="Google Shape;288;p29"/>
          <p:cNvSpPr txBox="1"/>
          <p:nvPr/>
        </p:nvSpPr>
        <p:spPr>
          <a:xfrm>
            <a:off x="310900" y="310900"/>
            <a:ext cx="8522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Your first steps in Python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89" name="Google Shape;289;p29"/>
          <p:cNvSpPr txBox="1"/>
          <p:nvPr/>
        </p:nvSpPr>
        <p:spPr>
          <a:xfrm>
            <a:off x="310900" y="1292775"/>
            <a:ext cx="40965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Complete the </a:t>
            </a:r>
            <a:r>
              <a:rPr b="1"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third task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in your </a:t>
            </a:r>
            <a:r>
              <a:rPr b="1"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worksheet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290" name="Google Shape;29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600" y="1292775"/>
            <a:ext cx="3685551" cy="353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/>
          <p:cNvSpPr txBox="1"/>
          <p:nvPr/>
        </p:nvSpPr>
        <p:spPr>
          <a:xfrm>
            <a:off x="310900" y="1289300"/>
            <a:ext cx="4425600" cy="1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user = "Claude"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print("Hello", user)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lucky = 13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print("My lucky number is", lucky)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6" name="Google Shape;296;p30"/>
          <p:cNvSpPr txBox="1"/>
          <p:nvPr/>
        </p:nvSpPr>
        <p:spPr>
          <a:xfrm>
            <a:off x="310900" y="310900"/>
            <a:ext cx="8522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Your first steps in Python: commentary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sp>
        <p:nvSpPr>
          <p:cNvPr id="298" name="Google Shape;298;p30"/>
          <p:cNvSpPr txBox="1"/>
          <p:nvPr/>
        </p:nvSpPr>
        <p:spPr>
          <a:xfrm>
            <a:off x="5257800" y="2051300"/>
            <a:ext cx="3564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99" name="Google Shape;299;p30"/>
          <p:cNvSpPr txBox="1"/>
          <p:nvPr/>
        </p:nvSpPr>
        <p:spPr>
          <a:xfrm>
            <a:off x="5257800" y="2051300"/>
            <a:ext cx="35649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B5BA5"/>
                </a:solidFill>
                <a:latin typeface="Roboto Mono"/>
                <a:ea typeface="Roboto Mono"/>
                <a:cs typeface="Roboto Mono"/>
                <a:sym typeface="Roboto Mono"/>
              </a:rPr>
              <a:t>lucky</a:t>
            </a: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is another variable. </a:t>
            </a:r>
            <a:endParaRPr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It is assigned an </a:t>
            </a:r>
            <a:r>
              <a:rPr b="1"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integer</a:t>
            </a: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value.</a:t>
            </a:r>
            <a:endParaRPr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00" name="Google Shape;300;p30"/>
          <p:cNvSpPr/>
          <p:nvPr/>
        </p:nvSpPr>
        <p:spPr>
          <a:xfrm>
            <a:off x="373725" y="2099625"/>
            <a:ext cx="1152600" cy="271500"/>
          </a:xfrm>
          <a:prstGeom prst="rect">
            <a:avLst/>
          </a:prstGeom>
          <a:solidFill>
            <a:srgbClr val="5B5BA5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0"/>
          <p:cNvSpPr txBox="1"/>
          <p:nvPr/>
        </p:nvSpPr>
        <p:spPr>
          <a:xfrm>
            <a:off x="5257800" y="2813300"/>
            <a:ext cx="3564900" cy="8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It is useful to </a:t>
            </a:r>
            <a:r>
              <a:rPr b="1" lang="en-GB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sketch</a:t>
            </a:r>
            <a:r>
              <a:rPr lang="en-GB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GB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variables and their corresponding values, as they change during program execution.</a:t>
            </a:r>
            <a:endParaRPr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302" name="Google Shape;302;p30"/>
          <p:cNvGrpSpPr/>
          <p:nvPr/>
        </p:nvGrpSpPr>
        <p:grpSpPr>
          <a:xfrm>
            <a:off x="5257800" y="3824182"/>
            <a:ext cx="1920858" cy="361800"/>
            <a:chOff x="5257800" y="2390850"/>
            <a:chExt cx="1920858" cy="361800"/>
          </a:xfrm>
        </p:grpSpPr>
        <p:sp>
          <p:nvSpPr>
            <p:cNvPr id="303" name="Google Shape;303;p30"/>
            <p:cNvSpPr txBox="1"/>
            <p:nvPr/>
          </p:nvSpPr>
          <p:spPr>
            <a:xfrm>
              <a:off x="5257800" y="2390850"/>
              <a:ext cx="732000" cy="3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Roboto Mono"/>
                  <a:ea typeface="Roboto Mono"/>
                  <a:cs typeface="Roboto Mono"/>
                  <a:sym typeface="Roboto Mono"/>
                </a:rPr>
                <a:t>user</a:t>
              </a:r>
              <a:endParaRPr/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6026058" y="2414700"/>
              <a:ext cx="1152600" cy="3141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91425" spcFirstLastPara="1" rIns="91425" wrap="square" tIns="180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Roboto Mono"/>
                  <a:ea typeface="Roboto Mono"/>
                  <a:cs typeface="Roboto Mono"/>
                  <a:sym typeface="Roboto Mono"/>
                </a:rPr>
                <a:t>"Claude"</a:t>
              </a:r>
              <a:endParaRPr/>
            </a:p>
          </p:txBody>
        </p:sp>
      </p:grpSp>
      <p:grpSp>
        <p:nvGrpSpPr>
          <p:cNvPr id="305" name="Google Shape;305;p30"/>
          <p:cNvGrpSpPr/>
          <p:nvPr/>
        </p:nvGrpSpPr>
        <p:grpSpPr>
          <a:xfrm>
            <a:off x="5257800" y="4205182"/>
            <a:ext cx="1920858" cy="361800"/>
            <a:chOff x="5257800" y="2771850"/>
            <a:chExt cx="1920858" cy="361800"/>
          </a:xfrm>
        </p:grpSpPr>
        <p:sp>
          <p:nvSpPr>
            <p:cNvPr id="306" name="Google Shape;306;p30"/>
            <p:cNvSpPr txBox="1"/>
            <p:nvPr/>
          </p:nvSpPr>
          <p:spPr>
            <a:xfrm>
              <a:off x="5257800" y="2771850"/>
              <a:ext cx="732000" cy="3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Roboto Mono"/>
                  <a:ea typeface="Roboto Mono"/>
                  <a:cs typeface="Roboto Mono"/>
                  <a:sym typeface="Roboto Mono"/>
                </a:rPr>
                <a:t>lucky</a:t>
              </a:r>
              <a:endParaRPr/>
            </a:p>
          </p:txBody>
        </p:sp>
        <p:sp>
          <p:nvSpPr>
            <p:cNvPr id="307" name="Google Shape;307;p30"/>
            <p:cNvSpPr/>
            <p:nvPr/>
          </p:nvSpPr>
          <p:spPr>
            <a:xfrm>
              <a:off x="6026058" y="2795700"/>
              <a:ext cx="1152600" cy="3141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91425" spcFirstLastPara="1" rIns="91425" wrap="square" tIns="180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Roboto Mono"/>
                  <a:ea typeface="Roboto Mono"/>
                  <a:cs typeface="Roboto Mono"/>
                  <a:sym typeface="Roboto Mono"/>
                </a:rPr>
                <a:t>13</a:t>
              </a:r>
              <a:endParaRPr/>
            </a:p>
          </p:txBody>
        </p:sp>
      </p:grpSp>
      <p:sp>
        <p:nvSpPr>
          <p:cNvPr id="308" name="Google Shape;308;p30"/>
          <p:cNvSpPr/>
          <p:nvPr/>
        </p:nvSpPr>
        <p:spPr>
          <a:xfrm>
            <a:off x="373725" y="1352100"/>
            <a:ext cx="1625400" cy="271500"/>
          </a:xfrm>
          <a:prstGeom prst="rect">
            <a:avLst/>
          </a:prstGeom>
          <a:solidFill>
            <a:srgbClr val="5B5BA5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0"/>
          <p:cNvSpPr txBox="1"/>
          <p:nvPr/>
        </p:nvSpPr>
        <p:spPr>
          <a:xfrm>
            <a:off x="5257800" y="1352100"/>
            <a:ext cx="35649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B5BA5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is a variable. </a:t>
            </a:r>
            <a:endParaRPr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It is assigned a </a:t>
            </a:r>
            <a:r>
              <a:rPr b="1"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string</a:t>
            </a: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value.</a:t>
            </a:r>
            <a:endParaRPr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sp>
        <p:nvSpPr>
          <p:cNvPr id="315" name="Google Shape;315;p31"/>
          <p:cNvSpPr txBox="1"/>
          <p:nvPr/>
        </p:nvSpPr>
        <p:spPr>
          <a:xfrm>
            <a:off x="310900" y="310900"/>
            <a:ext cx="8522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Your first steps in Python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10900" y="1292775"/>
            <a:ext cx="40965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Complete the </a:t>
            </a:r>
            <a:r>
              <a:rPr b="1"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final</a:t>
            </a:r>
            <a:r>
              <a:rPr b="1"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task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in your </a:t>
            </a:r>
            <a:r>
              <a:rPr b="1"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worksheet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, to make your program receive input from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the user.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317" name="Google Shape;31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600" y="1289300"/>
            <a:ext cx="3904590" cy="353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2"/>
          <p:cNvSpPr txBox="1"/>
          <p:nvPr/>
        </p:nvSpPr>
        <p:spPr>
          <a:xfrm>
            <a:off x="310900" y="1289300"/>
            <a:ext cx="4425600" cy="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print(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"What’s your name?"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user = input()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print("Hello", user)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3" name="Google Shape;323;p32"/>
          <p:cNvSpPr/>
          <p:nvPr/>
        </p:nvSpPr>
        <p:spPr>
          <a:xfrm>
            <a:off x="348475" y="1594650"/>
            <a:ext cx="1547400" cy="271500"/>
          </a:xfrm>
          <a:prstGeom prst="rect">
            <a:avLst/>
          </a:prstGeom>
          <a:solidFill>
            <a:srgbClr val="5B5BA5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2"/>
          <p:cNvSpPr txBox="1"/>
          <p:nvPr/>
        </p:nvSpPr>
        <p:spPr>
          <a:xfrm>
            <a:off x="310900" y="310900"/>
            <a:ext cx="8522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Your first steps in Python: commentary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25" name="Google Shape;325;p32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sp>
        <p:nvSpPr>
          <p:cNvPr id="326" name="Google Shape;326;p32"/>
          <p:cNvSpPr txBox="1"/>
          <p:nvPr/>
        </p:nvSpPr>
        <p:spPr>
          <a:xfrm>
            <a:off x="5257800" y="1289300"/>
            <a:ext cx="3564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27" name="Google Shape;327;p32"/>
          <p:cNvSpPr txBox="1"/>
          <p:nvPr/>
        </p:nvSpPr>
        <p:spPr>
          <a:xfrm>
            <a:off x="5257800" y="1289300"/>
            <a:ext cx="35649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28" name="Google Shape;328;p32"/>
          <p:cNvSpPr/>
          <p:nvPr/>
        </p:nvSpPr>
        <p:spPr>
          <a:xfrm>
            <a:off x="1100125" y="1594650"/>
            <a:ext cx="795600" cy="271500"/>
          </a:xfrm>
          <a:prstGeom prst="rect">
            <a:avLst/>
          </a:prstGeom>
          <a:solidFill>
            <a:srgbClr val="5B5BA5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9" name="Google Shape;329;p32"/>
          <p:cNvPicPr preferRelativeResize="0"/>
          <p:nvPr/>
        </p:nvPicPr>
        <p:blipFill rotWithShape="1">
          <a:blip r:embed="rId3">
            <a:alphaModFix/>
          </a:blip>
          <a:srcRect b="49402" l="0" r="32207" t="0"/>
          <a:stretch/>
        </p:blipFill>
        <p:spPr>
          <a:xfrm>
            <a:off x="387100" y="3111225"/>
            <a:ext cx="2635299" cy="9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2"/>
          <p:cNvSpPr txBox="1"/>
          <p:nvPr/>
        </p:nvSpPr>
        <p:spPr>
          <a:xfrm>
            <a:off x="4726200" y="2965702"/>
            <a:ext cx="4096500" cy="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The text typed by the user is </a:t>
            </a:r>
            <a:r>
              <a:rPr b="1"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assigned</a:t>
            </a: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to the </a:t>
            </a:r>
            <a:r>
              <a:rPr lang="en-GB">
                <a:solidFill>
                  <a:srgbClr val="5B5BA5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variable.</a:t>
            </a:r>
            <a:endParaRPr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31" name="Google Shape;331;p32"/>
          <p:cNvSpPr txBox="1"/>
          <p:nvPr/>
        </p:nvSpPr>
        <p:spPr>
          <a:xfrm>
            <a:off x="4726200" y="2356100"/>
            <a:ext cx="40965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When </a:t>
            </a:r>
            <a:r>
              <a:rPr lang="en-GB">
                <a:solidFill>
                  <a:srgbClr val="5B5BA5"/>
                </a:solidFill>
                <a:latin typeface="Roboto Mono"/>
                <a:ea typeface="Roboto Mono"/>
                <a:cs typeface="Roboto Mono"/>
                <a:sym typeface="Roboto Mono"/>
              </a:rPr>
              <a:t>input</a:t>
            </a: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is invoked, the program pauses, </a:t>
            </a: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waiting for keyboard input. </a:t>
            </a:r>
            <a:endParaRPr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32" name="Google Shape;332;p32"/>
          <p:cNvSpPr/>
          <p:nvPr/>
        </p:nvSpPr>
        <p:spPr>
          <a:xfrm>
            <a:off x="1952264" y="1844150"/>
            <a:ext cx="501000" cy="271500"/>
          </a:xfrm>
          <a:prstGeom prst="rect">
            <a:avLst/>
          </a:prstGeom>
          <a:solidFill>
            <a:srgbClr val="5B5BA5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/>
        </p:nvSpPr>
        <p:spPr>
          <a:xfrm>
            <a:off x="4726200" y="3582273"/>
            <a:ext cx="4096500" cy="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We can refer to the value of </a:t>
            </a:r>
            <a:r>
              <a:rPr lang="en-GB">
                <a:solidFill>
                  <a:srgbClr val="5B5BA5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in the </a:t>
            </a: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program </a:t>
            </a: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without knowing what it will be. </a:t>
            </a:r>
            <a:endParaRPr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34" name="Google Shape;334;p32"/>
          <p:cNvSpPr txBox="1"/>
          <p:nvPr/>
        </p:nvSpPr>
        <p:spPr>
          <a:xfrm>
            <a:off x="4736600" y="1289300"/>
            <a:ext cx="4096500" cy="957300"/>
          </a:xfrm>
          <a:prstGeom prst="rect">
            <a:avLst/>
          </a:prstGeom>
          <a:solidFill>
            <a:srgbClr val="5B5BA5"/>
          </a:solidFill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You will need the </a:t>
            </a:r>
            <a:r>
              <a:rPr lang="en-GB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input</a:t>
            </a:r>
            <a:r>
              <a:rPr lang="en-GB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function:</a:t>
            </a:r>
            <a:endParaRPr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when your program must receive keyboard input from the user.</a:t>
            </a:r>
            <a:endParaRPr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3"/>
          <p:cNvSpPr txBox="1"/>
          <p:nvPr/>
        </p:nvSpPr>
        <p:spPr>
          <a:xfrm>
            <a:off x="310900" y="1289300"/>
            <a:ext cx="4425600" cy="9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print(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"Best film ever?"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film = input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print(film, "is my favourite too!")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0" name="Google Shape;340;p33"/>
          <p:cNvSpPr/>
          <p:nvPr/>
        </p:nvSpPr>
        <p:spPr>
          <a:xfrm>
            <a:off x="373725" y="1601600"/>
            <a:ext cx="1549800" cy="271500"/>
          </a:xfrm>
          <a:prstGeom prst="rect">
            <a:avLst/>
          </a:prstGeom>
          <a:solidFill>
            <a:srgbClr val="5B5BA5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3"/>
          <p:cNvSpPr txBox="1"/>
          <p:nvPr/>
        </p:nvSpPr>
        <p:spPr>
          <a:xfrm>
            <a:off x="310900" y="310900"/>
            <a:ext cx="8522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Python recap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42" name="Google Shape;342;p33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3</a:t>
            </a:r>
            <a:endParaRPr/>
          </a:p>
        </p:txBody>
      </p:sp>
      <p:sp>
        <p:nvSpPr>
          <p:cNvPr id="343" name="Google Shape;343;p33"/>
          <p:cNvSpPr txBox="1"/>
          <p:nvPr/>
        </p:nvSpPr>
        <p:spPr>
          <a:xfrm>
            <a:off x="4736600" y="1822700"/>
            <a:ext cx="40965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A5"/>
              </a:buClr>
              <a:buSzPts val="1800"/>
              <a:buFont typeface="Quicksand"/>
              <a:buChar char="●"/>
            </a:pPr>
            <a:r>
              <a:rPr b="1"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D</a:t>
            </a:r>
            <a:r>
              <a:rPr b="1"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isplay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a message for the user on the screen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44" name="Google Shape;344;p33"/>
          <p:cNvSpPr txBox="1"/>
          <p:nvPr/>
        </p:nvSpPr>
        <p:spPr>
          <a:xfrm>
            <a:off x="4736600" y="1289300"/>
            <a:ext cx="40965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Locate the fragment(s) of code that:</a:t>
            </a:r>
            <a:r>
              <a:rPr lang="en-GB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45" name="Google Shape;345;p33"/>
          <p:cNvSpPr txBox="1"/>
          <p:nvPr/>
        </p:nvSpPr>
        <p:spPr>
          <a:xfrm>
            <a:off x="4736600" y="2643476"/>
            <a:ext cx="40965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A5"/>
              </a:buClr>
              <a:buSzPts val="1800"/>
              <a:buFont typeface="Quicksand"/>
              <a:buChar char="●"/>
            </a:pPr>
            <a:r>
              <a:rPr b="1"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Retrieve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what the user types on the keyboard 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46" name="Google Shape;346;p33"/>
          <p:cNvSpPr txBox="1"/>
          <p:nvPr/>
        </p:nvSpPr>
        <p:spPr>
          <a:xfrm>
            <a:off x="4736600" y="3464250"/>
            <a:ext cx="40965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4000" wrap="square" tIns="91425">
            <a:noAutofit/>
          </a:bodyPr>
          <a:lstStyle/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A5"/>
              </a:buClr>
              <a:buSzPts val="1800"/>
              <a:buFont typeface="Quicksand"/>
              <a:buChar char="●"/>
            </a:pPr>
            <a:r>
              <a:rPr b="1"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b="1"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ssign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a value to a variable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347" name="Google Shape;347;p33"/>
          <p:cNvGrpSpPr/>
          <p:nvPr/>
        </p:nvGrpSpPr>
        <p:grpSpPr>
          <a:xfrm>
            <a:off x="373725" y="1352100"/>
            <a:ext cx="3780000" cy="770520"/>
            <a:chOff x="373725" y="1352100"/>
            <a:chExt cx="3780000" cy="770520"/>
          </a:xfrm>
        </p:grpSpPr>
        <p:sp>
          <p:nvSpPr>
            <p:cNvPr id="348" name="Google Shape;348;p33"/>
            <p:cNvSpPr/>
            <p:nvPr/>
          </p:nvSpPr>
          <p:spPr>
            <a:xfrm>
              <a:off x="373725" y="1352100"/>
              <a:ext cx="2602200" cy="271500"/>
            </a:xfrm>
            <a:prstGeom prst="rect">
              <a:avLst/>
            </a:prstGeom>
            <a:solidFill>
              <a:srgbClr val="5B5BA5">
                <a:alpha val="25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3"/>
            <p:cNvSpPr/>
            <p:nvPr/>
          </p:nvSpPr>
          <p:spPr>
            <a:xfrm>
              <a:off x="373725" y="1851120"/>
              <a:ext cx="3780000" cy="271500"/>
            </a:xfrm>
            <a:prstGeom prst="rect">
              <a:avLst/>
            </a:prstGeom>
            <a:solidFill>
              <a:srgbClr val="5B5BA5">
                <a:alpha val="25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0" name="Google Shape;350;p33"/>
          <p:cNvSpPr/>
          <p:nvPr/>
        </p:nvSpPr>
        <p:spPr>
          <a:xfrm>
            <a:off x="1100877" y="1601600"/>
            <a:ext cx="822600" cy="271500"/>
          </a:xfrm>
          <a:prstGeom prst="rect">
            <a:avLst/>
          </a:prstGeom>
          <a:solidFill>
            <a:srgbClr val="5B5BA5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356" name="Google Shape;356;p34"/>
          <p:cNvSpPr txBox="1"/>
          <p:nvPr/>
        </p:nvSpPr>
        <p:spPr>
          <a:xfrm>
            <a:off x="310900" y="310900"/>
            <a:ext cx="4096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In this lesson, you...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57" name="Google Shape;357;p34"/>
          <p:cNvSpPr txBox="1"/>
          <p:nvPr/>
        </p:nvSpPr>
        <p:spPr>
          <a:xfrm>
            <a:off x="4736600" y="310900"/>
            <a:ext cx="4096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N</a:t>
            </a: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ext lesson, you will...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58" name="Google Shape;358;p34"/>
          <p:cNvSpPr txBox="1"/>
          <p:nvPr/>
        </p:nvSpPr>
        <p:spPr>
          <a:xfrm>
            <a:off x="4736600" y="1319300"/>
            <a:ext cx="4096500" cy="25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Use arithmetic </a:t>
            </a:r>
            <a:r>
              <a:rPr b="1"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expressions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to calculate values</a:t>
            </a:r>
            <a:endParaRPr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Trace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the values of variables as a program is executed</a:t>
            </a:r>
            <a:endParaRPr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Write programs that receive </a:t>
            </a:r>
            <a:r>
              <a:rPr b="1"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numerical input </a:t>
            </a: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from the keyboard</a:t>
            </a:r>
            <a:endParaRPr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59" name="Google Shape;359;p34"/>
          <p:cNvSpPr txBox="1"/>
          <p:nvPr/>
        </p:nvSpPr>
        <p:spPr>
          <a:xfrm>
            <a:off x="310900" y="1322525"/>
            <a:ext cx="4096500" cy="26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Defined what </a:t>
            </a:r>
            <a:r>
              <a:rPr b="1"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algorithms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and </a:t>
            </a:r>
            <a:r>
              <a:rPr b="1"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programs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are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4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Wrote and </a:t>
            </a:r>
            <a:r>
              <a:rPr b="1"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executed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your first Python programs (and weeded out </a:t>
            </a:r>
            <a:r>
              <a:rPr b="1"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syntax errors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1600"/>
              </a:spcAft>
              <a:buNone/>
            </a:pPr>
            <a:r>
              <a:rPr lang="en-GB" sz="12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Your programs </a:t>
            </a:r>
            <a:r>
              <a:rPr lang="en-GB" sz="12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involved displaying messages, assigning values to variables, and receiving input from the keyboard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CCE Slides">
  <a:themeElements>
    <a:clrScheme name="Simple Light">
      <a:dk1>
        <a:srgbClr val="5B5BA5"/>
      </a:dk1>
      <a:lt1>
        <a:srgbClr val="FFFFFF"/>
      </a:lt1>
      <a:dk2>
        <a:srgbClr val="E9E9F3"/>
      </a:dk2>
      <a:lt2>
        <a:srgbClr val="F2F6FC"/>
      </a:lt2>
      <a:accent1>
        <a:srgbClr val="E9F7FC"/>
      </a:accent1>
      <a:accent2>
        <a:srgbClr val="FFEFDA"/>
      </a:accent2>
      <a:accent3>
        <a:srgbClr val="ECF8F5"/>
      </a:accent3>
      <a:accent4>
        <a:srgbClr val="FEF2F6"/>
      </a:accent4>
      <a:accent5>
        <a:srgbClr val="E6E6EA"/>
      </a:accent5>
      <a:accent6>
        <a:srgbClr val="F0F6ED"/>
      </a:accent6>
      <a:hlink>
        <a:srgbClr val="3197A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