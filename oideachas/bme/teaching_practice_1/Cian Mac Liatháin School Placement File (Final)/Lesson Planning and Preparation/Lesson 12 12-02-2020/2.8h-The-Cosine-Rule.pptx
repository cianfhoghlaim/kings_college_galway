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
  </p:notesMasterIdLst>
  <p:sldIdLst>
    <p:sldId id="333" r:id="rId2"/>
    <p:sldId id="323" r:id="rId3"/>
    <p:sldId id="332" r:id="rId4"/>
    <p:sldId id="328" r:id="rId5"/>
    <p:sldId id="331" r:id="rId6"/>
    <p:sldId id="327" r:id="rId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P3" id="{AD917F9D-4B44-594E-A6C9-B2A378EA660A}">
          <p14:sldIdLst/>
        </p14:section>
        <p14:section name="Content" id="{66C9C7BF-DCB8-0B42-9E5A-A47210286444}">
          <p14:sldIdLst>
            <p14:sldId id="333"/>
            <p14:sldId id="323"/>
            <p14:sldId id="332"/>
            <p14:sldId id="328"/>
            <p14:sldId id="331"/>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FF"/>
    <a:srgbClr val="FF231A"/>
    <a:srgbClr val="FED2FF"/>
    <a:srgbClr val="9CFDEE"/>
    <a:srgbClr val="73FDD6"/>
    <a:srgbClr val="FECEFD"/>
    <a:srgbClr val="FEC0FD"/>
    <a:srgbClr val="FED9FD"/>
    <a:srgbClr val="FBF3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24" autoAdjust="0"/>
    <p:restoredTop sz="95763"/>
  </p:normalViewPr>
  <p:slideViewPr>
    <p:cSldViewPr snapToGrid="0" snapToObjects="1">
      <p:cViewPr>
        <p:scale>
          <a:sx n="75" d="100"/>
          <a:sy n="75" d="100"/>
        </p:scale>
        <p:origin x="-28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61483-72D0-394C-AC95-0368E97CFE03}" type="datetimeFigureOut">
              <a:rPr lang="en-GB" smtClean="0"/>
              <a:t>25/04/2020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9377F-1BD6-9941-B405-1638211A94BD}" type="slidenum">
              <a:rPr lang="en-GB" smtClean="0"/>
              <a:t>‹#›</a:t>
            </a:fld>
            <a:endParaRPr lang="en-GB"/>
          </a:p>
        </p:txBody>
      </p:sp>
    </p:spTree>
    <p:extLst>
      <p:ext uri="{BB962C8B-B14F-4D97-AF65-F5344CB8AC3E}">
        <p14:creationId xmlns:p14="http://schemas.microsoft.com/office/powerpoint/2010/main" val="18485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2</a:t>
            </a:fld>
            <a:endParaRPr lang="en-GB"/>
          </a:p>
        </p:txBody>
      </p:sp>
    </p:spTree>
    <p:extLst>
      <p:ext uri="{BB962C8B-B14F-4D97-AF65-F5344CB8AC3E}">
        <p14:creationId xmlns:p14="http://schemas.microsoft.com/office/powerpoint/2010/main" val="3573082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4</a:t>
            </a:fld>
            <a:endParaRPr lang="en-GB"/>
          </a:p>
        </p:txBody>
      </p:sp>
    </p:spTree>
    <p:extLst>
      <p:ext uri="{BB962C8B-B14F-4D97-AF65-F5344CB8AC3E}">
        <p14:creationId xmlns:p14="http://schemas.microsoft.com/office/powerpoint/2010/main" val="3405448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5</a:t>
            </a:fld>
            <a:endParaRPr lang="en-GB"/>
          </a:p>
        </p:txBody>
      </p:sp>
    </p:spTree>
    <p:extLst>
      <p:ext uri="{BB962C8B-B14F-4D97-AF65-F5344CB8AC3E}">
        <p14:creationId xmlns:p14="http://schemas.microsoft.com/office/powerpoint/2010/main" val="173441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6</a:t>
            </a:fld>
            <a:endParaRPr lang="en-GB"/>
          </a:p>
        </p:txBody>
      </p:sp>
    </p:spTree>
    <p:extLst>
      <p:ext uri="{BB962C8B-B14F-4D97-AF65-F5344CB8AC3E}">
        <p14:creationId xmlns:p14="http://schemas.microsoft.com/office/powerpoint/2010/main" val="1847327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20822" y="418107"/>
            <a:ext cx="2502359" cy="2908460"/>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3020553" y="3386567"/>
            <a:ext cx="3102965" cy="1131720"/>
          </a:xfrm>
          <a:prstGeom prst="rect">
            <a:avLst/>
          </a:prstGeom>
          <a:noFill/>
        </p:spPr>
        <p:txBody>
          <a:bodyPr wrap="none" rtlCol="0">
            <a:spAutoFit/>
          </a:bodyPr>
          <a:lstStyle/>
          <a:p>
            <a:pPr algn="ctr"/>
            <a:r>
              <a:rPr lang="en-GB" sz="1351" spc="300" dirty="0"/>
              <a:t>Mathematics</a:t>
            </a:r>
          </a:p>
          <a:p>
            <a:pPr algn="ctr"/>
            <a:r>
              <a:rPr lang="en-GB" sz="1351" b="1" spc="300" dirty="0"/>
              <a:t>THE COSINE RULE</a:t>
            </a:r>
          </a:p>
          <a:p>
            <a:pPr algn="ctr"/>
            <a:r>
              <a:rPr lang="en-GB" sz="1351" b="1" spc="300" dirty="0"/>
              <a:t>TES: </a:t>
            </a:r>
            <a:r>
              <a:rPr lang="en-GB" sz="1351" spc="300" dirty="0"/>
              <a:t>cparkinson3</a:t>
            </a:r>
          </a:p>
          <a:p>
            <a:pPr algn="ctr"/>
            <a:endParaRPr lang="en-GB" sz="1351" spc="300" dirty="0"/>
          </a:p>
          <a:p>
            <a:pPr algn="ctr"/>
            <a:r>
              <a:rPr lang="en-GB" sz="1351" b="1" spc="300" dirty="0"/>
              <a:t>Last updated: 9</a:t>
            </a:r>
            <a:r>
              <a:rPr lang="en-GB" sz="1351" b="1" spc="300" baseline="30000" dirty="0"/>
              <a:t>th</a:t>
            </a:r>
            <a:r>
              <a:rPr lang="en-GB" sz="1351" b="1" spc="300" dirty="0"/>
              <a:t> May 2019</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761023" y="0"/>
            <a:ext cx="677108" cy="3067219"/>
            <a:chOff x="-948661" y="62818"/>
            <a:chExt cx="901230"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53438"/>
              <a:ext cx="4082469" cy="901230"/>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200" dirty="0">
                  <a:latin typeface="Calibri" charset="0"/>
                  <a:ea typeface="Calibri" charset="0"/>
                  <a:cs typeface="Calibri" charset="0"/>
                </a:rPr>
                <a:t>The main colours used in this PowerPoint.</a:t>
              </a:r>
            </a:p>
            <a:p>
              <a:pPr algn="ctr"/>
              <a:endParaRPr lang="en-GB" sz="1400" dirty="0">
                <a:latin typeface="Calibri" charset="0"/>
                <a:ea typeface="Calibri" charset="0"/>
                <a:cs typeface="Calibri" charset="0"/>
              </a:endParaRPr>
            </a:p>
            <a:p>
              <a:pPr algn="ctr"/>
              <a:endParaRPr lang="en-GB" sz="1100"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grpSp>
    </p:spTree>
    <p:extLst>
      <p:ext uri="{BB962C8B-B14F-4D97-AF65-F5344CB8AC3E}">
        <p14:creationId xmlns:p14="http://schemas.microsoft.com/office/powerpoint/2010/main" val="12193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66356" y="578058"/>
            <a:ext cx="8264568" cy="553998"/>
          </a:xfrm>
          <a:prstGeom prst="rect">
            <a:avLst/>
          </a:prstGeom>
          <a:noFill/>
        </p:spPr>
        <p:txBody>
          <a:bodyPr wrap="square" rtlCol="0">
            <a:spAutoFit/>
          </a:bodyPr>
          <a:lstStyle/>
          <a:p>
            <a:pPr algn="l"/>
            <a:r>
              <a:rPr lang="en-GB" sz="1500" spc="3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151963" y="1289098"/>
            <a:ext cx="8903805" cy="78483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53998"/>
              </a:xfrm>
              <a:prstGeom prst="rect">
                <a:avLst/>
              </a:prstGeom>
              <a:noFill/>
            </p:spPr>
            <p:txBody>
              <a:bodyPr wrap="square" rtlCol="0">
                <a:spAutoFit/>
              </a:bodyPr>
              <a:lstStyle/>
              <a:p>
                <a:pPr algn="l"/>
                <a:r>
                  <a:rPr lang="en-GB" sz="1500" spc="3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66356" y="75603"/>
            <a:ext cx="3920107" cy="584775"/>
          </a:xfrm>
          <a:prstGeom prst="rect">
            <a:avLst/>
          </a:prstGeom>
          <a:noFill/>
        </p:spPr>
        <p:txBody>
          <a:bodyPr wrap="square" rtlCol="0">
            <a:spAutoFit/>
          </a:bodyPr>
          <a:lstStyle/>
          <a:p>
            <a:pPr algn="l"/>
            <a:r>
              <a:rPr lang="en-GB" sz="3200" b="1" spc="3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66356" y="1171257"/>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66356" y="2193049"/>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151963" y="2307486"/>
            <a:ext cx="8903805" cy="1708160"/>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70816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500" spc="300" dirty="0"/>
                  <a:t>Click on the key terms control to show/hide the lesson’s key terms. The key terms textbox will replace the learning objective when shown. The key terms control is displayed in the bottom right hand corner of the slide. </a:t>
                </a:r>
                <a:r>
                  <a:rPr lang="en-GB" sz="1500" b="1" spc="300" dirty="0"/>
                  <a:t>Note: </a:t>
                </a:r>
                <a:r>
                  <a:rPr lang="en-GB" sz="1500" spc="3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127895" y="3773628"/>
            <a:ext cx="683860" cy="196551"/>
          </a:xfrm>
          <a:prstGeom prst="rect">
            <a:avLst/>
          </a:prstGeom>
          <a:solidFill>
            <a:schemeClr val="accent5">
              <a:lumMod val="60000"/>
              <a:lumOff val="40000"/>
            </a:schemeClr>
          </a:solidFill>
          <a:ln w="12700">
            <a:solidFill>
              <a:schemeClr val="tx1"/>
            </a:solidFill>
          </a:ln>
        </p:spPr>
        <p:txBody>
          <a:bodyPr wrap="none" rtlCol="0" anchor="ctr">
            <a:spAutoFit/>
          </a:bodyPr>
          <a:lstStyle/>
          <a:p>
            <a:pPr algn="ctr"/>
            <a:r>
              <a:rPr lang="en-GB" sz="105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66356" y="4144943"/>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151963" y="4270067"/>
            <a:ext cx="8903805" cy="784830"/>
            <a:chOff x="151963" y="4204754"/>
            <a:chExt cx="8903805"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84830"/>
              </a:xfrm>
              <a:prstGeom prst="rect">
                <a:avLst/>
              </a:prstGeom>
              <a:noFill/>
            </p:spPr>
            <p:txBody>
              <a:bodyPr wrap="square" rtlCol="0">
                <a:spAutoFit/>
              </a:bodyPr>
              <a:lstStyle/>
              <a:p>
                <a:pPr algn="l"/>
                <a:r>
                  <a:rPr lang="en-GB" sz="1500" spc="300" dirty="0"/>
                  <a:t>Click on the solution control to show/hide a solution to a question. These controls are often, but not always, rotated </a:t>
                </a:r>
                <a:r>
                  <a:rPr lang="en-GB" sz="1500" spc="300" dirty="0" err="1"/>
                  <a:t>90</a:t>
                </a:r>
                <a:r>
                  <a:rPr lang="en-GB" sz="1500" spc="300" baseline="30000" dirty="0" err="1"/>
                  <a:t>o</a:t>
                </a:r>
                <a:r>
                  <a:rPr lang="en-GB" sz="1500" spc="3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51963" y="4253694"/>
              <a:ext cx="738343" cy="267766"/>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15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243838" y="160321"/>
            <a:ext cx="724844" cy="842477"/>
          </a:xfrm>
          <a:prstGeom prst="rect">
            <a:avLst/>
          </a:prstGeom>
        </p:spPr>
      </p:pic>
    </p:spTree>
    <p:extLst>
      <p:ext uri="{BB962C8B-B14F-4D97-AF65-F5344CB8AC3E}">
        <p14:creationId xmlns:p14="http://schemas.microsoft.com/office/powerpoint/2010/main" val="243237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099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76311" y="488434"/>
            <a:ext cx="8984564" cy="309600"/>
          </a:xfrm>
          <a:prstGeom prst="rect">
            <a:avLst/>
          </a:prstGeom>
          <a:solidFill>
            <a:schemeClr val="accent3"/>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dirty="0">
                <a:latin typeface="Calibri" charset="0"/>
                <a:ea typeface="Calibri" charset="0"/>
                <a:cs typeface="Calibri" charset="0"/>
              </a:rPr>
              <a:t>We are learning to:  </a:t>
            </a:r>
            <a:r>
              <a:rPr lang="en-GB" sz="1400" b="0" noProof="0" dirty="0">
                <a:latin typeface="Calibri" charset="0"/>
                <a:ea typeface="Calibri" charset="0"/>
                <a:cs typeface="Calibri" charset="0"/>
              </a:rPr>
              <a:t>Use the cosine rule to solve problems in triangles.</a:t>
            </a:r>
            <a:endParaRPr lang="en-US" sz="1400" b="0" dirty="0">
              <a:latin typeface="Calibri" charset="0"/>
              <a:ea typeface="Calibri" charset="0"/>
              <a:cs typeface="Calibri" charset="0"/>
            </a:endParaRP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76311" y="88335"/>
            <a:ext cx="2880000"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400" b="1" smtClean="0">
                <a:latin typeface="Calibri" charset="0"/>
                <a:ea typeface="Calibri" charset="0"/>
                <a:cs typeface="Calibri" charset="0"/>
              </a:rPr>
              <a:t>Saturday, 25 April 2020</a:t>
            </a:fld>
            <a:endParaRPr lang="en-US" sz="1400"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3059084" y="88335"/>
            <a:ext cx="6001789" cy="309600"/>
          </a:xfrm>
          <a:prstGeom prst="rect">
            <a:avLst/>
          </a:prstGeom>
          <a:solidFill>
            <a:schemeClr val="accent2"/>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noProof="0" dirty="0">
                <a:latin typeface="Calibri" charset="0"/>
                <a:ea typeface="Calibri" charset="0"/>
                <a:cs typeface="Calibri" charset="0"/>
              </a:rPr>
              <a:t>We are learning about: </a:t>
            </a:r>
            <a:r>
              <a:rPr lang="en-GB" sz="1400" b="0" spc="0" noProof="0" dirty="0">
                <a:latin typeface="Calibri" charset="0"/>
                <a:ea typeface="Calibri" charset="0"/>
                <a:cs typeface="Calibri" charset="0"/>
              </a:rPr>
              <a:t> The Cosine rule</a:t>
            </a:r>
            <a:endParaRPr lang="en-GB" sz="1400"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891681"/>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76311" y="488434"/>
            <a:ext cx="898456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400" b="1" noProof="0" dirty="0">
                <a:latin typeface="Calibri" charset="0"/>
                <a:ea typeface="Calibri" charset="0"/>
                <a:cs typeface="Calibri" charset="0"/>
              </a:rPr>
              <a:t>Key terms:</a:t>
            </a:r>
            <a:r>
              <a:rPr lang="en-GB" sz="1400" b="0" baseline="0" noProof="0" dirty="0">
                <a:latin typeface="Calibri" charset="0"/>
                <a:ea typeface="Calibri" charset="0"/>
                <a:cs typeface="Calibri" charset="0"/>
              </a:rPr>
              <a:t> </a:t>
            </a:r>
            <a:r>
              <a:rPr lang="en-GB" sz="1400" b="0" noProof="0" dirty="0">
                <a:latin typeface="Calibri" charset="0"/>
                <a:ea typeface="Calibri" charset="0"/>
                <a:cs typeface="Calibri" charset="0"/>
              </a:rPr>
              <a:t> Adjacent, angle, cosine,</a:t>
            </a:r>
            <a:r>
              <a:rPr lang="en-GB" sz="1400" b="0" baseline="0" noProof="0" dirty="0">
                <a:latin typeface="Calibri" charset="0"/>
                <a:ea typeface="Calibri" charset="0"/>
                <a:cs typeface="Calibri" charset="0"/>
              </a:rPr>
              <a:t> degrees, length, opposite, side, sine, tangent</a:t>
            </a:r>
            <a:endParaRPr lang="en-GB" sz="1400" b="0" noProof="0" dirty="0">
              <a:latin typeface="Calibri" charset="0"/>
              <a:ea typeface="Calibri" charset="0"/>
              <a:cs typeface="Calibri" charset="0"/>
            </a:endParaRP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8114810" y="4583884"/>
            <a:ext cx="974947" cy="300082"/>
          </a:xfrm>
          <a:prstGeom prst="rect">
            <a:avLst/>
          </a:prstGeom>
          <a:solidFill>
            <a:schemeClr val="accent5">
              <a:lumMod val="60000"/>
              <a:lumOff val="40000"/>
            </a:schemeClr>
          </a:solidFill>
          <a:ln w="12700">
            <a:solidFill>
              <a:schemeClr val="tx1"/>
            </a:solidFill>
          </a:ln>
        </p:spPr>
        <p:txBody>
          <a:bodyPr wrap="none" rtlCol="0">
            <a:spAutoFit/>
          </a:bodyPr>
          <a:lstStyle/>
          <a:p>
            <a:pPr algn="ctr"/>
            <a:r>
              <a:rPr lang="en-GB"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8114810" y="4583884"/>
            <a:ext cx="974947" cy="300082"/>
          </a:xfrm>
          <a:prstGeom prst="rect">
            <a:avLst/>
          </a:prstGeom>
          <a:solidFill>
            <a:schemeClr val="accent2"/>
          </a:solidFill>
          <a:ln w="12700">
            <a:solidFill>
              <a:schemeClr val="tx1"/>
            </a:solidFill>
          </a:ln>
        </p:spPr>
        <p:txBody>
          <a:bodyPr wrap="none" rtlCol="0">
            <a:spAutoFit/>
          </a:bodyPr>
          <a:lstStyle/>
          <a:p>
            <a:pPr algn="ctr"/>
            <a:r>
              <a:rPr lang="en-GB"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2683" y="4516221"/>
            <a:ext cx="9146683" cy="646331"/>
          </a:xfrm>
          <a:prstGeom prst="rect">
            <a:avLst/>
          </a:prstGeom>
        </p:spPr>
        <p:txBody>
          <a:bodyPr wrap="square" anchor="b">
            <a:spAutoFit/>
          </a:bodyPr>
          <a:lstStyle/>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Developing learners will be able to identify the cosine rule for finding a missing angle.</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Secure learners will be able to find a missing angle in a triangle using the cosine rule.</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Excelling learners will be able to solve unfamiliar problems using the cosine rule.</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4507299"/>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872915"/>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3.png"/><Relationship Id="rId3" Type="http://schemas.openxmlformats.org/officeDocument/2006/relationships/image" Target="../media/image30.png"/><Relationship Id="rId21" Type="http://schemas.openxmlformats.org/officeDocument/2006/relationships/image" Target="../media/image19.png"/><Relationship Id="rId7" Type="http://schemas.openxmlformats.org/officeDocument/2006/relationships/image" Target="../media/image7.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310.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8.png"/><Relationship Id="rId24"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12.png"/><Relationship Id="rId23" Type="http://schemas.openxmlformats.org/officeDocument/2006/relationships/image" Target="../media/image21.png"/><Relationship Id="rId19" Type="http://schemas.openxmlformats.org/officeDocument/2006/relationships/image" Target="../media/image17.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3.png"/><Relationship Id="rId22" Type="http://schemas.openxmlformats.org/officeDocument/2006/relationships/image" Target="../media/image20.png"/><Relationship Id="rId27" Type="http://schemas.openxmlformats.org/officeDocument/2006/relationships/image" Target="../media/image24.png"/></Relationships>
</file>

<file path=ppt/slides/_rels/slide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26" Type="http://schemas.openxmlformats.org/officeDocument/2006/relationships/image" Target="../media/image75.png"/><Relationship Id="rId3" Type="http://schemas.openxmlformats.org/officeDocument/2006/relationships/image" Target="../media/image52.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5" Type="http://schemas.openxmlformats.org/officeDocument/2006/relationships/image" Target="../media/image74.png"/><Relationship Id="rId2" Type="http://schemas.openxmlformats.org/officeDocument/2006/relationships/notesSlide" Target="../notesSlides/notesSlide2.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24" Type="http://schemas.openxmlformats.org/officeDocument/2006/relationships/image" Target="../media/image73.png"/><Relationship Id="rId5" Type="http://schemas.openxmlformats.org/officeDocument/2006/relationships/image" Target="../media/image54.png"/><Relationship Id="rId15" Type="http://schemas.openxmlformats.org/officeDocument/2006/relationships/image" Target="../media/image64.png"/><Relationship Id="rId23" Type="http://schemas.openxmlformats.org/officeDocument/2006/relationships/image" Target="../media/image72.png"/><Relationship Id="rId28" Type="http://schemas.openxmlformats.org/officeDocument/2006/relationships/image" Target="../media/image77.png"/><Relationship Id="rId10" Type="http://schemas.openxmlformats.org/officeDocument/2006/relationships/image" Target="../media/image59.png"/><Relationship Id="rId19" Type="http://schemas.openxmlformats.org/officeDocument/2006/relationships/image" Target="../media/image68.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 Id="rId22" Type="http://schemas.openxmlformats.org/officeDocument/2006/relationships/image" Target="../media/image71.png"/><Relationship Id="rId27" Type="http://schemas.openxmlformats.org/officeDocument/2006/relationships/image" Target="../media/image76.png"/></Relationships>
</file>

<file path=ppt/slides/_rels/slide5.xml.rels><?xml version="1.0" encoding="UTF-8" standalone="yes"?>
<Relationships xmlns="http://schemas.openxmlformats.org/package/2006/relationships"><Relationship Id="rId26" Type="http://schemas.openxmlformats.org/officeDocument/2006/relationships/image" Target="../media/image700.png"/><Relationship Id="rId3" Type="http://schemas.openxmlformats.org/officeDocument/2006/relationships/image" Target="../media/image78.png"/><Relationship Id="rId21" Type="http://schemas.openxmlformats.org/officeDocument/2006/relationships/image" Target="../media/image650.png"/><Relationship Id="rId7" Type="http://schemas.openxmlformats.org/officeDocument/2006/relationships/image" Target="../media/image82.png"/><Relationship Id="rId2" Type="http://schemas.openxmlformats.org/officeDocument/2006/relationships/notesSlide" Target="../notesSlides/notesSlide3.xml"/><Relationship Id="rId20" Type="http://schemas.openxmlformats.org/officeDocument/2006/relationships/image" Target="../media/image640.png"/><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22" Type="http://schemas.openxmlformats.org/officeDocument/2006/relationships/image" Target="../media/image660.png"/></Relationships>
</file>

<file path=ppt/slides/_rels/slide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617BECBE-9474-4A64-9727-A8D6F282909C}"/>
              </a:ext>
            </a:extLst>
          </p:cNvPr>
          <p:cNvPicPr>
            <a:picLocks noChangeAspect="1"/>
          </p:cNvPicPr>
          <p:nvPr/>
        </p:nvPicPr>
        <p:blipFill>
          <a:blip r:embed="rId2"/>
          <a:stretch>
            <a:fillRect/>
          </a:stretch>
        </p:blipFill>
        <p:spPr>
          <a:xfrm>
            <a:off x="0" y="0"/>
            <a:ext cx="9258300" cy="5150645"/>
          </a:xfrm>
          <a:prstGeom prst="rect">
            <a:avLst/>
          </a:prstGeom>
        </p:spPr>
      </p:pic>
    </p:spTree>
    <p:extLst>
      <p:ext uri="{BB962C8B-B14F-4D97-AF65-F5344CB8AC3E}">
        <p14:creationId xmlns:p14="http://schemas.microsoft.com/office/powerpoint/2010/main" val="301508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4">
            <a:extLst>
              <a:ext uri="{FF2B5EF4-FFF2-40B4-BE49-F238E27FC236}">
                <a16:creationId xmlns:a16="http://schemas.microsoft.com/office/drawing/2014/main" id="{F3995F02-A162-2E4E-8201-59E3E33A4D11}"/>
              </a:ext>
            </a:extLst>
          </p:cNvPr>
          <p:cNvSpPr>
            <a:spLocks/>
          </p:cNvSpPr>
          <p:nvPr/>
        </p:nvSpPr>
        <p:spPr bwMode="auto">
          <a:xfrm>
            <a:off x="935703" y="1228135"/>
            <a:ext cx="3114675" cy="1728788"/>
          </a:xfrm>
          <a:custGeom>
            <a:avLst/>
            <a:gdLst>
              <a:gd name="T0" fmla="*/ 0 w 1728"/>
              <a:gd name="T1" fmla="*/ 960 h 960"/>
              <a:gd name="T2" fmla="*/ 1728 w 1728"/>
              <a:gd name="T3" fmla="*/ 960 h 960"/>
              <a:gd name="T4" fmla="*/ 1296 w 1728"/>
              <a:gd name="T5" fmla="*/ 0 h 960"/>
              <a:gd name="T6" fmla="*/ 0 w 1728"/>
              <a:gd name="T7" fmla="*/ 960 h 960"/>
            </a:gdLst>
            <a:ahLst/>
            <a:cxnLst>
              <a:cxn ang="0">
                <a:pos x="T0" y="T1"/>
              </a:cxn>
              <a:cxn ang="0">
                <a:pos x="T2" y="T3"/>
              </a:cxn>
              <a:cxn ang="0">
                <a:pos x="T4" y="T5"/>
              </a:cxn>
              <a:cxn ang="0">
                <a:pos x="T6" y="T7"/>
              </a:cxn>
            </a:cxnLst>
            <a:rect l="0" t="0" r="r" b="b"/>
            <a:pathLst>
              <a:path w="1728" h="960">
                <a:moveTo>
                  <a:pt x="0" y="960"/>
                </a:moveTo>
                <a:lnTo>
                  <a:pt x="1728" y="960"/>
                </a:lnTo>
                <a:lnTo>
                  <a:pt x="1296" y="0"/>
                </a:lnTo>
                <a:lnTo>
                  <a:pt x="0" y="960"/>
                </a:lnTo>
                <a:close/>
              </a:path>
            </a:pathLst>
          </a:custGeom>
          <a:solidFill>
            <a:srgbClr val="FBA89D"/>
          </a:solidFill>
          <a:ln w="28575"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mc:AlternateContent xmlns:mc="http://schemas.openxmlformats.org/markup-compatibility/2006" xmlns:a14="http://schemas.microsoft.com/office/drawing/2010/main">
        <mc:Choice Requires="a14">
          <p:sp>
            <p:nvSpPr>
              <p:cNvPr id="31" name="Text Box 5">
                <a:extLst>
                  <a:ext uri="{FF2B5EF4-FFF2-40B4-BE49-F238E27FC236}">
                    <a16:creationId xmlns:a16="http://schemas.microsoft.com/office/drawing/2014/main" id="{E4700A17-30D0-AE4D-A852-40C2DD5EFE45}"/>
                  </a:ext>
                </a:extLst>
              </p:cNvPr>
              <p:cNvSpPr txBox="1">
                <a:spLocks noChangeArrowheads="1"/>
              </p:cNvSpPr>
              <p:nvPr/>
            </p:nvSpPr>
            <p:spPr bwMode="auto">
              <a:xfrm>
                <a:off x="3105465" y="967320"/>
                <a:ext cx="351635"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𝐴</m:t>
                      </m:r>
                    </m:oMath>
                  </m:oMathPara>
                </a14:m>
                <a:endParaRPr lang="en-GB" altLang="en-US" sz="1500" dirty="0"/>
              </a:p>
            </p:txBody>
          </p:sp>
        </mc:Choice>
        <mc:Fallback xmlns="">
          <p:sp>
            <p:nvSpPr>
              <p:cNvPr id="31" name="Text Box 5">
                <a:extLst>
                  <a:ext uri="{FF2B5EF4-FFF2-40B4-BE49-F238E27FC236}">
                    <a16:creationId xmlns:a16="http://schemas.microsoft.com/office/drawing/2014/main" id="{E4700A17-30D0-AE4D-A852-40C2DD5EFE45}"/>
                  </a:ext>
                </a:extLst>
              </p:cNvPr>
              <p:cNvSpPr txBox="1">
                <a:spLocks noRot="1" noChangeAspect="1" noMove="1" noResize="1" noEditPoints="1" noAdjustHandles="1" noChangeArrowheads="1" noChangeShapeType="1" noTextEdit="1"/>
              </p:cNvSpPr>
              <p:nvPr/>
            </p:nvSpPr>
            <p:spPr bwMode="auto">
              <a:xfrm>
                <a:off x="3105465" y="967320"/>
                <a:ext cx="351635" cy="323165"/>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 Box 6">
                <a:extLst>
                  <a:ext uri="{FF2B5EF4-FFF2-40B4-BE49-F238E27FC236}">
                    <a16:creationId xmlns:a16="http://schemas.microsoft.com/office/drawing/2014/main" id="{7E58B69F-AA28-4A45-AC58-5CC169EB544B}"/>
                  </a:ext>
                </a:extLst>
              </p:cNvPr>
              <p:cNvSpPr txBox="1">
                <a:spLocks noChangeArrowheads="1"/>
              </p:cNvSpPr>
              <p:nvPr/>
            </p:nvSpPr>
            <p:spPr bwMode="auto">
              <a:xfrm>
                <a:off x="668465" y="2811644"/>
                <a:ext cx="351828"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𝐶</m:t>
                      </m:r>
                    </m:oMath>
                  </m:oMathPara>
                </a14:m>
                <a:endParaRPr lang="en-GB" altLang="en-US" sz="1500" dirty="0"/>
              </a:p>
            </p:txBody>
          </p:sp>
        </mc:Choice>
        <mc:Fallback xmlns="">
          <p:sp>
            <p:nvSpPr>
              <p:cNvPr id="32" name="Text Box 6">
                <a:extLst>
                  <a:ext uri="{FF2B5EF4-FFF2-40B4-BE49-F238E27FC236}">
                    <a16:creationId xmlns:a16="http://schemas.microsoft.com/office/drawing/2014/main" id="{7E58B69F-AA28-4A45-AC58-5CC169EB544B}"/>
                  </a:ext>
                </a:extLst>
              </p:cNvPr>
              <p:cNvSpPr txBox="1">
                <a:spLocks noRot="1" noChangeAspect="1" noMove="1" noResize="1" noEditPoints="1" noAdjustHandles="1" noChangeArrowheads="1" noChangeShapeType="1" noTextEdit="1"/>
              </p:cNvSpPr>
              <p:nvPr/>
            </p:nvSpPr>
            <p:spPr bwMode="auto">
              <a:xfrm>
                <a:off x="668465" y="2811644"/>
                <a:ext cx="351828" cy="323165"/>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 Box 7">
                <a:extLst>
                  <a:ext uri="{FF2B5EF4-FFF2-40B4-BE49-F238E27FC236}">
                    <a16:creationId xmlns:a16="http://schemas.microsoft.com/office/drawing/2014/main" id="{4FD642B4-22E6-BB40-A5F6-12CE0F41C58F}"/>
                  </a:ext>
                </a:extLst>
              </p:cNvPr>
              <p:cNvSpPr txBox="1">
                <a:spLocks noChangeArrowheads="1"/>
              </p:cNvSpPr>
              <p:nvPr/>
            </p:nvSpPr>
            <p:spPr bwMode="auto">
              <a:xfrm>
                <a:off x="3989453" y="2811644"/>
                <a:ext cx="359778"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𝐵</m:t>
                      </m:r>
                    </m:oMath>
                  </m:oMathPara>
                </a14:m>
                <a:endParaRPr lang="en-GB" altLang="en-US" sz="1500" dirty="0"/>
              </a:p>
            </p:txBody>
          </p:sp>
        </mc:Choice>
        <mc:Fallback xmlns="">
          <p:sp>
            <p:nvSpPr>
              <p:cNvPr id="33" name="Text Box 7">
                <a:extLst>
                  <a:ext uri="{FF2B5EF4-FFF2-40B4-BE49-F238E27FC236}">
                    <a16:creationId xmlns:a16="http://schemas.microsoft.com/office/drawing/2014/main" id="{4FD642B4-22E6-BB40-A5F6-12CE0F41C58F}"/>
                  </a:ext>
                </a:extLst>
              </p:cNvPr>
              <p:cNvSpPr txBox="1">
                <a:spLocks noRot="1" noChangeAspect="1" noMove="1" noResize="1" noEditPoints="1" noAdjustHandles="1" noChangeArrowheads="1" noChangeShapeType="1" noTextEdit="1"/>
              </p:cNvSpPr>
              <p:nvPr/>
            </p:nvSpPr>
            <p:spPr bwMode="auto">
              <a:xfrm>
                <a:off x="3989453" y="2811644"/>
                <a:ext cx="359778" cy="323165"/>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 Box 8">
                <a:extLst>
                  <a:ext uri="{FF2B5EF4-FFF2-40B4-BE49-F238E27FC236}">
                    <a16:creationId xmlns:a16="http://schemas.microsoft.com/office/drawing/2014/main" id="{3A941E9F-6F81-384D-B57D-1EE45FCDF11C}"/>
                  </a:ext>
                </a:extLst>
              </p:cNvPr>
              <p:cNvSpPr txBox="1">
                <a:spLocks noChangeArrowheads="1"/>
              </p:cNvSpPr>
              <p:nvPr/>
            </p:nvSpPr>
            <p:spPr bwMode="auto">
              <a:xfrm>
                <a:off x="1890251" y="1820811"/>
                <a:ext cx="341184"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𝑏</m:t>
                      </m:r>
                    </m:oMath>
                  </m:oMathPara>
                </a14:m>
                <a:endParaRPr lang="en-GB" altLang="en-US" sz="1500" i="1" dirty="0">
                  <a:latin typeface="Times New Roman" charset="0"/>
                </a:endParaRPr>
              </a:p>
            </p:txBody>
          </p:sp>
        </mc:Choice>
        <mc:Fallback xmlns="">
          <p:sp>
            <p:nvSpPr>
              <p:cNvPr id="34" name="Text Box 8">
                <a:extLst>
                  <a:ext uri="{FF2B5EF4-FFF2-40B4-BE49-F238E27FC236}">
                    <a16:creationId xmlns:a16="http://schemas.microsoft.com/office/drawing/2014/main" id="{3A941E9F-6F81-384D-B57D-1EE45FCDF11C}"/>
                  </a:ext>
                </a:extLst>
              </p:cNvPr>
              <p:cNvSpPr txBox="1">
                <a:spLocks noRot="1" noChangeAspect="1" noMove="1" noResize="1" noEditPoints="1" noAdjustHandles="1" noChangeArrowheads="1" noChangeShapeType="1" noTextEdit="1"/>
              </p:cNvSpPr>
              <p:nvPr/>
            </p:nvSpPr>
            <p:spPr bwMode="auto">
              <a:xfrm>
                <a:off x="1890251" y="1820811"/>
                <a:ext cx="341184" cy="323165"/>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 Box 9">
                <a:extLst>
                  <a:ext uri="{FF2B5EF4-FFF2-40B4-BE49-F238E27FC236}">
                    <a16:creationId xmlns:a16="http://schemas.microsoft.com/office/drawing/2014/main" id="{4CE65E5A-09A6-2E4B-AF61-63FE1306D77E}"/>
                  </a:ext>
                </a:extLst>
              </p:cNvPr>
              <p:cNvSpPr txBox="1">
                <a:spLocks noChangeArrowheads="1"/>
              </p:cNvSpPr>
              <p:nvPr/>
            </p:nvSpPr>
            <p:spPr bwMode="auto">
              <a:xfrm>
                <a:off x="3616851" y="1879689"/>
                <a:ext cx="327013"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𝑐</m:t>
                      </m:r>
                    </m:oMath>
                  </m:oMathPara>
                </a14:m>
                <a:endParaRPr lang="en-GB" altLang="en-US" sz="1500" i="1" dirty="0">
                  <a:latin typeface="Times New Roman" charset="0"/>
                </a:endParaRPr>
              </a:p>
            </p:txBody>
          </p:sp>
        </mc:Choice>
        <mc:Fallback xmlns="">
          <p:sp>
            <p:nvSpPr>
              <p:cNvPr id="35" name="Text Box 9">
                <a:extLst>
                  <a:ext uri="{FF2B5EF4-FFF2-40B4-BE49-F238E27FC236}">
                    <a16:creationId xmlns:a16="http://schemas.microsoft.com/office/drawing/2014/main" id="{4CE65E5A-09A6-2E4B-AF61-63FE1306D77E}"/>
                  </a:ext>
                </a:extLst>
              </p:cNvPr>
              <p:cNvSpPr txBox="1">
                <a:spLocks noRot="1" noChangeAspect="1" noMove="1" noResize="1" noEditPoints="1" noAdjustHandles="1" noChangeArrowheads="1" noChangeShapeType="1" noTextEdit="1"/>
              </p:cNvSpPr>
              <p:nvPr/>
            </p:nvSpPr>
            <p:spPr bwMode="auto">
              <a:xfrm>
                <a:off x="3616851" y="1879689"/>
                <a:ext cx="327013" cy="323165"/>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36" name="Line 11">
            <a:extLst>
              <a:ext uri="{FF2B5EF4-FFF2-40B4-BE49-F238E27FC236}">
                <a16:creationId xmlns:a16="http://schemas.microsoft.com/office/drawing/2014/main" id="{B47784F1-CCED-D844-86D0-E17E97B07D3A}"/>
              </a:ext>
            </a:extLst>
          </p:cNvPr>
          <p:cNvSpPr>
            <a:spLocks noChangeShapeType="1"/>
          </p:cNvSpPr>
          <p:nvPr/>
        </p:nvSpPr>
        <p:spPr bwMode="auto">
          <a:xfrm>
            <a:off x="3264566" y="1223373"/>
            <a:ext cx="0" cy="1730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p:sp>
        <p:nvSpPr>
          <p:cNvPr id="37" name="Rectangle 12">
            <a:extLst>
              <a:ext uri="{FF2B5EF4-FFF2-40B4-BE49-F238E27FC236}">
                <a16:creationId xmlns:a16="http://schemas.microsoft.com/office/drawing/2014/main" id="{82313DD3-6DE2-754D-A67C-9244C0DE0C22}"/>
              </a:ext>
            </a:extLst>
          </p:cNvPr>
          <p:cNvSpPr>
            <a:spLocks noChangeArrowheads="1"/>
          </p:cNvSpPr>
          <p:nvPr/>
        </p:nvSpPr>
        <p:spPr bwMode="auto">
          <a:xfrm>
            <a:off x="3030756" y="2728323"/>
            <a:ext cx="228600" cy="228600"/>
          </a:xfrm>
          <a:prstGeom prst="rect">
            <a:avLst/>
          </a:prstGeom>
          <a:solidFill>
            <a:srgbClr val="F8726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8" name="Rectangle 13">
            <a:extLst>
              <a:ext uri="{FF2B5EF4-FFF2-40B4-BE49-F238E27FC236}">
                <a16:creationId xmlns:a16="http://schemas.microsoft.com/office/drawing/2014/main" id="{2AB97614-3AF9-F242-BD5B-5017AADDE8E7}"/>
              </a:ext>
            </a:extLst>
          </p:cNvPr>
          <p:cNvSpPr>
            <a:spLocks noChangeArrowheads="1"/>
          </p:cNvSpPr>
          <p:nvPr/>
        </p:nvSpPr>
        <p:spPr bwMode="auto">
          <a:xfrm>
            <a:off x="3263182" y="2728323"/>
            <a:ext cx="228600" cy="228600"/>
          </a:xfrm>
          <a:prstGeom prst="rect">
            <a:avLst/>
          </a:prstGeom>
          <a:solidFill>
            <a:srgbClr val="F87260"/>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mc:AlternateContent xmlns:mc="http://schemas.openxmlformats.org/markup-compatibility/2006" xmlns:a14="http://schemas.microsoft.com/office/drawing/2010/main">
        <mc:Choice Requires="a14">
          <p:sp>
            <p:nvSpPr>
              <p:cNvPr id="40" name="Text Box 16">
                <a:extLst>
                  <a:ext uri="{FF2B5EF4-FFF2-40B4-BE49-F238E27FC236}">
                    <a16:creationId xmlns:a16="http://schemas.microsoft.com/office/drawing/2014/main" id="{DF550A4A-8103-C444-85D6-3AE41AFA2641}"/>
                  </a:ext>
                </a:extLst>
              </p:cNvPr>
              <p:cNvSpPr txBox="1">
                <a:spLocks noChangeArrowheads="1"/>
              </p:cNvSpPr>
              <p:nvPr/>
            </p:nvSpPr>
            <p:spPr bwMode="auto">
              <a:xfrm>
                <a:off x="2961353" y="1944098"/>
                <a:ext cx="343427"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en-GB" altLang="en-US" sz="1500" b="0" i="1" dirty="0" smtClean="0">
                          <a:latin typeface="Cambria Math" charset="0"/>
                        </a:rPr>
                        <m:t>h</m:t>
                      </m:r>
                    </m:oMath>
                  </m:oMathPara>
                </a14:m>
                <a:endParaRPr lang="en-GB" altLang="en-US" sz="1500" i="1" dirty="0">
                  <a:latin typeface="Times New Roman" charset="0"/>
                </a:endParaRPr>
              </a:p>
            </p:txBody>
          </p:sp>
        </mc:Choice>
        <mc:Fallback xmlns="">
          <p:sp>
            <p:nvSpPr>
              <p:cNvPr id="40" name="Text Box 16">
                <a:extLst>
                  <a:ext uri="{FF2B5EF4-FFF2-40B4-BE49-F238E27FC236}">
                    <a16:creationId xmlns:a16="http://schemas.microsoft.com/office/drawing/2014/main" id="{DF550A4A-8103-C444-85D6-3AE41AFA2641}"/>
                  </a:ext>
                </a:extLst>
              </p:cNvPr>
              <p:cNvSpPr txBox="1">
                <a:spLocks noRot="1" noChangeAspect="1" noMove="1" noResize="1" noEditPoints="1" noAdjustHandles="1" noChangeArrowheads="1" noChangeShapeType="1" noTextEdit="1"/>
              </p:cNvSpPr>
              <p:nvPr/>
            </p:nvSpPr>
            <p:spPr bwMode="auto">
              <a:xfrm>
                <a:off x="2961353" y="1944098"/>
                <a:ext cx="343427" cy="323165"/>
              </a:xfrm>
              <a:prstGeom prst="rect">
                <a:avLst/>
              </a:prstGeom>
              <a:blipFill>
                <a:blip r:embed="rId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nvGrpSpPr>
          <p:cNvPr id="42" name="Group 41">
            <a:extLst>
              <a:ext uri="{FF2B5EF4-FFF2-40B4-BE49-F238E27FC236}">
                <a16:creationId xmlns:a16="http://schemas.microsoft.com/office/drawing/2014/main" id="{5D1062CA-7766-FF46-88A6-8E5F4A01D43B}"/>
              </a:ext>
            </a:extLst>
          </p:cNvPr>
          <p:cNvGrpSpPr/>
          <p:nvPr/>
        </p:nvGrpSpPr>
        <p:grpSpPr>
          <a:xfrm>
            <a:off x="3361438" y="1165388"/>
            <a:ext cx="3466959" cy="638239"/>
            <a:chOff x="3361438" y="2794651"/>
            <a:chExt cx="3466959" cy="638239"/>
          </a:xfrm>
        </p:grpSpPr>
        <p:cxnSp>
          <p:nvCxnSpPr>
            <p:cNvPr id="43" name="Straight Connector 42">
              <a:extLst>
                <a:ext uri="{FF2B5EF4-FFF2-40B4-BE49-F238E27FC236}">
                  <a16:creationId xmlns:a16="http://schemas.microsoft.com/office/drawing/2014/main" id="{A44749F4-F9D7-1A43-95AE-236ABAB9F68D}"/>
                </a:ext>
              </a:extLst>
            </p:cNvPr>
            <p:cNvCxnSpPr/>
            <p:nvPr/>
          </p:nvCxnSpPr>
          <p:spPr>
            <a:xfrm flipV="1">
              <a:off x="3994928" y="2942398"/>
              <a:ext cx="0" cy="485532"/>
            </a:xfrm>
            <a:prstGeom prst="line">
              <a:avLst/>
            </a:prstGeom>
            <a:ln w="38100" cap="sq">
              <a:solidFill>
                <a:schemeClr val="accent1">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CABC4CE-5139-3D4D-BA9A-4E9B26D43BBE}"/>
                </a:ext>
              </a:extLst>
            </p:cNvPr>
            <p:cNvCxnSpPr/>
            <p:nvPr/>
          </p:nvCxnSpPr>
          <p:spPr>
            <a:xfrm flipH="1">
              <a:off x="3361438" y="3432890"/>
              <a:ext cx="631722" cy="0"/>
            </a:xfrm>
            <a:prstGeom prst="line">
              <a:avLst/>
            </a:prstGeom>
            <a:ln w="38100" cap="sq">
              <a:solidFill>
                <a:schemeClr val="accent1">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p:sp>
          <p:nvSpPr>
            <p:cNvPr id="45" name="Text Box 10">
              <a:extLst>
                <a:ext uri="{FF2B5EF4-FFF2-40B4-BE49-F238E27FC236}">
                  <a16:creationId xmlns:a16="http://schemas.microsoft.com/office/drawing/2014/main" id="{C0696A32-F472-0547-B89F-FFD3D0A92B79}"/>
                </a:ext>
              </a:extLst>
            </p:cNvPr>
            <p:cNvSpPr txBox="1">
              <a:spLocks noChangeArrowheads="1"/>
            </p:cNvSpPr>
            <p:nvPr/>
          </p:nvSpPr>
          <p:spPr bwMode="auto">
            <a:xfrm>
              <a:off x="3770361" y="2794651"/>
              <a:ext cx="3058036" cy="507832"/>
            </a:xfrm>
            <a:prstGeom prst="rect">
              <a:avLst/>
            </a:prstGeom>
            <a:solidFill>
              <a:schemeClr val="accent1">
                <a:lumMod val="60000"/>
                <a:lumOff val="40000"/>
              </a:schemeClr>
            </a:solidFill>
            <a:ln w="12700">
              <a:solidFill>
                <a:schemeClr val="accent1">
                  <a:lumMod val="50000"/>
                </a:schemeClr>
              </a:solidFill>
              <a:miter lim="800000"/>
              <a:headEnd/>
              <a:tailEnd/>
            </a:ln>
            <a:effectLst/>
          </p:spPr>
          <p:txBody>
            <a:bodyPr wrap="square" lIns="0" tIns="0" rIns="0" bIns="0" anchor="ctr" anchorCtr="0">
              <a:spAutoFit/>
            </a:bodyPr>
            <a:lstStyle/>
            <a:p>
              <a:pPr algn="ctr" eaLnBrk="0" hangingPunct="0"/>
              <a:r>
                <a:rPr lang="en-US" altLang="en-US" sz="1500" dirty="0">
                  <a:solidFill>
                    <a:schemeClr val="tx1"/>
                  </a:solidFill>
                  <a:latin typeface="Calibri" charset="0"/>
                  <a:ea typeface="Calibri" charset="0"/>
                  <a:cs typeface="Calibri" charset="0"/>
                </a:rPr>
                <a:t>Divide the triangle into two by</a:t>
              </a:r>
              <a:br>
                <a:rPr lang="en-US" altLang="en-US" sz="1500" dirty="0">
                  <a:solidFill>
                    <a:schemeClr val="tx1"/>
                  </a:solidFill>
                  <a:latin typeface="Calibri" charset="0"/>
                  <a:ea typeface="Calibri" charset="0"/>
                  <a:cs typeface="Calibri" charset="0"/>
                </a:rPr>
              </a:br>
              <a:r>
                <a:rPr lang="en-US" altLang="en-US" sz="1500" dirty="0">
                  <a:solidFill>
                    <a:schemeClr val="tx1"/>
                  </a:solidFill>
                  <a:latin typeface="Calibri" charset="0"/>
                  <a:ea typeface="Calibri" charset="0"/>
                  <a:cs typeface="Calibri" charset="0"/>
                </a:rPr>
                <a:t>drawing a line representing its height.</a:t>
              </a:r>
              <a:endParaRPr lang="en-GB" altLang="en-US" sz="1500" dirty="0">
                <a:solidFill>
                  <a:schemeClr val="tx1"/>
                </a:solidFill>
                <a:latin typeface="Calibri" charset="0"/>
                <a:ea typeface="Calibri" charset="0"/>
                <a:cs typeface="Calibri" charset="0"/>
              </a:endParaRPr>
            </a:p>
          </p:txBody>
        </p:sp>
      </p:grpSp>
      <p:grpSp>
        <p:nvGrpSpPr>
          <p:cNvPr id="46" name="Group 45">
            <a:extLst>
              <a:ext uri="{FF2B5EF4-FFF2-40B4-BE49-F238E27FC236}">
                <a16:creationId xmlns:a16="http://schemas.microsoft.com/office/drawing/2014/main" id="{DE4BCC92-7C27-CC48-9407-B2B2567DD2A0}"/>
              </a:ext>
            </a:extLst>
          </p:cNvPr>
          <p:cNvGrpSpPr/>
          <p:nvPr/>
        </p:nvGrpSpPr>
        <p:grpSpPr>
          <a:xfrm>
            <a:off x="600385" y="1607421"/>
            <a:ext cx="1294090" cy="507832"/>
            <a:chOff x="600385" y="3236684"/>
            <a:chExt cx="1294090" cy="507832"/>
          </a:xfrm>
          <a:solidFill>
            <a:schemeClr val="accent4">
              <a:lumMod val="60000"/>
              <a:lumOff val="40000"/>
            </a:schemeClr>
          </a:solidFill>
        </p:grpSpPr>
        <p:grpSp>
          <p:nvGrpSpPr>
            <p:cNvPr id="48" name="Group 47">
              <a:extLst>
                <a:ext uri="{FF2B5EF4-FFF2-40B4-BE49-F238E27FC236}">
                  <a16:creationId xmlns:a16="http://schemas.microsoft.com/office/drawing/2014/main" id="{9843C9B4-A27D-BA48-8735-2B3EBEC1E630}"/>
                </a:ext>
              </a:extLst>
            </p:cNvPr>
            <p:cNvGrpSpPr/>
            <p:nvPr/>
          </p:nvGrpSpPr>
          <p:grpSpPr>
            <a:xfrm flipH="1">
              <a:off x="1618967" y="3342964"/>
              <a:ext cx="275508" cy="227171"/>
              <a:chOff x="3871820" y="3358119"/>
              <a:chExt cx="275508" cy="227171"/>
            </a:xfrm>
            <a:grpFill/>
          </p:grpSpPr>
          <p:cxnSp>
            <p:nvCxnSpPr>
              <p:cNvPr id="51" name="Straight Connector 50">
                <a:extLst>
                  <a:ext uri="{FF2B5EF4-FFF2-40B4-BE49-F238E27FC236}">
                    <a16:creationId xmlns:a16="http://schemas.microsoft.com/office/drawing/2014/main" id="{A978771F-3394-9740-8AA6-4DEE88CD4C8F}"/>
                  </a:ext>
                </a:extLst>
              </p:cNvPr>
              <p:cNvCxnSpPr>
                <a:cxnSpLocks/>
              </p:cNvCxnSpPr>
              <p:nvPr/>
            </p:nvCxnSpPr>
            <p:spPr>
              <a:xfrm flipH="1" flipV="1">
                <a:off x="4147328" y="3358119"/>
                <a:ext cx="0" cy="221040"/>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4C939CC-449D-3C45-A8DD-321CDA8F2F36}"/>
                  </a:ext>
                </a:extLst>
              </p:cNvPr>
              <p:cNvCxnSpPr/>
              <p:nvPr/>
            </p:nvCxnSpPr>
            <p:spPr>
              <a:xfrm flipH="1">
                <a:off x="3871820" y="3585290"/>
                <a:ext cx="273740" cy="0"/>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0" name="Text Box 10">
                  <a:extLst>
                    <a:ext uri="{FF2B5EF4-FFF2-40B4-BE49-F238E27FC236}">
                      <a16:creationId xmlns:a16="http://schemas.microsoft.com/office/drawing/2014/main" id="{6AC3107D-DD8F-8448-9FDF-9460B11E6832}"/>
                    </a:ext>
                  </a:extLst>
                </p:cNvPr>
                <p:cNvSpPr txBox="1">
                  <a:spLocks noChangeArrowheads="1"/>
                </p:cNvSpPr>
                <p:nvPr/>
              </p:nvSpPr>
              <p:spPr bwMode="auto">
                <a:xfrm>
                  <a:off x="600385" y="3236684"/>
                  <a:ext cx="1120710" cy="507832"/>
                </a:xfrm>
                <a:prstGeom prst="rect">
                  <a:avLst/>
                </a:prstGeom>
                <a:grpFill/>
                <a:ln w="12700">
                  <a:solidFill>
                    <a:schemeClr val="accent4">
                      <a:lumMod val="50000"/>
                    </a:schemeClr>
                  </a:solidFill>
                  <a:miter lim="800000"/>
                  <a:headEnd/>
                  <a:tailEnd/>
                </a:ln>
                <a:effectLst/>
              </p:spPr>
              <p:txBody>
                <a:bodyPr wrap="square" lIns="0" tIns="0" rIns="0" bIns="0" anchor="ctr" anchorCtr="0">
                  <a:spAutoFit/>
                </a:bodyPr>
                <a:lstStyle/>
                <a:p>
                  <a:pPr algn="ctr" eaLnBrk="0" hangingPunct="0"/>
                  <a14:m>
                    <m:oMath xmlns:m="http://schemas.openxmlformats.org/officeDocument/2006/math">
                      <m:r>
                        <a:rPr lang="en-GB" altLang="en-US" sz="1500" b="0" i="1" smtClean="0">
                          <a:latin typeface="Cambria Math" charset="0"/>
                          <a:ea typeface="Calibri" charset="0"/>
                          <a:cs typeface="Calibri" charset="0"/>
                        </a:rPr>
                        <m:t>𝑏</m:t>
                      </m:r>
                    </m:oMath>
                  </a14:m>
                  <a:r>
                    <a:rPr lang="en-GB" altLang="en-US" sz="1500" dirty="0">
                      <a:latin typeface="Calibri" charset="0"/>
                      <a:ea typeface="Calibri" charset="0"/>
                      <a:cs typeface="Calibri" charset="0"/>
                    </a:rPr>
                    <a:t> is the side opposite </a:t>
                  </a:r>
                  <a14:m>
                    <m:oMath xmlns:m="http://schemas.openxmlformats.org/officeDocument/2006/math">
                      <m:r>
                        <a:rPr lang="en-GB" altLang="en-US" sz="1500" b="0" i="1" smtClean="0">
                          <a:latin typeface="Cambria Math" charset="0"/>
                          <a:ea typeface="Calibri" charset="0"/>
                          <a:cs typeface="Calibri" charset="0"/>
                        </a:rPr>
                        <m:t>𝐵</m:t>
                      </m:r>
                    </m:oMath>
                  </a14:m>
                  <a:r>
                    <a:rPr lang="en-GB" altLang="en-US" sz="1500" dirty="0">
                      <a:latin typeface="Calibri" charset="0"/>
                      <a:ea typeface="Calibri" charset="0"/>
                      <a:cs typeface="Calibri" charset="0"/>
                    </a:rPr>
                    <a:t>.</a:t>
                  </a:r>
                </a:p>
              </p:txBody>
            </p:sp>
          </mc:Choice>
          <mc:Fallback xmlns="">
            <p:sp>
              <p:nvSpPr>
                <p:cNvPr id="50" name="Text Box 10">
                  <a:extLst>
                    <a:ext uri="{FF2B5EF4-FFF2-40B4-BE49-F238E27FC236}">
                      <a16:creationId xmlns:a16="http://schemas.microsoft.com/office/drawing/2014/main" id="{6AC3107D-DD8F-8448-9FDF-9460B11E6832}"/>
                    </a:ext>
                  </a:extLst>
                </p:cNvPr>
                <p:cNvSpPr txBox="1">
                  <a:spLocks noRot="1" noChangeAspect="1" noMove="1" noResize="1" noEditPoints="1" noAdjustHandles="1" noChangeArrowheads="1" noChangeShapeType="1" noTextEdit="1"/>
                </p:cNvSpPr>
                <p:nvPr/>
              </p:nvSpPr>
              <p:spPr bwMode="auto">
                <a:xfrm>
                  <a:off x="600385" y="3236684"/>
                  <a:ext cx="1120710" cy="507832"/>
                </a:xfrm>
                <a:prstGeom prst="rect">
                  <a:avLst/>
                </a:prstGeom>
                <a:blipFill>
                  <a:blip r:embed="rId11"/>
                  <a:stretch>
                    <a:fillRect t="-7143" r="-3297" b="-11905"/>
                  </a:stretch>
                </a:blipFill>
                <a:ln w="12700">
                  <a:solidFill>
                    <a:schemeClr val="accent4">
                      <a:lumMod val="50000"/>
                    </a:schemeClr>
                  </a:solidFill>
                  <a:miter lim="800000"/>
                  <a:headEnd/>
                  <a:tailEnd/>
                </a:ln>
                <a:effectLst/>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E4BCC59D-2A13-DA44-9555-44358DB1BAAC}"/>
              </a:ext>
            </a:extLst>
          </p:cNvPr>
          <p:cNvGrpSpPr/>
          <p:nvPr/>
        </p:nvGrpSpPr>
        <p:grpSpPr>
          <a:xfrm>
            <a:off x="3933149" y="1851449"/>
            <a:ext cx="1302398" cy="461665"/>
            <a:chOff x="3933149" y="3480712"/>
            <a:chExt cx="1302398" cy="461665"/>
          </a:xfrm>
          <a:solidFill>
            <a:schemeClr val="accent4">
              <a:lumMod val="60000"/>
              <a:lumOff val="40000"/>
            </a:schemeClr>
          </a:solidFill>
        </p:grpSpPr>
        <p:cxnSp>
          <p:nvCxnSpPr>
            <p:cNvPr id="54" name="Straight Connector 53">
              <a:extLst>
                <a:ext uri="{FF2B5EF4-FFF2-40B4-BE49-F238E27FC236}">
                  <a16:creationId xmlns:a16="http://schemas.microsoft.com/office/drawing/2014/main" id="{2D0E1A7C-7735-5E40-9208-9E2F1B4E42CF}"/>
                </a:ext>
              </a:extLst>
            </p:cNvPr>
            <p:cNvCxnSpPr/>
            <p:nvPr/>
          </p:nvCxnSpPr>
          <p:spPr>
            <a:xfrm flipH="1">
              <a:off x="3933149" y="3657489"/>
              <a:ext cx="631722" cy="0"/>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 Box 10">
                  <a:extLst>
                    <a:ext uri="{FF2B5EF4-FFF2-40B4-BE49-F238E27FC236}">
                      <a16:creationId xmlns:a16="http://schemas.microsoft.com/office/drawing/2014/main" id="{52C463FF-7980-9143-97FF-4EB7E222FD32}"/>
                    </a:ext>
                  </a:extLst>
                </p:cNvPr>
                <p:cNvSpPr txBox="1">
                  <a:spLocks noChangeArrowheads="1"/>
                </p:cNvSpPr>
                <p:nvPr/>
              </p:nvSpPr>
              <p:spPr bwMode="auto">
                <a:xfrm>
                  <a:off x="4129694" y="3480712"/>
                  <a:ext cx="1105853" cy="461665"/>
                </a:xfrm>
                <a:prstGeom prst="rect">
                  <a:avLst/>
                </a:prstGeom>
                <a:grpFill/>
                <a:ln w="12700">
                  <a:solidFill>
                    <a:schemeClr val="accent4">
                      <a:lumMod val="50000"/>
                    </a:schemeClr>
                  </a:solidFill>
                  <a:miter lim="800000"/>
                  <a:headEnd/>
                  <a:tailEnd/>
                </a:ln>
                <a:effectLst/>
              </p:spPr>
              <p:txBody>
                <a:bodyPr wrap="square" lIns="0" tIns="0" rIns="0" bIns="0" anchor="ctr">
                  <a:spAutoFit/>
                </a:bodyPr>
                <a:lstStyle/>
                <a:p>
                  <a:pPr algn="ctr" eaLnBrk="0" hangingPunct="0"/>
                  <a14:m>
                    <m:oMath xmlns:m="http://schemas.openxmlformats.org/officeDocument/2006/math">
                      <m:r>
                        <a:rPr lang="en-GB" altLang="en-US" sz="1500" b="0" i="1" smtClean="0">
                          <a:latin typeface="Cambria Math" panose="02040503050406030204" pitchFamily="18" charset="0"/>
                          <a:ea typeface="Calibri" charset="0"/>
                          <a:cs typeface="Calibri" charset="0"/>
                        </a:rPr>
                        <m:t>𝑐</m:t>
                      </m:r>
                    </m:oMath>
                  </a14:m>
                  <a:r>
                    <a:rPr lang="en-GB" altLang="en-US" sz="1500" dirty="0">
                      <a:latin typeface="Calibri" charset="0"/>
                      <a:ea typeface="Calibri" charset="0"/>
                      <a:cs typeface="Calibri" charset="0"/>
                    </a:rPr>
                    <a:t> is the side opposite </a:t>
                  </a:r>
                  <a14:m>
                    <m:oMath xmlns:m="http://schemas.openxmlformats.org/officeDocument/2006/math">
                      <m:r>
                        <a:rPr lang="en-GB" altLang="en-US" sz="1500" b="0" i="1" smtClean="0">
                          <a:latin typeface="Cambria Math" panose="02040503050406030204" pitchFamily="18" charset="0"/>
                          <a:ea typeface="Calibri" charset="0"/>
                          <a:cs typeface="Calibri" charset="0"/>
                        </a:rPr>
                        <m:t>𝐶</m:t>
                      </m:r>
                    </m:oMath>
                  </a14:m>
                  <a:r>
                    <a:rPr lang="en-GB" altLang="en-US" sz="1500" dirty="0">
                      <a:latin typeface="Calibri" charset="0"/>
                      <a:ea typeface="Calibri" charset="0"/>
                      <a:cs typeface="Calibri" charset="0"/>
                    </a:rPr>
                    <a:t>.</a:t>
                  </a:r>
                </a:p>
              </p:txBody>
            </p:sp>
          </mc:Choice>
          <mc:Fallback xmlns="">
            <p:sp>
              <p:nvSpPr>
                <p:cNvPr id="55" name="Text Box 10">
                  <a:extLst>
                    <a:ext uri="{FF2B5EF4-FFF2-40B4-BE49-F238E27FC236}">
                      <a16:creationId xmlns:a16="http://schemas.microsoft.com/office/drawing/2014/main" id="{52C463FF-7980-9143-97FF-4EB7E222FD32}"/>
                    </a:ext>
                  </a:extLst>
                </p:cNvPr>
                <p:cNvSpPr txBox="1">
                  <a:spLocks noRot="1" noChangeAspect="1" noMove="1" noResize="1" noEditPoints="1" noAdjustHandles="1" noChangeArrowheads="1" noChangeShapeType="1" noTextEdit="1"/>
                </p:cNvSpPr>
                <p:nvPr/>
              </p:nvSpPr>
              <p:spPr bwMode="auto">
                <a:xfrm>
                  <a:off x="4129694" y="3480712"/>
                  <a:ext cx="1105853" cy="461665"/>
                </a:xfrm>
                <a:prstGeom prst="rect">
                  <a:avLst/>
                </a:prstGeom>
                <a:blipFill>
                  <a:blip r:embed="rId12"/>
                  <a:stretch>
                    <a:fillRect t="-10526" r="-4494" b="-21053"/>
                  </a:stretch>
                </a:blipFill>
                <a:ln w="12700">
                  <a:solidFill>
                    <a:schemeClr val="accent4">
                      <a:lumMod val="50000"/>
                    </a:schemeClr>
                  </a:solidFill>
                  <a:miter lim="800000"/>
                  <a:headEnd/>
                  <a:tailEnd/>
                </a:ln>
                <a:effectLst/>
              </p:spPr>
              <p:txBody>
                <a:bodyPr/>
                <a:lstStyle/>
                <a:p>
                  <a:r>
                    <a:rPr lang="en-GB">
                      <a:noFill/>
                    </a:rPr>
                    <a:t> </a:t>
                  </a:r>
                </a:p>
              </p:txBody>
            </p:sp>
          </mc:Fallback>
        </mc:AlternateContent>
      </p:grpSp>
      <p:sp>
        <p:nvSpPr>
          <p:cNvPr id="101" name="TextBox 100">
            <a:extLst>
              <a:ext uri="{FF2B5EF4-FFF2-40B4-BE49-F238E27FC236}">
                <a16:creationId xmlns:a16="http://schemas.microsoft.com/office/drawing/2014/main" id="{CF9F511B-0A8C-DC40-A407-79AE407D3B99}"/>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S1</a:t>
            </a:r>
          </a:p>
        </p:txBody>
      </p:sp>
      <p:sp>
        <p:nvSpPr>
          <p:cNvPr id="102" name="TextBox 101">
            <a:extLst>
              <a:ext uri="{FF2B5EF4-FFF2-40B4-BE49-F238E27FC236}">
                <a16:creationId xmlns:a16="http://schemas.microsoft.com/office/drawing/2014/main" id="{4BFF91DC-616F-504B-9A58-5ACD71B9D7BA}"/>
              </a:ext>
            </a:extLst>
          </p:cNvPr>
          <p:cNvSpPr txBox="1"/>
          <p:nvPr/>
        </p:nvSpPr>
        <p:spPr>
          <a:xfrm>
            <a:off x="347621" y="958109"/>
            <a:ext cx="2296775" cy="246221"/>
          </a:xfrm>
          <a:prstGeom prst="rect">
            <a:avLst/>
          </a:prstGeom>
          <a:noFill/>
        </p:spPr>
        <p:txBody>
          <a:bodyPr wrap="square" lIns="36000" tIns="0" rIns="0" bIns="0" rtlCol="0">
            <a:spAutoFit/>
          </a:bodyPr>
          <a:lstStyle/>
          <a:p>
            <a:pPr fontAlgn="base">
              <a:spcBef>
                <a:spcPct val="0"/>
              </a:spcBef>
              <a:spcAft>
                <a:spcPts val="800"/>
              </a:spcAft>
            </a:pPr>
            <a:r>
              <a:rPr lang="en-GB" sz="1600" dirty="0">
                <a:solidFill>
                  <a:srgbClr val="000000"/>
                </a:solidFill>
              </a:rPr>
              <a:t>Consider the triangle ABC.</a:t>
            </a:r>
          </a:p>
        </p:txBody>
      </p:sp>
      <mc:AlternateContent xmlns:mc="http://schemas.openxmlformats.org/markup-compatibility/2006" xmlns:a14="http://schemas.microsoft.com/office/drawing/2010/main">
        <mc:Choice Requires="a14">
          <p:sp>
            <p:nvSpPr>
              <p:cNvPr id="112" name="Text Box 8">
                <a:extLst>
                  <a:ext uri="{FF2B5EF4-FFF2-40B4-BE49-F238E27FC236}">
                    <a16:creationId xmlns:a16="http://schemas.microsoft.com/office/drawing/2014/main" id="{AFB583E6-9D4F-FB47-938A-3E7FFDE17A32}"/>
                  </a:ext>
                </a:extLst>
              </p:cNvPr>
              <p:cNvSpPr txBox="1">
                <a:spLocks noChangeArrowheads="1"/>
              </p:cNvSpPr>
              <p:nvPr/>
            </p:nvSpPr>
            <p:spPr bwMode="auto">
              <a:xfrm>
                <a:off x="2322448" y="2905144"/>
                <a:ext cx="344838"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𝑎</m:t>
                      </m:r>
                    </m:oMath>
                  </m:oMathPara>
                </a14:m>
                <a:endParaRPr lang="en-GB" altLang="en-US" sz="1500" i="1" dirty="0">
                  <a:latin typeface="Times New Roman" charset="0"/>
                </a:endParaRPr>
              </a:p>
            </p:txBody>
          </p:sp>
        </mc:Choice>
        <mc:Fallback xmlns="">
          <p:sp>
            <p:nvSpPr>
              <p:cNvPr id="112" name="Text Box 8">
                <a:extLst>
                  <a:ext uri="{FF2B5EF4-FFF2-40B4-BE49-F238E27FC236}">
                    <a16:creationId xmlns:a16="http://schemas.microsoft.com/office/drawing/2014/main" id="{AFB583E6-9D4F-FB47-938A-3E7FFDE17A32}"/>
                  </a:ext>
                </a:extLst>
              </p:cNvPr>
              <p:cNvSpPr txBox="1">
                <a:spLocks noRot="1" noChangeAspect="1" noMove="1" noResize="1" noEditPoints="1" noAdjustHandles="1" noChangeArrowheads="1" noChangeShapeType="1" noTextEdit="1"/>
              </p:cNvSpPr>
              <p:nvPr/>
            </p:nvSpPr>
            <p:spPr bwMode="auto">
              <a:xfrm>
                <a:off x="2322448" y="2905144"/>
                <a:ext cx="344838" cy="323165"/>
              </a:xfrm>
              <a:prstGeom prst="rect">
                <a:avLst/>
              </a:prstGeom>
              <a:blipFill>
                <a:blip r:embed="rId1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nvGrpSpPr>
          <p:cNvPr id="113" name="Group 112">
            <a:extLst>
              <a:ext uri="{FF2B5EF4-FFF2-40B4-BE49-F238E27FC236}">
                <a16:creationId xmlns:a16="http://schemas.microsoft.com/office/drawing/2014/main" id="{238A7CD5-856E-8242-B49E-7ACDBC0758DD}"/>
              </a:ext>
            </a:extLst>
          </p:cNvPr>
          <p:cNvGrpSpPr/>
          <p:nvPr/>
        </p:nvGrpSpPr>
        <p:grpSpPr>
          <a:xfrm>
            <a:off x="2001489" y="3252998"/>
            <a:ext cx="1105853" cy="628778"/>
            <a:chOff x="4129694" y="3336683"/>
            <a:chExt cx="1105853" cy="628778"/>
          </a:xfrm>
          <a:solidFill>
            <a:schemeClr val="accent4">
              <a:lumMod val="60000"/>
              <a:lumOff val="40000"/>
            </a:schemeClr>
          </a:solidFill>
        </p:grpSpPr>
        <p:cxnSp>
          <p:nvCxnSpPr>
            <p:cNvPr id="114" name="Straight Connector 113">
              <a:extLst>
                <a:ext uri="{FF2B5EF4-FFF2-40B4-BE49-F238E27FC236}">
                  <a16:creationId xmlns:a16="http://schemas.microsoft.com/office/drawing/2014/main" id="{2E49E00C-D410-744F-B7AE-36830F9F72AD}"/>
                </a:ext>
              </a:extLst>
            </p:cNvPr>
            <p:cNvCxnSpPr>
              <a:cxnSpLocks/>
            </p:cNvCxnSpPr>
            <p:nvPr/>
          </p:nvCxnSpPr>
          <p:spPr>
            <a:xfrm flipV="1">
              <a:off x="4605331" y="3336683"/>
              <a:ext cx="0" cy="320807"/>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Text Box 10">
                  <a:extLst>
                    <a:ext uri="{FF2B5EF4-FFF2-40B4-BE49-F238E27FC236}">
                      <a16:creationId xmlns:a16="http://schemas.microsoft.com/office/drawing/2014/main" id="{FA85C657-2156-594E-AC55-65AA3996AC8D}"/>
                    </a:ext>
                  </a:extLst>
                </p:cNvPr>
                <p:cNvSpPr txBox="1">
                  <a:spLocks noChangeArrowheads="1"/>
                </p:cNvSpPr>
                <p:nvPr/>
              </p:nvSpPr>
              <p:spPr bwMode="auto">
                <a:xfrm>
                  <a:off x="4129694" y="3457629"/>
                  <a:ext cx="1105853" cy="507832"/>
                </a:xfrm>
                <a:prstGeom prst="rect">
                  <a:avLst/>
                </a:prstGeom>
                <a:grpFill/>
                <a:ln w="12700">
                  <a:solidFill>
                    <a:schemeClr val="accent4">
                      <a:lumMod val="50000"/>
                    </a:schemeClr>
                  </a:solidFill>
                  <a:miter lim="800000"/>
                  <a:headEnd/>
                  <a:tailEnd/>
                </a:ln>
                <a:effectLst/>
              </p:spPr>
              <p:txBody>
                <a:bodyPr wrap="square" lIns="0" tIns="0" rIns="0" bIns="0" anchor="ctr">
                  <a:spAutoFit/>
                </a:bodyPr>
                <a:lstStyle/>
                <a:p>
                  <a:pPr algn="ctr" eaLnBrk="0" hangingPunct="0"/>
                  <a14:m>
                    <m:oMath xmlns:m="http://schemas.openxmlformats.org/officeDocument/2006/math">
                      <m:r>
                        <a:rPr lang="en-GB" altLang="en-US" sz="1500" i="1" smtClean="0">
                          <a:latin typeface="Cambria Math" charset="0"/>
                          <a:ea typeface="Calibri" charset="0"/>
                          <a:cs typeface="Calibri" charset="0"/>
                        </a:rPr>
                        <m:t>𝑎</m:t>
                      </m:r>
                    </m:oMath>
                  </a14:m>
                  <a:r>
                    <a:rPr lang="en-GB" altLang="en-US" sz="1500" dirty="0">
                      <a:latin typeface="Calibri" charset="0"/>
                      <a:ea typeface="Calibri" charset="0"/>
                      <a:cs typeface="Calibri" charset="0"/>
                    </a:rPr>
                    <a:t> is the side opposite </a:t>
                  </a:r>
                  <a14:m>
                    <m:oMath xmlns:m="http://schemas.openxmlformats.org/officeDocument/2006/math">
                      <m:r>
                        <a:rPr lang="en-GB" altLang="en-US" sz="1500" b="0" i="1" smtClean="0">
                          <a:latin typeface="Cambria Math" charset="0"/>
                          <a:ea typeface="Calibri" charset="0"/>
                          <a:cs typeface="Calibri" charset="0"/>
                        </a:rPr>
                        <m:t>𝐴</m:t>
                      </m:r>
                    </m:oMath>
                  </a14:m>
                  <a:r>
                    <a:rPr lang="en-GB" altLang="en-US" sz="1500" dirty="0">
                      <a:latin typeface="Calibri" charset="0"/>
                      <a:ea typeface="Calibri" charset="0"/>
                      <a:cs typeface="Calibri" charset="0"/>
                    </a:rPr>
                    <a:t>.</a:t>
                  </a:r>
                </a:p>
              </p:txBody>
            </p:sp>
          </mc:Choice>
          <mc:Fallback xmlns="">
            <p:sp>
              <p:nvSpPr>
                <p:cNvPr id="119" name="Text Box 10">
                  <a:extLst>
                    <a:ext uri="{FF2B5EF4-FFF2-40B4-BE49-F238E27FC236}">
                      <a16:creationId xmlns:a16="http://schemas.microsoft.com/office/drawing/2014/main" id="{FA85C657-2156-594E-AC55-65AA3996AC8D}"/>
                    </a:ext>
                  </a:extLst>
                </p:cNvPr>
                <p:cNvSpPr txBox="1">
                  <a:spLocks noRot="1" noChangeAspect="1" noMove="1" noResize="1" noEditPoints="1" noAdjustHandles="1" noChangeArrowheads="1" noChangeShapeType="1" noTextEdit="1"/>
                </p:cNvSpPr>
                <p:nvPr/>
              </p:nvSpPr>
              <p:spPr bwMode="auto">
                <a:xfrm>
                  <a:off x="4129694" y="3457629"/>
                  <a:ext cx="1105853" cy="507832"/>
                </a:xfrm>
                <a:prstGeom prst="rect">
                  <a:avLst/>
                </a:prstGeom>
                <a:blipFill>
                  <a:blip r:embed="rId14"/>
                  <a:stretch>
                    <a:fillRect l="-1124" t="-4762" r="-4494" b="-11905"/>
                  </a:stretch>
                </a:blipFill>
                <a:ln w="12700">
                  <a:solidFill>
                    <a:schemeClr val="accent4">
                      <a:lumMod val="50000"/>
                    </a:schemeClr>
                  </a:solidFill>
                  <a:miter lim="800000"/>
                  <a:headEnd/>
                  <a:tailEnd/>
                </a:ln>
                <a:effectLst/>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25" name="Text Box 1">
                <a:extLst>
                  <a:ext uri="{FF2B5EF4-FFF2-40B4-BE49-F238E27FC236}">
                    <a16:creationId xmlns:a16="http://schemas.microsoft.com/office/drawing/2014/main" id="{B1181280-E147-0F42-A470-E0C8676AF69A}"/>
                  </a:ext>
                </a:extLst>
              </p:cNvPr>
              <p:cNvSpPr txBox="1"/>
              <p:nvPr/>
            </p:nvSpPr>
            <p:spPr>
              <a:xfrm>
                <a:off x="1509077" y="3373944"/>
                <a:ext cx="1840230" cy="949893"/>
              </a:xfrm>
              <a:prstGeom prst="rect">
                <a:avLst/>
              </a:prstGeom>
              <a:solidFill>
                <a:schemeClr val="accent3"/>
              </a:solidFill>
              <a:ln w="1270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unc>
                        <m:funcPr>
                          <m:ctrlPr>
                            <a:rPr lang="en-GB" sz="1800" i="1" smtClean="0">
                              <a:effectLst/>
                              <a:latin typeface="Cambria Math" panose="02040503050406030204" pitchFamily="18" charset="0"/>
                              <a:ea typeface="Calibri" charset="0"/>
                              <a:cs typeface="Times New Roman" charset="0"/>
                            </a:rPr>
                          </m:ctrlPr>
                        </m:funcPr>
                        <m:fName>
                          <m:r>
                            <m:rPr>
                              <m:sty m:val="p"/>
                            </m:rPr>
                            <a:rPr lang="en-GB" sz="1800" b="0" i="0" smtClean="0">
                              <a:effectLst/>
                              <a:latin typeface="Cambria Math" panose="02040503050406030204" pitchFamily="18" charset="0"/>
                              <a:ea typeface="Calibri" charset="0"/>
                              <a:cs typeface="Times New Roman" charset="0"/>
                            </a:rPr>
                            <m:t>cos</m:t>
                          </m:r>
                        </m:fName>
                        <m:e>
                          <m:r>
                            <a:rPr lang="en-GB" sz="1800" b="0" i="1" smtClean="0">
                              <a:effectLst/>
                              <a:latin typeface="Cambria Math" charset="0"/>
                              <a:ea typeface="Calibri" charset="0"/>
                              <a:cs typeface="Times New Roman" charset="0"/>
                            </a:rPr>
                            <m:t>𝐶</m:t>
                          </m:r>
                        </m:e>
                      </m:func>
                      <m:r>
                        <m:rPr>
                          <m:aln/>
                        </m:rPr>
                        <a:rPr lang="en-GB" sz="1800" i="1">
                          <a:effectLst/>
                          <a:latin typeface="Cambria Math" charset="0"/>
                          <a:ea typeface="Calibri" charset="0"/>
                          <a:cs typeface="Times New Roman" charset="0"/>
                        </a:rPr>
                        <m:t>=</m:t>
                      </m:r>
                      <m:f>
                        <m:fPr>
                          <m:ctrlPr>
                            <a:rPr lang="en-GB" sz="1800" i="1">
                              <a:effectLst/>
                              <a:latin typeface="Cambria Math" panose="02040503050406030204" pitchFamily="18" charset="0"/>
                              <a:ea typeface="Calibri" charset="0"/>
                              <a:cs typeface="Times New Roman" charset="0"/>
                            </a:rPr>
                          </m:ctrlPr>
                        </m:fPr>
                        <m:num>
                          <m:r>
                            <a:rPr lang="en-GB" sz="1800" b="0" i="1" smtClean="0">
                              <a:effectLst/>
                              <a:latin typeface="Cambria Math" panose="02040503050406030204" pitchFamily="18" charset="0"/>
                              <a:ea typeface="Calibri" charset="0"/>
                              <a:cs typeface="Times New Roman" charset="0"/>
                            </a:rPr>
                            <m:t>𝑥</m:t>
                          </m:r>
                        </m:num>
                        <m:den>
                          <m:r>
                            <a:rPr lang="en-GB" sz="1800" i="1">
                              <a:effectLst/>
                              <a:latin typeface="Cambria Math" charset="0"/>
                              <a:ea typeface="Calibri" charset="0"/>
                              <a:cs typeface="Times New Roman" charset="0"/>
                            </a:rPr>
                            <m:t>𝑏</m:t>
                          </m:r>
                        </m:den>
                      </m:f>
                    </m:oMath>
                    <m:oMath xmlns:m="http://schemas.openxmlformats.org/officeDocument/2006/math">
                      <m:r>
                        <a:rPr lang="en-GB" sz="1800" i="1">
                          <a:effectLst/>
                          <a:latin typeface="Cambria Math" charset="0"/>
                          <a:ea typeface="Times New Roman" charset="0"/>
                          <a:cs typeface="Times New Roman" charset="0"/>
                        </a:rPr>
                        <m:t>⇒</m:t>
                      </m:r>
                      <m:r>
                        <a:rPr lang="en-GB" sz="1800" b="0" i="1" smtClean="0">
                          <a:solidFill>
                            <a:srgbClr val="0070C0"/>
                          </a:solidFill>
                          <a:effectLst/>
                          <a:latin typeface="Cambria Math" panose="02040503050406030204" pitchFamily="18" charset="0"/>
                          <a:ea typeface="Times New Roman" charset="0"/>
                          <a:cs typeface="Times New Roman" charset="0"/>
                        </a:rPr>
                        <m:t>𝑥</m:t>
                      </m:r>
                      <m:r>
                        <m:rPr>
                          <m:aln/>
                        </m:rPr>
                        <a:rPr lang="en-GB" sz="1800" i="1">
                          <a:effectLst/>
                          <a:latin typeface="Cambria Math" charset="0"/>
                          <a:ea typeface="Times New Roman" charset="0"/>
                          <a:cs typeface="Times New Roman" charset="0"/>
                        </a:rPr>
                        <m:t>=</m:t>
                      </m:r>
                      <m:r>
                        <a:rPr lang="en-GB" sz="1800" i="1">
                          <a:effectLst/>
                          <a:latin typeface="Cambria Math" charset="0"/>
                          <a:ea typeface="Times New Roman" charset="0"/>
                          <a:cs typeface="Times New Roman" charset="0"/>
                        </a:rPr>
                        <m:t>𝑏</m:t>
                      </m:r>
                      <m:func>
                        <m:funcPr>
                          <m:ctrlPr>
                            <a:rPr lang="en-GB" sz="1800" i="1">
                              <a:effectLst/>
                              <a:latin typeface="Cambria Math" panose="02040503050406030204" pitchFamily="18" charset="0"/>
                              <a:ea typeface="Times New Roman" charset="0"/>
                              <a:cs typeface="Times New Roman" charset="0"/>
                            </a:rPr>
                          </m:ctrlPr>
                        </m:funcPr>
                        <m:fName>
                          <m:r>
                            <m:rPr>
                              <m:sty m:val="p"/>
                            </m:rPr>
                            <a:rPr lang="en-GB" sz="1800" b="0" i="0" smtClean="0">
                              <a:effectLst/>
                              <a:latin typeface="Cambria Math" panose="02040503050406030204" pitchFamily="18" charset="0"/>
                              <a:ea typeface="Times New Roman" charset="0"/>
                              <a:cs typeface="Times New Roman" charset="0"/>
                            </a:rPr>
                            <m:t>cos</m:t>
                          </m:r>
                        </m:fName>
                        <m:e>
                          <m:r>
                            <a:rPr lang="en-GB" sz="1800" b="0" i="1" smtClean="0">
                              <a:effectLst/>
                              <a:latin typeface="Cambria Math" charset="0"/>
                              <a:ea typeface="Times New Roman" charset="0"/>
                              <a:cs typeface="Times New Roman" charset="0"/>
                            </a:rPr>
                            <m:t>𝐶</m:t>
                          </m:r>
                        </m:e>
                      </m:func>
                    </m:oMath>
                  </m:oMathPara>
                </a14:m>
                <a:endParaRPr lang="en-GB" sz="1200" dirty="0">
                  <a:effectLst/>
                  <a:ea typeface="Calibri" charset="0"/>
                  <a:cs typeface="Times New Roman" charset="0"/>
                </a:endParaRPr>
              </a:p>
            </p:txBody>
          </p:sp>
        </mc:Choice>
        <mc:Fallback xmlns="">
          <p:sp>
            <p:nvSpPr>
              <p:cNvPr id="125" name="Text Box 1">
                <a:extLst>
                  <a:ext uri="{FF2B5EF4-FFF2-40B4-BE49-F238E27FC236}">
                    <a16:creationId xmlns:a16="http://schemas.microsoft.com/office/drawing/2014/main" id="{B1181280-E147-0F42-A470-E0C8676AF69A}"/>
                  </a:ext>
                </a:extLst>
              </p:cNvPr>
              <p:cNvSpPr txBox="1">
                <a:spLocks noRot="1" noChangeAspect="1" noMove="1" noResize="1" noEditPoints="1" noAdjustHandles="1" noChangeArrowheads="1" noChangeShapeType="1" noTextEdit="1"/>
              </p:cNvSpPr>
              <p:nvPr/>
            </p:nvSpPr>
            <p:spPr>
              <a:xfrm>
                <a:off x="1509077" y="3373944"/>
                <a:ext cx="1840230" cy="949893"/>
              </a:xfrm>
              <a:prstGeom prst="rect">
                <a:avLst/>
              </a:prstGeom>
              <a:blipFill>
                <a:blip r:embed="rId15"/>
                <a:stretch>
                  <a:fillRect/>
                </a:stretch>
              </a:blipFill>
              <a:ln w="12700">
                <a:noFill/>
              </a:ln>
              <a:effectLst/>
            </p:spPr>
            <p:txBody>
              <a:bodyPr/>
              <a:lstStyle/>
              <a:p>
                <a:r>
                  <a:rPr lang="en-GB">
                    <a:noFill/>
                  </a:rPr>
                  <a:t> </a:t>
                </a:r>
              </a:p>
            </p:txBody>
          </p:sp>
        </mc:Fallback>
      </mc:AlternateContent>
      <p:sp>
        <p:nvSpPr>
          <p:cNvPr id="126" name="Rectangle 125">
            <a:extLst>
              <a:ext uri="{FF2B5EF4-FFF2-40B4-BE49-F238E27FC236}">
                <a16:creationId xmlns:a16="http://schemas.microsoft.com/office/drawing/2014/main" id="{7DC41A0D-E695-C245-A13E-598FC5853994}"/>
              </a:ext>
            </a:extLst>
          </p:cNvPr>
          <p:cNvSpPr/>
          <p:nvPr/>
        </p:nvSpPr>
        <p:spPr>
          <a:xfrm>
            <a:off x="2181553" y="3444684"/>
            <a:ext cx="444734" cy="5380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126">
            <a:extLst>
              <a:ext uri="{FF2B5EF4-FFF2-40B4-BE49-F238E27FC236}">
                <a16:creationId xmlns:a16="http://schemas.microsoft.com/office/drawing/2014/main" id="{832E33FA-AF8D-CE4F-9CD7-5ECBD05E2E93}"/>
              </a:ext>
            </a:extLst>
          </p:cNvPr>
          <p:cNvSpPr/>
          <p:nvPr/>
        </p:nvSpPr>
        <p:spPr>
          <a:xfrm>
            <a:off x="1744794" y="3974269"/>
            <a:ext cx="1420565" cy="2300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9" name="Group 128">
            <a:extLst>
              <a:ext uri="{FF2B5EF4-FFF2-40B4-BE49-F238E27FC236}">
                <a16:creationId xmlns:a16="http://schemas.microsoft.com/office/drawing/2014/main" id="{08F6D8CA-2C46-6E4E-9BF0-64AA4396A6E6}"/>
              </a:ext>
            </a:extLst>
          </p:cNvPr>
          <p:cNvGrpSpPr/>
          <p:nvPr/>
        </p:nvGrpSpPr>
        <p:grpSpPr>
          <a:xfrm>
            <a:off x="4095299" y="1638609"/>
            <a:ext cx="556728" cy="309226"/>
            <a:chOff x="4614538" y="3563925"/>
            <a:chExt cx="556728" cy="309226"/>
          </a:xfrm>
          <a:solidFill>
            <a:schemeClr val="accent5">
              <a:lumMod val="40000"/>
              <a:lumOff val="60000"/>
            </a:schemeClr>
          </a:solidFill>
        </p:grpSpPr>
        <p:cxnSp>
          <p:nvCxnSpPr>
            <p:cNvPr id="130" name="Straight Connector 129">
              <a:extLst>
                <a:ext uri="{FF2B5EF4-FFF2-40B4-BE49-F238E27FC236}">
                  <a16:creationId xmlns:a16="http://schemas.microsoft.com/office/drawing/2014/main" id="{66755F3F-0306-274C-8F4F-E8D0021C5819}"/>
                </a:ext>
              </a:extLst>
            </p:cNvPr>
            <p:cNvCxnSpPr/>
            <p:nvPr/>
          </p:nvCxnSpPr>
          <p:spPr>
            <a:xfrm>
              <a:off x="4748857" y="3713415"/>
              <a:ext cx="422409" cy="0"/>
            </a:xfrm>
            <a:prstGeom prst="line">
              <a:avLst/>
            </a:prstGeom>
            <a:grpFill/>
            <a:ln w="38100" cap="sq">
              <a:solidFill>
                <a:schemeClr val="accent5">
                  <a:lumMod val="75000"/>
                </a:schemeClr>
              </a:solidFill>
              <a:miter lim="800000"/>
              <a:tailEnd type="oval"/>
            </a:ln>
          </p:spPr>
          <p:style>
            <a:lnRef idx="1">
              <a:schemeClr val="accent1"/>
            </a:lnRef>
            <a:fillRef idx="0">
              <a:schemeClr val="accent1"/>
            </a:fillRef>
            <a:effectRef idx="0">
              <a:schemeClr val="accent1"/>
            </a:effectRef>
            <a:fontRef idx="minor">
              <a:schemeClr val="tx1"/>
            </a:fontRef>
          </p:style>
        </p:cxnSp>
        <p:sp>
          <p:nvSpPr>
            <p:cNvPr id="131" name="Text Box 10">
              <a:extLst>
                <a:ext uri="{FF2B5EF4-FFF2-40B4-BE49-F238E27FC236}">
                  <a16:creationId xmlns:a16="http://schemas.microsoft.com/office/drawing/2014/main" id="{43F33465-4EE6-FE46-8F7D-71910832A204}"/>
                </a:ext>
              </a:extLst>
            </p:cNvPr>
            <p:cNvSpPr txBox="1">
              <a:spLocks noChangeAspect="1" noChangeArrowheads="1"/>
            </p:cNvSpPr>
            <p:nvPr/>
          </p:nvSpPr>
          <p:spPr bwMode="auto">
            <a:xfrm>
              <a:off x="4614538" y="3563925"/>
              <a:ext cx="309226" cy="309226"/>
            </a:xfrm>
            <a:prstGeom prst="ellipse">
              <a:avLst/>
            </a:prstGeom>
            <a:grpFill/>
            <a:ln w="12700">
              <a:solidFill>
                <a:schemeClr val="accent5">
                  <a:lumMod val="75000"/>
                </a:schemeClr>
              </a:solidFill>
              <a:miter lim="800000"/>
              <a:headEnd/>
              <a:tailEnd/>
            </a:ln>
            <a:effectLst/>
          </p:spPr>
          <p:txBody>
            <a:bodyPr wrap="square" lIns="14400" tIns="0" rIns="0" bIns="10800" anchor="ctr" anchorCtr="0">
              <a:noAutofit/>
            </a:bodyPr>
            <a:lstStyle/>
            <a:p>
              <a:pPr algn="ctr" eaLnBrk="0" hangingPunct="0"/>
              <a:r>
                <a:rPr lang="en-GB" altLang="en-US" sz="2000" dirty="0">
                  <a:latin typeface="Calibri" charset="0"/>
                  <a:ea typeface="Calibri" charset="0"/>
                  <a:cs typeface="Calibri" charset="0"/>
                </a:rPr>
                <a:t>2</a:t>
              </a:r>
            </a:p>
          </p:txBody>
        </p:sp>
      </p:grpSp>
      <p:sp>
        <p:nvSpPr>
          <p:cNvPr id="132" name="Text Box 10">
            <a:extLst>
              <a:ext uri="{FF2B5EF4-FFF2-40B4-BE49-F238E27FC236}">
                <a16:creationId xmlns:a16="http://schemas.microsoft.com/office/drawing/2014/main" id="{60933E1F-26C0-6146-92B9-70B513E17844}"/>
              </a:ext>
            </a:extLst>
          </p:cNvPr>
          <p:cNvSpPr txBox="1">
            <a:spLocks noChangeArrowheads="1"/>
          </p:cNvSpPr>
          <p:nvPr/>
        </p:nvSpPr>
        <p:spPr bwMode="auto">
          <a:xfrm>
            <a:off x="5052677" y="1219954"/>
            <a:ext cx="3551439" cy="253915"/>
          </a:xfrm>
          <a:prstGeom prst="rect">
            <a:avLst/>
          </a:prstGeom>
          <a:solidFill>
            <a:schemeClr val="accent1">
              <a:lumMod val="60000"/>
              <a:lumOff val="40000"/>
            </a:schemeClr>
          </a:solidFill>
          <a:ln w="12700">
            <a:noFill/>
            <a:miter lim="800000"/>
            <a:headEnd/>
            <a:tailEnd/>
          </a:ln>
          <a:effectLst/>
        </p:spPr>
        <p:txBody>
          <a:bodyPr wrap="square" lIns="0" tIns="0" rIns="0" bIns="0" anchor="ctr" anchorCtr="0">
            <a:spAutoFit/>
          </a:bodyPr>
          <a:lstStyle>
            <a:defPPr>
              <a:defRPr lang="en-US"/>
            </a:defPPr>
            <a:lvl1pPr algn="ctr" eaLnBrk="0" hangingPunct="0">
              <a:defRPr sz="1500">
                <a:latin typeface="Calibri" charset="0"/>
                <a:ea typeface="Calibri" charset="0"/>
                <a:cs typeface="Calibri" charset="0"/>
              </a:defRPr>
            </a:lvl1pPr>
          </a:lstStyle>
          <a:p>
            <a:r>
              <a:rPr lang="en-GB" altLang="en-US" dirty="0"/>
              <a:t>Apply Pythagoras’ theorem to both triangles.</a:t>
            </a:r>
            <a:endParaRPr lang="en-GB" altLang="en-US" b="1" dirty="0"/>
          </a:p>
        </p:txBody>
      </p:sp>
      <p:grpSp>
        <p:nvGrpSpPr>
          <p:cNvPr id="5" name="Group 4">
            <a:extLst>
              <a:ext uri="{FF2B5EF4-FFF2-40B4-BE49-F238E27FC236}">
                <a16:creationId xmlns:a16="http://schemas.microsoft.com/office/drawing/2014/main" id="{825FC697-825B-F24C-B6BE-350BC62B95ED}"/>
              </a:ext>
            </a:extLst>
          </p:cNvPr>
          <p:cNvGrpSpPr/>
          <p:nvPr/>
        </p:nvGrpSpPr>
        <p:grpSpPr>
          <a:xfrm>
            <a:off x="6076028" y="1586441"/>
            <a:ext cx="2774150" cy="408934"/>
            <a:chOff x="5322716" y="1867153"/>
            <a:chExt cx="2774150" cy="408934"/>
          </a:xfrm>
        </p:grpSpPr>
        <p:sp>
          <p:nvSpPr>
            <p:cNvPr id="133" name="Text Box 10">
              <a:extLst>
                <a:ext uri="{FF2B5EF4-FFF2-40B4-BE49-F238E27FC236}">
                  <a16:creationId xmlns:a16="http://schemas.microsoft.com/office/drawing/2014/main" id="{ACA1C799-B6D2-0647-A2F4-5EA4F4EA2353}"/>
                </a:ext>
              </a:extLst>
            </p:cNvPr>
            <p:cNvSpPr txBox="1">
              <a:spLocks noChangeArrowheads="1"/>
            </p:cNvSpPr>
            <p:nvPr/>
          </p:nvSpPr>
          <p:spPr bwMode="auto">
            <a:xfrm>
              <a:off x="5322716" y="1867153"/>
              <a:ext cx="2774150" cy="408934"/>
            </a:xfrm>
            <a:prstGeom prst="rect">
              <a:avLst/>
            </a:prstGeom>
            <a:solidFill>
              <a:schemeClr val="accent2">
                <a:lumMod val="60000"/>
                <a:lumOff val="40000"/>
              </a:schemeClr>
            </a:solidFill>
            <a:ln w="12700">
              <a:noFill/>
              <a:miter lim="800000"/>
              <a:headEnd/>
              <a:tailEnd/>
            </a:ln>
            <a:effectLst/>
          </p:spPr>
          <p:txBody>
            <a:bodyPr wrap="square" lIns="0" tIns="0" rIns="0" bIns="0" anchor="ctr">
              <a:spAutoFit/>
            </a:bodyPr>
            <a:lstStyle/>
            <a:p>
              <a:pPr algn="ctr" eaLnBrk="0" hangingPunct="0"/>
              <a:r>
                <a:rPr lang="en-US" altLang="en-US" sz="1500" dirty="0">
                  <a:latin typeface="Calibri" panose="020F0502020204030204" pitchFamily="34" charset="0"/>
                  <a:ea typeface="Calibri" charset="0"/>
                  <a:cs typeface="Calibri" panose="020F0502020204030204" pitchFamily="34" charset="0"/>
                </a:rPr>
                <a:t>Substituting          and          gives:</a:t>
              </a:r>
              <a:endParaRPr lang="en-GB" altLang="en-US" sz="1500" dirty="0">
                <a:latin typeface="Calibri" panose="020F0502020204030204" pitchFamily="34" charset="0"/>
                <a:ea typeface="Calibri" charset="0"/>
                <a:cs typeface="Calibri" panose="020F0502020204030204" pitchFamily="34" charset="0"/>
              </a:endParaRPr>
            </a:p>
          </p:txBody>
        </p:sp>
        <p:sp>
          <p:nvSpPr>
            <p:cNvPr id="136" name="Text Box 10">
              <a:extLst>
                <a:ext uri="{FF2B5EF4-FFF2-40B4-BE49-F238E27FC236}">
                  <a16:creationId xmlns:a16="http://schemas.microsoft.com/office/drawing/2014/main" id="{770AFE2C-9E04-6149-98BB-AE969EDCBAC4}"/>
                </a:ext>
              </a:extLst>
            </p:cNvPr>
            <p:cNvSpPr txBox="1">
              <a:spLocks noChangeAspect="1" noChangeArrowheads="1"/>
            </p:cNvSpPr>
            <p:nvPr/>
          </p:nvSpPr>
          <p:spPr bwMode="auto">
            <a:xfrm>
              <a:off x="6446849" y="1920061"/>
              <a:ext cx="309226" cy="309226"/>
            </a:xfrm>
            <a:prstGeom prst="ellipse">
              <a:avLst/>
            </a:prstGeom>
            <a:solidFill>
              <a:schemeClr val="bg2">
                <a:lumMod val="50000"/>
              </a:schemeClr>
            </a:solidFill>
            <a:ln w="12700">
              <a:solidFill>
                <a:schemeClr val="bg2">
                  <a:lumMod val="25000"/>
                </a:schemeClr>
              </a:solidFill>
              <a:miter lim="800000"/>
              <a:headEnd/>
              <a:tailEnd/>
            </a:ln>
            <a:effectLst/>
          </p:spPr>
          <p:txBody>
            <a:bodyPr wrap="square" lIns="0" tIns="0" rIns="0" bIns="0" anchor="ctr" anchorCtr="0">
              <a:noAutofit/>
            </a:bodyPr>
            <a:lstStyle/>
            <a:p>
              <a:pPr algn="ctr" eaLnBrk="0" hangingPunct="0"/>
              <a:r>
                <a:rPr lang="en-GB" altLang="en-US" sz="2000" dirty="0">
                  <a:latin typeface="Calibri" charset="0"/>
                  <a:ea typeface="Calibri" charset="0"/>
                  <a:cs typeface="Calibri" charset="0"/>
                </a:rPr>
                <a:t>1 </a:t>
              </a:r>
            </a:p>
          </p:txBody>
        </p:sp>
        <p:sp>
          <p:nvSpPr>
            <p:cNvPr id="137" name="Text Box 10">
              <a:extLst>
                <a:ext uri="{FF2B5EF4-FFF2-40B4-BE49-F238E27FC236}">
                  <a16:creationId xmlns:a16="http://schemas.microsoft.com/office/drawing/2014/main" id="{FF63B290-657E-B746-8245-481D42BFC949}"/>
                </a:ext>
              </a:extLst>
            </p:cNvPr>
            <p:cNvSpPr txBox="1">
              <a:spLocks noChangeAspect="1" noChangeArrowheads="1"/>
            </p:cNvSpPr>
            <p:nvPr/>
          </p:nvSpPr>
          <p:spPr bwMode="auto">
            <a:xfrm>
              <a:off x="7159259" y="1920061"/>
              <a:ext cx="309226" cy="309226"/>
            </a:xfrm>
            <a:prstGeom prst="ellipse">
              <a:avLst/>
            </a:prstGeom>
            <a:solidFill>
              <a:schemeClr val="accent5">
                <a:lumMod val="40000"/>
                <a:lumOff val="60000"/>
              </a:schemeClr>
            </a:solidFill>
            <a:ln w="12700">
              <a:solidFill>
                <a:schemeClr val="accent5">
                  <a:lumMod val="75000"/>
                </a:schemeClr>
              </a:solidFill>
              <a:miter lim="800000"/>
              <a:headEnd/>
              <a:tailEnd/>
            </a:ln>
            <a:effectLst/>
          </p:spPr>
          <p:txBody>
            <a:bodyPr wrap="square" lIns="14400" tIns="0" rIns="0" bIns="10800" anchor="ctr" anchorCtr="0">
              <a:noAutofit/>
            </a:bodyPr>
            <a:lstStyle/>
            <a:p>
              <a:pPr algn="ctr" eaLnBrk="0" hangingPunct="0"/>
              <a:r>
                <a:rPr lang="en-GB" altLang="en-US" sz="2000" dirty="0">
                  <a:latin typeface="Calibri" charset="0"/>
                  <a:ea typeface="Calibri" charset="0"/>
                  <a:cs typeface="Calibri" charset="0"/>
                </a:rPr>
                <a:t>2</a:t>
              </a:r>
            </a:p>
          </p:txBody>
        </p:sp>
      </p:grpSp>
      <p:grpSp>
        <p:nvGrpSpPr>
          <p:cNvPr id="47" name="Group 46">
            <a:extLst>
              <a:ext uri="{FF2B5EF4-FFF2-40B4-BE49-F238E27FC236}">
                <a16:creationId xmlns:a16="http://schemas.microsoft.com/office/drawing/2014/main" id="{CA70D040-A4B7-E346-9E26-F0DF03FE8235}"/>
              </a:ext>
            </a:extLst>
          </p:cNvPr>
          <p:cNvGrpSpPr/>
          <p:nvPr/>
        </p:nvGrpSpPr>
        <p:grpSpPr>
          <a:xfrm>
            <a:off x="1518690" y="3231349"/>
            <a:ext cx="1105853" cy="386801"/>
            <a:chOff x="4129694" y="3336684"/>
            <a:chExt cx="1105853" cy="386801"/>
          </a:xfrm>
          <a:solidFill>
            <a:schemeClr val="accent4">
              <a:lumMod val="60000"/>
              <a:lumOff val="40000"/>
            </a:schemeClr>
          </a:solidFill>
        </p:grpSpPr>
        <p:cxnSp>
          <p:nvCxnSpPr>
            <p:cNvPr id="49" name="Straight Connector 48">
              <a:extLst>
                <a:ext uri="{FF2B5EF4-FFF2-40B4-BE49-F238E27FC236}">
                  <a16:creationId xmlns:a16="http://schemas.microsoft.com/office/drawing/2014/main" id="{3B65A34F-3258-DF4E-A6A7-6F85F4F55DD1}"/>
                </a:ext>
              </a:extLst>
            </p:cNvPr>
            <p:cNvCxnSpPr>
              <a:cxnSpLocks/>
            </p:cNvCxnSpPr>
            <p:nvPr/>
          </p:nvCxnSpPr>
          <p:spPr>
            <a:xfrm flipV="1">
              <a:off x="4682620" y="3336684"/>
              <a:ext cx="0" cy="265569"/>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Box 10">
                  <a:extLst>
                    <a:ext uri="{FF2B5EF4-FFF2-40B4-BE49-F238E27FC236}">
                      <a16:creationId xmlns:a16="http://schemas.microsoft.com/office/drawing/2014/main" id="{CF7FFAE9-041E-5247-90EB-1102FAD601A6}"/>
                    </a:ext>
                  </a:extLst>
                </p:cNvPr>
                <p:cNvSpPr txBox="1">
                  <a:spLocks noChangeArrowheads="1"/>
                </p:cNvSpPr>
                <p:nvPr/>
              </p:nvSpPr>
              <p:spPr bwMode="auto">
                <a:xfrm>
                  <a:off x="4129694" y="3492653"/>
                  <a:ext cx="1105853" cy="230832"/>
                </a:xfrm>
                <a:prstGeom prst="rect">
                  <a:avLst/>
                </a:prstGeom>
                <a:grpFill/>
                <a:ln w="12700">
                  <a:solidFill>
                    <a:schemeClr val="accent4">
                      <a:lumMod val="50000"/>
                    </a:schemeClr>
                  </a:solidFill>
                  <a:miter lim="800000"/>
                  <a:headEnd/>
                  <a:tailEnd/>
                </a:ln>
                <a:effectLst/>
              </p:spPr>
              <p:txBody>
                <a:bodyPr wrap="square" lIns="0" tIns="0" rIns="0" bIns="0" anchor="ctr">
                  <a:spAutoFit/>
                </a:bodyPr>
                <a:lstStyle/>
                <a:p>
                  <a:pPr algn="ctr" eaLnBrk="0" hangingPunct="0"/>
                  <a:r>
                    <a:rPr lang="en-GB" altLang="en-US" sz="1500" dirty="0">
                      <a:latin typeface="Calibri" charset="0"/>
                      <a:ea typeface="Calibri" charset="0"/>
                      <a:cs typeface="Calibri" charset="0"/>
                    </a:rPr>
                    <a:t>Let </a:t>
                  </a:r>
                  <a14:m>
                    <m:oMath xmlns:m="http://schemas.openxmlformats.org/officeDocument/2006/math">
                      <m:r>
                        <a:rPr lang="en-GB" altLang="en-US" sz="1500" i="1" dirty="0" smtClean="0">
                          <a:latin typeface="Cambria Math" panose="02040503050406030204" pitchFamily="18" charset="0"/>
                          <a:ea typeface="Calibri" charset="0"/>
                          <a:cs typeface="Calibri" charset="0"/>
                        </a:rPr>
                        <m:t>𝐶𝐷</m:t>
                      </m:r>
                      <m:r>
                        <a:rPr lang="en-GB" altLang="en-US" sz="1500" b="0" i="1" dirty="0" smtClean="0">
                          <a:latin typeface="Cambria Math" panose="02040503050406030204" pitchFamily="18" charset="0"/>
                          <a:ea typeface="Calibri" charset="0"/>
                          <a:cs typeface="Calibri" charset="0"/>
                        </a:rPr>
                        <m:t>=</m:t>
                      </m:r>
                      <m:r>
                        <a:rPr lang="en-GB" altLang="en-US" sz="1500" b="0" i="1" dirty="0" smtClean="0">
                          <a:latin typeface="Cambria Math" panose="02040503050406030204" pitchFamily="18" charset="0"/>
                          <a:ea typeface="Calibri" charset="0"/>
                          <a:cs typeface="Calibri" charset="0"/>
                        </a:rPr>
                        <m:t>𝑥</m:t>
                      </m:r>
                    </m:oMath>
                  </a14:m>
                  <a:r>
                    <a:rPr lang="en-GB" altLang="en-US" sz="1500" dirty="0">
                      <a:latin typeface="Calibri" charset="0"/>
                      <a:ea typeface="Calibri" charset="0"/>
                      <a:cs typeface="Calibri" charset="0"/>
                    </a:rPr>
                    <a:t>. </a:t>
                  </a:r>
                </a:p>
              </p:txBody>
            </p:sp>
          </mc:Choice>
          <mc:Fallback xmlns="">
            <p:sp>
              <p:nvSpPr>
                <p:cNvPr id="56" name="Text Box 10">
                  <a:extLst>
                    <a:ext uri="{FF2B5EF4-FFF2-40B4-BE49-F238E27FC236}">
                      <a16:creationId xmlns:a16="http://schemas.microsoft.com/office/drawing/2014/main" id="{CF7FFAE9-041E-5247-90EB-1102FAD601A6}"/>
                    </a:ext>
                  </a:extLst>
                </p:cNvPr>
                <p:cNvSpPr txBox="1">
                  <a:spLocks noRot="1" noChangeAspect="1" noMove="1" noResize="1" noEditPoints="1" noAdjustHandles="1" noChangeArrowheads="1" noChangeShapeType="1" noTextEdit="1"/>
                </p:cNvSpPr>
                <p:nvPr/>
              </p:nvSpPr>
              <p:spPr bwMode="auto">
                <a:xfrm>
                  <a:off x="4129694" y="3492653"/>
                  <a:ext cx="1105853" cy="230832"/>
                </a:xfrm>
                <a:prstGeom prst="rect">
                  <a:avLst/>
                </a:prstGeom>
                <a:blipFill>
                  <a:blip r:embed="rId16"/>
                  <a:stretch>
                    <a:fillRect l="-3409" t="-20000" r="-4545" b="-40000"/>
                  </a:stretch>
                </a:blipFill>
                <a:ln w="12700">
                  <a:solidFill>
                    <a:schemeClr val="accent4">
                      <a:lumMod val="50000"/>
                    </a:schemeClr>
                  </a:solidFill>
                  <a:miter lim="800000"/>
                  <a:headEnd/>
                  <a:tailEnd/>
                </a:ln>
                <a:effectLst/>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7" name="Text Box 5">
                <a:extLst>
                  <a:ext uri="{FF2B5EF4-FFF2-40B4-BE49-F238E27FC236}">
                    <a16:creationId xmlns:a16="http://schemas.microsoft.com/office/drawing/2014/main" id="{2CD98F1A-5A2E-934B-A415-FE97D7D77648}"/>
                  </a:ext>
                </a:extLst>
              </p:cNvPr>
              <p:cNvSpPr txBox="1">
                <a:spLocks noChangeArrowheads="1"/>
              </p:cNvSpPr>
              <p:nvPr/>
            </p:nvSpPr>
            <p:spPr bwMode="auto">
              <a:xfrm>
                <a:off x="3080585" y="2920528"/>
                <a:ext cx="366639"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𝐷</m:t>
                      </m:r>
                    </m:oMath>
                  </m:oMathPara>
                </a14:m>
                <a:endParaRPr lang="en-GB" altLang="en-US" sz="1500" dirty="0"/>
              </a:p>
            </p:txBody>
          </p:sp>
        </mc:Choice>
        <mc:Fallback xmlns="">
          <p:sp>
            <p:nvSpPr>
              <p:cNvPr id="57" name="Text Box 5">
                <a:extLst>
                  <a:ext uri="{FF2B5EF4-FFF2-40B4-BE49-F238E27FC236}">
                    <a16:creationId xmlns:a16="http://schemas.microsoft.com/office/drawing/2014/main" id="{2CD98F1A-5A2E-934B-A415-FE97D7D77648}"/>
                  </a:ext>
                </a:extLst>
              </p:cNvPr>
              <p:cNvSpPr txBox="1">
                <a:spLocks noRot="1" noChangeAspect="1" noMove="1" noResize="1" noEditPoints="1" noAdjustHandles="1" noChangeArrowheads="1" noChangeShapeType="1" noTextEdit="1"/>
              </p:cNvSpPr>
              <p:nvPr/>
            </p:nvSpPr>
            <p:spPr bwMode="auto">
              <a:xfrm>
                <a:off x="3080585" y="2920528"/>
                <a:ext cx="366639" cy="323165"/>
              </a:xfrm>
              <a:prstGeom prst="rect">
                <a:avLst/>
              </a:prstGeom>
              <a:blipFill>
                <a:blip r:embed="rId1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 Box 8">
                <a:extLst>
                  <a:ext uri="{FF2B5EF4-FFF2-40B4-BE49-F238E27FC236}">
                    <a16:creationId xmlns:a16="http://schemas.microsoft.com/office/drawing/2014/main" id="{D1847C59-9044-384F-AE16-2A4C6FF6804E}"/>
                  </a:ext>
                </a:extLst>
              </p:cNvPr>
              <p:cNvSpPr txBox="1">
                <a:spLocks noChangeArrowheads="1"/>
              </p:cNvSpPr>
              <p:nvPr/>
            </p:nvSpPr>
            <p:spPr bwMode="auto">
              <a:xfrm>
                <a:off x="1905357" y="2905144"/>
                <a:ext cx="344838"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𝑥</m:t>
                      </m:r>
                    </m:oMath>
                  </m:oMathPara>
                </a14:m>
                <a:endParaRPr lang="en-GB" altLang="en-US" sz="1500" i="1" dirty="0">
                  <a:latin typeface="Times New Roman" charset="0"/>
                </a:endParaRPr>
              </a:p>
            </p:txBody>
          </p:sp>
        </mc:Choice>
        <mc:Fallback xmlns="">
          <p:sp>
            <p:nvSpPr>
              <p:cNvPr id="58" name="Text Box 8">
                <a:extLst>
                  <a:ext uri="{FF2B5EF4-FFF2-40B4-BE49-F238E27FC236}">
                    <a16:creationId xmlns:a16="http://schemas.microsoft.com/office/drawing/2014/main" id="{D1847C59-9044-384F-AE16-2A4C6FF6804E}"/>
                  </a:ext>
                </a:extLst>
              </p:cNvPr>
              <p:cNvSpPr txBox="1">
                <a:spLocks noRot="1" noChangeAspect="1" noMove="1" noResize="1" noEditPoints="1" noAdjustHandles="1" noChangeArrowheads="1" noChangeShapeType="1" noTextEdit="1"/>
              </p:cNvSpPr>
              <p:nvPr/>
            </p:nvSpPr>
            <p:spPr bwMode="auto">
              <a:xfrm>
                <a:off x="1905357" y="2905144"/>
                <a:ext cx="344838" cy="323165"/>
              </a:xfrm>
              <a:prstGeom prst="rect">
                <a:avLst/>
              </a:prstGeom>
              <a:blipFill>
                <a:blip r:embed="rId1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 Box 8">
                <a:extLst>
                  <a:ext uri="{FF2B5EF4-FFF2-40B4-BE49-F238E27FC236}">
                    <a16:creationId xmlns:a16="http://schemas.microsoft.com/office/drawing/2014/main" id="{6E544B78-4F48-E347-B025-1355C71887CC}"/>
                  </a:ext>
                </a:extLst>
              </p:cNvPr>
              <p:cNvSpPr txBox="1">
                <a:spLocks noChangeArrowheads="1"/>
              </p:cNvSpPr>
              <p:nvPr/>
            </p:nvSpPr>
            <p:spPr bwMode="auto">
              <a:xfrm>
                <a:off x="3334369" y="2905144"/>
                <a:ext cx="683072"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GB" altLang="en-US" sz="1500" b="0" i="1" smtClean="0">
                          <a:latin typeface="Cambria Math" panose="02040503050406030204" pitchFamily="18" charset="0"/>
                        </a:rPr>
                        <m:t>𝑎</m:t>
                      </m:r>
                      <m:r>
                        <a:rPr lang="en-GB" altLang="en-US" sz="1500" b="0" i="1" smtClean="0">
                          <a:latin typeface="Cambria Math" panose="02040503050406030204" pitchFamily="18" charset="0"/>
                        </a:rPr>
                        <m:t>−</m:t>
                      </m:r>
                      <m:r>
                        <a:rPr lang="en-GB" altLang="en-US" sz="1500" b="0" i="1" smtClean="0">
                          <a:latin typeface="Cambria Math" panose="02040503050406030204" pitchFamily="18" charset="0"/>
                        </a:rPr>
                        <m:t>𝑥</m:t>
                      </m:r>
                    </m:oMath>
                  </m:oMathPara>
                </a14:m>
                <a:endParaRPr lang="en-GB" altLang="en-US" sz="1500" i="1" dirty="0">
                  <a:latin typeface="Times New Roman" charset="0"/>
                </a:endParaRPr>
              </a:p>
            </p:txBody>
          </p:sp>
        </mc:Choice>
        <mc:Fallback xmlns="">
          <p:sp>
            <p:nvSpPr>
              <p:cNvPr id="59" name="Text Box 8">
                <a:extLst>
                  <a:ext uri="{FF2B5EF4-FFF2-40B4-BE49-F238E27FC236}">
                    <a16:creationId xmlns:a16="http://schemas.microsoft.com/office/drawing/2014/main" id="{6E544B78-4F48-E347-B025-1355C71887CC}"/>
                  </a:ext>
                </a:extLst>
              </p:cNvPr>
              <p:cNvSpPr txBox="1">
                <a:spLocks noRot="1" noChangeAspect="1" noMove="1" noResize="1" noEditPoints="1" noAdjustHandles="1" noChangeArrowheads="1" noChangeShapeType="1" noTextEdit="1"/>
              </p:cNvSpPr>
              <p:nvPr/>
            </p:nvSpPr>
            <p:spPr bwMode="auto">
              <a:xfrm>
                <a:off x="3334369" y="2905144"/>
                <a:ext cx="683072" cy="323165"/>
              </a:xfrm>
              <a:prstGeom prst="rect">
                <a:avLst/>
              </a:prstGeom>
              <a:blipFill>
                <a:blip r:embed="rId1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nvGrpSpPr>
          <p:cNvPr id="60" name="Group 59">
            <a:extLst>
              <a:ext uri="{FF2B5EF4-FFF2-40B4-BE49-F238E27FC236}">
                <a16:creationId xmlns:a16="http://schemas.microsoft.com/office/drawing/2014/main" id="{D50053B7-C297-4A40-B3FC-FEA2553A31A7}"/>
              </a:ext>
            </a:extLst>
          </p:cNvPr>
          <p:cNvGrpSpPr/>
          <p:nvPr/>
        </p:nvGrpSpPr>
        <p:grpSpPr>
          <a:xfrm>
            <a:off x="3112206" y="3231349"/>
            <a:ext cx="1518615" cy="386801"/>
            <a:chOff x="4129694" y="3336684"/>
            <a:chExt cx="1518615" cy="386801"/>
          </a:xfrm>
          <a:solidFill>
            <a:schemeClr val="accent4">
              <a:lumMod val="60000"/>
              <a:lumOff val="40000"/>
            </a:schemeClr>
          </a:solidFill>
        </p:grpSpPr>
        <p:cxnSp>
          <p:nvCxnSpPr>
            <p:cNvPr id="61" name="Straight Connector 60">
              <a:extLst>
                <a:ext uri="{FF2B5EF4-FFF2-40B4-BE49-F238E27FC236}">
                  <a16:creationId xmlns:a16="http://schemas.microsoft.com/office/drawing/2014/main" id="{4D40E0C8-2A1D-1542-93AA-012AC9BD269B}"/>
                </a:ext>
              </a:extLst>
            </p:cNvPr>
            <p:cNvCxnSpPr>
              <a:cxnSpLocks/>
            </p:cNvCxnSpPr>
            <p:nvPr/>
          </p:nvCxnSpPr>
          <p:spPr>
            <a:xfrm flipV="1">
              <a:off x="4682620" y="3336684"/>
              <a:ext cx="0" cy="265569"/>
            </a:xfrm>
            <a:prstGeom prst="line">
              <a:avLst/>
            </a:prstGeom>
            <a:grpFill/>
            <a:ln w="38100" cap="sq">
              <a:solidFill>
                <a:schemeClr val="accent4">
                  <a:lumMod val="50000"/>
                </a:schemeClr>
              </a:solidFill>
              <a:miter lim="800000"/>
              <a:tail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 Box 10">
                  <a:extLst>
                    <a:ext uri="{FF2B5EF4-FFF2-40B4-BE49-F238E27FC236}">
                      <a16:creationId xmlns:a16="http://schemas.microsoft.com/office/drawing/2014/main" id="{AC6999BB-4830-6D41-8006-61510990FB1B}"/>
                    </a:ext>
                  </a:extLst>
                </p:cNvPr>
                <p:cNvSpPr txBox="1">
                  <a:spLocks noChangeArrowheads="1"/>
                </p:cNvSpPr>
                <p:nvPr/>
              </p:nvSpPr>
              <p:spPr bwMode="auto">
                <a:xfrm>
                  <a:off x="4129694" y="3492653"/>
                  <a:ext cx="1518615" cy="230832"/>
                </a:xfrm>
                <a:prstGeom prst="rect">
                  <a:avLst/>
                </a:prstGeom>
                <a:grpFill/>
                <a:ln w="12700">
                  <a:solidFill>
                    <a:schemeClr val="accent4">
                      <a:lumMod val="50000"/>
                    </a:schemeClr>
                  </a:solidFill>
                  <a:miter lim="800000"/>
                  <a:headEnd/>
                  <a:tailEnd/>
                </a:ln>
                <a:effectLst/>
              </p:spPr>
              <p:txBody>
                <a:bodyPr wrap="square" lIns="0" tIns="0" rIns="0" bIns="0" anchor="ctr">
                  <a:spAutoFit/>
                </a:bodyPr>
                <a:lstStyle/>
                <a:p>
                  <a:pPr algn="ctr" eaLnBrk="0" hangingPunct="0"/>
                  <a:r>
                    <a:rPr lang="en-GB" altLang="en-US" sz="1500" dirty="0">
                      <a:latin typeface="Calibri" charset="0"/>
                      <a:ea typeface="Calibri" charset="0"/>
                      <a:cs typeface="Calibri" charset="0"/>
                    </a:rPr>
                    <a:t>Then </a:t>
                  </a:r>
                  <a14:m>
                    <m:oMath xmlns:m="http://schemas.openxmlformats.org/officeDocument/2006/math">
                      <m:r>
                        <a:rPr lang="en-GB" altLang="en-US" sz="1500" b="0" i="1" dirty="0" smtClean="0">
                          <a:latin typeface="Cambria Math" panose="02040503050406030204" pitchFamily="18" charset="0"/>
                          <a:ea typeface="Calibri" charset="0"/>
                          <a:cs typeface="Calibri" charset="0"/>
                        </a:rPr>
                        <m:t>𝐷𝐵</m:t>
                      </m:r>
                      <m:r>
                        <a:rPr lang="en-GB" altLang="en-US" sz="1500" b="0" i="1" dirty="0" smtClean="0">
                          <a:latin typeface="Cambria Math" panose="02040503050406030204" pitchFamily="18" charset="0"/>
                          <a:ea typeface="Calibri" charset="0"/>
                          <a:cs typeface="Calibri" charset="0"/>
                        </a:rPr>
                        <m:t>=</m:t>
                      </m:r>
                      <m:r>
                        <a:rPr lang="en-GB" altLang="en-US" sz="1500" b="0" i="1" dirty="0" smtClean="0">
                          <a:latin typeface="Cambria Math" panose="02040503050406030204" pitchFamily="18" charset="0"/>
                          <a:ea typeface="Calibri" charset="0"/>
                          <a:cs typeface="Calibri" charset="0"/>
                        </a:rPr>
                        <m:t>𝑎</m:t>
                      </m:r>
                      <m:r>
                        <a:rPr lang="en-GB" altLang="en-US" sz="1500" b="0" i="1" dirty="0" smtClean="0">
                          <a:latin typeface="Cambria Math" panose="02040503050406030204" pitchFamily="18" charset="0"/>
                          <a:ea typeface="Calibri" charset="0"/>
                          <a:cs typeface="Calibri" charset="0"/>
                        </a:rPr>
                        <m:t>−</m:t>
                      </m:r>
                      <m:r>
                        <a:rPr lang="en-GB" altLang="en-US" sz="1500" b="0" i="1" dirty="0" smtClean="0">
                          <a:latin typeface="Cambria Math" panose="02040503050406030204" pitchFamily="18" charset="0"/>
                          <a:ea typeface="Calibri" charset="0"/>
                          <a:cs typeface="Calibri" charset="0"/>
                        </a:rPr>
                        <m:t>𝑥</m:t>
                      </m:r>
                    </m:oMath>
                  </a14:m>
                  <a:r>
                    <a:rPr lang="en-GB" altLang="en-US" sz="1500" dirty="0">
                      <a:latin typeface="Calibri" charset="0"/>
                      <a:ea typeface="Calibri" charset="0"/>
                      <a:cs typeface="Calibri" charset="0"/>
                    </a:rPr>
                    <a:t>. </a:t>
                  </a:r>
                </a:p>
              </p:txBody>
            </p:sp>
          </mc:Choice>
          <mc:Fallback xmlns="">
            <p:sp>
              <p:nvSpPr>
                <p:cNvPr id="62" name="Text Box 10">
                  <a:extLst>
                    <a:ext uri="{FF2B5EF4-FFF2-40B4-BE49-F238E27FC236}">
                      <a16:creationId xmlns:a16="http://schemas.microsoft.com/office/drawing/2014/main" id="{AC6999BB-4830-6D41-8006-61510990FB1B}"/>
                    </a:ext>
                  </a:extLst>
                </p:cNvPr>
                <p:cNvSpPr txBox="1">
                  <a:spLocks noRot="1" noChangeAspect="1" noMove="1" noResize="1" noEditPoints="1" noAdjustHandles="1" noChangeArrowheads="1" noChangeShapeType="1" noTextEdit="1"/>
                </p:cNvSpPr>
                <p:nvPr/>
              </p:nvSpPr>
              <p:spPr bwMode="auto">
                <a:xfrm>
                  <a:off x="4129694" y="3492653"/>
                  <a:ext cx="1518615" cy="230832"/>
                </a:xfrm>
                <a:prstGeom prst="rect">
                  <a:avLst/>
                </a:prstGeom>
                <a:blipFill>
                  <a:blip r:embed="rId20"/>
                  <a:stretch>
                    <a:fillRect l="-4098" t="-20000" r="-5738" b="-40000"/>
                  </a:stretch>
                </a:blipFill>
                <a:ln w="12700">
                  <a:solidFill>
                    <a:schemeClr val="accent4">
                      <a:lumMod val="50000"/>
                    </a:schemeClr>
                  </a:solidFill>
                  <a:miter lim="800000"/>
                  <a:headEnd/>
                  <a:tailEnd/>
                </a:ln>
                <a:effectLst/>
              </p:spPr>
              <p:txBody>
                <a:bodyPr/>
                <a:lstStyle/>
                <a:p>
                  <a:r>
                    <a:rPr lang="en-GB">
                      <a:noFill/>
                    </a:rPr>
                    <a:t> </a:t>
                  </a:r>
                </a:p>
              </p:txBody>
            </p:sp>
          </mc:Fallback>
        </mc:AlternateContent>
      </p:grpSp>
      <p:grpSp>
        <p:nvGrpSpPr>
          <p:cNvPr id="121" name="Group 120">
            <a:extLst>
              <a:ext uri="{FF2B5EF4-FFF2-40B4-BE49-F238E27FC236}">
                <a16:creationId xmlns:a16="http://schemas.microsoft.com/office/drawing/2014/main" id="{B591B001-AD7C-9049-B6D7-F6F3FFD5C260}"/>
              </a:ext>
            </a:extLst>
          </p:cNvPr>
          <p:cNvGrpSpPr/>
          <p:nvPr/>
        </p:nvGrpSpPr>
        <p:grpSpPr>
          <a:xfrm>
            <a:off x="1095334" y="3939888"/>
            <a:ext cx="576947" cy="309226"/>
            <a:chOff x="4689629" y="3563925"/>
            <a:chExt cx="576947" cy="309226"/>
          </a:xfrm>
        </p:grpSpPr>
        <p:cxnSp>
          <p:nvCxnSpPr>
            <p:cNvPr id="122" name="Straight Connector 121">
              <a:extLst>
                <a:ext uri="{FF2B5EF4-FFF2-40B4-BE49-F238E27FC236}">
                  <a16:creationId xmlns:a16="http://schemas.microsoft.com/office/drawing/2014/main" id="{5C79A483-7E80-D946-96CA-D03FB3BAD8C1}"/>
                </a:ext>
              </a:extLst>
            </p:cNvPr>
            <p:cNvCxnSpPr>
              <a:cxnSpLocks/>
            </p:cNvCxnSpPr>
            <p:nvPr/>
          </p:nvCxnSpPr>
          <p:spPr>
            <a:xfrm>
              <a:off x="4846923" y="3718539"/>
              <a:ext cx="419653" cy="1"/>
            </a:xfrm>
            <a:prstGeom prst="line">
              <a:avLst/>
            </a:prstGeom>
            <a:ln w="38100" cap="sq">
              <a:solidFill>
                <a:schemeClr val="bg2">
                  <a:lumMod val="25000"/>
                </a:schemeClr>
              </a:solidFill>
              <a:miter lim="800000"/>
              <a:tailEnd type="oval"/>
            </a:ln>
          </p:spPr>
          <p:style>
            <a:lnRef idx="1">
              <a:schemeClr val="accent1"/>
            </a:lnRef>
            <a:fillRef idx="0">
              <a:schemeClr val="accent1"/>
            </a:fillRef>
            <a:effectRef idx="0">
              <a:schemeClr val="accent1"/>
            </a:effectRef>
            <a:fontRef idx="minor">
              <a:schemeClr val="tx1"/>
            </a:fontRef>
          </p:style>
        </p:cxnSp>
        <p:sp>
          <p:nvSpPr>
            <p:cNvPr id="124" name="Text Box 10">
              <a:extLst>
                <a:ext uri="{FF2B5EF4-FFF2-40B4-BE49-F238E27FC236}">
                  <a16:creationId xmlns:a16="http://schemas.microsoft.com/office/drawing/2014/main" id="{851169F1-2D2E-4743-BF23-8C528307383C}"/>
                </a:ext>
              </a:extLst>
            </p:cNvPr>
            <p:cNvSpPr txBox="1">
              <a:spLocks noChangeAspect="1" noChangeArrowheads="1"/>
            </p:cNvSpPr>
            <p:nvPr/>
          </p:nvSpPr>
          <p:spPr bwMode="auto">
            <a:xfrm>
              <a:off x="4689629" y="3563925"/>
              <a:ext cx="309226" cy="309226"/>
            </a:xfrm>
            <a:prstGeom prst="ellipse">
              <a:avLst/>
            </a:prstGeom>
            <a:solidFill>
              <a:schemeClr val="bg2">
                <a:lumMod val="50000"/>
              </a:schemeClr>
            </a:solidFill>
            <a:ln w="12700">
              <a:solidFill>
                <a:schemeClr val="bg2">
                  <a:lumMod val="25000"/>
                </a:schemeClr>
              </a:solidFill>
              <a:miter lim="800000"/>
              <a:headEnd/>
              <a:tailEnd/>
            </a:ln>
            <a:effectLst/>
          </p:spPr>
          <p:txBody>
            <a:bodyPr wrap="square" lIns="0" tIns="0" rIns="0" bIns="0" anchor="ctr" anchorCtr="0">
              <a:noAutofit/>
            </a:bodyPr>
            <a:lstStyle/>
            <a:p>
              <a:pPr algn="ctr" eaLnBrk="0" hangingPunct="0"/>
              <a:r>
                <a:rPr lang="en-GB" altLang="en-US" sz="2000" dirty="0">
                  <a:latin typeface="Calibri" charset="0"/>
                  <a:ea typeface="Calibri" charset="0"/>
                  <a:cs typeface="Calibri" charset="0"/>
                </a:rPr>
                <a:t>1 </a:t>
              </a:r>
            </a:p>
          </p:txBody>
        </p:sp>
      </p:grpSp>
      <p:sp>
        <p:nvSpPr>
          <p:cNvPr id="9" name="Freeform 8">
            <a:extLst>
              <a:ext uri="{FF2B5EF4-FFF2-40B4-BE49-F238E27FC236}">
                <a16:creationId xmlns:a16="http://schemas.microsoft.com/office/drawing/2014/main" id="{1126F81A-C9C9-9048-8C8E-F382EBF9AE18}"/>
              </a:ext>
            </a:extLst>
          </p:cNvPr>
          <p:cNvSpPr/>
          <p:nvPr/>
        </p:nvSpPr>
        <p:spPr>
          <a:xfrm>
            <a:off x="935566" y="1240367"/>
            <a:ext cx="2328334" cy="1710266"/>
          </a:xfrm>
          <a:custGeom>
            <a:avLst/>
            <a:gdLst>
              <a:gd name="connsiteX0" fmla="*/ 0 w 2328334"/>
              <a:gd name="connsiteY0" fmla="*/ 1710266 h 1710266"/>
              <a:gd name="connsiteX1" fmla="*/ 2328334 w 2328334"/>
              <a:gd name="connsiteY1" fmla="*/ 1710266 h 1710266"/>
              <a:gd name="connsiteX2" fmla="*/ 2328334 w 2328334"/>
              <a:gd name="connsiteY2" fmla="*/ 0 h 1710266"/>
              <a:gd name="connsiteX3" fmla="*/ 0 w 2328334"/>
              <a:gd name="connsiteY3" fmla="*/ 1710266 h 1710266"/>
            </a:gdLst>
            <a:ahLst/>
            <a:cxnLst>
              <a:cxn ang="0">
                <a:pos x="connsiteX0" y="connsiteY0"/>
              </a:cxn>
              <a:cxn ang="0">
                <a:pos x="connsiteX1" y="connsiteY1"/>
              </a:cxn>
              <a:cxn ang="0">
                <a:pos x="connsiteX2" y="connsiteY2"/>
              </a:cxn>
              <a:cxn ang="0">
                <a:pos x="connsiteX3" y="connsiteY3"/>
              </a:cxn>
            </a:cxnLst>
            <a:rect l="l" t="t" r="r" b="b"/>
            <a:pathLst>
              <a:path w="2328334" h="1710266">
                <a:moveTo>
                  <a:pt x="0" y="1710266"/>
                </a:moveTo>
                <a:lnTo>
                  <a:pt x="2328334" y="1710266"/>
                </a:lnTo>
                <a:lnTo>
                  <a:pt x="2328334" y="0"/>
                </a:lnTo>
                <a:lnTo>
                  <a:pt x="0" y="1710266"/>
                </a:lnTo>
                <a:close/>
              </a:path>
            </a:pathLst>
          </a:custGeom>
          <a:noFill/>
          <a:ln w="76200" cap="rnd">
            <a:solidFill>
              <a:srgbClr val="FFFF00">
                <a:alpha val="69804"/>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3" name="Text Box 10">
                <a:extLst>
                  <a:ext uri="{FF2B5EF4-FFF2-40B4-BE49-F238E27FC236}">
                    <a16:creationId xmlns:a16="http://schemas.microsoft.com/office/drawing/2014/main" id="{21AE4E0D-B978-0446-A4AE-1790492184C1}"/>
                  </a:ext>
                </a:extLst>
              </p:cNvPr>
              <p:cNvSpPr txBox="1">
                <a:spLocks noChangeArrowheads="1"/>
              </p:cNvSpPr>
              <p:nvPr/>
            </p:nvSpPr>
            <p:spPr bwMode="auto">
              <a:xfrm>
                <a:off x="4741494" y="1650413"/>
                <a:ext cx="1146738" cy="253915"/>
              </a:xfrm>
              <a:prstGeom prst="rect">
                <a:avLst/>
              </a:prstGeom>
              <a:solidFill>
                <a:schemeClr val="accent3"/>
              </a:solidFill>
              <a:ln w="12700">
                <a:noFill/>
                <a:miter lim="800000"/>
                <a:headEnd/>
                <a:tailEnd/>
              </a:ln>
              <a:effectLst/>
            </p:spPr>
            <p:txBody>
              <a:bodyPr wrap="square" lIns="0" tIns="0" rIns="0" bIns="0" anchor="b" anchorCtr="0">
                <a:spAutoFit/>
              </a:bodyPr>
              <a:lstStyle>
                <a:defPPr>
                  <a:defRPr lang="en-US"/>
                </a:defPPr>
                <a:lvl1pPr algn="ctr" eaLnBrk="0" hangingPunct="0">
                  <a:defRPr sz="1500">
                    <a:latin typeface="Calibri" charset="0"/>
                    <a:ea typeface="Calibri" charset="0"/>
                    <a:cs typeface="Calibri" charset="0"/>
                  </a:defRPr>
                </a:lvl1pPr>
              </a:lstStyle>
              <a:p>
                <a14:m>
                  <m:oMath xmlns:m="http://schemas.openxmlformats.org/officeDocument/2006/math">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𝑏</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m:t>
                    </m:r>
                    <m:sSup>
                      <m:sSupPr>
                        <m:ctrlPr>
                          <a:rPr lang="en-GB" altLang="en-US" b="0" i="1" smtClean="0">
                            <a:solidFill>
                              <a:schemeClr val="accent5">
                                <a:lumMod val="75000"/>
                              </a:schemeClr>
                            </a:solidFill>
                            <a:latin typeface="Cambria Math" panose="02040503050406030204" pitchFamily="18" charset="0"/>
                          </a:rPr>
                        </m:ctrlPr>
                      </m:sSupPr>
                      <m:e>
                        <m:r>
                          <a:rPr lang="en-GB" altLang="en-US" b="0" i="1" smtClean="0">
                            <a:solidFill>
                              <a:schemeClr val="accent5">
                                <a:lumMod val="75000"/>
                              </a:schemeClr>
                            </a:solidFill>
                            <a:latin typeface="Cambria Math" panose="02040503050406030204" pitchFamily="18" charset="0"/>
                          </a:rPr>
                          <m:t>𝑥</m:t>
                        </m:r>
                      </m:e>
                      <m:sup>
                        <m:r>
                          <a:rPr lang="en-GB" altLang="en-US" b="0" i="1" smtClean="0">
                            <a:solidFill>
                              <a:schemeClr val="accent5">
                                <a:lumMod val="75000"/>
                              </a:schemeClr>
                            </a:solidFill>
                            <a:latin typeface="Cambria Math" panose="02040503050406030204" pitchFamily="18" charset="0"/>
                          </a:rPr>
                          <m:t>2</m:t>
                        </m:r>
                      </m:sup>
                    </m:sSup>
                    <m:r>
                      <a:rPr lang="en-GB" altLang="en-US" b="0" i="1" smtClean="0">
                        <a:solidFill>
                          <a:schemeClr val="accent5">
                            <a:lumMod val="75000"/>
                          </a:schemeClr>
                        </a:solidFill>
                        <a:latin typeface="Cambria Math" panose="02040503050406030204" pitchFamily="18" charset="0"/>
                      </a:rPr>
                      <m:t>+</m:t>
                    </m:r>
                    <m:sSup>
                      <m:sSupPr>
                        <m:ctrlPr>
                          <a:rPr lang="en-GB" altLang="en-US" b="0" i="1" smtClean="0">
                            <a:solidFill>
                              <a:schemeClr val="accent5">
                                <a:lumMod val="75000"/>
                              </a:schemeClr>
                            </a:solidFill>
                            <a:latin typeface="Cambria Math" panose="02040503050406030204" pitchFamily="18" charset="0"/>
                          </a:rPr>
                        </m:ctrlPr>
                      </m:sSupPr>
                      <m:e>
                        <m:r>
                          <a:rPr lang="en-GB" altLang="en-US" b="0" i="1" smtClean="0">
                            <a:solidFill>
                              <a:schemeClr val="accent5">
                                <a:lumMod val="75000"/>
                              </a:schemeClr>
                            </a:solidFill>
                            <a:latin typeface="Cambria Math" panose="02040503050406030204" pitchFamily="18" charset="0"/>
                          </a:rPr>
                          <m:t>h</m:t>
                        </m:r>
                      </m:e>
                      <m:sup>
                        <m:r>
                          <a:rPr lang="en-GB" altLang="en-US" b="0" i="1" smtClean="0">
                            <a:solidFill>
                              <a:schemeClr val="accent5">
                                <a:lumMod val="75000"/>
                              </a:schemeClr>
                            </a:solidFill>
                            <a:latin typeface="Cambria Math" panose="02040503050406030204" pitchFamily="18" charset="0"/>
                          </a:rPr>
                          <m:t>2</m:t>
                        </m:r>
                      </m:sup>
                    </m:sSup>
                  </m:oMath>
                </a14:m>
                <a:r>
                  <a:rPr lang="en-GB" altLang="en-US" dirty="0">
                    <a:solidFill>
                      <a:schemeClr val="accent5">
                        <a:lumMod val="75000"/>
                      </a:schemeClr>
                    </a:solidFill>
                  </a:rPr>
                  <a:t> </a:t>
                </a:r>
                <a:endParaRPr lang="en-GB" altLang="en-US" dirty="0"/>
              </a:p>
            </p:txBody>
          </p:sp>
        </mc:Choice>
        <mc:Fallback xmlns="">
          <p:sp>
            <p:nvSpPr>
              <p:cNvPr id="63" name="Text Box 10">
                <a:extLst>
                  <a:ext uri="{FF2B5EF4-FFF2-40B4-BE49-F238E27FC236}">
                    <a16:creationId xmlns:a16="http://schemas.microsoft.com/office/drawing/2014/main" id="{21AE4E0D-B978-0446-A4AE-1790492184C1}"/>
                  </a:ext>
                </a:extLst>
              </p:cNvPr>
              <p:cNvSpPr txBox="1">
                <a:spLocks noRot="1" noChangeAspect="1" noMove="1" noResize="1" noEditPoints="1" noAdjustHandles="1" noChangeArrowheads="1" noChangeShapeType="1" noTextEdit="1"/>
              </p:cNvSpPr>
              <p:nvPr/>
            </p:nvSpPr>
            <p:spPr bwMode="auto">
              <a:xfrm>
                <a:off x="4741494" y="1650413"/>
                <a:ext cx="1146738" cy="253915"/>
              </a:xfrm>
              <a:prstGeom prst="rect">
                <a:avLst/>
              </a:prstGeom>
              <a:blipFill>
                <a:blip r:embed="rId21"/>
                <a:stretch>
                  <a:fillRect l="-1087" b="-4762"/>
                </a:stretch>
              </a:blipFill>
              <a:ln w="12700">
                <a:noFill/>
                <a:miter lim="800000"/>
                <a:headEnd/>
                <a:tailEnd/>
              </a:ln>
              <a:effectLst/>
            </p:spPr>
            <p:txBody>
              <a:bodyPr/>
              <a:lstStyle/>
              <a:p>
                <a:r>
                  <a:rPr lang="en-GB">
                    <a:noFill/>
                  </a:rPr>
                  <a:t> </a:t>
                </a:r>
              </a:p>
            </p:txBody>
          </p:sp>
        </mc:Fallback>
      </mc:AlternateContent>
      <p:sp>
        <p:nvSpPr>
          <p:cNvPr id="64" name="Freeform 63">
            <a:extLst>
              <a:ext uri="{FF2B5EF4-FFF2-40B4-BE49-F238E27FC236}">
                <a16:creationId xmlns:a16="http://schemas.microsoft.com/office/drawing/2014/main" id="{FBFE71AF-9019-ED43-B8A9-86BABAF3BA52}"/>
              </a:ext>
            </a:extLst>
          </p:cNvPr>
          <p:cNvSpPr/>
          <p:nvPr/>
        </p:nvSpPr>
        <p:spPr>
          <a:xfrm flipH="1">
            <a:off x="3269556" y="1240367"/>
            <a:ext cx="782586" cy="1710266"/>
          </a:xfrm>
          <a:custGeom>
            <a:avLst/>
            <a:gdLst>
              <a:gd name="connsiteX0" fmla="*/ 0 w 2328334"/>
              <a:gd name="connsiteY0" fmla="*/ 1710266 h 1710266"/>
              <a:gd name="connsiteX1" fmla="*/ 2328334 w 2328334"/>
              <a:gd name="connsiteY1" fmla="*/ 1710266 h 1710266"/>
              <a:gd name="connsiteX2" fmla="*/ 2328334 w 2328334"/>
              <a:gd name="connsiteY2" fmla="*/ 0 h 1710266"/>
              <a:gd name="connsiteX3" fmla="*/ 0 w 2328334"/>
              <a:gd name="connsiteY3" fmla="*/ 1710266 h 1710266"/>
            </a:gdLst>
            <a:ahLst/>
            <a:cxnLst>
              <a:cxn ang="0">
                <a:pos x="connsiteX0" y="connsiteY0"/>
              </a:cxn>
              <a:cxn ang="0">
                <a:pos x="connsiteX1" y="connsiteY1"/>
              </a:cxn>
              <a:cxn ang="0">
                <a:pos x="connsiteX2" y="connsiteY2"/>
              </a:cxn>
              <a:cxn ang="0">
                <a:pos x="connsiteX3" y="connsiteY3"/>
              </a:cxn>
            </a:cxnLst>
            <a:rect l="l" t="t" r="r" b="b"/>
            <a:pathLst>
              <a:path w="2328334" h="1710266">
                <a:moveTo>
                  <a:pt x="0" y="1710266"/>
                </a:moveTo>
                <a:lnTo>
                  <a:pt x="2328334" y="1710266"/>
                </a:lnTo>
                <a:lnTo>
                  <a:pt x="2328334" y="0"/>
                </a:lnTo>
                <a:lnTo>
                  <a:pt x="0" y="1710266"/>
                </a:lnTo>
                <a:close/>
              </a:path>
            </a:pathLst>
          </a:custGeom>
          <a:noFill/>
          <a:ln w="76200" cap="rnd">
            <a:solidFill>
              <a:srgbClr val="FFFF00">
                <a:alpha val="69804"/>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5" name="Text Box 10">
                <a:extLst>
                  <a:ext uri="{FF2B5EF4-FFF2-40B4-BE49-F238E27FC236}">
                    <a16:creationId xmlns:a16="http://schemas.microsoft.com/office/drawing/2014/main" id="{F65A1E5A-D17D-A046-818B-BEAEE15DBA33}"/>
                  </a:ext>
                </a:extLst>
              </p:cNvPr>
              <p:cNvSpPr txBox="1">
                <a:spLocks noChangeArrowheads="1"/>
              </p:cNvSpPr>
              <p:nvPr/>
            </p:nvSpPr>
            <p:spPr bwMode="auto">
              <a:xfrm>
                <a:off x="4741494" y="2088446"/>
                <a:ext cx="2539128" cy="805793"/>
              </a:xfrm>
              <a:prstGeom prst="rect">
                <a:avLst/>
              </a:prstGeom>
              <a:solidFill>
                <a:schemeClr val="accent3"/>
              </a:solidFill>
              <a:ln w="12700">
                <a:noFill/>
                <a:miter lim="800000"/>
                <a:headEnd/>
                <a:tailEnd/>
              </a:ln>
              <a:effectLst/>
            </p:spPr>
            <p:txBody>
              <a:bodyPr wrap="square" lIns="72000" tIns="36000" rIns="0" bIns="0" anchor="t" anchorCtr="0">
                <a:spAutoFit/>
              </a:bodyPr>
              <a:lstStyle>
                <a:defPPr>
                  <a:defRPr lang="en-US"/>
                </a:defPPr>
                <a:lvl1pPr algn="ctr" eaLnBrk="0" hangingPunct="0">
                  <a:defRPr sz="1500">
                    <a:latin typeface="Calibri" charset="0"/>
                    <a:ea typeface="Calibri" charset="0"/>
                    <a:cs typeface="Calibri" charset="0"/>
                  </a:defRPr>
                </a:lvl1pPr>
              </a:lstStyle>
              <a:p>
                <a:pPr algn="l">
                  <a:spcAft>
                    <a:spcPts val="200"/>
                  </a:spcAft>
                </a:pPr>
                <a14:m>
                  <m:oMath xmlns:m="http://schemas.openxmlformats.org/officeDocument/2006/math">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𝑐</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m:t>
                    </m:r>
                    <m:sSup>
                      <m:sSupPr>
                        <m:ctrlPr>
                          <a:rPr lang="en-GB" altLang="en-US" b="0" i="1" smtClean="0">
                            <a:latin typeface="Cambria Math" panose="02040503050406030204" pitchFamily="18" charset="0"/>
                          </a:rPr>
                        </m:ctrlPr>
                      </m:sSupPr>
                      <m:e>
                        <m:d>
                          <m:dPr>
                            <m:ctrlPr>
                              <a:rPr lang="en-GB" altLang="en-US" b="0" i="1" smtClean="0">
                                <a:latin typeface="Cambria Math" panose="02040503050406030204" pitchFamily="18" charset="0"/>
                              </a:rPr>
                            </m:ctrlPr>
                          </m:dPr>
                          <m:e>
                            <m:r>
                              <a:rPr lang="en-GB" altLang="en-US" b="0" i="1" smtClean="0">
                                <a:latin typeface="Cambria Math" panose="02040503050406030204" pitchFamily="18" charset="0"/>
                              </a:rPr>
                              <m:t>𝑎</m:t>
                            </m:r>
                            <m:r>
                              <a:rPr lang="en-GB" altLang="en-US" b="0" i="1" smtClean="0">
                                <a:latin typeface="Cambria Math" panose="02040503050406030204" pitchFamily="18" charset="0"/>
                              </a:rPr>
                              <m:t>−</m:t>
                            </m:r>
                            <m:r>
                              <a:rPr lang="en-GB" altLang="en-US" b="0" i="1" smtClean="0">
                                <a:latin typeface="Cambria Math" panose="02040503050406030204" pitchFamily="18" charset="0"/>
                              </a:rPr>
                              <m:t>𝑥</m:t>
                            </m:r>
                          </m:e>
                        </m:d>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m:t>
                    </m:r>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h</m:t>
                        </m:r>
                      </m:e>
                      <m:sup>
                        <m:r>
                          <a:rPr lang="en-GB" altLang="en-US" b="0" i="1" smtClean="0">
                            <a:latin typeface="Cambria Math" panose="02040503050406030204" pitchFamily="18" charset="0"/>
                          </a:rPr>
                          <m:t>2</m:t>
                        </m:r>
                      </m:sup>
                    </m:sSup>
                  </m:oMath>
                </a14:m>
                <a:r>
                  <a:rPr lang="en-GB" altLang="en-US" dirty="0"/>
                  <a:t> </a:t>
                </a:r>
              </a:p>
              <a:p>
                <a:pPr algn="l">
                  <a:spcAft>
                    <a:spcPts val="200"/>
                  </a:spcAft>
                </a:pPr>
                <a14:m>
                  <m:oMath xmlns:m="http://schemas.openxmlformats.org/officeDocument/2006/math">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𝑐</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m:t>
                    </m:r>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𝑎</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−2</m:t>
                    </m:r>
                    <m:r>
                      <a:rPr lang="en-GB" altLang="en-US" b="0" i="1" smtClean="0">
                        <a:latin typeface="Cambria Math" panose="02040503050406030204" pitchFamily="18" charset="0"/>
                      </a:rPr>
                      <m:t>𝑎𝑥</m:t>
                    </m:r>
                    <m:r>
                      <a:rPr lang="en-GB" altLang="en-US" b="0" i="1" smtClean="0">
                        <a:latin typeface="Cambria Math" panose="02040503050406030204" pitchFamily="18" charset="0"/>
                      </a:rPr>
                      <m:t>+</m:t>
                    </m:r>
                    <m:sSup>
                      <m:sSupPr>
                        <m:ctrlPr>
                          <a:rPr lang="en-GB" altLang="en-US" b="0" i="1" smtClean="0">
                            <a:solidFill>
                              <a:schemeClr val="accent5">
                                <a:lumMod val="75000"/>
                              </a:schemeClr>
                            </a:solidFill>
                            <a:latin typeface="Cambria Math" panose="02040503050406030204" pitchFamily="18" charset="0"/>
                          </a:rPr>
                        </m:ctrlPr>
                      </m:sSupPr>
                      <m:e>
                        <m:r>
                          <a:rPr lang="en-GB" altLang="en-US" b="0" i="1" smtClean="0">
                            <a:solidFill>
                              <a:schemeClr val="accent5">
                                <a:lumMod val="75000"/>
                              </a:schemeClr>
                            </a:solidFill>
                            <a:latin typeface="Cambria Math" panose="02040503050406030204" pitchFamily="18" charset="0"/>
                          </a:rPr>
                          <m:t>𝑥</m:t>
                        </m:r>
                      </m:e>
                      <m:sup>
                        <m:r>
                          <a:rPr lang="en-GB" altLang="en-US" b="0" i="1" smtClean="0">
                            <a:solidFill>
                              <a:schemeClr val="accent5">
                                <a:lumMod val="75000"/>
                              </a:schemeClr>
                            </a:solidFill>
                            <a:latin typeface="Cambria Math" panose="02040503050406030204" pitchFamily="18" charset="0"/>
                          </a:rPr>
                          <m:t>2</m:t>
                        </m:r>
                      </m:sup>
                    </m:sSup>
                    <m:r>
                      <a:rPr lang="en-GB" altLang="en-US" b="0" i="1" smtClean="0">
                        <a:solidFill>
                          <a:schemeClr val="accent5">
                            <a:lumMod val="75000"/>
                          </a:schemeClr>
                        </a:solidFill>
                        <a:latin typeface="Cambria Math" panose="02040503050406030204" pitchFamily="18" charset="0"/>
                      </a:rPr>
                      <m:t>+</m:t>
                    </m:r>
                    <m:sSup>
                      <m:sSupPr>
                        <m:ctrlPr>
                          <a:rPr lang="en-GB" altLang="en-US" b="0" i="1" smtClean="0">
                            <a:solidFill>
                              <a:schemeClr val="accent5">
                                <a:lumMod val="75000"/>
                              </a:schemeClr>
                            </a:solidFill>
                            <a:latin typeface="Cambria Math" panose="02040503050406030204" pitchFamily="18" charset="0"/>
                          </a:rPr>
                        </m:ctrlPr>
                      </m:sSupPr>
                      <m:e>
                        <m:r>
                          <a:rPr lang="en-GB" altLang="en-US" b="0" i="1" smtClean="0">
                            <a:solidFill>
                              <a:schemeClr val="accent5">
                                <a:lumMod val="75000"/>
                              </a:schemeClr>
                            </a:solidFill>
                            <a:latin typeface="Cambria Math" panose="02040503050406030204" pitchFamily="18" charset="0"/>
                          </a:rPr>
                          <m:t>h</m:t>
                        </m:r>
                      </m:e>
                      <m:sup>
                        <m:r>
                          <a:rPr lang="en-GB" altLang="en-US" b="0" i="1" smtClean="0">
                            <a:solidFill>
                              <a:schemeClr val="accent5">
                                <a:lumMod val="75000"/>
                              </a:schemeClr>
                            </a:solidFill>
                            <a:latin typeface="Cambria Math" panose="02040503050406030204" pitchFamily="18" charset="0"/>
                          </a:rPr>
                          <m:t>2</m:t>
                        </m:r>
                      </m:sup>
                    </m:sSup>
                  </m:oMath>
                </a14:m>
                <a:r>
                  <a:rPr lang="en-GB" altLang="en-US" dirty="0">
                    <a:solidFill>
                      <a:schemeClr val="accent5">
                        <a:lumMod val="75000"/>
                      </a:schemeClr>
                    </a:solidFill>
                  </a:rPr>
                  <a:t> </a:t>
                </a:r>
              </a:p>
              <a:p>
                <a:pPr algn="l">
                  <a:spcAft>
                    <a:spcPts val="200"/>
                  </a:spcAft>
                </a:pPr>
                <a14:m>
                  <m:oMath xmlns:m="http://schemas.openxmlformats.org/officeDocument/2006/math">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𝑐</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m:t>
                    </m:r>
                    <m:sSup>
                      <m:sSupPr>
                        <m:ctrlPr>
                          <a:rPr lang="en-GB" altLang="en-US" b="0" i="1" smtClean="0">
                            <a:latin typeface="Cambria Math" panose="02040503050406030204" pitchFamily="18" charset="0"/>
                          </a:rPr>
                        </m:ctrlPr>
                      </m:sSupPr>
                      <m:e>
                        <m:r>
                          <a:rPr lang="en-GB" altLang="en-US" b="0" i="1" smtClean="0">
                            <a:latin typeface="Cambria Math" panose="02040503050406030204" pitchFamily="18" charset="0"/>
                          </a:rPr>
                          <m:t>𝑎</m:t>
                        </m:r>
                      </m:e>
                      <m:sup>
                        <m:r>
                          <a:rPr lang="en-GB" altLang="en-US" b="0" i="1" smtClean="0">
                            <a:latin typeface="Cambria Math" panose="02040503050406030204" pitchFamily="18" charset="0"/>
                          </a:rPr>
                          <m:t>2</m:t>
                        </m:r>
                      </m:sup>
                    </m:sSup>
                    <m:r>
                      <a:rPr lang="en-GB" altLang="en-US" b="0" i="1" smtClean="0">
                        <a:latin typeface="Cambria Math" panose="02040503050406030204" pitchFamily="18" charset="0"/>
                      </a:rPr>
                      <m:t>+2</m:t>
                    </m:r>
                    <m:r>
                      <a:rPr lang="en-GB" altLang="en-US" b="0" i="1" smtClean="0">
                        <a:latin typeface="Cambria Math" panose="02040503050406030204" pitchFamily="18" charset="0"/>
                      </a:rPr>
                      <m:t>𝑎𝑏</m:t>
                    </m:r>
                    <m:func>
                      <m:funcPr>
                        <m:ctrlPr>
                          <a:rPr lang="en-GB" altLang="en-US" b="0" i="1" smtClean="0">
                            <a:solidFill>
                              <a:srgbClr val="0070C0"/>
                            </a:solidFill>
                            <a:latin typeface="Cambria Math" panose="02040503050406030204" pitchFamily="18" charset="0"/>
                          </a:rPr>
                        </m:ctrlPr>
                      </m:funcPr>
                      <m:fName>
                        <m:r>
                          <m:rPr>
                            <m:sty m:val="p"/>
                          </m:rPr>
                          <a:rPr lang="en-GB" altLang="en-US" b="0" i="0" smtClean="0">
                            <a:solidFill>
                              <a:srgbClr val="0070C0"/>
                            </a:solidFill>
                            <a:latin typeface="Cambria Math" panose="02040503050406030204" pitchFamily="18" charset="0"/>
                          </a:rPr>
                          <m:t>cos</m:t>
                        </m:r>
                      </m:fName>
                      <m:e>
                        <m:r>
                          <a:rPr lang="en-GB" altLang="en-US" b="0" i="1" smtClean="0">
                            <a:solidFill>
                              <a:srgbClr val="0070C0"/>
                            </a:solidFill>
                            <a:latin typeface="Cambria Math" panose="02040503050406030204" pitchFamily="18" charset="0"/>
                          </a:rPr>
                          <m:t>𝐶</m:t>
                        </m:r>
                      </m:e>
                    </m:func>
                    <m:r>
                      <a:rPr lang="en-GB" altLang="en-US" b="0" i="1" smtClean="0">
                        <a:solidFill>
                          <a:schemeClr val="tx1"/>
                        </a:solidFill>
                        <a:latin typeface="Cambria Math" panose="02040503050406030204" pitchFamily="18" charset="0"/>
                      </a:rPr>
                      <m:t>+</m:t>
                    </m:r>
                    <m:sSup>
                      <m:sSupPr>
                        <m:ctrlPr>
                          <a:rPr lang="en-GB" altLang="en-US" b="0" i="1" smtClean="0">
                            <a:solidFill>
                              <a:schemeClr val="accent5">
                                <a:lumMod val="75000"/>
                              </a:schemeClr>
                            </a:solidFill>
                            <a:latin typeface="Cambria Math" panose="02040503050406030204" pitchFamily="18" charset="0"/>
                          </a:rPr>
                        </m:ctrlPr>
                      </m:sSupPr>
                      <m:e>
                        <m:r>
                          <a:rPr lang="en-GB" altLang="en-US" b="0" i="1" smtClean="0">
                            <a:solidFill>
                              <a:schemeClr val="accent5">
                                <a:lumMod val="75000"/>
                              </a:schemeClr>
                            </a:solidFill>
                            <a:latin typeface="Cambria Math" panose="02040503050406030204" pitchFamily="18" charset="0"/>
                          </a:rPr>
                          <m:t>𝑏</m:t>
                        </m:r>
                      </m:e>
                      <m:sup>
                        <m:r>
                          <a:rPr lang="en-GB" altLang="en-US" b="0" i="1" smtClean="0">
                            <a:solidFill>
                              <a:schemeClr val="accent5">
                                <a:lumMod val="75000"/>
                              </a:schemeClr>
                            </a:solidFill>
                            <a:latin typeface="Cambria Math" panose="02040503050406030204" pitchFamily="18" charset="0"/>
                          </a:rPr>
                          <m:t>2</m:t>
                        </m:r>
                      </m:sup>
                    </m:sSup>
                  </m:oMath>
                </a14:m>
                <a:r>
                  <a:rPr lang="en-GB" altLang="en-US" dirty="0"/>
                  <a:t> </a:t>
                </a:r>
              </a:p>
            </p:txBody>
          </p:sp>
        </mc:Choice>
        <mc:Fallback xmlns="">
          <p:sp>
            <p:nvSpPr>
              <p:cNvPr id="65" name="Text Box 10">
                <a:extLst>
                  <a:ext uri="{FF2B5EF4-FFF2-40B4-BE49-F238E27FC236}">
                    <a16:creationId xmlns:a16="http://schemas.microsoft.com/office/drawing/2014/main" id="{F65A1E5A-D17D-A046-818B-BEAEE15DBA33}"/>
                  </a:ext>
                </a:extLst>
              </p:cNvPr>
              <p:cNvSpPr txBox="1">
                <a:spLocks noRot="1" noChangeAspect="1" noMove="1" noResize="1" noEditPoints="1" noAdjustHandles="1" noChangeArrowheads="1" noChangeShapeType="1" noTextEdit="1"/>
              </p:cNvSpPr>
              <p:nvPr/>
            </p:nvSpPr>
            <p:spPr bwMode="auto">
              <a:xfrm>
                <a:off x="4741494" y="2088446"/>
                <a:ext cx="2539128" cy="805793"/>
              </a:xfrm>
              <a:prstGeom prst="rect">
                <a:avLst/>
              </a:prstGeom>
              <a:blipFill>
                <a:blip r:embed="rId22"/>
                <a:stretch>
                  <a:fillRect/>
                </a:stretch>
              </a:blipFill>
              <a:ln w="12700">
                <a:noFill/>
                <a:miter lim="800000"/>
                <a:headEnd/>
                <a:tailEnd/>
              </a:ln>
              <a:effectLst/>
            </p:spPr>
            <p:txBody>
              <a:bodyPr/>
              <a:lstStyle/>
              <a:p>
                <a:r>
                  <a:rPr lang="en-GB">
                    <a:noFill/>
                  </a:rPr>
                  <a:t> </a:t>
                </a:r>
              </a:p>
            </p:txBody>
          </p:sp>
        </mc:Fallback>
      </mc:AlternateContent>
      <p:sp>
        <p:nvSpPr>
          <p:cNvPr id="66" name="Rectangle 65">
            <a:extLst>
              <a:ext uri="{FF2B5EF4-FFF2-40B4-BE49-F238E27FC236}">
                <a16:creationId xmlns:a16="http://schemas.microsoft.com/office/drawing/2014/main" id="{7F695E66-C045-E942-88DF-B62A4A06982B}"/>
              </a:ext>
            </a:extLst>
          </p:cNvPr>
          <p:cNvSpPr/>
          <p:nvPr/>
        </p:nvSpPr>
        <p:spPr>
          <a:xfrm>
            <a:off x="4768024" y="2355377"/>
            <a:ext cx="2114377" cy="2530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A0C80B42-BC27-FE42-B69C-FA28131E5798}"/>
              </a:ext>
            </a:extLst>
          </p:cNvPr>
          <p:cNvSpPr/>
          <p:nvPr/>
        </p:nvSpPr>
        <p:spPr>
          <a:xfrm>
            <a:off x="4768024" y="2606662"/>
            <a:ext cx="1112725" cy="2530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78EDBF7C-865C-1047-83CC-08BDA217C6A3}"/>
              </a:ext>
            </a:extLst>
          </p:cNvPr>
          <p:cNvSpPr/>
          <p:nvPr/>
        </p:nvSpPr>
        <p:spPr>
          <a:xfrm>
            <a:off x="5866984" y="2606662"/>
            <a:ext cx="586137" cy="2530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6A2FE452-74E7-6D46-9B5A-7041BDD30683}"/>
              </a:ext>
            </a:extLst>
          </p:cNvPr>
          <p:cNvSpPr/>
          <p:nvPr/>
        </p:nvSpPr>
        <p:spPr>
          <a:xfrm>
            <a:off x="6484727" y="2606662"/>
            <a:ext cx="586137" cy="2530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0" name="Text Box 1">
                <a:extLst>
                  <a:ext uri="{FF2B5EF4-FFF2-40B4-BE49-F238E27FC236}">
                    <a16:creationId xmlns:a16="http://schemas.microsoft.com/office/drawing/2014/main" id="{76E39BF8-8679-F342-A274-017D6F01A4F8}"/>
                  </a:ext>
                </a:extLst>
              </p:cNvPr>
              <p:cNvSpPr txBox="1"/>
              <p:nvPr/>
            </p:nvSpPr>
            <p:spPr>
              <a:xfrm>
                <a:off x="4559670" y="3084217"/>
                <a:ext cx="4252302" cy="278609"/>
              </a:xfrm>
              <a:prstGeom prst="rect">
                <a:avLst/>
              </a:prstGeom>
              <a:solidFill>
                <a:schemeClr val="accent3"/>
              </a:solidFill>
              <a:ln w="190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marL="0" marR="0" algn="ctr">
                  <a:spcBef>
                    <a:spcPts val="0"/>
                  </a:spcBef>
                  <a:spcAft>
                    <a:spcPts val="0"/>
                  </a:spcAft>
                </a:pPr>
                <a:r>
                  <a:rPr lang="en-GB" sz="1500" dirty="0">
                    <a:effectLst/>
                    <a:ea typeface="Calibri" charset="0"/>
                    <a:cs typeface="Times New Roman" charset="0"/>
                  </a:rPr>
                  <a:t>Hence, for any triangle </a:t>
                </a:r>
                <a14:m>
                  <m:oMath xmlns:m="http://schemas.openxmlformats.org/officeDocument/2006/math">
                    <m:r>
                      <a:rPr lang="en-GB" sz="1500" b="0" i="1" smtClean="0">
                        <a:effectLst/>
                        <a:latin typeface="Cambria Math" charset="0"/>
                        <a:ea typeface="Calibri" charset="0"/>
                        <a:cs typeface="Times New Roman" charset="0"/>
                      </a:rPr>
                      <m:t>𝐴𝐵𝐶</m:t>
                    </m:r>
                  </m:oMath>
                </a14:m>
                <a:r>
                  <a:rPr lang="en-GB" sz="1500" dirty="0">
                    <a:effectLst/>
                    <a:ea typeface="Calibri" charset="0"/>
                    <a:cs typeface="Times New Roman" charset="0"/>
                  </a:rPr>
                  <a:t>, we have </a:t>
                </a:r>
                <a:r>
                  <a:rPr lang="en-GB" sz="1500" b="1" dirty="0">
                    <a:effectLst/>
                    <a:ea typeface="Calibri" charset="0"/>
                    <a:cs typeface="Times New Roman" charset="0"/>
                  </a:rPr>
                  <a:t>the cosine rule</a:t>
                </a:r>
                <a:r>
                  <a:rPr lang="en-GB" sz="1500" dirty="0">
                    <a:effectLst/>
                    <a:ea typeface="Calibri" charset="0"/>
                    <a:cs typeface="Times New Roman" charset="0"/>
                  </a:rPr>
                  <a:t>.</a:t>
                </a:r>
              </a:p>
            </p:txBody>
          </p:sp>
        </mc:Choice>
        <mc:Fallback xmlns="">
          <p:sp>
            <p:nvSpPr>
              <p:cNvPr id="70" name="Text Box 1">
                <a:extLst>
                  <a:ext uri="{FF2B5EF4-FFF2-40B4-BE49-F238E27FC236}">
                    <a16:creationId xmlns:a16="http://schemas.microsoft.com/office/drawing/2014/main" id="{76E39BF8-8679-F342-A274-017D6F01A4F8}"/>
                  </a:ext>
                </a:extLst>
              </p:cNvPr>
              <p:cNvSpPr txBox="1">
                <a:spLocks noRot="1" noChangeAspect="1" noMove="1" noResize="1" noEditPoints="1" noAdjustHandles="1" noChangeArrowheads="1" noChangeShapeType="1" noTextEdit="1"/>
              </p:cNvSpPr>
              <p:nvPr/>
            </p:nvSpPr>
            <p:spPr>
              <a:xfrm>
                <a:off x="4559670" y="3084217"/>
                <a:ext cx="4252302" cy="278609"/>
              </a:xfrm>
              <a:prstGeom prst="rect">
                <a:avLst/>
              </a:prstGeom>
              <a:blipFill>
                <a:blip r:embed="rId23"/>
                <a:stretch>
                  <a:fillRect l="-1488" t="-8696" r="-1190" b="-30435"/>
                </a:stretch>
              </a:blipFill>
              <a:ln w="19050">
                <a:noFill/>
              </a:ln>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 Box 1">
                <a:extLst>
                  <a:ext uri="{FF2B5EF4-FFF2-40B4-BE49-F238E27FC236}">
                    <a16:creationId xmlns:a16="http://schemas.microsoft.com/office/drawing/2014/main" id="{57C736F5-A11D-5241-87E6-ED089D71E6C7}"/>
                  </a:ext>
                </a:extLst>
              </p:cNvPr>
              <p:cNvSpPr txBox="1"/>
              <p:nvPr/>
            </p:nvSpPr>
            <p:spPr>
              <a:xfrm>
                <a:off x="5312871" y="3483333"/>
                <a:ext cx="2745901" cy="369811"/>
              </a:xfrm>
              <a:prstGeom prst="rect">
                <a:avLst/>
              </a:prstGeom>
              <a:solidFill>
                <a:schemeClr val="accent1">
                  <a:lumMod val="60000"/>
                  <a:lumOff val="40000"/>
                </a:schemeClr>
              </a:solidFill>
              <a:ln w="1270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marL="0" marR="0" algn="just">
                  <a:spcBef>
                    <a:spcPts val="0"/>
                  </a:spcBef>
                  <a:spcAft>
                    <a:spcPts val="0"/>
                  </a:spcAft>
                </a:pPr>
                <a14:m>
                  <m:oMathPara xmlns:m="http://schemas.openxmlformats.org/officeDocument/2006/math">
                    <m:oMathParaPr>
                      <m:jc m:val="center"/>
                    </m:oMathParaPr>
                    <m:oMath xmlns:m="http://schemas.openxmlformats.org/officeDocument/2006/math">
                      <m:sSup>
                        <m:sSupPr>
                          <m:ctrlPr>
                            <a:rPr lang="en-GB" sz="1800" b="0" i="1" smtClean="0">
                              <a:effectLst/>
                              <a:latin typeface="Cambria Math" panose="02040503050406030204" pitchFamily="18" charset="0"/>
                              <a:ea typeface="Calibri" charset="0"/>
                              <a:cs typeface="Times New Roman" charset="0"/>
                            </a:rPr>
                          </m:ctrlPr>
                        </m:sSupPr>
                        <m:e>
                          <m:r>
                            <a:rPr lang="en-GB" sz="1800" b="0" i="1" smtClean="0">
                              <a:effectLst/>
                              <a:latin typeface="Cambria Math" panose="02040503050406030204" pitchFamily="18" charset="0"/>
                              <a:ea typeface="Calibri" charset="0"/>
                              <a:cs typeface="Times New Roman" charset="0"/>
                            </a:rPr>
                            <m:t>𝑐</m:t>
                          </m:r>
                        </m:e>
                        <m:sup>
                          <m:r>
                            <a:rPr lang="en-GB" sz="1800" b="0" i="1" smtClean="0">
                              <a:effectLst/>
                              <a:latin typeface="Cambria Math" panose="02040503050406030204" pitchFamily="18" charset="0"/>
                              <a:ea typeface="Calibri" charset="0"/>
                              <a:cs typeface="Times New Roman" charset="0"/>
                            </a:rPr>
                            <m:t>2</m:t>
                          </m:r>
                        </m:sup>
                      </m:sSup>
                      <m:r>
                        <a:rPr lang="en-GB" sz="1800" b="0" i="1" smtClean="0">
                          <a:effectLst/>
                          <a:latin typeface="Cambria Math" panose="02040503050406030204" pitchFamily="18" charset="0"/>
                          <a:ea typeface="Calibri" charset="0"/>
                          <a:cs typeface="Times New Roman" charset="0"/>
                        </a:rPr>
                        <m:t>=</m:t>
                      </m:r>
                      <m:sSup>
                        <m:sSupPr>
                          <m:ctrlPr>
                            <a:rPr lang="en-GB" sz="1800" b="0" i="1" smtClean="0">
                              <a:effectLst/>
                              <a:latin typeface="Cambria Math" panose="02040503050406030204" pitchFamily="18" charset="0"/>
                              <a:ea typeface="Calibri" charset="0"/>
                              <a:cs typeface="Times New Roman" charset="0"/>
                            </a:rPr>
                          </m:ctrlPr>
                        </m:sSupPr>
                        <m:e>
                          <m:r>
                            <a:rPr lang="en-GB" sz="1800" b="0" i="1" smtClean="0">
                              <a:effectLst/>
                              <a:latin typeface="Cambria Math" panose="02040503050406030204" pitchFamily="18" charset="0"/>
                              <a:ea typeface="Calibri" charset="0"/>
                              <a:cs typeface="Times New Roman" charset="0"/>
                            </a:rPr>
                            <m:t>𝑎</m:t>
                          </m:r>
                        </m:e>
                        <m:sup>
                          <m:r>
                            <a:rPr lang="en-GB" sz="1800" b="0" i="1" smtClean="0">
                              <a:effectLst/>
                              <a:latin typeface="Cambria Math" panose="02040503050406030204" pitchFamily="18" charset="0"/>
                              <a:ea typeface="Calibri" charset="0"/>
                              <a:cs typeface="Times New Roman" charset="0"/>
                            </a:rPr>
                            <m:t>2</m:t>
                          </m:r>
                        </m:sup>
                      </m:sSup>
                      <m:r>
                        <a:rPr lang="en-GB" sz="1800" b="0" i="1" smtClean="0">
                          <a:effectLst/>
                          <a:latin typeface="Cambria Math" panose="02040503050406030204" pitchFamily="18" charset="0"/>
                          <a:ea typeface="Calibri" charset="0"/>
                          <a:cs typeface="Times New Roman" charset="0"/>
                        </a:rPr>
                        <m:t>+</m:t>
                      </m:r>
                      <m:sSup>
                        <m:sSupPr>
                          <m:ctrlPr>
                            <a:rPr lang="en-GB" sz="1800" b="0" i="1" smtClean="0">
                              <a:effectLst/>
                              <a:latin typeface="Cambria Math" panose="02040503050406030204" pitchFamily="18" charset="0"/>
                              <a:ea typeface="Calibri" charset="0"/>
                              <a:cs typeface="Times New Roman" charset="0"/>
                            </a:rPr>
                          </m:ctrlPr>
                        </m:sSupPr>
                        <m:e>
                          <m:r>
                            <a:rPr lang="en-GB" sz="1800" b="0" i="1" smtClean="0">
                              <a:effectLst/>
                              <a:latin typeface="Cambria Math" panose="02040503050406030204" pitchFamily="18" charset="0"/>
                              <a:ea typeface="Calibri" charset="0"/>
                              <a:cs typeface="Times New Roman" charset="0"/>
                            </a:rPr>
                            <m:t>𝑏</m:t>
                          </m:r>
                        </m:e>
                        <m:sup>
                          <m:r>
                            <a:rPr lang="en-GB" sz="1800" b="0" i="1" smtClean="0">
                              <a:effectLst/>
                              <a:latin typeface="Cambria Math" panose="02040503050406030204" pitchFamily="18" charset="0"/>
                              <a:ea typeface="Calibri" charset="0"/>
                              <a:cs typeface="Times New Roman" charset="0"/>
                            </a:rPr>
                            <m:t>2</m:t>
                          </m:r>
                        </m:sup>
                      </m:sSup>
                      <m:r>
                        <a:rPr lang="en-GB" sz="1800" b="0" i="1" smtClean="0">
                          <a:effectLst/>
                          <a:latin typeface="Cambria Math" panose="02040503050406030204" pitchFamily="18" charset="0"/>
                          <a:ea typeface="Calibri" charset="0"/>
                          <a:cs typeface="Times New Roman" charset="0"/>
                        </a:rPr>
                        <m:t>−2</m:t>
                      </m:r>
                      <m:r>
                        <a:rPr lang="en-GB" sz="1800" b="0" i="1" smtClean="0">
                          <a:effectLst/>
                          <a:latin typeface="Cambria Math" panose="02040503050406030204" pitchFamily="18" charset="0"/>
                          <a:ea typeface="Calibri" charset="0"/>
                          <a:cs typeface="Times New Roman" charset="0"/>
                        </a:rPr>
                        <m:t>𝑎𝑏</m:t>
                      </m:r>
                      <m:func>
                        <m:funcPr>
                          <m:ctrlPr>
                            <a:rPr lang="en-GB" sz="1800" b="0" i="1" smtClean="0">
                              <a:effectLst/>
                              <a:latin typeface="Cambria Math" panose="02040503050406030204" pitchFamily="18" charset="0"/>
                              <a:ea typeface="Calibri" charset="0"/>
                              <a:cs typeface="Times New Roman" charset="0"/>
                            </a:rPr>
                          </m:ctrlPr>
                        </m:funcPr>
                        <m:fName>
                          <m:r>
                            <m:rPr>
                              <m:sty m:val="p"/>
                            </m:rPr>
                            <a:rPr lang="en-GB" sz="1800" b="0" i="0" smtClean="0">
                              <a:effectLst/>
                              <a:latin typeface="Cambria Math" panose="02040503050406030204" pitchFamily="18" charset="0"/>
                              <a:ea typeface="Calibri" charset="0"/>
                              <a:cs typeface="Times New Roman" charset="0"/>
                            </a:rPr>
                            <m:t>cos</m:t>
                          </m:r>
                        </m:fName>
                        <m:e>
                          <m:r>
                            <a:rPr lang="en-GB" sz="1800" b="0" i="1" smtClean="0">
                              <a:effectLst/>
                              <a:latin typeface="Cambria Math" panose="02040503050406030204" pitchFamily="18" charset="0"/>
                              <a:ea typeface="Calibri" charset="0"/>
                              <a:cs typeface="Times New Roman" charset="0"/>
                            </a:rPr>
                            <m:t>𝐶</m:t>
                          </m:r>
                        </m:e>
                      </m:func>
                    </m:oMath>
                  </m:oMathPara>
                </a14:m>
                <a:endParaRPr lang="en-GB" sz="1800" dirty="0">
                  <a:effectLst/>
                  <a:ea typeface="Calibri" charset="0"/>
                  <a:cs typeface="Times New Roman" charset="0"/>
                </a:endParaRPr>
              </a:p>
            </p:txBody>
          </p:sp>
        </mc:Choice>
        <mc:Fallback xmlns="">
          <p:sp>
            <p:nvSpPr>
              <p:cNvPr id="71" name="Text Box 1">
                <a:extLst>
                  <a:ext uri="{FF2B5EF4-FFF2-40B4-BE49-F238E27FC236}">
                    <a16:creationId xmlns:a16="http://schemas.microsoft.com/office/drawing/2014/main" id="{57C736F5-A11D-5241-87E6-ED089D71E6C7}"/>
                  </a:ext>
                </a:extLst>
              </p:cNvPr>
              <p:cNvSpPr txBox="1">
                <a:spLocks noRot="1" noChangeAspect="1" noMove="1" noResize="1" noEditPoints="1" noAdjustHandles="1" noChangeArrowheads="1" noChangeShapeType="1" noTextEdit="1"/>
              </p:cNvSpPr>
              <p:nvPr/>
            </p:nvSpPr>
            <p:spPr>
              <a:xfrm>
                <a:off x="5312871" y="3483333"/>
                <a:ext cx="2745901" cy="369811"/>
              </a:xfrm>
              <a:prstGeom prst="rect">
                <a:avLst/>
              </a:prstGeom>
              <a:blipFill>
                <a:blip r:embed="rId24"/>
                <a:stretch>
                  <a:fillRect/>
                </a:stretch>
              </a:blipFill>
              <a:ln w="12700">
                <a:noFill/>
              </a:ln>
              <a:effectLst/>
            </p:spPr>
            <p:txBody>
              <a:bodyPr/>
              <a:lstStyle/>
              <a:p>
                <a:r>
                  <a:rPr lang="en-GB">
                    <a:noFill/>
                  </a:rPr>
                  <a:t> </a:t>
                </a:r>
              </a:p>
            </p:txBody>
          </p:sp>
        </mc:Fallback>
      </mc:AlternateContent>
      <p:grpSp>
        <p:nvGrpSpPr>
          <p:cNvPr id="72" name="Group 71">
            <a:extLst>
              <a:ext uri="{FF2B5EF4-FFF2-40B4-BE49-F238E27FC236}">
                <a16:creationId xmlns:a16="http://schemas.microsoft.com/office/drawing/2014/main" id="{3F639D0F-204C-2249-A077-027F1FC44405}"/>
              </a:ext>
            </a:extLst>
          </p:cNvPr>
          <p:cNvGrpSpPr/>
          <p:nvPr/>
        </p:nvGrpSpPr>
        <p:grpSpPr>
          <a:xfrm>
            <a:off x="199143" y="968616"/>
            <a:ext cx="8849268" cy="3447300"/>
            <a:chOff x="199143" y="968616"/>
            <a:chExt cx="8849268" cy="3447300"/>
          </a:xfrm>
        </p:grpSpPr>
        <p:sp>
          <p:nvSpPr>
            <p:cNvPr id="73" name="Freeform 72">
              <a:extLst>
                <a:ext uri="{FF2B5EF4-FFF2-40B4-BE49-F238E27FC236}">
                  <a16:creationId xmlns:a16="http://schemas.microsoft.com/office/drawing/2014/main" id="{0E3F5BDF-E91E-D24A-AE01-E15E9E1519A1}"/>
                </a:ext>
              </a:extLst>
            </p:cNvPr>
            <p:cNvSpPr/>
            <p:nvPr/>
          </p:nvSpPr>
          <p:spPr>
            <a:xfrm>
              <a:off x="199143" y="980908"/>
              <a:ext cx="8849268" cy="3435008"/>
            </a:xfrm>
            <a:custGeom>
              <a:avLst/>
              <a:gdLst>
                <a:gd name="connsiteX0" fmla="*/ 52771 w 8493760"/>
                <a:gd name="connsiteY0" fmla="*/ 1282889 h 3504745"/>
                <a:gd name="connsiteX1" fmla="*/ 121010 w 8493760"/>
                <a:gd name="connsiteY1" fmla="*/ 477672 h 3504745"/>
                <a:gd name="connsiteX2" fmla="*/ 2434306 w 8493760"/>
                <a:gd name="connsiteY2" fmla="*/ 464024 h 3504745"/>
                <a:gd name="connsiteX3" fmla="*/ 2864210 w 8493760"/>
                <a:gd name="connsiteY3" fmla="*/ 6824 h 3504745"/>
                <a:gd name="connsiteX4" fmla="*/ 3253171 w 8493760"/>
                <a:gd name="connsiteY4" fmla="*/ 0 h 3504745"/>
                <a:gd name="connsiteX5" fmla="*/ 4147100 w 8493760"/>
                <a:gd name="connsiteY5" fmla="*/ 661916 h 3504745"/>
                <a:gd name="connsiteX6" fmla="*/ 8493760 w 8493760"/>
                <a:gd name="connsiteY6" fmla="*/ 954585 h 3504745"/>
                <a:gd name="connsiteX7" fmla="*/ 8249920 w 8493760"/>
                <a:gd name="connsiteY7" fmla="*/ 3504745 h 3504745"/>
                <a:gd name="connsiteX8" fmla="*/ 0 w 8493760"/>
                <a:gd name="connsiteY8" fmla="*/ 3504745 h 3504745"/>
                <a:gd name="connsiteX9" fmla="*/ 52771 w 8493760"/>
                <a:gd name="connsiteY9" fmla="*/ 1282889 h 3504745"/>
                <a:gd name="connsiteX0" fmla="*/ 52771 w 8571892"/>
                <a:gd name="connsiteY0" fmla="*/ 1282889 h 3504745"/>
                <a:gd name="connsiteX1" fmla="*/ 121010 w 8571892"/>
                <a:gd name="connsiteY1" fmla="*/ 477672 h 3504745"/>
                <a:gd name="connsiteX2" fmla="*/ 2434306 w 8571892"/>
                <a:gd name="connsiteY2" fmla="*/ 464024 h 3504745"/>
                <a:gd name="connsiteX3" fmla="*/ 2864210 w 8571892"/>
                <a:gd name="connsiteY3" fmla="*/ 6824 h 3504745"/>
                <a:gd name="connsiteX4" fmla="*/ 3253171 w 8571892"/>
                <a:gd name="connsiteY4" fmla="*/ 0 h 3504745"/>
                <a:gd name="connsiteX5" fmla="*/ 4147100 w 8571892"/>
                <a:gd name="connsiteY5" fmla="*/ 661916 h 3504745"/>
                <a:gd name="connsiteX6" fmla="*/ 8493760 w 8571892"/>
                <a:gd name="connsiteY6" fmla="*/ 954585 h 3504745"/>
                <a:gd name="connsiteX7" fmla="*/ 8571892 w 8571892"/>
                <a:gd name="connsiteY7" fmla="*/ 1959280 h 3504745"/>
                <a:gd name="connsiteX8" fmla="*/ 0 w 8571892"/>
                <a:gd name="connsiteY8" fmla="*/ 3504745 h 3504745"/>
                <a:gd name="connsiteX9" fmla="*/ 52771 w 8571892"/>
                <a:gd name="connsiteY9" fmla="*/ 1282889 h 3504745"/>
                <a:gd name="connsiteX0" fmla="*/ 52771 w 8835050"/>
                <a:gd name="connsiteY0" fmla="*/ 1282889 h 3504745"/>
                <a:gd name="connsiteX1" fmla="*/ 121010 w 8835050"/>
                <a:gd name="connsiteY1" fmla="*/ 477672 h 3504745"/>
                <a:gd name="connsiteX2" fmla="*/ 2434306 w 8835050"/>
                <a:gd name="connsiteY2" fmla="*/ 464024 h 3504745"/>
                <a:gd name="connsiteX3" fmla="*/ 2864210 w 8835050"/>
                <a:gd name="connsiteY3" fmla="*/ 6824 h 3504745"/>
                <a:gd name="connsiteX4" fmla="*/ 3253171 w 8835050"/>
                <a:gd name="connsiteY4" fmla="*/ 0 h 3504745"/>
                <a:gd name="connsiteX5" fmla="*/ 4147100 w 8835050"/>
                <a:gd name="connsiteY5" fmla="*/ 661916 h 3504745"/>
                <a:gd name="connsiteX6" fmla="*/ 8835050 w 8835050"/>
                <a:gd name="connsiteY6" fmla="*/ 65942 h 3504745"/>
                <a:gd name="connsiteX7" fmla="*/ 8571892 w 8835050"/>
                <a:gd name="connsiteY7" fmla="*/ 1959280 h 3504745"/>
                <a:gd name="connsiteX8" fmla="*/ 0 w 8835050"/>
                <a:gd name="connsiteY8" fmla="*/ 3504745 h 3504745"/>
                <a:gd name="connsiteX9" fmla="*/ 52771 w 8835050"/>
                <a:gd name="connsiteY9" fmla="*/ 1282889 h 3504745"/>
                <a:gd name="connsiteX0" fmla="*/ 52771 w 8835050"/>
                <a:gd name="connsiteY0" fmla="*/ 1282889 h 3504745"/>
                <a:gd name="connsiteX1" fmla="*/ 121010 w 8835050"/>
                <a:gd name="connsiteY1" fmla="*/ 477672 h 3504745"/>
                <a:gd name="connsiteX2" fmla="*/ 2434306 w 8835050"/>
                <a:gd name="connsiteY2" fmla="*/ 464024 h 3504745"/>
                <a:gd name="connsiteX3" fmla="*/ 2864210 w 8835050"/>
                <a:gd name="connsiteY3" fmla="*/ 6824 h 3504745"/>
                <a:gd name="connsiteX4" fmla="*/ 3253171 w 8835050"/>
                <a:gd name="connsiteY4" fmla="*/ 0 h 3504745"/>
                <a:gd name="connsiteX5" fmla="*/ 2910728 w 8835050"/>
                <a:gd name="connsiteY5" fmla="*/ 159640 h 3504745"/>
                <a:gd name="connsiteX6" fmla="*/ 8835050 w 8835050"/>
                <a:gd name="connsiteY6" fmla="*/ 65942 h 3504745"/>
                <a:gd name="connsiteX7" fmla="*/ 8571892 w 8835050"/>
                <a:gd name="connsiteY7" fmla="*/ 1959280 h 3504745"/>
                <a:gd name="connsiteX8" fmla="*/ 0 w 8835050"/>
                <a:gd name="connsiteY8" fmla="*/ 3504745 h 3504745"/>
                <a:gd name="connsiteX9" fmla="*/ 52771 w 8835050"/>
                <a:gd name="connsiteY9" fmla="*/ 1282889 h 3504745"/>
                <a:gd name="connsiteX0" fmla="*/ 52771 w 8835050"/>
                <a:gd name="connsiteY0" fmla="*/ 1276065 h 3497921"/>
                <a:gd name="connsiteX1" fmla="*/ 121010 w 8835050"/>
                <a:gd name="connsiteY1" fmla="*/ 470848 h 3497921"/>
                <a:gd name="connsiteX2" fmla="*/ 2434306 w 8835050"/>
                <a:gd name="connsiteY2" fmla="*/ 457200 h 3497921"/>
                <a:gd name="connsiteX3" fmla="*/ 2864210 w 8835050"/>
                <a:gd name="connsiteY3" fmla="*/ 0 h 3497921"/>
                <a:gd name="connsiteX4" fmla="*/ 2937639 w 8835050"/>
                <a:gd name="connsiteY4" fmla="*/ 1235988 h 3497921"/>
                <a:gd name="connsiteX5" fmla="*/ 2910728 w 8835050"/>
                <a:gd name="connsiteY5" fmla="*/ 152816 h 3497921"/>
                <a:gd name="connsiteX6" fmla="*/ 8835050 w 8835050"/>
                <a:gd name="connsiteY6" fmla="*/ 59118 h 3497921"/>
                <a:gd name="connsiteX7" fmla="*/ 8571892 w 8835050"/>
                <a:gd name="connsiteY7" fmla="*/ 1952456 h 3497921"/>
                <a:gd name="connsiteX8" fmla="*/ 0 w 8835050"/>
                <a:gd name="connsiteY8" fmla="*/ 3497921 h 3497921"/>
                <a:gd name="connsiteX9" fmla="*/ 52771 w 8835050"/>
                <a:gd name="connsiteY9" fmla="*/ 1276065 h 3497921"/>
                <a:gd name="connsiteX0" fmla="*/ 52771 w 8835050"/>
                <a:gd name="connsiteY0" fmla="*/ 1216947 h 3438803"/>
                <a:gd name="connsiteX1" fmla="*/ 121010 w 8835050"/>
                <a:gd name="connsiteY1" fmla="*/ 411730 h 3438803"/>
                <a:gd name="connsiteX2" fmla="*/ 2434306 w 8835050"/>
                <a:gd name="connsiteY2" fmla="*/ 398082 h 3438803"/>
                <a:gd name="connsiteX3" fmla="*/ 2355494 w 8835050"/>
                <a:gd name="connsiteY3" fmla="*/ 1293164 h 3438803"/>
                <a:gd name="connsiteX4" fmla="*/ 2937639 w 8835050"/>
                <a:gd name="connsiteY4" fmla="*/ 1176870 h 3438803"/>
                <a:gd name="connsiteX5" fmla="*/ 2910728 w 8835050"/>
                <a:gd name="connsiteY5" fmla="*/ 93698 h 3438803"/>
                <a:gd name="connsiteX6" fmla="*/ 8835050 w 8835050"/>
                <a:gd name="connsiteY6" fmla="*/ 0 h 3438803"/>
                <a:gd name="connsiteX7" fmla="*/ 8571892 w 8835050"/>
                <a:gd name="connsiteY7" fmla="*/ 1893338 h 3438803"/>
                <a:gd name="connsiteX8" fmla="*/ 0 w 8835050"/>
                <a:gd name="connsiteY8" fmla="*/ 3438803 h 3438803"/>
                <a:gd name="connsiteX9" fmla="*/ 52771 w 8835050"/>
                <a:gd name="connsiteY9" fmla="*/ 1216947 h 3438803"/>
                <a:gd name="connsiteX0" fmla="*/ 52771 w 8835050"/>
                <a:gd name="connsiteY0" fmla="*/ 1216947 h 3438803"/>
                <a:gd name="connsiteX1" fmla="*/ 121010 w 8835050"/>
                <a:gd name="connsiteY1" fmla="*/ 411730 h 3438803"/>
                <a:gd name="connsiteX2" fmla="*/ 1159298 w 8835050"/>
                <a:gd name="connsiteY2" fmla="*/ 1589378 h 3438803"/>
                <a:gd name="connsiteX3" fmla="*/ 2355494 w 8835050"/>
                <a:gd name="connsiteY3" fmla="*/ 1293164 h 3438803"/>
                <a:gd name="connsiteX4" fmla="*/ 2937639 w 8835050"/>
                <a:gd name="connsiteY4" fmla="*/ 1176870 h 3438803"/>
                <a:gd name="connsiteX5" fmla="*/ 2910728 w 8835050"/>
                <a:gd name="connsiteY5" fmla="*/ 93698 h 3438803"/>
                <a:gd name="connsiteX6" fmla="*/ 8835050 w 8835050"/>
                <a:gd name="connsiteY6" fmla="*/ 0 h 3438803"/>
                <a:gd name="connsiteX7" fmla="*/ 8571892 w 8835050"/>
                <a:gd name="connsiteY7" fmla="*/ 1893338 h 3438803"/>
                <a:gd name="connsiteX8" fmla="*/ 0 w 8835050"/>
                <a:gd name="connsiteY8" fmla="*/ 3438803 h 3438803"/>
                <a:gd name="connsiteX9" fmla="*/ 52771 w 8835050"/>
                <a:gd name="connsiteY9" fmla="*/ 1216947 h 3438803"/>
                <a:gd name="connsiteX0" fmla="*/ 0 w 8782279"/>
                <a:gd name="connsiteY0" fmla="*/ 1216947 h 1957732"/>
                <a:gd name="connsiteX1" fmla="*/ 68239 w 8782279"/>
                <a:gd name="connsiteY1" fmla="*/ 411730 h 1957732"/>
                <a:gd name="connsiteX2" fmla="*/ 1106527 w 8782279"/>
                <a:gd name="connsiteY2" fmla="*/ 1589378 h 1957732"/>
                <a:gd name="connsiteX3" fmla="*/ 2302723 w 8782279"/>
                <a:gd name="connsiteY3" fmla="*/ 1293164 h 1957732"/>
                <a:gd name="connsiteX4" fmla="*/ 2884868 w 8782279"/>
                <a:gd name="connsiteY4" fmla="*/ 1176870 h 1957732"/>
                <a:gd name="connsiteX5" fmla="*/ 2857957 w 8782279"/>
                <a:gd name="connsiteY5" fmla="*/ 93698 h 1957732"/>
                <a:gd name="connsiteX6" fmla="*/ 8782279 w 8782279"/>
                <a:gd name="connsiteY6" fmla="*/ 0 h 1957732"/>
                <a:gd name="connsiteX7" fmla="*/ 8519121 w 8782279"/>
                <a:gd name="connsiteY7" fmla="*/ 1893338 h 1957732"/>
                <a:gd name="connsiteX8" fmla="*/ 4293848 w 8782279"/>
                <a:gd name="connsiteY8" fmla="*/ 1957732 h 1957732"/>
                <a:gd name="connsiteX9" fmla="*/ 0 w 8782279"/>
                <a:gd name="connsiteY9" fmla="*/ 1216947 h 1957732"/>
                <a:gd name="connsiteX0" fmla="*/ 3145040 w 8714040"/>
                <a:gd name="connsiteY0" fmla="*/ 3412795 h 3412795"/>
                <a:gd name="connsiteX1" fmla="*/ 0 w 8714040"/>
                <a:gd name="connsiteY1" fmla="*/ 411730 h 3412795"/>
                <a:gd name="connsiteX2" fmla="*/ 1038288 w 8714040"/>
                <a:gd name="connsiteY2" fmla="*/ 1589378 h 3412795"/>
                <a:gd name="connsiteX3" fmla="*/ 2234484 w 8714040"/>
                <a:gd name="connsiteY3" fmla="*/ 1293164 h 3412795"/>
                <a:gd name="connsiteX4" fmla="*/ 2816629 w 8714040"/>
                <a:gd name="connsiteY4" fmla="*/ 1176870 h 3412795"/>
                <a:gd name="connsiteX5" fmla="*/ 2789718 w 8714040"/>
                <a:gd name="connsiteY5" fmla="*/ 93698 h 3412795"/>
                <a:gd name="connsiteX6" fmla="*/ 8714040 w 8714040"/>
                <a:gd name="connsiteY6" fmla="*/ 0 h 3412795"/>
                <a:gd name="connsiteX7" fmla="*/ 8450882 w 8714040"/>
                <a:gd name="connsiteY7" fmla="*/ 1893338 h 3412795"/>
                <a:gd name="connsiteX8" fmla="*/ 4225609 w 8714040"/>
                <a:gd name="connsiteY8" fmla="*/ 1957732 h 3412795"/>
                <a:gd name="connsiteX9" fmla="*/ 3145040 w 8714040"/>
                <a:gd name="connsiteY9" fmla="*/ 3412795 h 3412795"/>
                <a:gd name="connsiteX0" fmla="*/ 3280268 w 8849268"/>
                <a:gd name="connsiteY0" fmla="*/ 3412795 h 3412795"/>
                <a:gd name="connsiteX1" fmla="*/ 0 w 8849268"/>
                <a:gd name="connsiteY1" fmla="*/ 3354553 h 3412795"/>
                <a:gd name="connsiteX2" fmla="*/ 1173516 w 8849268"/>
                <a:gd name="connsiteY2" fmla="*/ 1589378 h 3412795"/>
                <a:gd name="connsiteX3" fmla="*/ 2369712 w 8849268"/>
                <a:gd name="connsiteY3" fmla="*/ 1293164 h 3412795"/>
                <a:gd name="connsiteX4" fmla="*/ 2951857 w 8849268"/>
                <a:gd name="connsiteY4" fmla="*/ 1176870 h 3412795"/>
                <a:gd name="connsiteX5" fmla="*/ 2924946 w 8849268"/>
                <a:gd name="connsiteY5" fmla="*/ 93698 h 3412795"/>
                <a:gd name="connsiteX6" fmla="*/ 8849268 w 8849268"/>
                <a:gd name="connsiteY6" fmla="*/ 0 h 3412795"/>
                <a:gd name="connsiteX7" fmla="*/ 8586110 w 8849268"/>
                <a:gd name="connsiteY7" fmla="*/ 1893338 h 3412795"/>
                <a:gd name="connsiteX8" fmla="*/ 4360837 w 8849268"/>
                <a:gd name="connsiteY8" fmla="*/ 1957732 h 3412795"/>
                <a:gd name="connsiteX9" fmla="*/ 3280268 w 8849268"/>
                <a:gd name="connsiteY9" fmla="*/ 3412795 h 3412795"/>
                <a:gd name="connsiteX0" fmla="*/ 3260950 w 8849268"/>
                <a:gd name="connsiteY0" fmla="*/ 3374159 h 3374159"/>
                <a:gd name="connsiteX1" fmla="*/ 0 w 8849268"/>
                <a:gd name="connsiteY1" fmla="*/ 3354553 h 3374159"/>
                <a:gd name="connsiteX2" fmla="*/ 1173516 w 8849268"/>
                <a:gd name="connsiteY2" fmla="*/ 1589378 h 3374159"/>
                <a:gd name="connsiteX3" fmla="*/ 2369712 w 8849268"/>
                <a:gd name="connsiteY3" fmla="*/ 1293164 h 3374159"/>
                <a:gd name="connsiteX4" fmla="*/ 2951857 w 8849268"/>
                <a:gd name="connsiteY4" fmla="*/ 1176870 h 3374159"/>
                <a:gd name="connsiteX5" fmla="*/ 2924946 w 8849268"/>
                <a:gd name="connsiteY5" fmla="*/ 93698 h 3374159"/>
                <a:gd name="connsiteX6" fmla="*/ 8849268 w 8849268"/>
                <a:gd name="connsiteY6" fmla="*/ 0 h 3374159"/>
                <a:gd name="connsiteX7" fmla="*/ 8586110 w 8849268"/>
                <a:gd name="connsiteY7" fmla="*/ 1893338 h 3374159"/>
                <a:gd name="connsiteX8" fmla="*/ 4360837 w 8849268"/>
                <a:gd name="connsiteY8" fmla="*/ 1957732 h 3374159"/>
                <a:gd name="connsiteX9" fmla="*/ 3260950 w 8849268"/>
                <a:gd name="connsiteY9" fmla="*/ 3374159 h 3374159"/>
                <a:gd name="connsiteX0" fmla="*/ 3260950 w 8849268"/>
                <a:gd name="connsiteY0" fmla="*/ 3374159 h 3374159"/>
                <a:gd name="connsiteX1" fmla="*/ 0 w 8849268"/>
                <a:gd name="connsiteY1" fmla="*/ 3354553 h 3374159"/>
                <a:gd name="connsiteX2" fmla="*/ 426541 w 8849268"/>
                <a:gd name="connsiteY2" fmla="*/ 1415513 h 3374159"/>
                <a:gd name="connsiteX3" fmla="*/ 2369712 w 8849268"/>
                <a:gd name="connsiteY3" fmla="*/ 1293164 h 3374159"/>
                <a:gd name="connsiteX4" fmla="*/ 2951857 w 8849268"/>
                <a:gd name="connsiteY4" fmla="*/ 1176870 h 3374159"/>
                <a:gd name="connsiteX5" fmla="*/ 2924946 w 8849268"/>
                <a:gd name="connsiteY5" fmla="*/ 93698 h 3374159"/>
                <a:gd name="connsiteX6" fmla="*/ 8849268 w 8849268"/>
                <a:gd name="connsiteY6" fmla="*/ 0 h 3374159"/>
                <a:gd name="connsiteX7" fmla="*/ 8586110 w 8849268"/>
                <a:gd name="connsiteY7" fmla="*/ 1893338 h 3374159"/>
                <a:gd name="connsiteX8" fmla="*/ 4360837 w 8849268"/>
                <a:gd name="connsiteY8" fmla="*/ 1957732 h 3374159"/>
                <a:gd name="connsiteX9" fmla="*/ 3260950 w 8849268"/>
                <a:gd name="connsiteY9" fmla="*/ 3374159 h 3374159"/>
                <a:gd name="connsiteX0" fmla="*/ 3260950 w 8849268"/>
                <a:gd name="connsiteY0" fmla="*/ 3374159 h 3374159"/>
                <a:gd name="connsiteX1" fmla="*/ 0 w 8849268"/>
                <a:gd name="connsiteY1" fmla="*/ 3354553 h 3374159"/>
                <a:gd name="connsiteX2" fmla="*/ 426541 w 8849268"/>
                <a:gd name="connsiteY2" fmla="*/ 1415513 h 3374159"/>
                <a:gd name="connsiteX3" fmla="*/ 2369712 w 8849268"/>
                <a:gd name="connsiteY3" fmla="*/ 1293164 h 3374159"/>
                <a:gd name="connsiteX4" fmla="*/ 2204882 w 8849268"/>
                <a:gd name="connsiteY4" fmla="*/ 333303 h 3374159"/>
                <a:gd name="connsiteX5" fmla="*/ 2924946 w 8849268"/>
                <a:gd name="connsiteY5" fmla="*/ 93698 h 3374159"/>
                <a:gd name="connsiteX6" fmla="*/ 8849268 w 8849268"/>
                <a:gd name="connsiteY6" fmla="*/ 0 h 3374159"/>
                <a:gd name="connsiteX7" fmla="*/ 8586110 w 8849268"/>
                <a:gd name="connsiteY7" fmla="*/ 1893338 h 3374159"/>
                <a:gd name="connsiteX8" fmla="*/ 4360837 w 8849268"/>
                <a:gd name="connsiteY8" fmla="*/ 1957732 h 3374159"/>
                <a:gd name="connsiteX9" fmla="*/ 3260950 w 8849268"/>
                <a:gd name="connsiteY9" fmla="*/ 3374159 h 3374159"/>
                <a:gd name="connsiteX0" fmla="*/ 3260950 w 8849268"/>
                <a:gd name="connsiteY0" fmla="*/ 3374159 h 3374159"/>
                <a:gd name="connsiteX1" fmla="*/ 0 w 8849268"/>
                <a:gd name="connsiteY1" fmla="*/ 3354553 h 3374159"/>
                <a:gd name="connsiteX2" fmla="*/ 426541 w 8849268"/>
                <a:gd name="connsiteY2" fmla="*/ 1415513 h 3374159"/>
                <a:gd name="connsiteX3" fmla="*/ 1674253 w 8849268"/>
                <a:gd name="connsiteY3" fmla="*/ 578387 h 3374159"/>
                <a:gd name="connsiteX4" fmla="*/ 2204882 w 8849268"/>
                <a:gd name="connsiteY4" fmla="*/ 333303 h 3374159"/>
                <a:gd name="connsiteX5" fmla="*/ 2924946 w 8849268"/>
                <a:gd name="connsiteY5" fmla="*/ 93698 h 3374159"/>
                <a:gd name="connsiteX6" fmla="*/ 8849268 w 8849268"/>
                <a:gd name="connsiteY6" fmla="*/ 0 h 3374159"/>
                <a:gd name="connsiteX7" fmla="*/ 8586110 w 8849268"/>
                <a:gd name="connsiteY7" fmla="*/ 1893338 h 3374159"/>
                <a:gd name="connsiteX8" fmla="*/ 4360837 w 8849268"/>
                <a:gd name="connsiteY8" fmla="*/ 1957732 h 3374159"/>
                <a:gd name="connsiteX9" fmla="*/ 3260950 w 8849268"/>
                <a:gd name="connsiteY9" fmla="*/ 3374159 h 3374159"/>
                <a:gd name="connsiteX0" fmla="*/ 3260950 w 8849268"/>
                <a:gd name="connsiteY0" fmla="*/ 3435008 h 3435008"/>
                <a:gd name="connsiteX1" fmla="*/ 0 w 8849268"/>
                <a:gd name="connsiteY1" fmla="*/ 3415402 h 3435008"/>
                <a:gd name="connsiteX2" fmla="*/ 426541 w 8849268"/>
                <a:gd name="connsiteY2" fmla="*/ 1476362 h 3435008"/>
                <a:gd name="connsiteX3" fmla="*/ 1674253 w 8849268"/>
                <a:gd name="connsiteY3" fmla="*/ 639236 h 3435008"/>
                <a:gd name="connsiteX4" fmla="*/ 2204882 w 8849268"/>
                <a:gd name="connsiteY4" fmla="*/ 394152 h 3435008"/>
                <a:gd name="connsiteX5" fmla="*/ 2912067 w 8849268"/>
                <a:gd name="connsiteY5" fmla="*/ 0 h 3435008"/>
                <a:gd name="connsiteX6" fmla="*/ 8849268 w 8849268"/>
                <a:gd name="connsiteY6" fmla="*/ 60849 h 3435008"/>
                <a:gd name="connsiteX7" fmla="*/ 8586110 w 8849268"/>
                <a:gd name="connsiteY7" fmla="*/ 1954187 h 3435008"/>
                <a:gd name="connsiteX8" fmla="*/ 4360837 w 8849268"/>
                <a:gd name="connsiteY8" fmla="*/ 2018581 h 3435008"/>
                <a:gd name="connsiteX9" fmla="*/ 3260950 w 8849268"/>
                <a:gd name="connsiteY9" fmla="*/ 3435008 h 343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49268" h="3435008">
                  <a:moveTo>
                    <a:pt x="3260950" y="3435008"/>
                  </a:moveTo>
                  <a:lnTo>
                    <a:pt x="0" y="3415402"/>
                  </a:lnTo>
                  <a:lnTo>
                    <a:pt x="426541" y="1476362"/>
                  </a:lnTo>
                  <a:lnTo>
                    <a:pt x="1674253" y="639236"/>
                  </a:lnTo>
                  <a:lnTo>
                    <a:pt x="2204882" y="394152"/>
                  </a:lnTo>
                  <a:lnTo>
                    <a:pt x="2912067" y="0"/>
                  </a:lnTo>
                  <a:lnTo>
                    <a:pt x="8849268" y="60849"/>
                  </a:lnTo>
                  <a:lnTo>
                    <a:pt x="8586110" y="1954187"/>
                  </a:lnTo>
                  <a:lnTo>
                    <a:pt x="4360837" y="2018581"/>
                  </a:lnTo>
                  <a:lnTo>
                    <a:pt x="3260950" y="3435008"/>
                  </a:lnTo>
                  <a:close/>
                </a:path>
              </a:pathLst>
            </a:cu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Freeform 4">
              <a:extLst>
                <a:ext uri="{FF2B5EF4-FFF2-40B4-BE49-F238E27FC236}">
                  <a16:creationId xmlns:a16="http://schemas.microsoft.com/office/drawing/2014/main" id="{F943614C-4461-BB4D-A546-4BA04B298758}"/>
                </a:ext>
              </a:extLst>
            </p:cNvPr>
            <p:cNvSpPr>
              <a:spLocks/>
            </p:cNvSpPr>
            <p:nvPr/>
          </p:nvSpPr>
          <p:spPr bwMode="auto">
            <a:xfrm>
              <a:off x="935703" y="1229431"/>
              <a:ext cx="3114675" cy="1728788"/>
            </a:xfrm>
            <a:custGeom>
              <a:avLst/>
              <a:gdLst>
                <a:gd name="T0" fmla="*/ 0 w 1728"/>
                <a:gd name="T1" fmla="*/ 960 h 960"/>
                <a:gd name="T2" fmla="*/ 1728 w 1728"/>
                <a:gd name="T3" fmla="*/ 960 h 960"/>
                <a:gd name="T4" fmla="*/ 1296 w 1728"/>
                <a:gd name="T5" fmla="*/ 0 h 960"/>
                <a:gd name="T6" fmla="*/ 0 w 1728"/>
                <a:gd name="T7" fmla="*/ 960 h 960"/>
              </a:gdLst>
              <a:ahLst/>
              <a:cxnLst>
                <a:cxn ang="0">
                  <a:pos x="T0" y="T1"/>
                </a:cxn>
                <a:cxn ang="0">
                  <a:pos x="T2" y="T3"/>
                </a:cxn>
                <a:cxn ang="0">
                  <a:pos x="T4" y="T5"/>
                </a:cxn>
                <a:cxn ang="0">
                  <a:pos x="T6" y="T7"/>
                </a:cxn>
              </a:cxnLst>
              <a:rect l="0" t="0" r="r" b="b"/>
              <a:pathLst>
                <a:path w="1728" h="960">
                  <a:moveTo>
                    <a:pt x="0" y="960"/>
                  </a:moveTo>
                  <a:lnTo>
                    <a:pt x="1728" y="960"/>
                  </a:lnTo>
                  <a:lnTo>
                    <a:pt x="1296" y="0"/>
                  </a:lnTo>
                  <a:lnTo>
                    <a:pt x="0" y="960"/>
                  </a:lnTo>
                  <a:close/>
                </a:path>
              </a:pathLst>
            </a:custGeom>
            <a:solidFill>
              <a:srgbClr val="FBA89D"/>
            </a:solidFill>
            <a:ln w="28575"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mc:AlternateContent xmlns:mc="http://schemas.openxmlformats.org/markup-compatibility/2006" xmlns:a14="http://schemas.microsoft.com/office/drawing/2010/main">
          <mc:Choice Requires="a14">
            <p:sp>
              <p:nvSpPr>
                <p:cNvPr id="75" name="Text Box 5">
                  <a:extLst>
                    <a:ext uri="{FF2B5EF4-FFF2-40B4-BE49-F238E27FC236}">
                      <a16:creationId xmlns:a16="http://schemas.microsoft.com/office/drawing/2014/main" id="{82CED069-F9AF-1040-B596-989F2B84463D}"/>
                    </a:ext>
                  </a:extLst>
                </p:cNvPr>
                <p:cNvSpPr txBox="1">
                  <a:spLocks noChangeArrowheads="1"/>
                </p:cNvSpPr>
                <p:nvPr/>
              </p:nvSpPr>
              <p:spPr bwMode="auto">
                <a:xfrm>
                  <a:off x="3105465" y="968616"/>
                  <a:ext cx="351827"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US" altLang="en-US" sz="1500" i="1" smtClean="0">
                            <a:latin typeface="Cambria Math" charset="0"/>
                          </a:rPr>
                          <m:t>𝐶</m:t>
                        </m:r>
                      </m:oMath>
                    </m:oMathPara>
                  </a14:m>
                  <a:endParaRPr lang="en-GB" altLang="en-US" sz="1500" dirty="0"/>
                </a:p>
              </p:txBody>
            </p:sp>
          </mc:Choice>
          <mc:Fallback xmlns="">
            <p:sp>
              <p:nvSpPr>
                <p:cNvPr id="116" name="Text Box 5">
                  <a:extLst>
                    <a:ext uri="{FF2B5EF4-FFF2-40B4-BE49-F238E27FC236}">
                      <a16:creationId xmlns:a16="http://schemas.microsoft.com/office/drawing/2014/main" id="{3361DCC8-DCB8-8840-BB7F-0C162E688725}"/>
                    </a:ext>
                  </a:extLst>
                </p:cNvPr>
                <p:cNvSpPr txBox="1">
                  <a:spLocks noRot="1" noChangeAspect="1" noMove="1" noResize="1" noEditPoints="1" noAdjustHandles="1" noChangeArrowheads="1" noChangeShapeType="1" noTextEdit="1"/>
                </p:cNvSpPr>
                <p:nvPr/>
              </p:nvSpPr>
              <p:spPr bwMode="auto">
                <a:xfrm>
                  <a:off x="3105465" y="968616"/>
                  <a:ext cx="351827" cy="323165"/>
                </a:xfrm>
                <a:prstGeom prst="rect">
                  <a:avLst/>
                </a:prstGeom>
                <a:blipFill>
                  <a:blip r:embed="rId2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6" name="Text Box 6">
                  <a:extLst>
                    <a:ext uri="{FF2B5EF4-FFF2-40B4-BE49-F238E27FC236}">
                      <a16:creationId xmlns:a16="http://schemas.microsoft.com/office/drawing/2014/main" id="{E20E6614-1991-0B40-A9ED-5986E31C096B}"/>
                    </a:ext>
                  </a:extLst>
                </p:cNvPr>
                <p:cNvSpPr txBox="1">
                  <a:spLocks noChangeArrowheads="1"/>
                </p:cNvSpPr>
                <p:nvPr/>
              </p:nvSpPr>
              <p:spPr bwMode="auto">
                <a:xfrm>
                  <a:off x="668465" y="2812940"/>
                  <a:ext cx="351635"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US" altLang="en-US" sz="1500" i="1" smtClean="0">
                            <a:latin typeface="Cambria Math" charset="0"/>
                          </a:rPr>
                          <m:t>𝐴</m:t>
                        </m:r>
                      </m:oMath>
                    </m:oMathPara>
                  </a14:m>
                  <a:endParaRPr lang="en-GB" altLang="en-US" sz="1500" dirty="0"/>
                </a:p>
              </p:txBody>
            </p:sp>
          </mc:Choice>
          <mc:Fallback>
            <p:sp>
              <p:nvSpPr>
                <p:cNvPr id="76" name="Text Box 6">
                  <a:extLst>
                    <a:ext uri="{FF2B5EF4-FFF2-40B4-BE49-F238E27FC236}">
                      <a16:creationId xmlns:a16="http://schemas.microsoft.com/office/drawing/2014/main" id="{E20E6614-1991-0B40-A9ED-5986E31C096B}"/>
                    </a:ext>
                  </a:extLst>
                </p:cNvPr>
                <p:cNvSpPr txBox="1">
                  <a:spLocks noRot="1" noChangeAspect="1" noMove="1" noResize="1" noEditPoints="1" noAdjustHandles="1" noChangeArrowheads="1" noChangeShapeType="1" noTextEdit="1"/>
                </p:cNvSpPr>
                <p:nvPr/>
              </p:nvSpPr>
              <p:spPr bwMode="auto">
                <a:xfrm>
                  <a:off x="668465" y="2812940"/>
                  <a:ext cx="351635" cy="323165"/>
                </a:xfrm>
                <a:prstGeom prst="rect">
                  <a:avLst/>
                </a:prstGeom>
                <a:blipFill>
                  <a:blip r:embed="rId2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ga-IE">
                      <a:noFill/>
                    </a:rPr>
                    <a:t> </a:t>
                  </a:r>
                </a:p>
              </p:txBody>
            </p:sp>
          </mc:Fallback>
        </mc:AlternateContent>
        <mc:AlternateContent xmlns:mc="http://schemas.openxmlformats.org/markup-compatibility/2006">
          <mc:Choice xmlns:a14="http://schemas.microsoft.com/office/drawing/2010/main" Requires="a14">
            <p:sp>
              <p:nvSpPr>
                <p:cNvPr id="77" name="Text Box 7">
                  <a:extLst>
                    <a:ext uri="{FF2B5EF4-FFF2-40B4-BE49-F238E27FC236}">
                      <a16:creationId xmlns:a16="http://schemas.microsoft.com/office/drawing/2014/main" id="{C75A5F3C-6DF0-F840-92A8-9E09A1B3E740}"/>
                    </a:ext>
                  </a:extLst>
                </p:cNvPr>
                <p:cNvSpPr txBox="1">
                  <a:spLocks noChangeArrowheads="1"/>
                </p:cNvSpPr>
                <p:nvPr/>
              </p:nvSpPr>
              <p:spPr bwMode="auto">
                <a:xfrm>
                  <a:off x="3989453" y="2812940"/>
                  <a:ext cx="359777"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Para xmlns:m="http://schemas.openxmlformats.org/officeDocument/2006/math">
                      <m:oMathParaPr>
                        <m:jc m:val="center"/>
                      </m:oMathParaPr>
                      <m:oMath xmlns:m="http://schemas.openxmlformats.org/officeDocument/2006/math">
                        <m:r>
                          <a:rPr lang="en-US" altLang="en-US" sz="1500" i="1" smtClean="0">
                            <a:latin typeface="Cambria Math" charset="0"/>
                          </a:rPr>
                          <m:t>𝐵</m:t>
                        </m:r>
                      </m:oMath>
                    </m:oMathPara>
                  </a14:m>
                  <a:endParaRPr lang="en-GB" altLang="en-US" sz="1500" dirty="0"/>
                </a:p>
              </p:txBody>
            </p:sp>
          </mc:Choice>
          <mc:Fallback>
            <p:sp>
              <p:nvSpPr>
                <p:cNvPr id="77" name="Text Box 7">
                  <a:extLst>
                    <a:ext uri="{FF2B5EF4-FFF2-40B4-BE49-F238E27FC236}">
                      <a16:creationId xmlns:a16="http://schemas.microsoft.com/office/drawing/2014/main" id="{C75A5F3C-6DF0-F840-92A8-9E09A1B3E740}"/>
                    </a:ext>
                  </a:extLst>
                </p:cNvPr>
                <p:cNvSpPr txBox="1">
                  <a:spLocks noRot="1" noChangeAspect="1" noMove="1" noResize="1" noEditPoints="1" noAdjustHandles="1" noChangeArrowheads="1" noChangeShapeType="1" noTextEdit="1"/>
                </p:cNvSpPr>
                <p:nvPr/>
              </p:nvSpPr>
              <p:spPr bwMode="auto">
                <a:xfrm>
                  <a:off x="3989453" y="2812940"/>
                  <a:ext cx="359777" cy="323165"/>
                </a:xfrm>
                <a:prstGeom prst="rect">
                  <a:avLst/>
                </a:prstGeom>
                <a:blipFill>
                  <a:blip r:embed="rId2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ga-IE">
                      <a:noFill/>
                    </a:rPr>
                    <a:t> </a:t>
                  </a:r>
                </a:p>
              </p:txBody>
            </p:sp>
          </mc:Fallback>
        </mc:AlternateContent>
      </p:grpSp>
    </p:spTree>
    <p:extLst>
      <p:ext uri="{BB962C8B-B14F-4D97-AF65-F5344CB8AC3E}">
        <p14:creationId xmlns:p14="http://schemas.microsoft.com/office/powerpoint/2010/main" val="247643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par>
                                <p:cTn id="8" presetID="9"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dissolve">
                                      <p:cBhvr>
                                        <p:cTn id="10" dur="500"/>
                                        <p:tgtEl>
                                          <p:spTgt spid="4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dissolve">
                                      <p:cBhvr>
                                        <p:cTn id="13" dur="500"/>
                                        <p:tgtEl>
                                          <p:spTgt spid="4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dissolve">
                                      <p:cBhvr>
                                        <p:cTn id="16" dur="500"/>
                                        <p:tgtEl>
                                          <p:spTgt spid="3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dissolve">
                                      <p:cBhvr>
                                        <p:cTn id="19" dur="500"/>
                                        <p:tgtEl>
                                          <p:spTgt spid="3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dissolve">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dissolve">
                                      <p:cBhvr>
                                        <p:cTn id="27" dur="500"/>
                                        <p:tgtEl>
                                          <p:spTgt spid="53"/>
                                        </p:tgtEl>
                                      </p:cBhvr>
                                    </p:animEffect>
                                  </p:childTnLst>
                                </p:cTn>
                              </p:par>
                              <p:par>
                                <p:cTn id="28" presetID="9" presetClass="entr" presetSubtype="0" fill="hold"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dissolve">
                                      <p:cBhvr>
                                        <p:cTn id="30" dur="500"/>
                                        <p:tgtEl>
                                          <p:spTgt spid="46"/>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dissolve">
                                      <p:cBhvr>
                                        <p:cTn id="33" dur="500"/>
                                        <p:tgtEl>
                                          <p:spTgt spid="3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dissolve">
                                      <p:cBhvr>
                                        <p:cTn id="36" dur="500"/>
                                        <p:tgtEl>
                                          <p:spTgt spid="3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12"/>
                                        </p:tgtEl>
                                        <p:attrNameLst>
                                          <p:attrName>style.visibility</p:attrName>
                                        </p:attrNameLst>
                                      </p:cBhvr>
                                      <p:to>
                                        <p:strVal val="visible"/>
                                      </p:to>
                                    </p:set>
                                    <p:animEffect transition="in" filter="dissolve">
                                      <p:cBhvr>
                                        <p:cTn id="39" dur="500"/>
                                        <p:tgtEl>
                                          <p:spTgt spid="112"/>
                                        </p:tgtEl>
                                      </p:cBhvr>
                                    </p:animEffect>
                                  </p:childTnLst>
                                </p:cTn>
                              </p:par>
                              <p:par>
                                <p:cTn id="40" presetID="9" presetClass="entr" presetSubtype="0" fill="hold" nodeType="withEffect">
                                  <p:stCondLst>
                                    <p:cond delay="0"/>
                                  </p:stCondLst>
                                  <p:childTnLst>
                                    <p:set>
                                      <p:cBhvr>
                                        <p:cTn id="41" dur="1" fill="hold">
                                          <p:stCondLst>
                                            <p:cond delay="0"/>
                                          </p:stCondLst>
                                        </p:cTn>
                                        <p:tgtEl>
                                          <p:spTgt spid="113"/>
                                        </p:tgtEl>
                                        <p:attrNameLst>
                                          <p:attrName>style.visibility</p:attrName>
                                        </p:attrNameLst>
                                      </p:cBhvr>
                                      <p:to>
                                        <p:strVal val="visible"/>
                                      </p:to>
                                    </p:set>
                                    <p:animEffect transition="in" filter="dissolve">
                                      <p:cBhvr>
                                        <p:cTn id="42" dur="500"/>
                                        <p:tgtEl>
                                          <p:spTgt spid="113"/>
                                        </p:tgtEl>
                                      </p:cBhvr>
                                    </p:animEffect>
                                  </p:childTnLst>
                                </p:cTn>
                              </p:par>
                              <p:par>
                                <p:cTn id="43" presetID="9" presetClass="exit" presetSubtype="0" fill="hold" nodeType="withEffect">
                                  <p:stCondLst>
                                    <p:cond delay="0"/>
                                  </p:stCondLst>
                                  <p:childTnLst>
                                    <p:animEffect transition="out" filter="dissolve">
                                      <p:cBhvr>
                                        <p:cTn id="44" dur="500"/>
                                        <p:tgtEl>
                                          <p:spTgt spid="42"/>
                                        </p:tgtEl>
                                      </p:cBhvr>
                                    </p:animEffect>
                                    <p:set>
                                      <p:cBhvr>
                                        <p:cTn id="45" dur="1" fill="hold">
                                          <p:stCondLst>
                                            <p:cond delay="499"/>
                                          </p:stCondLst>
                                        </p:cTn>
                                        <p:tgtEl>
                                          <p:spTgt spid="4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dissolve">
                                      <p:cBhvr>
                                        <p:cTn id="50" dur="500"/>
                                        <p:tgtEl>
                                          <p:spTgt spid="47"/>
                                        </p:tgtEl>
                                      </p:cBhvr>
                                    </p:animEffect>
                                  </p:childTnLst>
                                </p:cTn>
                              </p:par>
                              <p:par>
                                <p:cTn id="51" presetID="9" presetClass="exit" presetSubtype="0" fill="hold" nodeType="withEffect">
                                  <p:stCondLst>
                                    <p:cond delay="0"/>
                                  </p:stCondLst>
                                  <p:childTnLst>
                                    <p:animEffect transition="out" filter="dissolve">
                                      <p:cBhvr>
                                        <p:cTn id="52" dur="500"/>
                                        <p:tgtEl>
                                          <p:spTgt spid="46"/>
                                        </p:tgtEl>
                                      </p:cBhvr>
                                    </p:animEffect>
                                    <p:set>
                                      <p:cBhvr>
                                        <p:cTn id="53" dur="1" fill="hold">
                                          <p:stCondLst>
                                            <p:cond delay="499"/>
                                          </p:stCondLst>
                                        </p:cTn>
                                        <p:tgtEl>
                                          <p:spTgt spid="46"/>
                                        </p:tgtEl>
                                        <p:attrNameLst>
                                          <p:attrName>style.visibility</p:attrName>
                                        </p:attrNameLst>
                                      </p:cBhvr>
                                      <p:to>
                                        <p:strVal val="hidden"/>
                                      </p:to>
                                    </p:set>
                                  </p:childTnLst>
                                </p:cTn>
                              </p:par>
                              <p:par>
                                <p:cTn id="54" presetID="9" presetClass="exit" presetSubtype="0" fill="hold" nodeType="withEffect">
                                  <p:stCondLst>
                                    <p:cond delay="0"/>
                                  </p:stCondLst>
                                  <p:childTnLst>
                                    <p:animEffect transition="out" filter="dissolve">
                                      <p:cBhvr>
                                        <p:cTn id="55" dur="500"/>
                                        <p:tgtEl>
                                          <p:spTgt spid="53"/>
                                        </p:tgtEl>
                                      </p:cBhvr>
                                    </p:animEffect>
                                    <p:set>
                                      <p:cBhvr>
                                        <p:cTn id="56" dur="1" fill="hold">
                                          <p:stCondLst>
                                            <p:cond delay="499"/>
                                          </p:stCondLst>
                                        </p:cTn>
                                        <p:tgtEl>
                                          <p:spTgt spid="53"/>
                                        </p:tgtEl>
                                        <p:attrNameLst>
                                          <p:attrName>style.visibility</p:attrName>
                                        </p:attrNameLst>
                                      </p:cBhvr>
                                      <p:to>
                                        <p:strVal val="hidden"/>
                                      </p:to>
                                    </p:set>
                                  </p:childTnLst>
                                </p:cTn>
                              </p:par>
                              <p:par>
                                <p:cTn id="57" presetID="9" presetClass="exit" presetSubtype="0" fill="hold" nodeType="withEffect">
                                  <p:stCondLst>
                                    <p:cond delay="0"/>
                                  </p:stCondLst>
                                  <p:childTnLst>
                                    <p:animEffect transition="out" filter="dissolve">
                                      <p:cBhvr>
                                        <p:cTn id="58" dur="500"/>
                                        <p:tgtEl>
                                          <p:spTgt spid="113"/>
                                        </p:tgtEl>
                                      </p:cBhvr>
                                    </p:animEffect>
                                    <p:set>
                                      <p:cBhvr>
                                        <p:cTn id="59" dur="1" fill="hold">
                                          <p:stCondLst>
                                            <p:cond delay="499"/>
                                          </p:stCondLst>
                                        </p:cTn>
                                        <p:tgtEl>
                                          <p:spTgt spid="113"/>
                                        </p:tgtEl>
                                        <p:attrNameLst>
                                          <p:attrName>style.visibility</p:attrName>
                                        </p:attrNameLst>
                                      </p:cBhvr>
                                      <p:to>
                                        <p:strVal val="hidden"/>
                                      </p:to>
                                    </p:set>
                                  </p:childTnLst>
                                </p:cTn>
                              </p:par>
                              <p:par>
                                <p:cTn id="60" presetID="9" presetClass="exit" presetSubtype="0" fill="hold" grpId="1" nodeType="withEffect">
                                  <p:stCondLst>
                                    <p:cond delay="0"/>
                                  </p:stCondLst>
                                  <p:childTnLst>
                                    <p:animEffect transition="out" filter="dissolve">
                                      <p:cBhvr>
                                        <p:cTn id="61" dur="500"/>
                                        <p:tgtEl>
                                          <p:spTgt spid="112"/>
                                        </p:tgtEl>
                                      </p:cBhvr>
                                    </p:animEffect>
                                    <p:set>
                                      <p:cBhvr>
                                        <p:cTn id="62" dur="1" fill="hold">
                                          <p:stCondLst>
                                            <p:cond delay="499"/>
                                          </p:stCondLst>
                                        </p:cTn>
                                        <p:tgtEl>
                                          <p:spTgt spid="112"/>
                                        </p:tgtEl>
                                        <p:attrNameLst>
                                          <p:attrName>style.visibility</p:attrName>
                                        </p:attrNameLst>
                                      </p:cBhvr>
                                      <p:to>
                                        <p:strVal val="hidden"/>
                                      </p:to>
                                    </p:set>
                                  </p:childTnLst>
                                </p:cTn>
                              </p:par>
                              <p:par>
                                <p:cTn id="63" presetID="9"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dissolve">
                                      <p:cBhvr>
                                        <p:cTn id="65" dur="500"/>
                                        <p:tgtEl>
                                          <p:spTgt spid="58"/>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dissolve">
                                      <p:cBhvr>
                                        <p:cTn id="70" dur="500"/>
                                        <p:tgtEl>
                                          <p:spTgt spid="60"/>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dissolve">
                                      <p:cBhvr>
                                        <p:cTn id="73" dur="500"/>
                                        <p:tgtEl>
                                          <p:spTgt spid="59"/>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xit" presetSubtype="0" fill="hold" nodeType="clickEffect">
                                  <p:stCondLst>
                                    <p:cond delay="0"/>
                                  </p:stCondLst>
                                  <p:childTnLst>
                                    <p:animEffect transition="out" filter="dissolve">
                                      <p:cBhvr>
                                        <p:cTn id="77" dur="500"/>
                                        <p:tgtEl>
                                          <p:spTgt spid="60"/>
                                        </p:tgtEl>
                                      </p:cBhvr>
                                    </p:animEffect>
                                    <p:set>
                                      <p:cBhvr>
                                        <p:cTn id="78" dur="1" fill="hold">
                                          <p:stCondLst>
                                            <p:cond delay="499"/>
                                          </p:stCondLst>
                                        </p:cTn>
                                        <p:tgtEl>
                                          <p:spTgt spid="60"/>
                                        </p:tgtEl>
                                        <p:attrNameLst>
                                          <p:attrName>style.visibility</p:attrName>
                                        </p:attrNameLst>
                                      </p:cBhvr>
                                      <p:to>
                                        <p:strVal val="hidden"/>
                                      </p:to>
                                    </p:set>
                                  </p:childTnLst>
                                </p:cTn>
                              </p:par>
                              <p:par>
                                <p:cTn id="79" presetID="9" presetClass="exit" presetSubtype="0" fill="hold" nodeType="withEffect">
                                  <p:stCondLst>
                                    <p:cond delay="0"/>
                                  </p:stCondLst>
                                  <p:childTnLst>
                                    <p:animEffect transition="out" filter="dissolve">
                                      <p:cBhvr>
                                        <p:cTn id="80" dur="500"/>
                                        <p:tgtEl>
                                          <p:spTgt spid="47"/>
                                        </p:tgtEl>
                                      </p:cBhvr>
                                    </p:animEffect>
                                    <p:set>
                                      <p:cBhvr>
                                        <p:cTn id="81" dur="1" fill="hold">
                                          <p:stCondLst>
                                            <p:cond delay="499"/>
                                          </p:stCondLst>
                                        </p:cTn>
                                        <p:tgtEl>
                                          <p:spTgt spid="47"/>
                                        </p:tgtEl>
                                        <p:attrNameLst>
                                          <p:attrName>style.visibility</p:attrName>
                                        </p:attrNameLst>
                                      </p:cBhvr>
                                      <p:to>
                                        <p:strVal val="hidden"/>
                                      </p:to>
                                    </p:set>
                                  </p:childTnLst>
                                </p:cTn>
                              </p:par>
                            </p:childTnLst>
                          </p:cTn>
                        </p:par>
                        <p:par>
                          <p:cTn id="82" fill="hold">
                            <p:stCondLst>
                              <p:cond delay="500"/>
                            </p:stCondLst>
                            <p:childTnLst>
                              <p:par>
                                <p:cTn id="83" presetID="1" presetClass="entr" presetSubtype="0" fill="hold" grpId="0" nodeType="afterEffect">
                                  <p:stCondLst>
                                    <p:cond delay="0"/>
                                  </p:stCondLst>
                                  <p:childTnLst>
                                    <p:set>
                                      <p:cBhvr>
                                        <p:cTn id="84" dur="1" fill="hold">
                                          <p:stCondLst>
                                            <p:cond delay="0"/>
                                          </p:stCondLst>
                                        </p:cTn>
                                        <p:tgtEl>
                                          <p:spTgt spid="12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9" presetClass="exit" presetSubtype="0" fill="hold" grpId="1" nodeType="clickEffect">
                                  <p:stCondLst>
                                    <p:cond delay="0"/>
                                  </p:stCondLst>
                                  <p:childTnLst>
                                    <p:animEffect transition="out" filter="dissolve">
                                      <p:cBhvr>
                                        <p:cTn id="92" dur="500"/>
                                        <p:tgtEl>
                                          <p:spTgt spid="126"/>
                                        </p:tgtEl>
                                      </p:cBhvr>
                                    </p:animEffect>
                                    <p:set>
                                      <p:cBhvr>
                                        <p:cTn id="93" dur="1" fill="hold">
                                          <p:stCondLst>
                                            <p:cond delay="499"/>
                                          </p:stCondLst>
                                        </p:cTn>
                                        <p:tgtEl>
                                          <p:spTgt spid="126"/>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9" presetClass="exit" presetSubtype="0" fill="hold" grpId="1" nodeType="clickEffect">
                                  <p:stCondLst>
                                    <p:cond delay="0"/>
                                  </p:stCondLst>
                                  <p:childTnLst>
                                    <p:animEffect transition="out" filter="dissolve">
                                      <p:cBhvr>
                                        <p:cTn id="97" dur="500"/>
                                        <p:tgtEl>
                                          <p:spTgt spid="127"/>
                                        </p:tgtEl>
                                      </p:cBhvr>
                                    </p:animEffect>
                                    <p:set>
                                      <p:cBhvr>
                                        <p:cTn id="98" dur="1" fill="hold">
                                          <p:stCondLst>
                                            <p:cond delay="499"/>
                                          </p:stCondLst>
                                        </p:cTn>
                                        <p:tgtEl>
                                          <p:spTgt spid="12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121"/>
                                        </p:tgtEl>
                                        <p:attrNameLst>
                                          <p:attrName>style.visibility</p:attrName>
                                        </p:attrNameLst>
                                      </p:cBhvr>
                                      <p:to>
                                        <p:strVal val="visible"/>
                                      </p:to>
                                    </p:set>
                                    <p:animEffect transition="in" filter="dissolve">
                                      <p:cBhvr>
                                        <p:cTn id="103" dur="500"/>
                                        <p:tgtEl>
                                          <p:spTgt spid="121"/>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132"/>
                                        </p:tgtEl>
                                        <p:attrNameLst>
                                          <p:attrName>style.visibility</p:attrName>
                                        </p:attrNameLst>
                                      </p:cBhvr>
                                      <p:to>
                                        <p:strVal val="visible"/>
                                      </p:to>
                                    </p:set>
                                    <p:animEffect transition="in" filter="dissolve">
                                      <p:cBhvr>
                                        <p:cTn id="108" dur="500"/>
                                        <p:tgtEl>
                                          <p:spTgt spid="132"/>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dissolve">
                                      <p:cBhvr>
                                        <p:cTn id="113" dur="500"/>
                                        <p:tgtEl>
                                          <p:spTgt spid="9"/>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63"/>
                                        </p:tgtEl>
                                        <p:attrNameLst>
                                          <p:attrName>style.visibility</p:attrName>
                                        </p:attrNameLst>
                                      </p:cBhvr>
                                      <p:to>
                                        <p:strVal val="visible"/>
                                      </p:to>
                                    </p:set>
                                    <p:animEffect transition="in" filter="dissolve">
                                      <p:cBhvr>
                                        <p:cTn id="118" dur="500"/>
                                        <p:tgtEl>
                                          <p:spTgt spid="63"/>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nodeType="clickEffect">
                                  <p:stCondLst>
                                    <p:cond delay="0"/>
                                  </p:stCondLst>
                                  <p:childTnLst>
                                    <p:set>
                                      <p:cBhvr>
                                        <p:cTn id="122" dur="1" fill="hold">
                                          <p:stCondLst>
                                            <p:cond delay="0"/>
                                          </p:stCondLst>
                                        </p:cTn>
                                        <p:tgtEl>
                                          <p:spTgt spid="129"/>
                                        </p:tgtEl>
                                        <p:attrNameLst>
                                          <p:attrName>style.visibility</p:attrName>
                                        </p:attrNameLst>
                                      </p:cBhvr>
                                      <p:to>
                                        <p:strVal val="visible"/>
                                      </p:to>
                                    </p:set>
                                    <p:animEffect transition="in" filter="dissolve">
                                      <p:cBhvr>
                                        <p:cTn id="123" dur="500"/>
                                        <p:tgtEl>
                                          <p:spTgt spid="129"/>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xit" presetSubtype="0" fill="hold" grpId="1" nodeType="clickEffect">
                                  <p:stCondLst>
                                    <p:cond delay="0"/>
                                  </p:stCondLst>
                                  <p:childTnLst>
                                    <p:animEffect transition="out" filter="dissolve">
                                      <p:cBhvr>
                                        <p:cTn id="127" dur="500"/>
                                        <p:tgtEl>
                                          <p:spTgt spid="9"/>
                                        </p:tgtEl>
                                      </p:cBhvr>
                                    </p:animEffect>
                                    <p:set>
                                      <p:cBhvr>
                                        <p:cTn id="128" dur="1" fill="hold">
                                          <p:stCondLst>
                                            <p:cond delay="499"/>
                                          </p:stCondLst>
                                        </p:cTn>
                                        <p:tgtEl>
                                          <p:spTgt spid="9"/>
                                        </p:tgtEl>
                                        <p:attrNameLst>
                                          <p:attrName>style.visibility</p:attrName>
                                        </p:attrNameLst>
                                      </p:cBhvr>
                                      <p:to>
                                        <p:strVal val="hidden"/>
                                      </p:to>
                                    </p:set>
                                  </p:childTnLst>
                                </p:cTn>
                              </p:par>
                              <p:par>
                                <p:cTn id="129" presetID="9"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animEffect transition="in" filter="dissolve">
                                      <p:cBhvr>
                                        <p:cTn id="131" dur="500"/>
                                        <p:tgtEl>
                                          <p:spTgt spid="64"/>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65"/>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66"/>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67"/>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68"/>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69"/>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9" presetClass="exit" presetSubtype="0" fill="hold" grpId="1" nodeType="clickEffect">
                                  <p:stCondLst>
                                    <p:cond delay="0"/>
                                  </p:stCondLst>
                                  <p:childTnLst>
                                    <p:animEffect transition="out" filter="dissolve">
                                      <p:cBhvr>
                                        <p:cTn id="147" dur="500"/>
                                        <p:tgtEl>
                                          <p:spTgt spid="66"/>
                                        </p:tgtEl>
                                      </p:cBhvr>
                                    </p:animEffect>
                                    <p:set>
                                      <p:cBhvr>
                                        <p:cTn id="148" dur="1" fill="hold">
                                          <p:stCondLst>
                                            <p:cond delay="499"/>
                                          </p:stCondLst>
                                        </p:cTn>
                                        <p:tgtEl>
                                          <p:spTgt spid="6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5"/>
                                        </p:tgtEl>
                                        <p:attrNameLst>
                                          <p:attrName>style.visibility</p:attrName>
                                        </p:attrNameLst>
                                      </p:cBhvr>
                                      <p:to>
                                        <p:strVal val="visible"/>
                                      </p:to>
                                    </p:set>
                                    <p:animEffect transition="in" filter="dissolve">
                                      <p:cBhvr>
                                        <p:cTn id="153" dur="500"/>
                                        <p:tgtEl>
                                          <p:spTgt spid="5"/>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xit" presetSubtype="0" fill="hold" grpId="1" nodeType="clickEffect">
                                  <p:stCondLst>
                                    <p:cond delay="0"/>
                                  </p:stCondLst>
                                  <p:childTnLst>
                                    <p:animEffect transition="out" filter="dissolve">
                                      <p:cBhvr>
                                        <p:cTn id="157" dur="500"/>
                                        <p:tgtEl>
                                          <p:spTgt spid="67"/>
                                        </p:tgtEl>
                                      </p:cBhvr>
                                    </p:animEffect>
                                    <p:set>
                                      <p:cBhvr>
                                        <p:cTn id="158" dur="1" fill="hold">
                                          <p:stCondLst>
                                            <p:cond delay="499"/>
                                          </p:stCondLst>
                                        </p:cTn>
                                        <p:tgtEl>
                                          <p:spTgt spid="67"/>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9" presetClass="exit" presetSubtype="0" fill="hold" grpId="1" nodeType="clickEffect">
                                  <p:stCondLst>
                                    <p:cond delay="0"/>
                                  </p:stCondLst>
                                  <p:childTnLst>
                                    <p:animEffect transition="out" filter="dissolve">
                                      <p:cBhvr>
                                        <p:cTn id="162" dur="500"/>
                                        <p:tgtEl>
                                          <p:spTgt spid="68"/>
                                        </p:tgtEl>
                                      </p:cBhvr>
                                    </p:animEffect>
                                    <p:set>
                                      <p:cBhvr>
                                        <p:cTn id="163" dur="1" fill="hold">
                                          <p:stCondLst>
                                            <p:cond delay="499"/>
                                          </p:stCondLst>
                                        </p:cTn>
                                        <p:tgtEl>
                                          <p:spTgt spid="68"/>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9" presetClass="exit" presetSubtype="0" fill="hold" grpId="1" nodeType="clickEffect">
                                  <p:stCondLst>
                                    <p:cond delay="0"/>
                                  </p:stCondLst>
                                  <p:childTnLst>
                                    <p:animEffect transition="out" filter="dissolve">
                                      <p:cBhvr>
                                        <p:cTn id="167" dur="500"/>
                                        <p:tgtEl>
                                          <p:spTgt spid="69"/>
                                        </p:tgtEl>
                                      </p:cBhvr>
                                    </p:animEffect>
                                    <p:set>
                                      <p:cBhvr>
                                        <p:cTn id="168" dur="1" fill="hold">
                                          <p:stCondLst>
                                            <p:cond delay="499"/>
                                          </p:stCondLst>
                                        </p:cTn>
                                        <p:tgtEl>
                                          <p:spTgt spid="69"/>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9" presetClass="exit" presetSubtype="0" fill="hold" grpId="1" nodeType="clickEffect">
                                  <p:stCondLst>
                                    <p:cond delay="0"/>
                                  </p:stCondLst>
                                  <p:childTnLst>
                                    <p:animEffect transition="out" filter="dissolve">
                                      <p:cBhvr>
                                        <p:cTn id="172" dur="500"/>
                                        <p:tgtEl>
                                          <p:spTgt spid="64"/>
                                        </p:tgtEl>
                                      </p:cBhvr>
                                    </p:animEffect>
                                    <p:set>
                                      <p:cBhvr>
                                        <p:cTn id="173" dur="1" fill="hold">
                                          <p:stCondLst>
                                            <p:cond delay="499"/>
                                          </p:stCondLst>
                                        </p:cTn>
                                        <p:tgtEl>
                                          <p:spTgt spid="64"/>
                                        </p:tgtEl>
                                        <p:attrNameLst>
                                          <p:attrName>style.visibility</p:attrName>
                                        </p:attrNameLst>
                                      </p:cBhvr>
                                      <p:to>
                                        <p:strVal val="hidden"/>
                                      </p:to>
                                    </p:set>
                                  </p:childTnLst>
                                </p:cTn>
                              </p:par>
                              <p:par>
                                <p:cTn id="174" presetID="9" presetClass="entr" presetSubtype="0" fill="hold" grpId="0" nodeType="withEffect">
                                  <p:stCondLst>
                                    <p:cond delay="0"/>
                                  </p:stCondLst>
                                  <p:childTnLst>
                                    <p:set>
                                      <p:cBhvr>
                                        <p:cTn id="175" dur="1" fill="hold">
                                          <p:stCondLst>
                                            <p:cond delay="0"/>
                                          </p:stCondLst>
                                        </p:cTn>
                                        <p:tgtEl>
                                          <p:spTgt spid="70"/>
                                        </p:tgtEl>
                                        <p:attrNameLst>
                                          <p:attrName>style.visibility</p:attrName>
                                        </p:attrNameLst>
                                      </p:cBhvr>
                                      <p:to>
                                        <p:strVal val="visible"/>
                                      </p:to>
                                    </p:set>
                                    <p:animEffect transition="in" filter="dissolve">
                                      <p:cBhvr>
                                        <p:cTn id="176" dur="500"/>
                                        <p:tgtEl>
                                          <p:spTgt spid="70"/>
                                        </p:tgtEl>
                                      </p:cBhvr>
                                    </p:animEffect>
                                  </p:childTnLst>
                                </p:cTn>
                              </p:par>
                              <p:par>
                                <p:cTn id="177" presetID="9" presetClass="entr" presetSubtype="0" fill="hold" nodeType="withEffect">
                                  <p:stCondLst>
                                    <p:cond delay="0"/>
                                  </p:stCondLst>
                                  <p:childTnLst>
                                    <p:set>
                                      <p:cBhvr>
                                        <p:cTn id="178" dur="1" fill="hold">
                                          <p:stCondLst>
                                            <p:cond delay="0"/>
                                          </p:stCondLst>
                                        </p:cTn>
                                        <p:tgtEl>
                                          <p:spTgt spid="72"/>
                                        </p:tgtEl>
                                        <p:attrNameLst>
                                          <p:attrName>style.visibility</p:attrName>
                                        </p:attrNameLst>
                                      </p:cBhvr>
                                      <p:to>
                                        <p:strVal val="visible"/>
                                      </p:to>
                                    </p:set>
                                    <p:animEffect transition="in" filter="dissolve">
                                      <p:cBhvr>
                                        <p:cTn id="179" dur="500"/>
                                        <p:tgtEl>
                                          <p:spTgt spid="72"/>
                                        </p:tgtEl>
                                      </p:cBhvr>
                                    </p:animEffect>
                                  </p:childTnLst>
                                </p:cTn>
                              </p:par>
                            </p:childTnLst>
                          </p:cTn>
                        </p:par>
                      </p:childTnLst>
                    </p:cTn>
                  </p:par>
                  <p:par>
                    <p:cTn id="180" fill="hold">
                      <p:stCondLst>
                        <p:cond delay="indefinite"/>
                      </p:stCondLst>
                      <p:childTnLst>
                        <p:par>
                          <p:cTn id="181" fill="hold">
                            <p:stCondLst>
                              <p:cond delay="0"/>
                            </p:stCondLst>
                            <p:childTnLst>
                              <p:par>
                                <p:cTn id="182" presetID="9" presetClass="entr" presetSubtype="0" fill="hold" grpId="0" nodeType="clickEffect">
                                  <p:stCondLst>
                                    <p:cond delay="0"/>
                                  </p:stCondLst>
                                  <p:childTnLst>
                                    <p:set>
                                      <p:cBhvr>
                                        <p:cTn id="183" dur="1" fill="hold">
                                          <p:stCondLst>
                                            <p:cond delay="0"/>
                                          </p:stCondLst>
                                        </p:cTn>
                                        <p:tgtEl>
                                          <p:spTgt spid="71"/>
                                        </p:tgtEl>
                                        <p:attrNameLst>
                                          <p:attrName>style.visibility</p:attrName>
                                        </p:attrNameLst>
                                      </p:cBhvr>
                                      <p:to>
                                        <p:strVal val="visible"/>
                                      </p:to>
                                    </p:set>
                                    <p:animEffect transition="in" filter="dissolve">
                                      <p:cBhvr>
                                        <p:cTn id="184"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animBg="1"/>
      <p:bldP spid="38" grpId="0" animBg="1"/>
      <p:bldP spid="40" grpId="0"/>
      <p:bldP spid="112" grpId="0"/>
      <p:bldP spid="112" grpId="1"/>
      <p:bldP spid="125" grpId="0" animBg="1"/>
      <p:bldP spid="126" grpId="0" animBg="1"/>
      <p:bldP spid="126" grpId="1" animBg="1"/>
      <p:bldP spid="127" grpId="0" animBg="1"/>
      <p:bldP spid="127" grpId="1" animBg="1"/>
      <p:bldP spid="132" grpId="0" animBg="1"/>
      <p:bldP spid="57" grpId="0"/>
      <p:bldP spid="58" grpId="0"/>
      <p:bldP spid="59" grpId="0"/>
      <p:bldP spid="9" grpId="0" animBg="1"/>
      <p:bldP spid="9" grpId="1" animBg="1"/>
      <p:bldP spid="63" grpId="0" animBg="1"/>
      <p:bldP spid="64" grpId="0" animBg="1"/>
      <p:bldP spid="64" grpId="1" animBg="1"/>
      <p:bldP spid="65" grpId="0" animBg="1"/>
      <p:bldP spid="66" grpId="0" animBg="1"/>
      <p:bldP spid="66" grpId="1" animBg="1"/>
      <p:bldP spid="67" grpId="0" animBg="1"/>
      <p:bldP spid="67" grpId="1" animBg="1"/>
      <p:bldP spid="68" grpId="0" animBg="1"/>
      <p:bldP spid="68" grpId="1" animBg="1"/>
      <p:bldP spid="69" grpId="0" animBg="1"/>
      <p:bldP spid="69" grpId="1" animBg="1"/>
      <p:bldP spid="70" grpId="0" animBg="1"/>
      <p:bldP spid="7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4DA86B-CDFD-4D14-A593-D366EB42A4FF}"/>
              </a:ext>
            </a:extLst>
          </p:cNvPr>
          <p:cNvPicPr>
            <a:picLocks noChangeAspect="1"/>
          </p:cNvPicPr>
          <p:nvPr/>
        </p:nvPicPr>
        <p:blipFill>
          <a:blip r:embed="rId2"/>
          <a:stretch>
            <a:fillRect/>
          </a:stretch>
        </p:blipFill>
        <p:spPr>
          <a:xfrm>
            <a:off x="6764" y="0"/>
            <a:ext cx="9137236" cy="5147309"/>
          </a:xfrm>
          <a:prstGeom prst="rect">
            <a:avLst/>
          </a:prstGeom>
        </p:spPr>
      </p:pic>
    </p:spTree>
    <p:extLst>
      <p:ext uri="{BB962C8B-B14F-4D97-AF65-F5344CB8AC3E}">
        <p14:creationId xmlns:p14="http://schemas.microsoft.com/office/powerpoint/2010/main" val="4025457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B266DE20-49F2-4941-8980-37386F0374F5}"/>
              </a:ext>
            </a:extLst>
          </p:cNvPr>
          <p:cNvSpPr/>
          <p:nvPr/>
        </p:nvSpPr>
        <p:spPr>
          <a:xfrm>
            <a:off x="3659054" y="4119033"/>
            <a:ext cx="493295"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TextBox 164">
            <a:extLst>
              <a:ext uri="{FF2B5EF4-FFF2-40B4-BE49-F238E27FC236}">
                <a16:creationId xmlns:a16="http://schemas.microsoft.com/office/drawing/2014/main" id="{9960D2FF-554B-5E44-816D-736372CD2329}"/>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Ex3</a:t>
            </a:r>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5B29E57D-9EB8-FC4D-B9AC-100EA08D095C}"/>
                  </a:ext>
                </a:extLst>
              </p:cNvPr>
              <p:cNvSpPr txBox="1"/>
              <p:nvPr/>
            </p:nvSpPr>
            <p:spPr>
              <a:xfrm>
                <a:off x="422571" y="958109"/>
                <a:ext cx="4093490" cy="492443"/>
              </a:xfrm>
              <a:prstGeom prst="rect">
                <a:avLst/>
              </a:prstGeom>
              <a:noFill/>
            </p:spPr>
            <p:txBody>
              <a:bodyPr wrap="square" lIns="36000" tIns="0" rIns="0" bIns="0" rtlCol="0">
                <a:spAutoFit/>
              </a:bodyPr>
              <a:lstStyle/>
              <a:p>
                <a:pPr fontAlgn="base">
                  <a:spcBef>
                    <a:spcPct val="0"/>
                  </a:spcBef>
                  <a:spcAft>
                    <a:spcPts val="800"/>
                  </a:spcAft>
                </a:pPr>
                <a:r>
                  <a:rPr lang="en-GB" sz="1600" dirty="0">
                    <a:solidFill>
                      <a:srgbClr val="000000"/>
                    </a:solidFill>
                  </a:rPr>
                  <a:t>Find the size of the missing angle, </a:t>
                </a:r>
                <a14:m>
                  <m:oMath xmlns:m="http://schemas.openxmlformats.org/officeDocument/2006/math">
                    <m:r>
                      <a:rPr lang="en-GB" sz="1600" b="0" i="1" smtClean="0">
                        <a:solidFill>
                          <a:srgbClr val="000000"/>
                        </a:solidFill>
                        <a:latin typeface="Cambria Math" panose="02040503050406030204" pitchFamily="18" charset="0"/>
                      </a:rPr>
                      <m:t>𝜃</m:t>
                    </m:r>
                  </m:oMath>
                </a14:m>
                <a:r>
                  <a:rPr lang="en-GB" sz="1600" baseline="30000" dirty="0">
                    <a:solidFill>
                      <a:srgbClr val="000000"/>
                    </a:solidFill>
                  </a:rPr>
                  <a:t>o</a:t>
                </a:r>
                <a:r>
                  <a:rPr lang="en-GB" sz="1600" dirty="0">
                    <a:solidFill>
                      <a:srgbClr val="000000"/>
                    </a:solidFill>
                  </a:rPr>
                  <a:t>, in the following triangle.</a:t>
                </a:r>
              </a:p>
            </p:txBody>
          </p:sp>
        </mc:Choice>
        <mc:Fallback xmlns="">
          <p:sp>
            <p:nvSpPr>
              <p:cNvPr id="166" name="TextBox 165">
                <a:extLst>
                  <a:ext uri="{FF2B5EF4-FFF2-40B4-BE49-F238E27FC236}">
                    <a16:creationId xmlns:a16="http://schemas.microsoft.com/office/drawing/2014/main" id="{5B29E57D-9EB8-FC4D-B9AC-100EA08D095C}"/>
                  </a:ext>
                </a:extLst>
              </p:cNvPr>
              <p:cNvSpPr txBox="1">
                <a:spLocks noRot="1" noChangeAspect="1" noMove="1" noResize="1" noEditPoints="1" noAdjustHandles="1" noChangeArrowheads="1" noChangeShapeType="1" noTextEdit="1"/>
              </p:cNvSpPr>
              <p:nvPr/>
            </p:nvSpPr>
            <p:spPr>
              <a:xfrm>
                <a:off x="422571" y="958109"/>
                <a:ext cx="4093490" cy="492443"/>
              </a:xfrm>
              <a:prstGeom prst="rect">
                <a:avLst/>
              </a:prstGeom>
              <a:blipFill>
                <a:blip r:embed="rId3"/>
                <a:stretch>
                  <a:fillRect l="-1852" t="-10000" b="-22500"/>
                </a:stretch>
              </a:blipFill>
            </p:spPr>
            <p:txBody>
              <a:bodyPr/>
              <a:lstStyle/>
              <a:p>
                <a:r>
                  <a:rPr lang="en-GB">
                    <a:noFill/>
                  </a:rPr>
                  <a:t> </a:t>
                </a:r>
              </a:p>
            </p:txBody>
          </p:sp>
        </mc:Fallback>
      </mc:AlternateContent>
      <p:cxnSp>
        <p:nvCxnSpPr>
          <p:cNvPr id="167" name="Straight Connector 166">
            <a:extLst>
              <a:ext uri="{FF2B5EF4-FFF2-40B4-BE49-F238E27FC236}">
                <a16:creationId xmlns:a16="http://schemas.microsoft.com/office/drawing/2014/main" id="{47438012-4CCC-A048-9697-0FB101FF797E}"/>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Rectangle 167">
            <a:extLst>
              <a:ext uri="{FF2B5EF4-FFF2-40B4-BE49-F238E27FC236}">
                <a16:creationId xmlns:a16="http://schemas.microsoft.com/office/drawing/2014/main" id="{DF9E5E5C-1EDC-664A-BF7E-7C319E6621C1}"/>
              </a:ext>
            </a:extLst>
          </p:cNvPr>
          <p:cNvSpPr/>
          <p:nvPr/>
        </p:nvSpPr>
        <p:spPr>
          <a:xfrm rot="16200000">
            <a:off x="-114071" y="1444782"/>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211" name="TextBox 210">
            <a:extLst>
              <a:ext uri="{FF2B5EF4-FFF2-40B4-BE49-F238E27FC236}">
                <a16:creationId xmlns:a16="http://schemas.microsoft.com/office/drawing/2014/main" id="{7FE779E4-9E1D-8E42-B956-188D8CD53501}"/>
              </a:ext>
            </a:extLst>
          </p:cNvPr>
          <p:cNvSpPr txBox="1"/>
          <p:nvPr/>
        </p:nvSpPr>
        <p:spPr>
          <a:xfrm>
            <a:off x="4607756" y="958109"/>
            <a:ext cx="513302" cy="246221"/>
          </a:xfrm>
          <a:prstGeom prst="rect">
            <a:avLst/>
          </a:prstGeom>
          <a:noFill/>
          <a:ln>
            <a:noFill/>
          </a:ln>
        </p:spPr>
        <p:txBody>
          <a:bodyPr wrap="square" lIns="36000" tIns="0" rIns="0" bIns="0" rtlCol="0">
            <a:spAutoFit/>
          </a:bodyPr>
          <a:lstStyle/>
          <a:p>
            <a:r>
              <a:rPr lang="en-GB" sz="1600" b="1" dirty="0"/>
              <a:t>Ex4</a:t>
            </a:r>
          </a:p>
        </p:txBody>
      </p:sp>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6948D586-943C-D443-97BC-41D5E4816A8A}"/>
                  </a:ext>
                </a:extLst>
              </p:cNvPr>
              <p:cNvSpPr txBox="1"/>
              <p:nvPr/>
            </p:nvSpPr>
            <p:spPr>
              <a:xfrm>
                <a:off x="4984411" y="958109"/>
                <a:ext cx="4093490" cy="492443"/>
              </a:xfrm>
              <a:prstGeom prst="rect">
                <a:avLst/>
              </a:prstGeom>
              <a:noFill/>
            </p:spPr>
            <p:txBody>
              <a:bodyPr wrap="square" lIns="36000" tIns="0" rIns="0" bIns="0" rtlCol="0">
                <a:spAutoFit/>
              </a:bodyPr>
              <a:lstStyle/>
              <a:p>
                <a:pPr fontAlgn="base">
                  <a:spcBef>
                    <a:spcPct val="0"/>
                  </a:spcBef>
                  <a:spcAft>
                    <a:spcPts val="800"/>
                  </a:spcAft>
                </a:pPr>
                <a:r>
                  <a:rPr lang="en-GB" sz="1600" dirty="0">
                    <a:solidFill>
                      <a:srgbClr val="000000"/>
                    </a:solidFill>
                  </a:rPr>
                  <a:t>Find the size of the missing angle, </a:t>
                </a:r>
                <a14:m>
                  <m:oMath xmlns:m="http://schemas.openxmlformats.org/officeDocument/2006/math">
                    <m:r>
                      <a:rPr lang="en-GB" sz="1600" i="1">
                        <a:solidFill>
                          <a:srgbClr val="000000"/>
                        </a:solidFill>
                        <a:latin typeface="Cambria Math" panose="02040503050406030204" pitchFamily="18" charset="0"/>
                      </a:rPr>
                      <m:t>𝜃</m:t>
                    </m:r>
                  </m:oMath>
                </a14:m>
                <a:r>
                  <a:rPr lang="en-GB" sz="1600" baseline="30000" dirty="0">
                    <a:solidFill>
                      <a:srgbClr val="000000"/>
                    </a:solidFill>
                  </a:rPr>
                  <a:t>o</a:t>
                </a:r>
                <a:r>
                  <a:rPr lang="en-GB" sz="1600" dirty="0">
                    <a:solidFill>
                      <a:srgbClr val="000000"/>
                    </a:solidFill>
                  </a:rPr>
                  <a:t>, in the following triangle.</a:t>
                </a:r>
              </a:p>
            </p:txBody>
          </p:sp>
        </mc:Choice>
        <mc:Fallback xmlns="">
          <p:sp>
            <p:nvSpPr>
              <p:cNvPr id="212" name="TextBox 211">
                <a:extLst>
                  <a:ext uri="{FF2B5EF4-FFF2-40B4-BE49-F238E27FC236}">
                    <a16:creationId xmlns:a16="http://schemas.microsoft.com/office/drawing/2014/main" id="{6948D586-943C-D443-97BC-41D5E4816A8A}"/>
                  </a:ext>
                </a:extLst>
              </p:cNvPr>
              <p:cNvSpPr txBox="1">
                <a:spLocks noRot="1" noChangeAspect="1" noMove="1" noResize="1" noEditPoints="1" noAdjustHandles="1" noChangeArrowheads="1" noChangeShapeType="1" noTextEdit="1"/>
              </p:cNvSpPr>
              <p:nvPr/>
            </p:nvSpPr>
            <p:spPr>
              <a:xfrm>
                <a:off x="4984411" y="958109"/>
                <a:ext cx="4093490" cy="492443"/>
              </a:xfrm>
              <a:prstGeom prst="rect">
                <a:avLst/>
              </a:prstGeom>
              <a:blipFill>
                <a:blip r:embed="rId4"/>
                <a:stretch>
                  <a:fillRect l="-1852" t="-10000" b="-22500"/>
                </a:stretch>
              </a:blipFill>
            </p:spPr>
            <p:txBody>
              <a:bodyPr/>
              <a:lstStyle/>
              <a:p>
                <a:r>
                  <a:rPr lang="en-GB">
                    <a:noFill/>
                  </a:rPr>
                  <a:t> </a:t>
                </a:r>
              </a:p>
            </p:txBody>
          </p:sp>
        </mc:Fallback>
      </mc:AlternateContent>
      <p:sp>
        <p:nvSpPr>
          <p:cNvPr id="213" name="Rectangle 212">
            <a:extLst>
              <a:ext uri="{FF2B5EF4-FFF2-40B4-BE49-F238E27FC236}">
                <a16:creationId xmlns:a16="http://schemas.microsoft.com/office/drawing/2014/main" id="{660BBA20-4DCA-3B4D-BEAD-99140347EA27}"/>
              </a:ext>
            </a:extLst>
          </p:cNvPr>
          <p:cNvSpPr/>
          <p:nvPr/>
        </p:nvSpPr>
        <p:spPr>
          <a:xfrm rot="16200000">
            <a:off x="4447769" y="1444782"/>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78" name="Group 77">
            <a:extLst>
              <a:ext uri="{FF2B5EF4-FFF2-40B4-BE49-F238E27FC236}">
                <a16:creationId xmlns:a16="http://schemas.microsoft.com/office/drawing/2014/main" id="{4DCE3EB9-C678-6748-810A-4DFF4B4E23E6}"/>
              </a:ext>
            </a:extLst>
          </p:cNvPr>
          <p:cNvGrpSpPr/>
          <p:nvPr/>
        </p:nvGrpSpPr>
        <p:grpSpPr>
          <a:xfrm>
            <a:off x="1272321" y="1320956"/>
            <a:ext cx="2094239" cy="1470506"/>
            <a:chOff x="5257347" y="932985"/>
            <a:chExt cx="3710074" cy="2605088"/>
          </a:xfrm>
        </p:grpSpPr>
        <p:grpSp>
          <p:nvGrpSpPr>
            <p:cNvPr id="79" name="Group 28">
              <a:extLst>
                <a:ext uri="{FF2B5EF4-FFF2-40B4-BE49-F238E27FC236}">
                  <a16:creationId xmlns:a16="http://schemas.microsoft.com/office/drawing/2014/main" id="{D08B6E95-D1CA-3A48-94B4-5428A55BCE1A}"/>
                </a:ext>
              </a:extLst>
            </p:cNvPr>
            <p:cNvGrpSpPr>
              <a:grpSpLocks/>
            </p:cNvGrpSpPr>
            <p:nvPr/>
          </p:nvGrpSpPr>
          <p:grpSpPr bwMode="auto">
            <a:xfrm>
              <a:off x="5670182" y="932985"/>
              <a:ext cx="3297239" cy="2605088"/>
              <a:chOff x="480" y="2231"/>
              <a:chExt cx="2077" cy="1641"/>
            </a:xfrm>
          </p:grpSpPr>
          <p:sp>
            <p:nvSpPr>
              <p:cNvPr id="82" name="Freeform 29">
                <a:extLst>
                  <a:ext uri="{FF2B5EF4-FFF2-40B4-BE49-F238E27FC236}">
                    <a16:creationId xmlns:a16="http://schemas.microsoft.com/office/drawing/2014/main" id="{C1D585D1-9E50-6E43-AAE7-6D0DB0045BC4}"/>
                  </a:ext>
                </a:extLst>
              </p:cNvPr>
              <p:cNvSpPr>
                <a:spLocks/>
              </p:cNvSpPr>
              <p:nvPr/>
            </p:nvSpPr>
            <p:spPr bwMode="auto">
              <a:xfrm>
                <a:off x="480" y="2231"/>
                <a:ext cx="1728" cy="1344"/>
              </a:xfrm>
              <a:custGeom>
                <a:avLst/>
                <a:gdLst>
                  <a:gd name="T0" fmla="*/ 0 w 1728"/>
                  <a:gd name="T1" fmla="*/ 1344 h 1344"/>
                  <a:gd name="T2" fmla="*/ 1728 w 1728"/>
                  <a:gd name="T3" fmla="*/ 1344 h 1344"/>
                  <a:gd name="T4" fmla="*/ 1392 w 1728"/>
                  <a:gd name="T5" fmla="*/ 0 h 1344"/>
                  <a:gd name="T6" fmla="*/ 0 w 1728"/>
                  <a:gd name="T7" fmla="*/ 1344 h 1344"/>
                </a:gdLst>
                <a:ahLst/>
                <a:cxnLst>
                  <a:cxn ang="0">
                    <a:pos x="T0" y="T1"/>
                  </a:cxn>
                  <a:cxn ang="0">
                    <a:pos x="T2" y="T3"/>
                  </a:cxn>
                  <a:cxn ang="0">
                    <a:pos x="T4" y="T5"/>
                  </a:cxn>
                  <a:cxn ang="0">
                    <a:pos x="T6" y="T7"/>
                  </a:cxn>
                </a:cxnLst>
                <a:rect l="0" t="0" r="r" b="b"/>
                <a:pathLst>
                  <a:path w="1728" h="1344">
                    <a:moveTo>
                      <a:pt x="0" y="1344"/>
                    </a:moveTo>
                    <a:lnTo>
                      <a:pt x="1728" y="1344"/>
                    </a:lnTo>
                    <a:lnTo>
                      <a:pt x="1392" y="0"/>
                    </a:lnTo>
                    <a:lnTo>
                      <a:pt x="0" y="1344"/>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sz="14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3" name="Text Box 33">
                    <a:extLst>
                      <a:ext uri="{FF2B5EF4-FFF2-40B4-BE49-F238E27FC236}">
                        <a16:creationId xmlns:a16="http://schemas.microsoft.com/office/drawing/2014/main" id="{D1C2B2D1-E3D6-4D4B-9910-437F3E2B4A08}"/>
                      </a:ext>
                    </a:extLst>
                  </p:cNvPr>
                  <p:cNvSpPr txBox="1">
                    <a:spLocks noChangeArrowheads="1"/>
                  </p:cNvSpPr>
                  <p:nvPr/>
                </p:nvSpPr>
                <p:spPr bwMode="auto">
                  <a:xfrm>
                    <a:off x="683" y="3260"/>
                    <a:ext cx="394" cy="33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eaLnBrk="0" hangingPunct="0"/>
                    <a14:m>
                      <m:oMath xmlns:m="http://schemas.openxmlformats.org/officeDocument/2006/math">
                        <m:r>
                          <a:rPr lang="en-GB" altLang="en-US" sz="1400" i="1" dirty="0" smtClean="0">
                            <a:latin typeface="Cambria Math" panose="02040503050406030204" pitchFamily="18" charset="0"/>
                            <a:cs typeface="Calibri" panose="020F0502020204030204" pitchFamily="34" charset="0"/>
                          </a:rPr>
                          <m:t>𝜃</m:t>
                        </m:r>
                      </m:oMath>
                    </a14:m>
                    <a:r>
                      <a:rPr lang="en-GB" altLang="en-US" sz="1400" baseline="30000" dirty="0" err="1">
                        <a:latin typeface="Calibri" panose="020F0502020204030204" pitchFamily="34" charset="0"/>
                        <a:cs typeface="Calibri" panose="020F0502020204030204" pitchFamily="34" charset="0"/>
                      </a:rPr>
                      <a:t>o</a:t>
                    </a:r>
                    <a:endParaRPr lang="en-GB" altLang="en-US" sz="1400" baseline="30000" dirty="0">
                      <a:latin typeface="Calibri" panose="020F0502020204030204" pitchFamily="34" charset="0"/>
                      <a:cs typeface="Calibri" panose="020F0502020204030204" pitchFamily="34" charset="0"/>
                    </a:endParaRPr>
                  </a:p>
                </p:txBody>
              </p:sp>
            </mc:Choice>
            <mc:Fallback xmlns="">
              <p:sp>
                <p:nvSpPr>
                  <p:cNvPr id="83" name="Text Box 33">
                    <a:extLst>
                      <a:ext uri="{FF2B5EF4-FFF2-40B4-BE49-F238E27FC236}">
                        <a16:creationId xmlns:a16="http://schemas.microsoft.com/office/drawing/2014/main" id="{D1C2B2D1-E3D6-4D4B-9910-437F3E2B4A08}"/>
                      </a:ext>
                    </a:extLst>
                  </p:cNvPr>
                  <p:cNvSpPr txBox="1">
                    <a:spLocks noRot="1" noChangeAspect="1" noMove="1" noResize="1" noEditPoints="1" noAdjustHandles="1" noChangeArrowheads="1" noChangeShapeType="1" noTextEdit="1"/>
                  </p:cNvSpPr>
                  <p:nvPr/>
                </p:nvSpPr>
                <p:spPr bwMode="auto">
                  <a:xfrm>
                    <a:off x="683" y="3260"/>
                    <a:ext cx="394" cy="338"/>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85" name="Text Box 35">
                <a:extLst>
                  <a:ext uri="{FF2B5EF4-FFF2-40B4-BE49-F238E27FC236}">
                    <a16:creationId xmlns:a16="http://schemas.microsoft.com/office/drawing/2014/main" id="{0F77DC89-4D42-C24C-B804-2122C9333248}"/>
                  </a:ext>
                </a:extLst>
              </p:cNvPr>
              <p:cNvSpPr txBox="1">
                <a:spLocks noChangeArrowheads="1"/>
              </p:cNvSpPr>
              <p:nvPr/>
            </p:nvSpPr>
            <p:spPr bwMode="auto">
              <a:xfrm>
                <a:off x="614" y="2604"/>
                <a:ext cx="653"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10cm</a:t>
                </a:r>
              </a:p>
            </p:txBody>
          </p:sp>
          <p:sp>
            <p:nvSpPr>
              <p:cNvPr id="88" name="Text Box 35">
                <a:extLst>
                  <a:ext uri="{FF2B5EF4-FFF2-40B4-BE49-F238E27FC236}">
                    <a16:creationId xmlns:a16="http://schemas.microsoft.com/office/drawing/2014/main" id="{281960B4-1F88-584E-A774-52E654213BB7}"/>
                  </a:ext>
                </a:extLst>
              </p:cNvPr>
              <p:cNvSpPr txBox="1">
                <a:spLocks noChangeArrowheads="1"/>
              </p:cNvSpPr>
              <p:nvPr/>
            </p:nvSpPr>
            <p:spPr bwMode="auto">
              <a:xfrm>
                <a:off x="1125" y="3529"/>
                <a:ext cx="551"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8cm</a:t>
                </a:r>
              </a:p>
            </p:txBody>
          </p:sp>
          <p:sp>
            <p:nvSpPr>
              <p:cNvPr id="68" name="Text Box 35">
                <a:extLst>
                  <a:ext uri="{FF2B5EF4-FFF2-40B4-BE49-F238E27FC236}">
                    <a16:creationId xmlns:a16="http://schemas.microsoft.com/office/drawing/2014/main" id="{A66428D1-CAE8-FB4D-9E44-5A2963C59CA7}"/>
                  </a:ext>
                </a:extLst>
              </p:cNvPr>
              <p:cNvSpPr txBox="1">
                <a:spLocks noChangeArrowheads="1"/>
              </p:cNvSpPr>
              <p:nvPr/>
            </p:nvSpPr>
            <p:spPr bwMode="auto">
              <a:xfrm>
                <a:off x="2006" y="2761"/>
                <a:ext cx="551"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6cm</a:t>
                </a:r>
              </a:p>
            </p:txBody>
          </p:sp>
        </p:grpSp>
        <p:sp>
          <p:nvSpPr>
            <p:cNvPr id="81" name="Arc 80">
              <a:extLst>
                <a:ext uri="{FF2B5EF4-FFF2-40B4-BE49-F238E27FC236}">
                  <a16:creationId xmlns:a16="http://schemas.microsoft.com/office/drawing/2014/main" id="{9436F4AA-93E6-8A4D-A7AF-298713F6D097}"/>
                </a:ext>
              </a:extLst>
            </p:cNvPr>
            <p:cNvSpPr/>
            <p:nvPr/>
          </p:nvSpPr>
          <p:spPr>
            <a:xfrm>
              <a:off x="5257347" y="2648245"/>
              <a:ext cx="835765" cy="835764"/>
            </a:xfrm>
            <a:prstGeom prst="arc">
              <a:avLst>
                <a:gd name="adj1" fmla="val 18984698"/>
                <a:gd name="adj2" fmla="val 69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400">
                <a:latin typeface="Calibri" panose="020F0502020204030204" pitchFamily="34" charset="0"/>
                <a:cs typeface="Calibri" panose="020F0502020204030204" pitchFamily="34" charset="0"/>
              </a:endParaRPr>
            </a:p>
          </p:txBody>
        </p:sp>
      </p:grpSp>
      <p:grpSp>
        <p:nvGrpSpPr>
          <p:cNvPr id="12" name="Group 11">
            <a:extLst>
              <a:ext uri="{FF2B5EF4-FFF2-40B4-BE49-F238E27FC236}">
                <a16:creationId xmlns:a16="http://schemas.microsoft.com/office/drawing/2014/main" id="{B1C38DFA-9BBC-3848-9222-46279483AB10}"/>
              </a:ext>
            </a:extLst>
          </p:cNvPr>
          <p:cNvGrpSpPr/>
          <p:nvPr/>
        </p:nvGrpSpPr>
        <p:grpSpPr>
          <a:xfrm rot="7893483">
            <a:off x="6145946" y="1087837"/>
            <a:ext cx="1888483" cy="1854602"/>
            <a:chOff x="6401144" y="1267716"/>
            <a:chExt cx="1888483" cy="1854602"/>
          </a:xfrm>
        </p:grpSpPr>
        <p:grpSp>
          <p:nvGrpSpPr>
            <p:cNvPr id="11" name="Group 10">
              <a:extLst>
                <a:ext uri="{FF2B5EF4-FFF2-40B4-BE49-F238E27FC236}">
                  <a16:creationId xmlns:a16="http://schemas.microsoft.com/office/drawing/2014/main" id="{3E368327-A0A3-2F4A-9594-5C897F85C1D5}"/>
                </a:ext>
              </a:extLst>
            </p:cNvPr>
            <p:cNvGrpSpPr/>
            <p:nvPr/>
          </p:nvGrpSpPr>
          <p:grpSpPr>
            <a:xfrm>
              <a:off x="6626321" y="1267716"/>
              <a:ext cx="1663306" cy="1495138"/>
              <a:chOff x="6626321" y="1267716"/>
              <a:chExt cx="1663306" cy="1495138"/>
            </a:xfrm>
          </p:grpSpPr>
          <p:sp>
            <p:nvSpPr>
              <p:cNvPr id="7" name="Triangle 6">
                <a:extLst>
                  <a:ext uri="{FF2B5EF4-FFF2-40B4-BE49-F238E27FC236}">
                    <a16:creationId xmlns:a16="http://schemas.microsoft.com/office/drawing/2014/main" id="{EEC14A51-F64B-7845-9889-2E48A1942258}"/>
                  </a:ext>
                </a:extLst>
              </p:cNvPr>
              <p:cNvSpPr/>
              <p:nvPr/>
            </p:nvSpPr>
            <p:spPr>
              <a:xfrm>
                <a:off x="6697633" y="1267716"/>
                <a:ext cx="1591994" cy="1332696"/>
              </a:xfrm>
              <a:custGeom>
                <a:avLst/>
                <a:gdLst>
                  <a:gd name="connsiteX0" fmla="*/ 0 w 1503802"/>
                  <a:gd name="connsiteY0" fmla="*/ 1091101 h 1091101"/>
                  <a:gd name="connsiteX1" fmla="*/ 338777 w 1503802"/>
                  <a:gd name="connsiteY1" fmla="*/ 0 h 1091101"/>
                  <a:gd name="connsiteX2" fmla="*/ 1503802 w 1503802"/>
                  <a:gd name="connsiteY2" fmla="*/ 1091101 h 1091101"/>
                  <a:gd name="connsiteX3" fmla="*/ 0 w 1503802"/>
                  <a:gd name="connsiteY3" fmla="*/ 1091101 h 1091101"/>
                  <a:gd name="connsiteX0" fmla="*/ 88192 w 1591994"/>
                  <a:gd name="connsiteY0" fmla="*/ 1332696 h 1332696"/>
                  <a:gd name="connsiteX1" fmla="*/ 0 w 1591994"/>
                  <a:gd name="connsiteY1" fmla="*/ 0 h 1332696"/>
                  <a:gd name="connsiteX2" fmla="*/ 1591994 w 1591994"/>
                  <a:gd name="connsiteY2" fmla="*/ 1332696 h 1332696"/>
                  <a:gd name="connsiteX3" fmla="*/ 88192 w 1591994"/>
                  <a:gd name="connsiteY3" fmla="*/ 1332696 h 1332696"/>
                </a:gdLst>
                <a:ahLst/>
                <a:cxnLst>
                  <a:cxn ang="0">
                    <a:pos x="connsiteX0" y="connsiteY0"/>
                  </a:cxn>
                  <a:cxn ang="0">
                    <a:pos x="connsiteX1" y="connsiteY1"/>
                  </a:cxn>
                  <a:cxn ang="0">
                    <a:pos x="connsiteX2" y="connsiteY2"/>
                  </a:cxn>
                  <a:cxn ang="0">
                    <a:pos x="connsiteX3" y="connsiteY3"/>
                  </a:cxn>
                </a:cxnLst>
                <a:rect l="l" t="t" r="r" b="b"/>
                <a:pathLst>
                  <a:path w="1591994" h="1332696">
                    <a:moveTo>
                      <a:pt x="88192" y="1332696"/>
                    </a:moveTo>
                    <a:lnTo>
                      <a:pt x="0" y="0"/>
                    </a:lnTo>
                    <a:lnTo>
                      <a:pt x="1591994" y="1332696"/>
                    </a:lnTo>
                    <a:lnTo>
                      <a:pt x="88192" y="1332696"/>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sz="1400">
                  <a:solidFill>
                    <a:schemeClr val="tx1"/>
                  </a:solidFill>
                  <a:latin typeface="Calibri" panose="020F0502020204030204" pitchFamily="34" charset="0"/>
                  <a:cs typeface="Calibri" panose="020F0502020204030204" pitchFamily="34" charset="0"/>
                </a:endParaRPr>
              </a:p>
            </p:txBody>
          </p:sp>
          <p:sp>
            <p:nvSpPr>
              <p:cNvPr id="136" name="Arc 135">
                <a:extLst>
                  <a:ext uri="{FF2B5EF4-FFF2-40B4-BE49-F238E27FC236}">
                    <a16:creationId xmlns:a16="http://schemas.microsoft.com/office/drawing/2014/main" id="{1CEA5E65-2B28-6647-A955-47F4C0663CC6}"/>
                  </a:ext>
                </a:extLst>
              </p:cNvPr>
              <p:cNvSpPr/>
              <p:nvPr/>
            </p:nvSpPr>
            <p:spPr>
              <a:xfrm>
                <a:off x="6626321" y="2440631"/>
                <a:ext cx="322224" cy="322223"/>
              </a:xfrm>
              <a:prstGeom prst="arc">
                <a:avLst>
                  <a:gd name="adj1" fmla="val 16076562"/>
                  <a:gd name="adj2" fmla="val 2157991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4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38" name="Text Box 35">
                  <a:extLst>
                    <a:ext uri="{FF2B5EF4-FFF2-40B4-BE49-F238E27FC236}">
                      <a16:creationId xmlns:a16="http://schemas.microsoft.com/office/drawing/2014/main" id="{07C70ACC-31F5-B146-BD0C-C7A132CF2F5C}"/>
                    </a:ext>
                  </a:extLst>
                </p:cNvPr>
                <p:cNvSpPr txBox="1">
                  <a:spLocks noChangeArrowheads="1"/>
                </p:cNvSpPr>
                <p:nvPr/>
              </p:nvSpPr>
              <p:spPr bwMode="auto">
                <a:xfrm rot="13706517">
                  <a:off x="6785681" y="2253601"/>
                  <a:ext cx="353430" cy="30284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p>
                  <a:pPr algn="ctr" eaLnBrk="0" hangingPunct="0"/>
                  <a14:m>
                    <m:oMath xmlns:m="http://schemas.openxmlformats.org/officeDocument/2006/math">
                      <m:r>
                        <a:rPr lang="en-GB" altLang="en-US" sz="1400" b="0" i="1" dirty="0" smtClean="0">
                          <a:latin typeface="Cambria Math" panose="02040503050406030204" pitchFamily="18" charset="0"/>
                          <a:ea typeface="Arial" charset="0"/>
                          <a:cs typeface="Calibri" panose="020F0502020204030204" pitchFamily="34" charset="0"/>
                        </a:rPr>
                        <m:t>𝜃</m:t>
                      </m:r>
                    </m:oMath>
                  </a14:m>
                  <a:r>
                    <a:rPr lang="en-GB" altLang="en-US" sz="1400" baseline="30000" dirty="0">
                      <a:latin typeface="Calibri" panose="020F0502020204030204" pitchFamily="34" charset="0"/>
                      <a:ea typeface="Arial" charset="0"/>
                      <a:cs typeface="Calibri" panose="020F0502020204030204" pitchFamily="34" charset="0"/>
                    </a:rPr>
                    <a:t>o</a:t>
                  </a:r>
                </a:p>
              </p:txBody>
            </p:sp>
          </mc:Choice>
          <mc:Fallback xmlns="">
            <p:sp>
              <p:nvSpPr>
                <p:cNvPr id="138" name="Text Box 35">
                  <a:extLst>
                    <a:ext uri="{FF2B5EF4-FFF2-40B4-BE49-F238E27FC236}">
                      <a16:creationId xmlns:a16="http://schemas.microsoft.com/office/drawing/2014/main" id="{07C70ACC-31F5-B146-BD0C-C7A132CF2F5C}"/>
                    </a:ext>
                  </a:extLst>
                </p:cNvPr>
                <p:cNvSpPr txBox="1">
                  <a:spLocks noRot="1" noChangeAspect="1" noMove="1" noResize="1" noEditPoints="1" noAdjustHandles="1" noChangeArrowheads="1" noChangeShapeType="1" noTextEdit="1"/>
                </p:cNvSpPr>
                <p:nvPr/>
              </p:nvSpPr>
              <p:spPr bwMode="auto">
                <a:xfrm rot="13706517">
                  <a:off x="6785681" y="2253601"/>
                  <a:ext cx="353430" cy="30284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43" name="Text Box 35">
              <a:extLst>
                <a:ext uri="{FF2B5EF4-FFF2-40B4-BE49-F238E27FC236}">
                  <a16:creationId xmlns:a16="http://schemas.microsoft.com/office/drawing/2014/main" id="{3F335FA6-A4E4-F947-A851-D2B53666B721}"/>
                </a:ext>
              </a:extLst>
            </p:cNvPr>
            <p:cNvSpPr txBox="1">
              <a:spLocks noChangeArrowheads="1"/>
            </p:cNvSpPr>
            <p:nvPr/>
          </p:nvSpPr>
          <p:spPr bwMode="auto">
            <a:xfrm rot="13706517">
              <a:off x="7331477" y="2675720"/>
              <a:ext cx="5854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12cm</a:t>
              </a:r>
              <a:endParaRPr lang="en-GB" altLang="en-US" sz="1400" baseline="30000" dirty="0">
                <a:latin typeface="Calibri" panose="020F0502020204030204" pitchFamily="34" charset="0"/>
                <a:ea typeface="Arial" charset="0"/>
                <a:cs typeface="Calibri" panose="020F0502020204030204" pitchFamily="34" charset="0"/>
              </a:endParaRPr>
            </a:p>
          </p:txBody>
        </p:sp>
        <p:sp>
          <p:nvSpPr>
            <p:cNvPr id="144" name="Text Box 35">
              <a:extLst>
                <a:ext uri="{FF2B5EF4-FFF2-40B4-BE49-F238E27FC236}">
                  <a16:creationId xmlns:a16="http://schemas.microsoft.com/office/drawing/2014/main" id="{EE668B2D-FD46-8146-81A5-C2229F402B96}"/>
                </a:ext>
              </a:extLst>
            </p:cNvPr>
            <p:cNvSpPr txBox="1">
              <a:spLocks noChangeArrowheads="1"/>
            </p:cNvSpPr>
            <p:nvPr/>
          </p:nvSpPr>
          <p:spPr bwMode="auto">
            <a:xfrm rot="13706517">
              <a:off x="6308010" y="1721114"/>
              <a:ext cx="4940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9cm</a:t>
              </a:r>
              <a:endParaRPr lang="en-GB" altLang="en-US" sz="1400" baseline="30000" dirty="0">
                <a:latin typeface="Calibri" panose="020F0502020204030204" pitchFamily="34" charset="0"/>
                <a:ea typeface="Arial" charset="0"/>
                <a:cs typeface="Calibri" panose="020F0502020204030204" pitchFamily="34" charset="0"/>
              </a:endParaRPr>
            </a:p>
          </p:txBody>
        </p:sp>
        <p:sp>
          <p:nvSpPr>
            <p:cNvPr id="97" name="Text Box 35">
              <a:extLst>
                <a:ext uri="{FF2B5EF4-FFF2-40B4-BE49-F238E27FC236}">
                  <a16:creationId xmlns:a16="http://schemas.microsoft.com/office/drawing/2014/main" id="{8E26D96E-E246-2B44-93A9-F5F0A86D0173}"/>
                </a:ext>
              </a:extLst>
            </p:cNvPr>
            <p:cNvSpPr txBox="1">
              <a:spLocks noChangeArrowheads="1"/>
            </p:cNvSpPr>
            <p:nvPr/>
          </p:nvSpPr>
          <p:spPr bwMode="auto">
            <a:xfrm rot="13706517">
              <a:off x="7180478" y="1597306"/>
              <a:ext cx="5854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hangingPunct="0"/>
              <a:r>
                <a:rPr lang="en-GB" altLang="en-US" sz="1400" dirty="0">
                  <a:latin typeface="Calibri" panose="020F0502020204030204" pitchFamily="34" charset="0"/>
                  <a:ea typeface="Arial" charset="0"/>
                  <a:cs typeface="Calibri" panose="020F0502020204030204" pitchFamily="34" charset="0"/>
                </a:rPr>
                <a:t>16cm</a:t>
              </a:r>
              <a:endParaRPr lang="en-GB" altLang="en-US" sz="1400" baseline="30000" dirty="0">
                <a:latin typeface="Calibri" panose="020F0502020204030204" pitchFamily="34" charset="0"/>
                <a:ea typeface="Arial"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21F49D3-8B89-1A4A-B374-B57CD9CE6E8B}"/>
                  </a:ext>
                </a:extLst>
              </p:cNvPr>
              <p:cNvSpPr txBox="1"/>
              <p:nvPr/>
            </p:nvSpPr>
            <p:spPr>
              <a:xfrm>
                <a:off x="673109" y="2800629"/>
                <a:ext cx="2788467"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6</a:t>
                </a:r>
                <a:r>
                  <a:rPr lang="en-GB" altLang="en-US" sz="1600" b="0" baseline="30000" dirty="0">
                    <a:cs typeface="Calibri" panose="020F0502020204030204" pitchFamily="34" charset="0"/>
                  </a:rPr>
                  <a:t>2</a:t>
                </a:r>
                <a:r>
                  <a:rPr lang="en-GB" altLang="en-US" sz="1600" b="0" dirty="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8</a:t>
                </a:r>
                <a:r>
                  <a:rPr lang="en-GB" altLang="en-US" sz="1600" b="0" baseline="30000" dirty="0">
                    <a:latin typeface="Calibri" panose="020F0502020204030204" pitchFamily="34" charset="0"/>
                    <a:cs typeface="Calibri" panose="020F0502020204030204" pitchFamily="34" charset="0"/>
                  </a:rPr>
                  <a:t>2</a:t>
                </a:r>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10</a:t>
                </a:r>
                <a:r>
                  <a:rPr lang="en-GB" altLang="en-US" sz="1600" b="0" baseline="30000" dirty="0">
                    <a:latin typeface="Calibri" panose="020F0502020204030204" pitchFamily="34" charset="0"/>
                    <a:cs typeface="Calibri" panose="020F0502020204030204" pitchFamily="34" charset="0"/>
                  </a:rPr>
                  <a:t>2</a:t>
                </a:r>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2(8)(10)</a:t>
                </a:r>
                <a14:m>
                  <m:oMath xmlns:m="http://schemas.openxmlformats.org/officeDocument/2006/math">
                    <m:r>
                      <m:rPr>
                        <m:sty m:val="p"/>
                      </m:rPr>
                      <a:rPr lang="en-GB" altLang="en-US" sz="1600" b="0" i="0" smtClean="0">
                        <a:latin typeface="Cambria Math" panose="02040503050406030204" pitchFamily="18" charset="0"/>
                        <a:cs typeface="Calibri" panose="020F0502020204030204" pitchFamily="34" charset="0"/>
                      </a:rPr>
                      <m:t>cos</m:t>
                    </m:r>
                  </m:oMath>
                </a14:m>
                <a:r>
                  <a:rPr lang="en-GB" altLang="en-US" sz="1600" b="0" dirty="0">
                    <a:latin typeface="Calibri" panose="020F0502020204030204" pitchFamily="34" charset="0"/>
                    <a:cs typeface="Calibri" panose="020F0502020204030204" pitchFamily="34" charset="0"/>
                  </a:rPr>
                  <a:t>(</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𝜃</m:t>
                    </m:r>
                  </m:oMath>
                </a14:m>
                <a:r>
                  <a:rPr lang="en-GB" altLang="en-US" sz="1600" b="0" baseline="30000" dirty="0">
                    <a:latin typeface="Calibri" panose="020F0502020204030204" pitchFamily="34" charset="0"/>
                    <a:cs typeface="Calibri" panose="020F0502020204030204" pitchFamily="34" charset="0"/>
                  </a:rPr>
                  <a:t>o</a:t>
                </a:r>
                <a:r>
                  <a:rPr lang="en-GB" altLang="en-US" sz="1600" b="0" dirty="0">
                    <a:latin typeface="Calibri" panose="020F0502020204030204" pitchFamily="34" charset="0"/>
                    <a:cs typeface="Calibri" panose="020F0502020204030204" pitchFamily="34" charset="0"/>
                  </a:rPr>
                  <a:t>)</a:t>
                </a:r>
              </a:p>
            </p:txBody>
          </p:sp>
        </mc:Choice>
        <mc:Fallback xmlns="">
          <p:sp>
            <p:nvSpPr>
              <p:cNvPr id="70" name="TextBox 69">
                <a:extLst>
                  <a:ext uri="{FF2B5EF4-FFF2-40B4-BE49-F238E27FC236}">
                    <a16:creationId xmlns:a16="http://schemas.microsoft.com/office/drawing/2014/main" id="{521F49D3-8B89-1A4A-B374-B57CD9CE6E8B}"/>
                  </a:ext>
                </a:extLst>
              </p:cNvPr>
              <p:cNvSpPr txBox="1">
                <a:spLocks noRot="1" noChangeAspect="1" noMove="1" noResize="1" noEditPoints="1" noAdjustHandles="1" noChangeArrowheads="1" noChangeShapeType="1" noTextEdit="1"/>
              </p:cNvSpPr>
              <p:nvPr/>
            </p:nvSpPr>
            <p:spPr>
              <a:xfrm>
                <a:off x="673109" y="2800629"/>
                <a:ext cx="2788467" cy="246221"/>
              </a:xfrm>
              <a:prstGeom prst="rect">
                <a:avLst/>
              </a:prstGeom>
              <a:blipFill>
                <a:blip r:embed="rId7"/>
                <a:stretch>
                  <a:fillRect l="-4072"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A07B433-F6EA-3447-B14C-A231E01F6B1B}"/>
                  </a:ext>
                </a:extLst>
              </p:cNvPr>
              <p:cNvSpPr txBox="1"/>
              <p:nvPr/>
            </p:nvSpPr>
            <p:spPr>
              <a:xfrm>
                <a:off x="637354" y="3075758"/>
                <a:ext cx="2788467"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36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164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160</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71" name="TextBox 70">
                <a:extLst>
                  <a:ext uri="{FF2B5EF4-FFF2-40B4-BE49-F238E27FC236}">
                    <a16:creationId xmlns:a16="http://schemas.microsoft.com/office/drawing/2014/main" id="{BA07B433-F6EA-3447-B14C-A231E01F6B1B}"/>
                  </a:ext>
                </a:extLst>
              </p:cNvPr>
              <p:cNvSpPr txBox="1">
                <a:spLocks noRot="1" noChangeAspect="1" noMove="1" noResize="1" noEditPoints="1" noAdjustHandles="1" noChangeArrowheads="1" noChangeShapeType="1" noTextEdit="1"/>
              </p:cNvSpPr>
              <p:nvPr/>
            </p:nvSpPr>
            <p:spPr>
              <a:xfrm>
                <a:off x="637354" y="3075758"/>
                <a:ext cx="2788467" cy="246221"/>
              </a:xfrm>
              <a:prstGeom prst="rect">
                <a:avLst/>
              </a:prstGeom>
              <a:blipFill>
                <a:blip r:embed="rId8"/>
                <a:stretch>
                  <a:fillRect l="-4072" t="-19048" b="-42857"/>
                </a:stretch>
              </a:blipFill>
            </p:spPr>
            <p:txBody>
              <a:bodyPr/>
              <a:lstStyle/>
              <a:p>
                <a:r>
                  <a:rPr lang="en-GB">
                    <a:noFill/>
                  </a:rPr>
                  <a:t> </a:t>
                </a:r>
              </a:p>
            </p:txBody>
          </p:sp>
        </mc:Fallback>
      </mc:AlternateContent>
      <p:cxnSp>
        <p:nvCxnSpPr>
          <p:cNvPr id="72" name="Straight Connector 71">
            <a:extLst>
              <a:ext uri="{FF2B5EF4-FFF2-40B4-BE49-F238E27FC236}">
                <a16:creationId xmlns:a16="http://schemas.microsoft.com/office/drawing/2014/main" id="{82FC8EB0-9645-0C40-BC01-2988A8F4C995}"/>
              </a:ext>
            </a:extLst>
          </p:cNvPr>
          <p:cNvCxnSpPr>
            <a:cxnSpLocks/>
          </p:cNvCxnSpPr>
          <p:nvPr/>
        </p:nvCxnSpPr>
        <p:spPr>
          <a:xfrm>
            <a:off x="963983" y="2779265"/>
            <a:ext cx="0" cy="1589149"/>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1BF31AE-3903-EC40-B8CF-38CD5D4D1A86}"/>
                  </a:ext>
                </a:extLst>
              </p:cNvPr>
              <p:cNvSpPr txBox="1"/>
              <p:nvPr/>
            </p:nvSpPr>
            <p:spPr>
              <a:xfrm>
                <a:off x="254002" y="3340417"/>
                <a:ext cx="572649"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75000"/>
                          </a:schemeClr>
                        </a:solidFill>
                        <a:latin typeface="Cambria Math" panose="02040503050406030204" pitchFamily="18" charset="0"/>
                      </a:rPr>
                      <m:t>−</m:t>
                    </m:r>
                  </m:oMath>
                </a14:m>
                <a:r>
                  <a:rPr lang="en-GB" altLang="en-US" sz="1600" dirty="0">
                    <a:solidFill>
                      <a:schemeClr val="accent6">
                        <a:lumMod val="75000"/>
                      </a:schemeClr>
                    </a:solidFill>
                  </a:rPr>
                  <a:t> 164</a:t>
                </a:r>
              </a:p>
            </p:txBody>
          </p:sp>
        </mc:Choice>
        <mc:Fallback xmlns="">
          <p:sp>
            <p:nvSpPr>
              <p:cNvPr id="73" name="TextBox 72">
                <a:extLst>
                  <a:ext uri="{FF2B5EF4-FFF2-40B4-BE49-F238E27FC236}">
                    <a16:creationId xmlns:a16="http://schemas.microsoft.com/office/drawing/2014/main" id="{11BF31AE-3903-EC40-B8CF-38CD5D4D1A86}"/>
                  </a:ext>
                </a:extLst>
              </p:cNvPr>
              <p:cNvSpPr txBox="1">
                <a:spLocks noRot="1" noChangeAspect="1" noMove="1" noResize="1" noEditPoints="1" noAdjustHandles="1" noChangeArrowheads="1" noChangeShapeType="1" noTextEdit="1"/>
              </p:cNvSpPr>
              <p:nvPr/>
            </p:nvSpPr>
            <p:spPr>
              <a:xfrm>
                <a:off x="254002" y="3340417"/>
                <a:ext cx="572649" cy="246221"/>
              </a:xfrm>
              <a:prstGeom prst="rect">
                <a:avLst/>
              </a:prstGeom>
              <a:blipFill>
                <a:blip r:embed="rId9"/>
                <a:stretch>
                  <a:fillRect t="-20000" r="-19565"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F753446-5587-B84A-AB50-9A396C5FFE14}"/>
                  </a:ext>
                </a:extLst>
              </p:cNvPr>
              <p:cNvSpPr txBox="1"/>
              <p:nvPr/>
            </p:nvSpPr>
            <p:spPr>
              <a:xfrm>
                <a:off x="1111916" y="3340417"/>
                <a:ext cx="1073495" cy="246221"/>
              </a:xfrm>
              <a:prstGeom prst="rect">
                <a:avLst/>
              </a:prstGeom>
              <a:noFill/>
            </p:spPr>
            <p:txBody>
              <a:bodyPr wrap="square" lIns="0" tIns="0" rIns="0" bIns="0" rtlCol="0" anchor="ctr" anchorCtr="0">
                <a:spAutoFit/>
              </a:bodyPr>
              <a:lstStyle/>
              <a:p>
                <a:pPr algn="r">
                  <a:defRPr/>
                </a:pPr>
                <a14:m>
                  <m:oMathPara xmlns:m="http://schemas.openxmlformats.org/officeDocument/2006/math">
                    <m:oMathParaPr>
                      <m:jc m:val="left"/>
                    </m:oMathParaPr>
                    <m:oMath xmlns:m="http://schemas.openxmlformats.org/officeDocument/2006/math">
                      <m:r>
                        <a:rPr lang="en-GB" altLang="en-US" sz="1600" i="1">
                          <a:solidFill>
                            <a:schemeClr val="accent6">
                              <a:lumMod val="75000"/>
                            </a:schemeClr>
                          </a:solidFill>
                          <a:latin typeface="Cambria Math" panose="02040503050406030204" pitchFamily="18" charset="0"/>
                        </a:rPr>
                        <m:t>−</m:t>
                      </m:r>
                      <m:r>
                        <m:rPr>
                          <m:nor/>
                        </m:rPr>
                        <a:rPr lang="en-GB" altLang="en-US" sz="1600" dirty="0">
                          <a:solidFill>
                            <a:schemeClr val="accent6">
                              <a:lumMod val="75000"/>
                            </a:schemeClr>
                          </a:solidFill>
                        </a:rPr>
                        <m:t> 164</m:t>
                      </m:r>
                    </m:oMath>
                  </m:oMathPara>
                </a14:m>
                <a:endParaRPr lang="en-GB" altLang="en-US" sz="1600" dirty="0">
                  <a:solidFill>
                    <a:schemeClr val="accent6">
                      <a:lumMod val="75000"/>
                    </a:schemeClr>
                  </a:solidFill>
                </a:endParaRPr>
              </a:p>
            </p:txBody>
          </p:sp>
        </mc:Choice>
        <mc:Fallback xmlns="">
          <p:sp>
            <p:nvSpPr>
              <p:cNvPr id="74" name="TextBox 73">
                <a:extLst>
                  <a:ext uri="{FF2B5EF4-FFF2-40B4-BE49-F238E27FC236}">
                    <a16:creationId xmlns:a16="http://schemas.microsoft.com/office/drawing/2014/main" id="{3F753446-5587-B84A-AB50-9A396C5FFE14}"/>
                  </a:ext>
                </a:extLst>
              </p:cNvPr>
              <p:cNvSpPr txBox="1">
                <a:spLocks noRot="1" noChangeAspect="1" noMove="1" noResize="1" noEditPoints="1" noAdjustHandles="1" noChangeArrowheads="1" noChangeShapeType="1" noTextEdit="1"/>
              </p:cNvSpPr>
              <p:nvPr/>
            </p:nvSpPr>
            <p:spPr>
              <a:xfrm>
                <a:off x="1111916" y="3340417"/>
                <a:ext cx="1073495" cy="246221"/>
              </a:xfrm>
              <a:prstGeom prst="rect">
                <a:avLst/>
              </a:prstGeom>
              <a:blipFill>
                <a:blip r:embed="rId10"/>
                <a:stretch>
                  <a:fillRect l="-3529" t="-20000" b="-4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F9CFBBD-7E62-A440-A478-FEC2EFEC1607}"/>
                  </a:ext>
                </a:extLst>
              </p:cNvPr>
              <p:cNvSpPr txBox="1"/>
              <p:nvPr/>
            </p:nvSpPr>
            <p:spPr>
              <a:xfrm>
                <a:off x="384097" y="3599356"/>
                <a:ext cx="2788467"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cs typeface="Calibri" panose="020F0502020204030204" pitchFamily="34" charset="0"/>
                  </a:rPr>
                  <a:t>128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160</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84" name="TextBox 83">
                <a:extLst>
                  <a:ext uri="{FF2B5EF4-FFF2-40B4-BE49-F238E27FC236}">
                    <a16:creationId xmlns:a16="http://schemas.microsoft.com/office/drawing/2014/main" id="{FF9CFBBD-7E62-A440-A478-FEC2EFEC1607}"/>
                  </a:ext>
                </a:extLst>
              </p:cNvPr>
              <p:cNvSpPr txBox="1">
                <a:spLocks noRot="1" noChangeAspect="1" noMove="1" noResize="1" noEditPoints="1" noAdjustHandles="1" noChangeArrowheads="1" noChangeShapeType="1" noTextEdit="1"/>
              </p:cNvSpPr>
              <p:nvPr/>
            </p:nvSpPr>
            <p:spPr>
              <a:xfrm>
                <a:off x="384097" y="3599356"/>
                <a:ext cx="2788467" cy="246221"/>
              </a:xfrm>
              <a:prstGeom prst="rect">
                <a:avLst/>
              </a:prstGeom>
              <a:blipFill>
                <a:blip r:embed="rId11"/>
                <a:stretch>
                  <a:fillRect l="-905" t="-19048"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E62ED76E-E626-914F-AE7D-9172A592C5B1}"/>
                  </a:ext>
                </a:extLst>
              </p:cNvPr>
              <p:cNvSpPr txBox="1"/>
              <p:nvPr/>
            </p:nvSpPr>
            <p:spPr>
              <a:xfrm>
                <a:off x="272972" y="3864015"/>
                <a:ext cx="572649"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75000"/>
                          </a:schemeClr>
                        </a:solidFill>
                        <a:latin typeface="Cambria Math" panose="02040503050406030204" pitchFamily="18" charset="0"/>
                      </a:rPr>
                      <m:t>−</m:t>
                    </m:r>
                  </m:oMath>
                </a14:m>
                <a:r>
                  <a:rPr lang="en-GB" altLang="en-US" sz="1600" dirty="0">
                    <a:solidFill>
                      <a:schemeClr val="accent6">
                        <a:lumMod val="75000"/>
                      </a:schemeClr>
                    </a:solidFill>
                  </a:rPr>
                  <a:t>160</a:t>
                </a:r>
              </a:p>
            </p:txBody>
          </p:sp>
        </mc:Choice>
        <mc:Fallback xmlns="">
          <p:sp>
            <p:nvSpPr>
              <p:cNvPr id="89" name="TextBox 88">
                <a:extLst>
                  <a:ext uri="{FF2B5EF4-FFF2-40B4-BE49-F238E27FC236}">
                    <a16:creationId xmlns:a16="http://schemas.microsoft.com/office/drawing/2014/main" id="{E62ED76E-E626-914F-AE7D-9172A592C5B1}"/>
                  </a:ext>
                </a:extLst>
              </p:cNvPr>
              <p:cNvSpPr txBox="1">
                <a:spLocks noRot="1" noChangeAspect="1" noMove="1" noResize="1" noEditPoints="1" noAdjustHandles="1" noChangeArrowheads="1" noChangeShapeType="1" noTextEdit="1"/>
              </p:cNvSpPr>
              <p:nvPr/>
            </p:nvSpPr>
            <p:spPr>
              <a:xfrm>
                <a:off x="272972" y="3864015"/>
                <a:ext cx="572649" cy="246221"/>
              </a:xfrm>
              <a:prstGeom prst="rect">
                <a:avLst/>
              </a:prstGeom>
              <a:blipFill>
                <a:blip r:embed="rId12"/>
                <a:stretch>
                  <a:fillRect t="-19048" r="-19149"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4114D9D-258C-BA46-8C4A-7B71FDC44EEB}"/>
                  </a:ext>
                </a:extLst>
              </p:cNvPr>
              <p:cNvSpPr txBox="1"/>
              <p:nvPr/>
            </p:nvSpPr>
            <p:spPr>
              <a:xfrm>
                <a:off x="1320437" y="3864015"/>
                <a:ext cx="535469" cy="246221"/>
              </a:xfrm>
              <a:prstGeom prst="rect">
                <a:avLst/>
              </a:prstGeom>
              <a:noFill/>
            </p:spPr>
            <p:txBody>
              <a:bodyPr wrap="square" lIns="0" tIns="0" rIns="0" bIns="0" rtlCol="0" anchor="ctr" anchorCtr="0">
                <a:spAutoFit/>
              </a:bodyPr>
              <a:lstStyle/>
              <a:p>
                <a:pPr algn="r">
                  <a:defRPr/>
                </a:pPr>
                <a14:m>
                  <m:oMathPara xmlns:m="http://schemas.openxmlformats.org/officeDocument/2006/math">
                    <m:oMathParaPr>
                      <m:jc m:val="center"/>
                    </m:oMathParaPr>
                    <m:oMath xmlns:m="http://schemas.openxmlformats.org/officeDocument/2006/math">
                      <m:r>
                        <a:rPr lang="en-GB" altLang="en-US" sz="1600" i="1">
                          <a:solidFill>
                            <a:schemeClr val="accent6">
                              <a:lumMod val="75000"/>
                            </a:schemeClr>
                          </a:solidFill>
                          <a:latin typeface="Cambria Math" panose="02040503050406030204" pitchFamily="18" charset="0"/>
                        </a:rPr>
                        <m:t>−</m:t>
                      </m:r>
                      <m:r>
                        <m:rPr>
                          <m:nor/>
                        </m:rPr>
                        <a:rPr lang="en-GB" altLang="en-US" sz="1600" dirty="0">
                          <a:solidFill>
                            <a:schemeClr val="accent6">
                              <a:lumMod val="75000"/>
                            </a:schemeClr>
                          </a:solidFill>
                        </a:rPr>
                        <m:t>16</m:t>
                      </m:r>
                      <m:r>
                        <m:rPr>
                          <m:nor/>
                        </m:rPr>
                        <a:rPr lang="en-GB" altLang="en-US" sz="1600" b="0" i="0" dirty="0" smtClean="0">
                          <a:solidFill>
                            <a:schemeClr val="accent6">
                              <a:lumMod val="75000"/>
                            </a:schemeClr>
                          </a:solidFill>
                        </a:rPr>
                        <m:t>0</m:t>
                      </m:r>
                    </m:oMath>
                  </m:oMathPara>
                </a14:m>
                <a:endParaRPr lang="en-GB" altLang="en-US" sz="1600" dirty="0">
                  <a:solidFill>
                    <a:schemeClr val="accent6">
                      <a:lumMod val="75000"/>
                    </a:schemeClr>
                  </a:solidFill>
                </a:endParaRPr>
              </a:p>
            </p:txBody>
          </p:sp>
        </mc:Choice>
        <mc:Fallback xmlns="">
          <p:sp>
            <p:nvSpPr>
              <p:cNvPr id="90" name="TextBox 89">
                <a:extLst>
                  <a:ext uri="{FF2B5EF4-FFF2-40B4-BE49-F238E27FC236}">
                    <a16:creationId xmlns:a16="http://schemas.microsoft.com/office/drawing/2014/main" id="{44114D9D-258C-BA46-8C4A-7B71FDC44EEB}"/>
                  </a:ext>
                </a:extLst>
              </p:cNvPr>
              <p:cNvSpPr txBox="1">
                <a:spLocks noRot="1" noChangeAspect="1" noMove="1" noResize="1" noEditPoints="1" noAdjustHandles="1" noChangeArrowheads="1" noChangeShapeType="1" noTextEdit="1"/>
              </p:cNvSpPr>
              <p:nvPr/>
            </p:nvSpPr>
            <p:spPr>
              <a:xfrm>
                <a:off x="1320437" y="3864015"/>
                <a:ext cx="535469" cy="246221"/>
              </a:xfrm>
              <a:prstGeom prst="rect">
                <a:avLst/>
              </a:prstGeom>
              <a:blipFill>
                <a:blip r:embed="rId13"/>
                <a:stretch>
                  <a:fillRect r="-4651"/>
                </a:stretch>
              </a:blipFill>
            </p:spPr>
            <p:txBody>
              <a:bodyPr/>
              <a:lstStyle/>
              <a:p>
                <a:r>
                  <a:rPr lang="en-GB">
                    <a:noFill/>
                  </a:rPr>
                  <a:t> </a:t>
                </a:r>
              </a:p>
            </p:txBody>
          </p:sp>
        </mc:Fallback>
      </mc:AlternateContent>
      <p:cxnSp>
        <p:nvCxnSpPr>
          <p:cNvPr id="4" name="Straight Connector 3">
            <a:extLst>
              <a:ext uri="{FF2B5EF4-FFF2-40B4-BE49-F238E27FC236}">
                <a16:creationId xmlns:a16="http://schemas.microsoft.com/office/drawing/2014/main" id="{C6B8E733-932E-574C-96BC-E6E7A5AEFC4C}"/>
              </a:ext>
            </a:extLst>
          </p:cNvPr>
          <p:cNvCxnSpPr/>
          <p:nvPr/>
        </p:nvCxnSpPr>
        <p:spPr>
          <a:xfrm>
            <a:off x="348635" y="3856199"/>
            <a:ext cx="525875"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6B190CF-3CEB-5D47-B1A6-2B0051524743}"/>
              </a:ext>
            </a:extLst>
          </p:cNvPr>
          <p:cNvCxnSpPr>
            <a:cxnSpLocks/>
          </p:cNvCxnSpPr>
          <p:nvPr/>
        </p:nvCxnSpPr>
        <p:spPr>
          <a:xfrm>
            <a:off x="1083755" y="3856199"/>
            <a:ext cx="1075846"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7F3FFCEF-172C-2A4D-BE13-72A22338B5ED}"/>
                  </a:ext>
                </a:extLst>
              </p:cNvPr>
              <p:cNvSpPr txBox="1"/>
              <p:nvPr/>
            </p:nvSpPr>
            <p:spPr>
              <a:xfrm>
                <a:off x="589747" y="4101129"/>
                <a:ext cx="1173330"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0.8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92" name="TextBox 91">
                <a:extLst>
                  <a:ext uri="{FF2B5EF4-FFF2-40B4-BE49-F238E27FC236}">
                    <a16:creationId xmlns:a16="http://schemas.microsoft.com/office/drawing/2014/main" id="{7F3FFCEF-172C-2A4D-BE13-72A22338B5ED}"/>
                  </a:ext>
                </a:extLst>
              </p:cNvPr>
              <p:cNvSpPr txBox="1">
                <a:spLocks noRot="1" noChangeAspect="1" noMove="1" noResize="1" noEditPoints="1" noAdjustHandles="1" noChangeArrowheads="1" noChangeShapeType="1" noTextEdit="1"/>
              </p:cNvSpPr>
              <p:nvPr/>
            </p:nvSpPr>
            <p:spPr>
              <a:xfrm>
                <a:off x="589747" y="4101129"/>
                <a:ext cx="1173330" cy="246221"/>
              </a:xfrm>
              <a:prstGeom prst="rect">
                <a:avLst/>
              </a:prstGeom>
              <a:blipFill>
                <a:blip r:embed="rId14"/>
                <a:stretch>
                  <a:fillRect l="-9574" t="-20000" r="-1064"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E44A1A13-11B2-6D45-97A2-34086169912B}"/>
                  </a:ext>
                </a:extLst>
              </p:cNvPr>
              <p:cNvSpPr txBox="1"/>
              <p:nvPr/>
            </p:nvSpPr>
            <p:spPr>
              <a:xfrm>
                <a:off x="1907907" y="4101129"/>
                <a:ext cx="1630767"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𝜃</m:t>
                    </m:r>
                  </m:oMath>
                </a14:m>
                <a:r>
                  <a:rPr lang="en-GB" altLang="en-US" sz="1600" baseline="30000" dirty="0">
                    <a:latin typeface="Calibri" panose="020F0502020204030204" pitchFamily="34" charset="0"/>
                    <a:cs typeface="Calibri" panose="020F0502020204030204" pitchFamily="34" charset="0"/>
                  </a:rPr>
                  <a:t>o</a:t>
                </a:r>
                <a:r>
                  <a:rPr lang="en-GB" altLang="en-US" sz="1600" dirty="0">
                    <a:latin typeface="Calibri" panose="020F0502020204030204" pitchFamily="34" charset="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14:m>
                  <m:oMath xmlns:m="http://schemas.openxmlformats.org/officeDocument/2006/math">
                    <m:sSup>
                      <m:sSupPr>
                        <m:ctrlPr>
                          <a:rPr lang="en-GB" altLang="en-US" sz="1600" b="0" i="1" dirty="0" smtClean="0">
                            <a:latin typeface="Cambria Math" panose="02040503050406030204" pitchFamily="18" charset="0"/>
                            <a:cs typeface="Calibri" panose="020F0502020204030204" pitchFamily="34" charset="0"/>
                          </a:rPr>
                        </m:ctrlPr>
                      </m:sSupPr>
                      <m:e>
                        <m:r>
                          <m:rPr>
                            <m:sty m:val="p"/>
                          </m:rPr>
                          <a:rPr lang="en-GB" altLang="en-US" sz="1600" dirty="0">
                            <a:latin typeface="Cambria Math" panose="02040503050406030204" pitchFamily="18" charset="0"/>
                            <a:cs typeface="Calibri" panose="020F0502020204030204" pitchFamily="34" charset="0"/>
                          </a:rPr>
                          <m:t>cos</m:t>
                        </m:r>
                      </m:e>
                      <m:sup>
                        <m:r>
                          <a:rPr lang="en-GB" altLang="en-US" sz="1600" b="0" i="0" dirty="0" smtClean="0">
                            <a:latin typeface="Cambria Math" panose="02040503050406030204" pitchFamily="18" charset="0"/>
                            <a:cs typeface="Calibri" panose="020F0502020204030204" pitchFamily="34" charset="0"/>
                          </a:rPr>
                          <m:t>−1</m:t>
                        </m:r>
                      </m:sup>
                    </m:sSup>
                  </m:oMath>
                </a14:m>
                <a:r>
                  <a:rPr lang="en-GB" altLang="en-US" sz="1600" dirty="0">
                    <a:latin typeface="Calibri" panose="020F0502020204030204" pitchFamily="34" charset="0"/>
                    <a:cs typeface="Calibri" panose="020F0502020204030204" pitchFamily="34" charset="0"/>
                  </a:rPr>
                  <a:t>(0.8)</a:t>
                </a:r>
              </a:p>
            </p:txBody>
          </p:sp>
        </mc:Choice>
        <mc:Fallback xmlns="">
          <p:sp>
            <p:nvSpPr>
              <p:cNvPr id="93" name="TextBox 92">
                <a:extLst>
                  <a:ext uri="{FF2B5EF4-FFF2-40B4-BE49-F238E27FC236}">
                    <a16:creationId xmlns:a16="http://schemas.microsoft.com/office/drawing/2014/main" id="{E44A1A13-11B2-6D45-97A2-34086169912B}"/>
                  </a:ext>
                </a:extLst>
              </p:cNvPr>
              <p:cNvSpPr txBox="1">
                <a:spLocks noRot="1" noChangeAspect="1" noMove="1" noResize="1" noEditPoints="1" noAdjustHandles="1" noChangeArrowheads="1" noChangeShapeType="1" noTextEdit="1"/>
              </p:cNvSpPr>
              <p:nvPr/>
            </p:nvSpPr>
            <p:spPr>
              <a:xfrm>
                <a:off x="1907907" y="4101129"/>
                <a:ext cx="1630767" cy="246221"/>
              </a:xfrm>
              <a:prstGeom prst="rect">
                <a:avLst/>
              </a:prstGeom>
              <a:blipFill>
                <a:blip r:embed="rId15"/>
                <a:stretch>
                  <a:fillRect l="-3077" t="-20000" r="-769" b="-45000"/>
                </a:stretch>
              </a:blipFill>
            </p:spPr>
            <p:txBody>
              <a:bodyPr/>
              <a:lstStyle/>
              <a:p>
                <a:r>
                  <a:rPr lang="en-GB">
                    <a:noFill/>
                  </a:rPr>
                  <a:t> </a:t>
                </a:r>
              </a:p>
            </p:txBody>
          </p:sp>
        </mc:Fallback>
      </mc:AlternateContent>
      <p:sp>
        <p:nvSpPr>
          <p:cNvPr id="94" name="Rectangle 93">
            <a:extLst>
              <a:ext uri="{FF2B5EF4-FFF2-40B4-BE49-F238E27FC236}">
                <a16:creationId xmlns:a16="http://schemas.microsoft.com/office/drawing/2014/main" id="{01E2C7B1-570C-A649-BCCD-B5AD357B61B1}"/>
              </a:ext>
            </a:extLst>
          </p:cNvPr>
          <p:cNvSpPr/>
          <p:nvPr/>
        </p:nvSpPr>
        <p:spPr>
          <a:xfrm>
            <a:off x="2549070" y="4062281"/>
            <a:ext cx="913812" cy="338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E3BF839D-491D-2541-91D2-55108966CFF3}"/>
                  </a:ext>
                </a:extLst>
              </p:cNvPr>
              <p:cNvSpPr txBox="1"/>
              <p:nvPr/>
            </p:nvSpPr>
            <p:spPr>
              <a:xfrm>
                <a:off x="3482442" y="4101129"/>
                <a:ext cx="801933"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r>
                  <a:rPr lang="en-GB" altLang="en-US" sz="1600" b="1" dirty="0">
                    <a:latin typeface="Calibri" panose="020F0502020204030204" pitchFamily="34" charset="0"/>
                    <a:cs typeface="Calibri" panose="020F0502020204030204" pitchFamily="34" charset="0"/>
                  </a:rPr>
                  <a:t>36.9</a:t>
                </a:r>
                <a:r>
                  <a:rPr lang="en-GB" altLang="en-US" sz="1600" b="1" baseline="30000" dirty="0">
                    <a:latin typeface="Calibri" panose="020F0502020204030204" pitchFamily="34" charset="0"/>
                    <a:cs typeface="Calibri" panose="020F0502020204030204" pitchFamily="34" charset="0"/>
                  </a:rPr>
                  <a:t>o</a:t>
                </a:r>
              </a:p>
            </p:txBody>
          </p:sp>
        </mc:Choice>
        <mc:Fallback xmlns="">
          <p:sp>
            <p:nvSpPr>
              <p:cNvPr id="95" name="TextBox 94">
                <a:extLst>
                  <a:ext uri="{FF2B5EF4-FFF2-40B4-BE49-F238E27FC236}">
                    <a16:creationId xmlns:a16="http://schemas.microsoft.com/office/drawing/2014/main" id="{E3BF839D-491D-2541-91D2-55108966CFF3}"/>
                  </a:ext>
                </a:extLst>
              </p:cNvPr>
              <p:cNvSpPr txBox="1">
                <a:spLocks noRot="1" noChangeAspect="1" noMove="1" noResize="1" noEditPoints="1" noAdjustHandles="1" noChangeArrowheads="1" noChangeShapeType="1" noTextEdit="1"/>
              </p:cNvSpPr>
              <p:nvPr/>
            </p:nvSpPr>
            <p:spPr>
              <a:xfrm>
                <a:off x="3482442" y="4101129"/>
                <a:ext cx="801933" cy="246221"/>
              </a:xfrm>
              <a:prstGeom prst="rect">
                <a:avLst/>
              </a:prstGeom>
              <a:blipFill>
                <a:blip r:embed="rId16"/>
                <a:stretch>
                  <a:fillRect l="-4688" t="-20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2E5C900-2E9B-B543-A98C-A9BB9E0BC5FF}"/>
                  </a:ext>
                </a:extLst>
              </p:cNvPr>
              <p:cNvSpPr txBox="1"/>
              <p:nvPr/>
            </p:nvSpPr>
            <p:spPr>
              <a:xfrm>
                <a:off x="5090621" y="2652723"/>
                <a:ext cx="2788467"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16</a:t>
                </a:r>
                <a:r>
                  <a:rPr lang="en-GB" altLang="en-US" sz="1600" b="0" baseline="30000" dirty="0">
                    <a:cs typeface="Calibri" panose="020F0502020204030204" pitchFamily="34" charset="0"/>
                  </a:rPr>
                  <a:t>2</a:t>
                </a:r>
                <a:r>
                  <a:rPr lang="en-GB" altLang="en-US" sz="1600" b="0" dirty="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9</a:t>
                </a:r>
                <a:r>
                  <a:rPr lang="en-GB" altLang="en-US" sz="1600" b="0" baseline="30000" dirty="0">
                    <a:latin typeface="Calibri" panose="020F0502020204030204" pitchFamily="34" charset="0"/>
                    <a:cs typeface="Calibri" panose="020F0502020204030204" pitchFamily="34" charset="0"/>
                  </a:rPr>
                  <a:t>2</a:t>
                </a:r>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12</a:t>
                </a:r>
                <a:r>
                  <a:rPr lang="en-GB" altLang="en-US" sz="1600" b="0" baseline="30000" dirty="0">
                    <a:latin typeface="Calibri" panose="020F0502020204030204" pitchFamily="34" charset="0"/>
                    <a:cs typeface="Calibri" panose="020F0502020204030204" pitchFamily="34" charset="0"/>
                  </a:rPr>
                  <a:t>2</a:t>
                </a:r>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2(9)(12)</a:t>
                </a:r>
                <a14:m>
                  <m:oMath xmlns:m="http://schemas.openxmlformats.org/officeDocument/2006/math">
                    <m:r>
                      <m:rPr>
                        <m:sty m:val="p"/>
                      </m:rPr>
                      <a:rPr lang="en-GB" altLang="en-US" sz="1600" b="0" i="0" smtClean="0">
                        <a:latin typeface="Cambria Math" panose="02040503050406030204" pitchFamily="18" charset="0"/>
                        <a:cs typeface="Calibri" panose="020F0502020204030204" pitchFamily="34" charset="0"/>
                      </a:rPr>
                      <m:t>cos</m:t>
                    </m:r>
                  </m:oMath>
                </a14:m>
                <a:r>
                  <a:rPr lang="en-GB" altLang="en-US" sz="1600" b="0" dirty="0">
                    <a:latin typeface="Calibri" panose="020F0502020204030204" pitchFamily="34" charset="0"/>
                    <a:cs typeface="Calibri" panose="020F0502020204030204" pitchFamily="34" charset="0"/>
                  </a:rPr>
                  <a:t>(</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𝜃</m:t>
                    </m:r>
                  </m:oMath>
                </a14:m>
                <a:r>
                  <a:rPr lang="en-GB" altLang="en-US" sz="1600" b="0" baseline="30000" dirty="0">
                    <a:latin typeface="Calibri" panose="020F0502020204030204" pitchFamily="34" charset="0"/>
                    <a:cs typeface="Calibri" panose="020F0502020204030204" pitchFamily="34" charset="0"/>
                  </a:rPr>
                  <a:t>o</a:t>
                </a:r>
                <a:r>
                  <a:rPr lang="en-GB" altLang="en-US" sz="1600" b="0" dirty="0">
                    <a:latin typeface="Calibri" panose="020F0502020204030204" pitchFamily="34" charset="0"/>
                    <a:cs typeface="Calibri" panose="020F0502020204030204" pitchFamily="34" charset="0"/>
                  </a:rPr>
                  <a:t>)</a:t>
                </a:r>
              </a:p>
            </p:txBody>
          </p:sp>
        </mc:Choice>
        <mc:Fallback xmlns="">
          <p:sp>
            <p:nvSpPr>
              <p:cNvPr id="99" name="TextBox 98">
                <a:extLst>
                  <a:ext uri="{FF2B5EF4-FFF2-40B4-BE49-F238E27FC236}">
                    <a16:creationId xmlns:a16="http://schemas.microsoft.com/office/drawing/2014/main" id="{72E5C900-2E9B-B543-A98C-A9BB9E0BC5FF}"/>
                  </a:ext>
                </a:extLst>
              </p:cNvPr>
              <p:cNvSpPr txBox="1">
                <a:spLocks noRot="1" noChangeAspect="1" noMove="1" noResize="1" noEditPoints="1" noAdjustHandles="1" noChangeArrowheads="1" noChangeShapeType="1" noTextEdit="1"/>
              </p:cNvSpPr>
              <p:nvPr/>
            </p:nvSpPr>
            <p:spPr>
              <a:xfrm>
                <a:off x="5090621" y="2652723"/>
                <a:ext cx="2788467" cy="246221"/>
              </a:xfrm>
              <a:prstGeom prst="rect">
                <a:avLst/>
              </a:prstGeom>
              <a:blipFill>
                <a:blip r:embed="rId17"/>
                <a:stretch>
                  <a:fillRect l="-4091" t="-20000" r="-1818"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07A82D88-A0EB-3F4F-8887-7991376B6668}"/>
                  </a:ext>
                </a:extLst>
              </p:cNvPr>
              <p:cNvSpPr txBox="1"/>
              <p:nvPr/>
            </p:nvSpPr>
            <p:spPr>
              <a:xfrm>
                <a:off x="5054866" y="2927852"/>
                <a:ext cx="2788467"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256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225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216</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100" name="TextBox 99">
                <a:extLst>
                  <a:ext uri="{FF2B5EF4-FFF2-40B4-BE49-F238E27FC236}">
                    <a16:creationId xmlns:a16="http://schemas.microsoft.com/office/drawing/2014/main" id="{07A82D88-A0EB-3F4F-8887-7991376B6668}"/>
                  </a:ext>
                </a:extLst>
              </p:cNvPr>
              <p:cNvSpPr txBox="1">
                <a:spLocks noRot="1" noChangeAspect="1" noMove="1" noResize="1" noEditPoints="1" noAdjustHandles="1" noChangeArrowheads="1" noChangeShapeType="1" noTextEdit="1"/>
              </p:cNvSpPr>
              <p:nvPr/>
            </p:nvSpPr>
            <p:spPr>
              <a:xfrm>
                <a:off x="5054866" y="2927852"/>
                <a:ext cx="2788467" cy="246221"/>
              </a:xfrm>
              <a:prstGeom prst="rect">
                <a:avLst/>
              </a:prstGeom>
              <a:blipFill>
                <a:blip r:embed="rId18"/>
                <a:stretch>
                  <a:fillRect l="-4072" t="-25000" b="-45000"/>
                </a:stretch>
              </a:blipFill>
            </p:spPr>
            <p:txBody>
              <a:bodyPr/>
              <a:lstStyle/>
              <a:p>
                <a:r>
                  <a:rPr lang="en-GB">
                    <a:noFill/>
                  </a:rPr>
                  <a:t> </a:t>
                </a:r>
              </a:p>
            </p:txBody>
          </p:sp>
        </mc:Fallback>
      </mc:AlternateContent>
      <p:cxnSp>
        <p:nvCxnSpPr>
          <p:cNvPr id="101" name="Straight Connector 100">
            <a:extLst>
              <a:ext uri="{FF2B5EF4-FFF2-40B4-BE49-F238E27FC236}">
                <a16:creationId xmlns:a16="http://schemas.microsoft.com/office/drawing/2014/main" id="{08BD7340-9787-9B4B-9395-AB9D0E74EE73}"/>
              </a:ext>
            </a:extLst>
          </p:cNvPr>
          <p:cNvCxnSpPr>
            <a:cxnSpLocks/>
          </p:cNvCxnSpPr>
          <p:nvPr/>
        </p:nvCxnSpPr>
        <p:spPr>
          <a:xfrm>
            <a:off x="5480491" y="2631359"/>
            <a:ext cx="0" cy="1758723"/>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166CEFE8-2BCB-814C-A61F-81E514CCD31E}"/>
                  </a:ext>
                </a:extLst>
              </p:cNvPr>
              <p:cNvSpPr txBox="1"/>
              <p:nvPr/>
            </p:nvSpPr>
            <p:spPr>
              <a:xfrm>
                <a:off x="4770510" y="3192511"/>
                <a:ext cx="572649"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75000"/>
                          </a:schemeClr>
                        </a:solidFill>
                        <a:latin typeface="Cambria Math" panose="02040503050406030204" pitchFamily="18" charset="0"/>
                      </a:rPr>
                      <m:t>−</m:t>
                    </m:r>
                  </m:oMath>
                </a14:m>
                <a:r>
                  <a:rPr lang="en-GB" altLang="en-US" sz="1600" dirty="0">
                    <a:solidFill>
                      <a:schemeClr val="accent6">
                        <a:lumMod val="75000"/>
                      </a:schemeClr>
                    </a:solidFill>
                  </a:rPr>
                  <a:t> 225</a:t>
                </a:r>
              </a:p>
            </p:txBody>
          </p:sp>
        </mc:Choice>
        <mc:Fallback xmlns="">
          <p:sp>
            <p:nvSpPr>
              <p:cNvPr id="102" name="TextBox 101">
                <a:extLst>
                  <a:ext uri="{FF2B5EF4-FFF2-40B4-BE49-F238E27FC236}">
                    <a16:creationId xmlns:a16="http://schemas.microsoft.com/office/drawing/2014/main" id="{166CEFE8-2BCB-814C-A61F-81E514CCD31E}"/>
                  </a:ext>
                </a:extLst>
              </p:cNvPr>
              <p:cNvSpPr txBox="1">
                <a:spLocks noRot="1" noChangeAspect="1" noMove="1" noResize="1" noEditPoints="1" noAdjustHandles="1" noChangeArrowheads="1" noChangeShapeType="1" noTextEdit="1"/>
              </p:cNvSpPr>
              <p:nvPr/>
            </p:nvSpPr>
            <p:spPr>
              <a:xfrm>
                <a:off x="4770510" y="3192511"/>
                <a:ext cx="572649" cy="246221"/>
              </a:xfrm>
              <a:prstGeom prst="rect">
                <a:avLst/>
              </a:prstGeom>
              <a:blipFill>
                <a:blip r:embed="rId19"/>
                <a:stretch>
                  <a:fillRect t="-19048" r="-19565"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A5CCE65-4384-524F-AD4B-37A99EA08699}"/>
                  </a:ext>
                </a:extLst>
              </p:cNvPr>
              <p:cNvSpPr txBox="1"/>
              <p:nvPr/>
            </p:nvSpPr>
            <p:spPr>
              <a:xfrm>
                <a:off x="5628424" y="3192511"/>
                <a:ext cx="1073495" cy="246221"/>
              </a:xfrm>
              <a:prstGeom prst="rect">
                <a:avLst/>
              </a:prstGeom>
              <a:noFill/>
            </p:spPr>
            <p:txBody>
              <a:bodyPr wrap="square" lIns="0" tIns="0" rIns="0" bIns="0" rtlCol="0" anchor="ctr" anchorCtr="0">
                <a:spAutoFit/>
              </a:bodyPr>
              <a:lstStyle/>
              <a:p>
                <a:pPr algn="r">
                  <a:defRPr/>
                </a:pPr>
                <a14:m>
                  <m:oMathPara xmlns:m="http://schemas.openxmlformats.org/officeDocument/2006/math">
                    <m:oMathParaPr>
                      <m:jc m:val="left"/>
                    </m:oMathParaPr>
                    <m:oMath xmlns:m="http://schemas.openxmlformats.org/officeDocument/2006/math">
                      <m:r>
                        <a:rPr lang="en-GB" altLang="en-US" sz="1600" i="1">
                          <a:solidFill>
                            <a:schemeClr val="accent6">
                              <a:lumMod val="75000"/>
                            </a:schemeClr>
                          </a:solidFill>
                          <a:latin typeface="Cambria Math" panose="02040503050406030204" pitchFamily="18" charset="0"/>
                        </a:rPr>
                        <m:t>−</m:t>
                      </m:r>
                      <m:r>
                        <m:rPr>
                          <m:nor/>
                        </m:rPr>
                        <a:rPr lang="en-GB" altLang="en-US" sz="1600" dirty="0">
                          <a:solidFill>
                            <a:schemeClr val="accent6">
                              <a:lumMod val="75000"/>
                            </a:schemeClr>
                          </a:solidFill>
                        </a:rPr>
                        <m:t> </m:t>
                      </m:r>
                      <m:r>
                        <m:rPr>
                          <m:nor/>
                        </m:rPr>
                        <a:rPr lang="en-GB" altLang="en-US" sz="1600" b="0" i="0" dirty="0" smtClean="0">
                          <a:solidFill>
                            <a:schemeClr val="accent6">
                              <a:lumMod val="75000"/>
                            </a:schemeClr>
                          </a:solidFill>
                        </a:rPr>
                        <m:t>225</m:t>
                      </m:r>
                    </m:oMath>
                  </m:oMathPara>
                </a14:m>
                <a:endParaRPr lang="en-GB" altLang="en-US" sz="1600" dirty="0">
                  <a:solidFill>
                    <a:schemeClr val="accent6">
                      <a:lumMod val="75000"/>
                    </a:schemeClr>
                  </a:solidFill>
                </a:endParaRPr>
              </a:p>
            </p:txBody>
          </p:sp>
        </mc:Choice>
        <mc:Fallback xmlns="">
          <p:sp>
            <p:nvSpPr>
              <p:cNvPr id="103" name="TextBox 102">
                <a:extLst>
                  <a:ext uri="{FF2B5EF4-FFF2-40B4-BE49-F238E27FC236}">
                    <a16:creationId xmlns:a16="http://schemas.microsoft.com/office/drawing/2014/main" id="{5A5CCE65-4384-524F-AD4B-37A99EA08699}"/>
                  </a:ext>
                </a:extLst>
              </p:cNvPr>
              <p:cNvSpPr txBox="1">
                <a:spLocks noRot="1" noChangeAspect="1" noMove="1" noResize="1" noEditPoints="1" noAdjustHandles="1" noChangeArrowheads="1" noChangeShapeType="1" noTextEdit="1"/>
              </p:cNvSpPr>
              <p:nvPr/>
            </p:nvSpPr>
            <p:spPr>
              <a:xfrm>
                <a:off x="5628424" y="3192511"/>
                <a:ext cx="1073495" cy="246221"/>
              </a:xfrm>
              <a:prstGeom prst="rect">
                <a:avLst/>
              </a:prstGeom>
              <a:blipFill>
                <a:blip r:embed="rId20"/>
                <a:stretch>
                  <a:fillRect l="-2326" t="-14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0C83699A-90A6-C742-9BA8-834B139AF30A}"/>
                  </a:ext>
                </a:extLst>
              </p:cNvPr>
              <p:cNvSpPr txBox="1"/>
              <p:nvPr/>
            </p:nvSpPr>
            <p:spPr>
              <a:xfrm>
                <a:off x="5112610" y="3451450"/>
                <a:ext cx="2788467" cy="246221"/>
              </a:xfrm>
              <a:prstGeom prst="rect">
                <a:avLst/>
              </a:prstGeom>
              <a:noFill/>
            </p:spPr>
            <p:txBody>
              <a:bodyPr wrap="square" lIns="0" tIns="0" rIns="0" bIns="0" rtlCol="0" anchor="ctr" anchorCtr="0">
                <a:spAutoFit/>
              </a:bodyPr>
              <a:lstStyle/>
              <a:p>
                <a:pPr>
                  <a:defRPr/>
                </a:pPr>
                <a:r>
                  <a:rPr lang="en-GB" altLang="en-US" sz="1600" b="0" dirty="0">
                    <a:cs typeface="Calibri" panose="020F0502020204030204" pitchFamily="34" charset="0"/>
                  </a:rPr>
                  <a:t>31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a:t>
                </a: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216</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104" name="TextBox 103">
                <a:extLst>
                  <a:ext uri="{FF2B5EF4-FFF2-40B4-BE49-F238E27FC236}">
                    <a16:creationId xmlns:a16="http://schemas.microsoft.com/office/drawing/2014/main" id="{0C83699A-90A6-C742-9BA8-834B139AF30A}"/>
                  </a:ext>
                </a:extLst>
              </p:cNvPr>
              <p:cNvSpPr txBox="1">
                <a:spLocks noRot="1" noChangeAspect="1" noMove="1" noResize="1" noEditPoints="1" noAdjustHandles="1" noChangeArrowheads="1" noChangeShapeType="1" noTextEdit="1"/>
              </p:cNvSpPr>
              <p:nvPr/>
            </p:nvSpPr>
            <p:spPr>
              <a:xfrm>
                <a:off x="5112610" y="3451450"/>
                <a:ext cx="2788467" cy="246221"/>
              </a:xfrm>
              <a:prstGeom prst="rect">
                <a:avLst/>
              </a:prstGeom>
              <a:blipFill>
                <a:blip r:embed="rId21"/>
                <a:stretch>
                  <a:fillRect l="-4545"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EAAAD2C6-F0B0-F342-996B-1981A601DA91}"/>
                  </a:ext>
                </a:extLst>
              </p:cNvPr>
              <p:cNvSpPr txBox="1"/>
              <p:nvPr/>
            </p:nvSpPr>
            <p:spPr>
              <a:xfrm>
                <a:off x="4789480" y="3716109"/>
                <a:ext cx="572649"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75000"/>
                          </a:schemeClr>
                        </a:solidFill>
                        <a:latin typeface="Cambria Math" panose="02040503050406030204" pitchFamily="18" charset="0"/>
                      </a:rPr>
                      <m:t>−</m:t>
                    </m:r>
                  </m:oMath>
                </a14:m>
                <a:r>
                  <a:rPr lang="en-GB" altLang="en-US" sz="1600" dirty="0">
                    <a:solidFill>
                      <a:schemeClr val="accent6">
                        <a:lumMod val="75000"/>
                      </a:schemeClr>
                    </a:solidFill>
                  </a:rPr>
                  <a:t>216</a:t>
                </a:r>
              </a:p>
            </p:txBody>
          </p:sp>
        </mc:Choice>
        <mc:Fallback xmlns="">
          <p:sp>
            <p:nvSpPr>
              <p:cNvPr id="105" name="TextBox 104">
                <a:extLst>
                  <a:ext uri="{FF2B5EF4-FFF2-40B4-BE49-F238E27FC236}">
                    <a16:creationId xmlns:a16="http://schemas.microsoft.com/office/drawing/2014/main" id="{EAAAD2C6-F0B0-F342-996B-1981A601DA91}"/>
                  </a:ext>
                </a:extLst>
              </p:cNvPr>
              <p:cNvSpPr txBox="1">
                <a:spLocks noRot="1" noChangeAspect="1" noMove="1" noResize="1" noEditPoints="1" noAdjustHandles="1" noChangeArrowheads="1" noChangeShapeType="1" noTextEdit="1"/>
              </p:cNvSpPr>
              <p:nvPr/>
            </p:nvSpPr>
            <p:spPr>
              <a:xfrm>
                <a:off x="4789480" y="3716109"/>
                <a:ext cx="572649" cy="246221"/>
              </a:xfrm>
              <a:prstGeom prst="rect">
                <a:avLst/>
              </a:prstGeom>
              <a:blipFill>
                <a:blip r:embed="rId22"/>
                <a:stretch>
                  <a:fillRect t="-25000" r="-21739"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D4388073-361D-084B-8E31-72222FD32DA7}"/>
                  </a:ext>
                </a:extLst>
              </p:cNvPr>
              <p:cNvSpPr txBox="1"/>
              <p:nvPr/>
            </p:nvSpPr>
            <p:spPr>
              <a:xfrm>
                <a:off x="5836945" y="3716109"/>
                <a:ext cx="535469" cy="246221"/>
              </a:xfrm>
              <a:prstGeom prst="rect">
                <a:avLst/>
              </a:prstGeom>
              <a:noFill/>
            </p:spPr>
            <p:txBody>
              <a:bodyPr wrap="square" lIns="0" tIns="0" rIns="0" bIns="0" rtlCol="0" anchor="ctr" anchorCtr="0">
                <a:spAutoFit/>
              </a:bodyPr>
              <a:lstStyle/>
              <a:p>
                <a:pPr algn="r">
                  <a:defRPr/>
                </a:pPr>
                <a14:m>
                  <m:oMathPara xmlns:m="http://schemas.openxmlformats.org/officeDocument/2006/math">
                    <m:oMathParaPr>
                      <m:jc m:val="center"/>
                    </m:oMathParaPr>
                    <m:oMath xmlns:m="http://schemas.openxmlformats.org/officeDocument/2006/math">
                      <m:r>
                        <a:rPr lang="en-GB" altLang="en-US" sz="1600" i="1">
                          <a:solidFill>
                            <a:schemeClr val="accent6">
                              <a:lumMod val="75000"/>
                            </a:schemeClr>
                          </a:solidFill>
                          <a:latin typeface="Cambria Math" panose="02040503050406030204" pitchFamily="18" charset="0"/>
                        </a:rPr>
                        <m:t>−</m:t>
                      </m:r>
                      <m:r>
                        <m:rPr>
                          <m:nor/>
                        </m:rPr>
                        <a:rPr lang="en-GB" altLang="en-US" sz="1600" dirty="0" smtClean="0">
                          <a:solidFill>
                            <a:schemeClr val="accent6">
                              <a:lumMod val="75000"/>
                            </a:schemeClr>
                          </a:solidFill>
                        </a:rPr>
                        <m:t>2</m:t>
                      </m:r>
                      <m:r>
                        <m:rPr>
                          <m:nor/>
                        </m:rPr>
                        <a:rPr lang="en-GB" altLang="en-US" sz="1600" b="0" dirty="0" smtClean="0">
                          <a:solidFill>
                            <a:schemeClr val="accent6">
                              <a:lumMod val="75000"/>
                            </a:schemeClr>
                          </a:solidFill>
                        </a:rPr>
                        <m:t>16</m:t>
                      </m:r>
                    </m:oMath>
                  </m:oMathPara>
                </a14:m>
                <a:endParaRPr lang="en-GB" altLang="en-US" sz="1600" dirty="0">
                  <a:solidFill>
                    <a:schemeClr val="accent6">
                      <a:lumMod val="75000"/>
                    </a:schemeClr>
                  </a:solidFill>
                </a:endParaRPr>
              </a:p>
            </p:txBody>
          </p:sp>
        </mc:Choice>
        <mc:Fallback xmlns="">
          <p:sp>
            <p:nvSpPr>
              <p:cNvPr id="106" name="TextBox 105">
                <a:extLst>
                  <a:ext uri="{FF2B5EF4-FFF2-40B4-BE49-F238E27FC236}">
                    <a16:creationId xmlns:a16="http://schemas.microsoft.com/office/drawing/2014/main" id="{D4388073-361D-084B-8E31-72222FD32DA7}"/>
                  </a:ext>
                </a:extLst>
              </p:cNvPr>
              <p:cNvSpPr txBox="1">
                <a:spLocks noRot="1" noChangeAspect="1" noMove="1" noResize="1" noEditPoints="1" noAdjustHandles="1" noChangeArrowheads="1" noChangeShapeType="1" noTextEdit="1"/>
              </p:cNvSpPr>
              <p:nvPr/>
            </p:nvSpPr>
            <p:spPr>
              <a:xfrm>
                <a:off x="5836945" y="3716109"/>
                <a:ext cx="535469" cy="246221"/>
              </a:xfrm>
              <a:prstGeom prst="rect">
                <a:avLst/>
              </a:prstGeom>
              <a:blipFill>
                <a:blip r:embed="rId23"/>
                <a:stretch>
                  <a:fillRect r="-4651"/>
                </a:stretch>
              </a:blipFill>
            </p:spPr>
            <p:txBody>
              <a:bodyPr/>
              <a:lstStyle/>
              <a:p>
                <a:r>
                  <a:rPr lang="en-GB">
                    <a:noFill/>
                  </a:rPr>
                  <a:t> </a:t>
                </a:r>
              </a:p>
            </p:txBody>
          </p:sp>
        </mc:Fallback>
      </mc:AlternateContent>
      <p:cxnSp>
        <p:nvCxnSpPr>
          <p:cNvPr id="107" name="Straight Connector 106">
            <a:extLst>
              <a:ext uri="{FF2B5EF4-FFF2-40B4-BE49-F238E27FC236}">
                <a16:creationId xmlns:a16="http://schemas.microsoft.com/office/drawing/2014/main" id="{E3F39308-6581-6245-97E9-ACE6B703B157}"/>
              </a:ext>
            </a:extLst>
          </p:cNvPr>
          <p:cNvCxnSpPr>
            <a:cxnSpLocks/>
          </p:cNvCxnSpPr>
          <p:nvPr/>
        </p:nvCxnSpPr>
        <p:spPr>
          <a:xfrm>
            <a:off x="4889707" y="3708293"/>
            <a:ext cx="501311"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4DA01A18-B087-D94E-A376-460BEA2712E9}"/>
              </a:ext>
            </a:extLst>
          </p:cNvPr>
          <p:cNvCxnSpPr>
            <a:cxnSpLocks/>
          </p:cNvCxnSpPr>
          <p:nvPr/>
        </p:nvCxnSpPr>
        <p:spPr>
          <a:xfrm>
            <a:off x="5600263" y="3708293"/>
            <a:ext cx="1075846"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F4E8AEFD-7F30-A442-B62B-CF5DC542ADFF}"/>
                  </a:ext>
                </a:extLst>
              </p:cNvPr>
              <p:cNvSpPr txBox="1"/>
              <p:nvPr/>
            </p:nvSpPr>
            <p:spPr>
              <a:xfrm>
                <a:off x="5410064" y="4038995"/>
                <a:ext cx="1173330"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b="0" dirty="0">
                    <a:latin typeface="Calibri" panose="020F0502020204030204" pitchFamily="34" charset="0"/>
                    <a:cs typeface="Calibri" panose="020F0502020204030204" pitchFamily="34" charset="0"/>
                  </a:rPr>
                  <a:t> </a:t>
                </a:r>
                <a14:m>
                  <m:oMath xmlns:m="http://schemas.openxmlformats.org/officeDocument/2006/math">
                    <m:r>
                      <m:rPr>
                        <m:sty m:val="p"/>
                      </m:rPr>
                      <a:rPr lang="en-GB" altLang="en-US" sz="1600">
                        <a:latin typeface="Cambria Math" panose="02040503050406030204" pitchFamily="18" charset="0"/>
                        <a:cs typeface="Calibri" panose="020F0502020204030204" pitchFamily="34" charset="0"/>
                      </a:rPr>
                      <m:t>cos</m:t>
                    </m:r>
                    <m:r>
                      <m:rPr>
                        <m:nor/>
                      </m:rPr>
                      <a:rPr lang="en-GB" altLang="en-US" sz="1600" dirty="0">
                        <a:latin typeface="Calibri" panose="020F0502020204030204" pitchFamily="34" charset="0"/>
                        <a:cs typeface="Calibri" panose="020F0502020204030204" pitchFamily="34" charset="0"/>
                      </a:rPr>
                      <m:t>(</m:t>
                    </m:r>
                    <m:r>
                      <a:rPr lang="en-GB" altLang="en-US" sz="1600" i="1" dirty="0">
                        <a:latin typeface="Cambria Math" panose="02040503050406030204" pitchFamily="18" charset="0"/>
                        <a:cs typeface="Calibri" panose="020F0502020204030204" pitchFamily="34" charset="0"/>
                      </a:rPr>
                      <m:t>𝜃</m:t>
                    </m:r>
                    <m:r>
                      <m:rPr>
                        <m:nor/>
                      </m:rPr>
                      <a:rPr lang="en-GB" altLang="en-US" sz="1600" baseline="30000" dirty="0">
                        <a:latin typeface="Calibri" panose="020F0502020204030204" pitchFamily="34" charset="0"/>
                        <a:cs typeface="Calibri" panose="020F0502020204030204" pitchFamily="34" charset="0"/>
                      </a:rPr>
                      <m:t>o</m:t>
                    </m:r>
                    <m:r>
                      <m:rPr>
                        <m:nor/>
                      </m:rPr>
                      <a:rPr lang="en-GB" altLang="en-US" sz="1600" dirty="0">
                        <a:latin typeface="Calibri" panose="020F0502020204030204" pitchFamily="34" charset="0"/>
                        <a:cs typeface="Calibri" panose="020F0502020204030204" pitchFamily="34" charset="0"/>
                      </a:rPr>
                      <m:t>)</m:t>
                    </m:r>
                  </m:oMath>
                </a14:m>
                <a:endParaRPr lang="en-GB" altLang="en-US" sz="1600" dirty="0">
                  <a:latin typeface="Calibri" panose="020F0502020204030204" pitchFamily="34" charset="0"/>
                  <a:cs typeface="Calibri" panose="020F0502020204030204" pitchFamily="34" charset="0"/>
                </a:endParaRPr>
              </a:p>
            </p:txBody>
          </p:sp>
        </mc:Choice>
        <mc:Fallback xmlns="">
          <p:sp>
            <p:nvSpPr>
              <p:cNvPr id="113" name="TextBox 112">
                <a:extLst>
                  <a:ext uri="{FF2B5EF4-FFF2-40B4-BE49-F238E27FC236}">
                    <a16:creationId xmlns:a16="http://schemas.microsoft.com/office/drawing/2014/main" id="{F4E8AEFD-7F30-A442-B62B-CF5DC542ADFF}"/>
                  </a:ext>
                </a:extLst>
              </p:cNvPr>
              <p:cNvSpPr txBox="1">
                <a:spLocks noRot="1" noChangeAspect="1" noMove="1" noResize="1" noEditPoints="1" noAdjustHandles="1" noChangeArrowheads="1" noChangeShapeType="1" noTextEdit="1"/>
              </p:cNvSpPr>
              <p:nvPr/>
            </p:nvSpPr>
            <p:spPr>
              <a:xfrm>
                <a:off x="5410064" y="4038995"/>
                <a:ext cx="1173330" cy="246221"/>
              </a:xfrm>
              <a:prstGeom prst="rect">
                <a:avLst/>
              </a:prstGeom>
              <a:blipFill>
                <a:blip r:embed="rId24"/>
                <a:stretch>
                  <a:fillRect l="-3226" b="-30000"/>
                </a:stretch>
              </a:blipFill>
            </p:spPr>
            <p:txBody>
              <a:bodyPr/>
              <a:lstStyle/>
              <a:p>
                <a:r>
                  <a:rPr lang="en-GB">
                    <a:noFill/>
                  </a:rPr>
                  <a:t> </a:t>
                </a:r>
              </a:p>
            </p:txBody>
          </p:sp>
        </mc:Fallback>
      </mc:AlternateContent>
      <p:grpSp>
        <p:nvGrpSpPr>
          <p:cNvPr id="13" name="Group 12">
            <a:extLst>
              <a:ext uri="{FF2B5EF4-FFF2-40B4-BE49-F238E27FC236}">
                <a16:creationId xmlns:a16="http://schemas.microsoft.com/office/drawing/2014/main" id="{6B1A08C2-140C-D44A-8CEA-74CD587B1150}"/>
              </a:ext>
            </a:extLst>
          </p:cNvPr>
          <p:cNvGrpSpPr/>
          <p:nvPr/>
        </p:nvGrpSpPr>
        <p:grpSpPr>
          <a:xfrm>
            <a:off x="4758137" y="3927140"/>
            <a:ext cx="606846" cy="492443"/>
            <a:chOff x="4543054" y="3960642"/>
            <a:chExt cx="606846" cy="492443"/>
          </a:xfrm>
        </p:grpSpPr>
        <p:sp>
          <p:nvSpPr>
            <p:cNvPr id="117" name="TextBox 116">
              <a:extLst>
                <a:ext uri="{FF2B5EF4-FFF2-40B4-BE49-F238E27FC236}">
                  <a16:creationId xmlns:a16="http://schemas.microsoft.com/office/drawing/2014/main" id="{5D402594-A98B-F747-945F-53B5CF08B527}"/>
                </a:ext>
              </a:extLst>
            </p:cNvPr>
            <p:cNvSpPr txBox="1"/>
            <p:nvPr/>
          </p:nvSpPr>
          <p:spPr>
            <a:xfrm>
              <a:off x="4782547" y="3960642"/>
              <a:ext cx="367353" cy="492443"/>
            </a:xfrm>
            <a:prstGeom prst="rect">
              <a:avLst/>
            </a:prstGeom>
            <a:noFill/>
          </p:spPr>
          <p:txBody>
            <a:bodyPr wrap="square" lIns="0" tIns="0" rIns="0" bIns="0" rtlCol="0" anchor="ctr" anchorCtr="0">
              <a:spAutoFit/>
            </a:bodyPr>
            <a:lstStyle/>
            <a:p>
              <a:pPr algn="ctr">
                <a:defRPr/>
              </a:pPr>
              <a:r>
                <a:rPr lang="en-GB" altLang="en-US" sz="1600" dirty="0">
                  <a:latin typeface="Calibri" panose="020F0502020204030204" pitchFamily="34" charset="0"/>
                  <a:cs typeface="Calibri" panose="020F0502020204030204" pitchFamily="34" charset="0"/>
                </a:rPr>
                <a:t>31</a:t>
              </a:r>
            </a:p>
            <a:p>
              <a:pPr algn="ctr">
                <a:defRPr/>
              </a:pPr>
              <a:r>
                <a:rPr lang="en-GB" altLang="en-US" sz="1600" dirty="0">
                  <a:latin typeface="Calibri" panose="020F0502020204030204" pitchFamily="34" charset="0"/>
                  <a:cs typeface="Calibri" panose="020F0502020204030204" pitchFamily="34" charset="0"/>
                </a:rPr>
                <a:t>216</a:t>
              </a:r>
            </a:p>
          </p:txBody>
        </p:sp>
        <p:cxnSp>
          <p:nvCxnSpPr>
            <p:cNvPr id="118" name="Straight Connector 117">
              <a:extLst>
                <a:ext uri="{FF2B5EF4-FFF2-40B4-BE49-F238E27FC236}">
                  <a16:creationId xmlns:a16="http://schemas.microsoft.com/office/drawing/2014/main" id="{7BA99B5E-1875-C945-9769-56219B925F3E}"/>
                </a:ext>
              </a:extLst>
            </p:cNvPr>
            <p:cNvCxnSpPr>
              <a:cxnSpLocks/>
            </p:cNvCxnSpPr>
            <p:nvPr/>
          </p:nvCxnSpPr>
          <p:spPr>
            <a:xfrm>
              <a:off x="4795022" y="4206813"/>
              <a:ext cx="3424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CA54F80A-03E9-B041-8948-B291365D16FF}"/>
                    </a:ext>
                  </a:extLst>
                </p:cNvPr>
                <p:cNvSpPr txBox="1"/>
                <p:nvPr/>
              </p:nvSpPr>
              <p:spPr>
                <a:xfrm>
                  <a:off x="4543054" y="4072497"/>
                  <a:ext cx="367353" cy="246221"/>
                </a:xfrm>
                <a:prstGeom prst="rect">
                  <a:avLst/>
                </a:prstGeom>
                <a:noFill/>
              </p:spPr>
              <p:txBody>
                <a:bodyPr wrap="square" lIns="0" tIns="0" rIns="0" bIns="0" rtlCol="0" anchor="ctr" anchorCtr="0">
                  <a:spAutoFit/>
                </a:bodyPr>
                <a:lstStyle/>
                <a:p>
                  <a:pPr algn="ctr">
                    <a:defRPr/>
                  </a:pPr>
                  <a14:m>
                    <m:oMathPara xmlns:m="http://schemas.openxmlformats.org/officeDocument/2006/math">
                      <m:oMathParaPr>
                        <m:jc m:val="centerGroup"/>
                      </m:oMathParaPr>
                      <m:oMath xmlns:m="http://schemas.openxmlformats.org/officeDocument/2006/math">
                        <m:r>
                          <a:rPr lang="en-GB" altLang="en-US" sz="1600" i="1" dirty="0" smtClean="0">
                            <a:latin typeface="Cambria Math" panose="02040503050406030204" pitchFamily="18" charset="0"/>
                            <a:cs typeface="Calibri" panose="020F0502020204030204" pitchFamily="34" charset="0"/>
                          </a:rPr>
                          <m:t>−</m:t>
                        </m:r>
                      </m:oMath>
                    </m:oMathPara>
                  </a14:m>
                  <a:endParaRPr lang="en-GB" altLang="en-US" sz="1600" dirty="0">
                    <a:latin typeface="Calibri" panose="020F0502020204030204" pitchFamily="34" charset="0"/>
                    <a:cs typeface="Calibri" panose="020F0502020204030204" pitchFamily="34" charset="0"/>
                  </a:endParaRPr>
                </a:p>
              </p:txBody>
            </p:sp>
          </mc:Choice>
          <mc:Fallback xmlns="">
            <p:sp>
              <p:nvSpPr>
                <p:cNvPr id="119" name="TextBox 118">
                  <a:extLst>
                    <a:ext uri="{FF2B5EF4-FFF2-40B4-BE49-F238E27FC236}">
                      <a16:creationId xmlns:a16="http://schemas.microsoft.com/office/drawing/2014/main" id="{CA54F80A-03E9-B041-8948-B291365D16FF}"/>
                    </a:ext>
                  </a:extLst>
                </p:cNvPr>
                <p:cNvSpPr txBox="1">
                  <a:spLocks noRot="1" noChangeAspect="1" noMove="1" noResize="1" noEditPoints="1" noAdjustHandles="1" noChangeArrowheads="1" noChangeShapeType="1" noTextEdit="1"/>
                </p:cNvSpPr>
                <p:nvPr/>
              </p:nvSpPr>
              <p:spPr>
                <a:xfrm>
                  <a:off x="4543054" y="4072497"/>
                  <a:ext cx="367353" cy="246221"/>
                </a:xfrm>
                <a:prstGeom prst="rect">
                  <a:avLst/>
                </a:prstGeom>
                <a:blipFill>
                  <a:blip r:embed="rId25"/>
                  <a:stretch>
                    <a:fillRect/>
                  </a:stretch>
                </a:blipFill>
              </p:spPr>
              <p:txBody>
                <a:bodyPr/>
                <a:lstStyle/>
                <a:p>
                  <a:r>
                    <a:rPr lang="en-GB">
                      <a:noFill/>
                    </a:rPr>
                    <a:t> </a:t>
                  </a:r>
                </a:p>
              </p:txBody>
            </p:sp>
          </mc:Fallback>
        </mc:AlternateContent>
      </p:grpSp>
      <p:grpSp>
        <p:nvGrpSpPr>
          <p:cNvPr id="15" name="Group 14">
            <a:extLst>
              <a:ext uri="{FF2B5EF4-FFF2-40B4-BE49-F238E27FC236}">
                <a16:creationId xmlns:a16="http://schemas.microsoft.com/office/drawing/2014/main" id="{3A3537AE-775C-1543-B0A4-2445AB231644}"/>
              </a:ext>
            </a:extLst>
          </p:cNvPr>
          <p:cNvGrpSpPr/>
          <p:nvPr/>
        </p:nvGrpSpPr>
        <p:grpSpPr>
          <a:xfrm>
            <a:off x="6424415" y="3927140"/>
            <a:ext cx="1804028" cy="492443"/>
            <a:chOff x="6532158" y="3971898"/>
            <a:chExt cx="1804028" cy="492443"/>
          </a:xfrm>
        </p:grpSpPr>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A7C2EF6-5264-054B-8FB2-995DF98DFC98}"/>
                    </a:ext>
                  </a:extLst>
                </p:cNvPr>
                <p:cNvSpPr txBox="1"/>
                <p:nvPr/>
              </p:nvSpPr>
              <p:spPr>
                <a:xfrm>
                  <a:off x="6532158" y="4087533"/>
                  <a:ext cx="1630767"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𝜃</m:t>
                      </m:r>
                    </m:oMath>
                  </a14:m>
                  <a:r>
                    <a:rPr lang="en-GB" altLang="en-US" sz="1600" baseline="30000" dirty="0">
                      <a:latin typeface="Calibri" panose="020F0502020204030204" pitchFamily="34" charset="0"/>
                      <a:cs typeface="Calibri" panose="020F0502020204030204" pitchFamily="34" charset="0"/>
                    </a:rPr>
                    <a:t>o</a:t>
                  </a:r>
                  <a:r>
                    <a:rPr lang="en-GB" altLang="en-US" sz="1600" dirty="0">
                      <a:latin typeface="Calibri" panose="020F0502020204030204" pitchFamily="34" charset="0"/>
                      <a:cs typeface="Calibri" panose="020F0502020204030204" pitchFamily="34" charset="0"/>
                    </a:rPr>
                    <a:t> </a:t>
                  </a:r>
                  <a14:m>
                    <m:oMath xmlns:m="http://schemas.openxmlformats.org/officeDocument/2006/math">
                      <m:r>
                        <a:rPr lang="en-GB" altLang="en-US" sz="1600" b="0" i="1" dirty="0"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14:m>
                    <m:oMath xmlns:m="http://schemas.openxmlformats.org/officeDocument/2006/math">
                      <m:sSup>
                        <m:sSupPr>
                          <m:ctrlPr>
                            <a:rPr lang="en-GB" altLang="en-US" sz="1600" b="0" i="1" dirty="0" smtClean="0">
                              <a:latin typeface="Cambria Math" panose="02040503050406030204" pitchFamily="18" charset="0"/>
                              <a:cs typeface="Calibri" panose="020F0502020204030204" pitchFamily="34" charset="0"/>
                            </a:rPr>
                          </m:ctrlPr>
                        </m:sSupPr>
                        <m:e>
                          <m:r>
                            <m:rPr>
                              <m:sty m:val="p"/>
                            </m:rPr>
                            <a:rPr lang="en-GB" altLang="en-US" sz="1600" dirty="0">
                              <a:latin typeface="Cambria Math" panose="02040503050406030204" pitchFamily="18" charset="0"/>
                              <a:cs typeface="Calibri" panose="020F0502020204030204" pitchFamily="34" charset="0"/>
                            </a:rPr>
                            <m:t>cos</m:t>
                          </m:r>
                        </m:e>
                        <m:sup>
                          <m:r>
                            <a:rPr lang="en-GB" altLang="en-US" sz="1600" b="0" i="0" dirty="0" smtClean="0">
                              <a:latin typeface="Cambria Math" panose="02040503050406030204" pitchFamily="18" charset="0"/>
                              <a:cs typeface="Calibri" panose="020F0502020204030204" pitchFamily="34" charset="0"/>
                            </a:rPr>
                            <m:t>−1</m:t>
                          </m:r>
                        </m:sup>
                      </m:sSup>
                    </m:oMath>
                  </a14:m>
                  <a:endParaRPr lang="en-GB" altLang="en-US" sz="1600" dirty="0">
                    <a:latin typeface="Calibri" panose="020F0502020204030204" pitchFamily="34" charset="0"/>
                    <a:cs typeface="Calibri" panose="020F0502020204030204" pitchFamily="34" charset="0"/>
                  </a:endParaRPr>
                </a:p>
              </p:txBody>
            </p:sp>
          </mc:Choice>
          <mc:Fallback xmlns="">
            <p:sp>
              <p:nvSpPr>
                <p:cNvPr id="114" name="TextBox 113">
                  <a:extLst>
                    <a:ext uri="{FF2B5EF4-FFF2-40B4-BE49-F238E27FC236}">
                      <a16:creationId xmlns:a16="http://schemas.microsoft.com/office/drawing/2014/main" id="{0A7C2EF6-5264-054B-8FB2-995DF98DFC98}"/>
                    </a:ext>
                  </a:extLst>
                </p:cNvPr>
                <p:cNvSpPr txBox="1">
                  <a:spLocks noRot="1" noChangeAspect="1" noMove="1" noResize="1" noEditPoints="1" noAdjustHandles="1" noChangeArrowheads="1" noChangeShapeType="1" noTextEdit="1"/>
                </p:cNvSpPr>
                <p:nvPr/>
              </p:nvSpPr>
              <p:spPr>
                <a:xfrm>
                  <a:off x="6532158" y="4087533"/>
                  <a:ext cx="1630767" cy="246221"/>
                </a:xfrm>
                <a:prstGeom prst="rect">
                  <a:avLst/>
                </a:prstGeom>
                <a:blipFill>
                  <a:blip r:embed="rId26"/>
                  <a:stretch>
                    <a:fillRect l="-3101" t="-14286" b="-4762"/>
                  </a:stretch>
                </a:blipFill>
              </p:spPr>
              <p:txBody>
                <a:bodyPr/>
                <a:lstStyle/>
                <a:p>
                  <a:r>
                    <a:rPr lang="en-GB">
                      <a:noFill/>
                    </a:rPr>
                    <a:t> </a:t>
                  </a:r>
                </a:p>
              </p:txBody>
            </p:sp>
          </mc:Fallback>
        </mc:AlternateContent>
        <p:sp>
          <p:nvSpPr>
            <p:cNvPr id="120" name="Arc 119">
              <a:extLst>
                <a:ext uri="{FF2B5EF4-FFF2-40B4-BE49-F238E27FC236}">
                  <a16:creationId xmlns:a16="http://schemas.microsoft.com/office/drawing/2014/main" id="{3D8A82AB-E4CE-D449-8CB5-1FEE72D80B97}"/>
                </a:ext>
              </a:extLst>
            </p:cNvPr>
            <p:cNvSpPr/>
            <p:nvPr/>
          </p:nvSpPr>
          <p:spPr>
            <a:xfrm>
              <a:off x="8221593" y="3985658"/>
              <a:ext cx="114593" cy="478683"/>
            </a:xfrm>
            <a:prstGeom prst="arc">
              <a:avLst>
                <a:gd name="adj1" fmla="val 16200000"/>
                <a:gd name="adj2" fmla="val 5360939"/>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2" name="Arc 121">
              <a:extLst>
                <a:ext uri="{FF2B5EF4-FFF2-40B4-BE49-F238E27FC236}">
                  <a16:creationId xmlns:a16="http://schemas.microsoft.com/office/drawing/2014/main" id="{1CAEB8B5-D94C-AF44-B9BE-EF33BA1AE087}"/>
                </a:ext>
              </a:extLst>
            </p:cNvPr>
            <p:cNvSpPr/>
            <p:nvPr/>
          </p:nvSpPr>
          <p:spPr>
            <a:xfrm flipH="1">
              <a:off x="7698362" y="3985658"/>
              <a:ext cx="114593" cy="478683"/>
            </a:xfrm>
            <a:prstGeom prst="arc">
              <a:avLst>
                <a:gd name="adj1" fmla="val 16200000"/>
                <a:gd name="adj2" fmla="val 5360939"/>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125" name="Group 124">
              <a:extLst>
                <a:ext uri="{FF2B5EF4-FFF2-40B4-BE49-F238E27FC236}">
                  <a16:creationId xmlns:a16="http://schemas.microsoft.com/office/drawing/2014/main" id="{787E9B72-91D2-1A48-8AA1-43458F958363}"/>
                </a:ext>
              </a:extLst>
            </p:cNvPr>
            <p:cNvGrpSpPr/>
            <p:nvPr/>
          </p:nvGrpSpPr>
          <p:grpSpPr>
            <a:xfrm>
              <a:off x="7663134" y="3971898"/>
              <a:ext cx="606846" cy="492443"/>
              <a:chOff x="4543054" y="3960642"/>
              <a:chExt cx="606846" cy="492443"/>
            </a:xfrm>
          </p:grpSpPr>
          <p:sp>
            <p:nvSpPr>
              <p:cNvPr id="126" name="TextBox 125">
                <a:extLst>
                  <a:ext uri="{FF2B5EF4-FFF2-40B4-BE49-F238E27FC236}">
                    <a16:creationId xmlns:a16="http://schemas.microsoft.com/office/drawing/2014/main" id="{AA1F18EB-2B53-5746-8D0A-FC89920F5F57}"/>
                  </a:ext>
                </a:extLst>
              </p:cNvPr>
              <p:cNvSpPr txBox="1"/>
              <p:nvPr/>
            </p:nvSpPr>
            <p:spPr>
              <a:xfrm>
                <a:off x="4782547" y="3960642"/>
                <a:ext cx="367353" cy="492443"/>
              </a:xfrm>
              <a:prstGeom prst="rect">
                <a:avLst/>
              </a:prstGeom>
              <a:noFill/>
            </p:spPr>
            <p:txBody>
              <a:bodyPr wrap="square" lIns="0" tIns="0" rIns="0" bIns="0" rtlCol="0" anchor="ctr" anchorCtr="0">
                <a:spAutoFit/>
              </a:bodyPr>
              <a:lstStyle/>
              <a:p>
                <a:pPr algn="ctr">
                  <a:defRPr/>
                </a:pPr>
                <a:r>
                  <a:rPr lang="en-GB" altLang="en-US" sz="1600" dirty="0">
                    <a:latin typeface="Calibri" panose="020F0502020204030204" pitchFamily="34" charset="0"/>
                    <a:cs typeface="Calibri" panose="020F0502020204030204" pitchFamily="34" charset="0"/>
                  </a:rPr>
                  <a:t>31</a:t>
                </a:r>
              </a:p>
              <a:p>
                <a:pPr algn="ctr">
                  <a:defRPr/>
                </a:pPr>
                <a:r>
                  <a:rPr lang="en-GB" altLang="en-US" sz="1600" dirty="0">
                    <a:latin typeface="Calibri" panose="020F0502020204030204" pitchFamily="34" charset="0"/>
                    <a:cs typeface="Calibri" panose="020F0502020204030204" pitchFamily="34" charset="0"/>
                  </a:rPr>
                  <a:t>216</a:t>
                </a:r>
              </a:p>
            </p:txBody>
          </p:sp>
          <p:cxnSp>
            <p:nvCxnSpPr>
              <p:cNvPr id="127" name="Straight Connector 126">
                <a:extLst>
                  <a:ext uri="{FF2B5EF4-FFF2-40B4-BE49-F238E27FC236}">
                    <a16:creationId xmlns:a16="http://schemas.microsoft.com/office/drawing/2014/main" id="{EA13C2D2-85E7-4549-BDFA-D1D65EB0D64F}"/>
                  </a:ext>
                </a:extLst>
              </p:cNvPr>
              <p:cNvCxnSpPr>
                <a:cxnSpLocks/>
              </p:cNvCxnSpPr>
              <p:nvPr/>
            </p:nvCxnSpPr>
            <p:spPr>
              <a:xfrm>
                <a:off x="4795022" y="4206813"/>
                <a:ext cx="3424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FF94B80D-81D4-7C4D-9262-ABD98FFF065D}"/>
                      </a:ext>
                    </a:extLst>
                  </p:cNvPr>
                  <p:cNvSpPr txBox="1"/>
                  <p:nvPr/>
                </p:nvSpPr>
                <p:spPr>
                  <a:xfrm>
                    <a:off x="4543054" y="4072497"/>
                    <a:ext cx="367353" cy="246221"/>
                  </a:xfrm>
                  <a:prstGeom prst="rect">
                    <a:avLst/>
                  </a:prstGeom>
                  <a:noFill/>
                </p:spPr>
                <p:txBody>
                  <a:bodyPr wrap="square" lIns="0" tIns="0" rIns="0" bIns="0" rtlCol="0" anchor="ctr" anchorCtr="0">
                    <a:spAutoFit/>
                  </a:bodyPr>
                  <a:lstStyle/>
                  <a:p>
                    <a:pPr algn="ctr">
                      <a:defRPr/>
                    </a:pPr>
                    <a14:m>
                      <m:oMathPara xmlns:m="http://schemas.openxmlformats.org/officeDocument/2006/math">
                        <m:oMathParaPr>
                          <m:jc m:val="centerGroup"/>
                        </m:oMathParaPr>
                        <m:oMath xmlns:m="http://schemas.openxmlformats.org/officeDocument/2006/math">
                          <m:r>
                            <a:rPr lang="en-GB" altLang="en-US" sz="1600" i="1" dirty="0" smtClean="0">
                              <a:latin typeface="Cambria Math" panose="02040503050406030204" pitchFamily="18" charset="0"/>
                              <a:cs typeface="Calibri" panose="020F0502020204030204" pitchFamily="34" charset="0"/>
                            </a:rPr>
                            <m:t>−</m:t>
                          </m:r>
                        </m:oMath>
                      </m:oMathPara>
                    </a14:m>
                    <a:endParaRPr lang="en-GB" altLang="en-US" sz="1600" dirty="0">
                      <a:latin typeface="Calibri" panose="020F0502020204030204" pitchFamily="34" charset="0"/>
                      <a:cs typeface="Calibri" panose="020F0502020204030204" pitchFamily="34" charset="0"/>
                    </a:endParaRPr>
                  </a:p>
                </p:txBody>
              </p:sp>
            </mc:Choice>
            <mc:Fallback xmlns="">
              <p:sp>
                <p:nvSpPr>
                  <p:cNvPr id="128" name="TextBox 127">
                    <a:extLst>
                      <a:ext uri="{FF2B5EF4-FFF2-40B4-BE49-F238E27FC236}">
                        <a16:creationId xmlns:a16="http://schemas.microsoft.com/office/drawing/2014/main" id="{FF94B80D-81D4-7C4D-9262-ABD98FFF065D}"/>
                      </a:ext>
                    </a:extLst>
                  </p:cNvPr>
                  <p:cNvSpPr txBox="1">
                    <a:spLocks noRot="1" noChangeAspect="1" noMove="1" noResize="1" noEditPoints="1" noAdjustHandles="1" noChangeArrowheads="1" noChangeShapeType="1" noTextEdit="1"/>
                  </p:cNvSpPr>
                  <p:nvPr/>
                </p:nvSpPr>
                <p:spPr>
                  <a:xfrm>
                    <a:off x="4543054" y="4072497"/>
                    <a:ext cx="367353" cy="246221"/>
                  </a:xfrm>
                  <a:prstGeom prst="rect">
                    <a:avLst/>
                  </a:prstGeom>
                  <a:blipFill>
                    <a:blip r:embed="rId27"/>
                    <a:stretch>
                      <a:fillRect/>
                    </a:stretch>
                  </a:blipFill>
                </p:spPr>
                <p:txBody>
                  <a:bodyPr/>
                  <a:lstStyle/>
                  <a:p>
                    <a:r>
                      <a:rPr lang="en-GB">
                        <a:noFill/>
                      </a:rPr>
                      <a:t> </a:t>
                    </a:r>
                  </a:p>
                </p:txBody>
              </p:sp>
            </mc:Fallback>
          </mc:AlternateContent>
        </p:grpSp>
      </p:grpSp>
      <p:sp>
        <p:nvSpPr>
          <p:cNvPr id="115" name="Rectangle 114">
            <a:extLst>
              <a:ext uri="{FF2B5EF4-FFF2-40B4-BE49-F238E27FC236}">
                <a16:creationId xmlns:a16="http://schemas.microsoft.com/office/drawing/2014/main" id="{8CBFC418-5C70-1844-874B-3FCF3ADF217D}"/>
              </a:ext>
            </a:extLst>
          </p:cNvPr>
          <p:cNvSpPr/>
          <p:nvPr/>
        </p:nvSpPr>
        <p:spPr>
          <a:xfrm>
            <a:off x="7056570" y="3893008"/>
            <a:ext cx="1218440" cy="5457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Rectangle 128">
            <a:extLst>
              <a:ext uri="{FF2B5EF4-FFF2-40B4-BE49-F238E27FC236}">
                <a16:creationId xmlns:a16="http://schemas.microsoft.com/office/drawing/2014/main" id="{649BF148-9211-5344-A5ED-77E032109B55}"/>
              </a:ext>
            </a:extLst>
          </p:cNvPr>
          <p:cNvSpPr/>
          <p:nvPr/>
        </p:nvSpPr>
        <p:spPr>
          <a:xfrm>
            <a:off x="8454619" y="4074275"/>
            <a:ext cx="493295"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C7C9640F-1FCC-8244-B81A-A2E284191E7D}"/>
                  </a:ext>
                </a:extLst>
              </p:cNvPr>
              <p:cNvSpPr txBox="1"/>
              <p:nvPr/>
            </p:nvSpPr>
            <p:spPr>
              <a:xfrm>
                <a:off x="8278007" y="4056371"/>
                <a:ext cx="801933"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latin typeface="Cambria Math" panose="02040503050406030204" pitchFamily="18" charset="0"/>
                        <a:cs typeface="Calibri" panose="020F0502020204030204" pitchFamily="34" charset="0"/>
                      </a:rPr>
                      <m:t>=</m:t>
                    </m:r>
                  </m:oMath>
                </a14:m>
                <a:r>
                  <a:rPr lang="en-GB" altLang="en-US" sz="1600" dirty="0">
                    <a:latin typeface="Calibri" panose="020F0502020204030204" pitchFamily="34" charset="0"/>
                    <a:cs typeface="Calibri" panose="020F0502020204030204" pitchFamily="34" charset="0"/>
                  </a:rPr>
                  <a:t> </a:t>
                </a:r>
                <a:r>
                  <a:rPr lang="en-GB" altLang="en-US" sz="1600" b="1" dirty="0">
                    <a:latin typeface="Calibri" panose="020F0502020204030204" pitchFamily="34" charset="0"/>
                    <a:cs typeface="Calibri" panose="020F0502020204030204" pitchFamily="34" charset="0"/>
                  </a:rPr>
                  <a:t>98.3</a:t>
                </a:r>
                <a:r>
                  <a:rPr lang="en-GB" altLang="en-US" sz="1600" b="1" baseline="30000" dirty="0">
                    <a:latin typeface="Calibri" panose="020F0502020204030204" pitchFamily="34" charset="0"/>
                    <a:cs typeface="Calibri" panose="020F0502020204030204" pitchFamily="34" charset="0"/>
                  </a:rPr>
                  <a:t>o</a:t>
                </a:r>
              </a:p>
            </p:txBody>
          </p:sp>
        </mc:Choice>
        <mc:Fallback xmlns="">
          <p:sp>
            <p:nvSpPr>
              <p:cNvPr id="134" name="TextBox 133">
                <a:extLst>
                  <a:ext uri="{FF2B5EF4-FFF2-40B4-BE49-F238E27FC236}">
                    <a16:creationId xmlns:a16="http://schemas.microsoft.com/office/drawing/2014/main" id="{C7C9640F-1FCC-8244-B81A-A2E284191E7D}"/>
                  </a:ext>
                </a:extLst>
              </p:cNvPr>
              <p:cNvSpPr txBox="1">
                <a:spLocks noRot="1" noChangeAspect="1" noMove="1" noResize="1" noEditPoints="1" noAdjustHandles="1" noChangeArrowheads="1" noChangeShapeType="1" noTextEdit="1"/>
              </p:cNvSpPr>
              <p:nvPr/>
            </p:nvSpPr>
            <p:spPr>
              <a:xfrm>
                <a:off x="8278007" y="4056371"/>
                <a:ext cx="801933" cy="246221"/>
              </a:xfrm>
              <a:prstGeom prst="rect">
                <a:avLst/>
              </a:prstGeom>
              <a:blipFill>
                <a:blip r:embed="rId28"/>
                <a:stretch>
                  <a:fillRect l="-4688" t="-19048" b="-42857"/>
                </a:stretch>
              </a:blipFill>
            </p:spPr>
            <p:txBody>
              <a:bodyPr/>
              <a:lstStyle/>
              <a:p>
                <a:r>
                  <a:rPr lang="en-GB">
                    <a:noFill/>
                  </a:rPr>
                  <a:t> </a:t>
                </a:r>
              </a:p>
            </p:txBody>
          </p:sp>
        </mc:Fallback>
      </mc:AlternateContent>
    </p:spTree>
    <p:extLst>
      <p:ext uri="{BB962C8B-B14F-4D97-AF65-F5344CB8AC3E}">
        <p14:creationId xmlns:p14="http://schemas.microsoft.com/office/powerpoint/2010/main" val="80359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wipe(up)">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dissolve">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dissolve">
                                      <p:cBhvr>
                                        <p:cTn id="22" dur="500"/>
                                        <p:tgtEl>
                                          <p:spTgt spid="7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animEffect transition="in" filter="dissolve">
                                      <p:cBhvr>
                                        <p:cTn id="25" dur="500"/>
                                        <p:tgtEl>
                                          <p:spTgt spid="7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dissolve">
                                      <p:cBhvr>
                                        <p:cTn id="30" dur="500"/>
                                        <p:tgtEl>
                                          <p:spTgt spid="8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dissolve">
                                      <p:cBhvr>
                                        <p:cTn id="35" dur="500"/>
                                        <p:tgtEl>
                                          <p:spTgt spid="89"/>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dissolve">
                                      <p:cBhvr>
                                        <p:cTn id="38" dur="500"/>
                                        <p:tgtEl>
                                          <p:spTgt spid="90"/>
                                        </p:tgtEl>
                                      </p:cBhvr>
                                    </p:animEffect>
                                  </p:childTnLst>
                                </p:cTn>
                              </p:par>
                              <p:par>
                                <p:cTn id="39" presetID="9"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dissolve">
                                      <p:cBhvr>
                                        <p:cTn id="41" dur="500"/>
                                        <p:tgtEl>
                                          <p:spTgt spid="4"/>
                                        </p:tgtEl>
                                      </p:cBhvr>
                                    </p:animEffect>
                                  </p:childTnLst>
                                </p:cTn>
                              </p:par>
                              <p:par>
                                <p:cTn id="42" presetID="9" presetClass="entr" presetSubtype="0" fill="hold" nodeType="withEffect">
                                  <p:stCondLst>
                                    <p:cond delay="0"/>
                                  </p:stCondLst>
                                  <p:childTnLst>
                                    <p:set>
                                      <p:cBhvr>
                                        <p:cTn id="43" dur="1" fill="hold">
                                          <p:stCondLst>
                                            <p:cond delay="0"/>
                                          </p:stCondLst>
                                        </p:cTn>
                                        <p:tgtEl>
                                          <p:spTgt spid="91"/>
                                        </p:tgtEl>
                                        <p:attrNameLst>
                                          <p:attrName>style.visibility</p:attrName>
                                        </p:attrNameLst>
                                      </p:cBhvr>
                                      <p:to>
                                        <p:strVal val="visible"/>
                                      </p:to>
                                    </p:set>
                                    <p:animEffect transition="in" filter="dissolve">
                                      <p:cBhvr>
                                        <p:cTn id="44" dur="500"/>
                                        <p:tgtEl>
                                          <p:spTgt spid="91"/>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92"/>
                                        </p:tgtEl>
                                        <p:attrNameLst>
                                          <p:attrName>style.visibility</p:attrName>
                                        </p:attrNameLst>
                                      </p:cBhvr>
                                      <p:to>
                                        <p:strVal val="visible"/>
                                      </p:to>
                                    </p:set>
                                    <p:animEffect transition="in" filter="dissolve">
                                      <p:cBhvr>
                                        <p:cTn id="49" dur="500"/>
                                        <p:tgtEl>
                                          <p:spTgt spid="9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93"/>
                                        </p:tgtEl>
                                        <p:attrNameLst>
                                          <p:attrName>style.visibility</p:attrName>
                                        </p:attrNameLst>
                                      </p:cBhvr>
                                      <p:to>
                                        <p:strVal val="visible"/>
                                      </p:to>
                                    </p:set>
                                    <p:animEffect transition="in" filter="dissolve">
                                      <p:cBhvr>
                                        <p:cTn id="54" dur="500"/>
                                        <p:tgtEl>
                                          <p:spTgt spid="93"/>
                                        </p:tgtEl>
                                      </p:cBhvr>
                                    </p:animEffect>
                                  </p:childTnLst>
                                </p:cTn>
                              </p:par>
                              <p:par>
                                <p:cTn id="55" presetID="9" presetClass="emph" presetSubtype="0" grpId="1" nodeType="withEffect">
                                  <p:stCondLst>
                                    <p:cond delay="0"/>
                                  </p:stCondLst>
                                  <p:childTnLst>
                                    <p:set>
                                      <p:cBhvr>
                                        <p:cTn id="56" dur="indefinite"/>
                                        <p:tgtEl>
                                          <p:spTgt spid="70"/>
                                        </p:tgtEl>
                                        <p:attrNameLst>
                                          <p:attrName>style.opacity</p:attrName>
                                        </p:attrNameLst>
                                      </p:cBhvr>
                                      <p:to>
                                        <p:strVal val="0.5"/>
                                      </p:to>
                                    </p:set>
                                    <p:animEffect filter="image" prLst="opacity: 0.5">
                                      <p:cBhvr rctx="IE">
                                        <p:cTn id="57" dur="indefinite"/>
                                        <p:tgtEl>
                                          <p:spTgt spid="70"/>
                                        </p:tgtEl>
                                      </p:cBhvr>
                                    </p:animEffect>
                                  </p:childTnLst>
                                </p:cTn>
                              </p:par>
                              <p:par>
                                <p:cTn id="58" presetID="9" presetClass="emph" presetSubtype="0" grpId="1" nodeType="withEffect">
                                  <p:stCondLst>
                                    <p:cond delay="0"/>
                                  </p:stCondLst>
                                  <p:childTnLst>
                                    <p:set>
                                      <p:cBhvr>
                                        <p:cTn id="59" dur="indefinite"/>
                                        <p:tgtEl>
                                          <p:spTgt spid="71"/>
                                        </p:tgtEl>
                                        <p:attrNameLst>
                                          <p:attrName>style.opacity</p:attrName>
                                        </p:attrNameLst>
                                      </p:cBhvr>
                                      <p:to>
                                        <p:strVal val="0.5"/>
                                      </p:to>
                                    </p:set>
                                    <p:animEffect filter="image" prLst="opacity: 0.5">
                                      <p:cBhvr rctx="IE">
                                        <p:cTn id="60" dur="indefinite"/>
                                        <p:tgtEl>
                                          <p:spTgt spid="71"/>
                                        </p:tgtEl>
                                      </p:cBhvr>
                                    </p:animEffect>
                                  </p:childTnLst>
                                </p:cTn>
                              </p:par>
                              <p:par>
                                <p:cTn id="61" presetID="9" presetClass="emph" presetSubtype="0" grpId="1" nodeType="withEffect">
                                  <p:stCondLst>
                                    <p:cond delay="0"/>
                                  </p:stCondLst>
                                  <p:childTnLst>
                                    <p:set>
                                      <p:cBhvr>
                                        <p:cTn id="62" dur="indefinite"/>
                                        <p:tgtEl>
                                          <p:spTgt spid="73"/>
                                        </p:tgtEl>
                                        <p:attrNameLst>
                                          <p:attrName>style.opacity</p:attrName>
                                        </p:attrNameLst>
                                      </p:cBhvr>
                                      <p:to>
                                        <p:strVal val="0.5"/>
                                      </p:to>
                                    </p:set>
                                    <p:animEffect filter="image" prLst="opacity: 0.5">
                                      <p:cBhvr rctx="IE">
                                        <p:cTn id="63" dur="indefinite"/>
                                        <p:tgtEl>
                                          <p:spTgt spid="73"/>
                                        </p:tgtEl>
                                      </p:cBhvr>
                                    </p:animEffect>
                                  </p:childTnLst>
                                </p:cTn>
                              </p:par>
                              <p:par>
                                <p:cTn id="64" presetID="9" presetClass="emph" presetSubtype="0" grpId="1" nodeType="withEffect">
                                  <p:stCondLst>
                                    <p:cond delay="0"/>
                                  </p:stCondLst>
                                  <p:childTnLst>
                                    <p:set>
                                      <p:cBhvr>
                                        <p:cTn id="65" dur="indefinite"/>
                                        <p:tgtEl>
                                          <p:spTgt spid="74"/>
                                        </p:tgtEl>
                                        <p:attrNameLst>
                                          <p:attrName>style.opacity</p:attrName>
                                        </p:attrNameLst>
                                      </p:cBhvr>
                                      <p:to>
                                        <p:strVal val="0.5"/>
                                      </p:to>
                                    </p:set>
                                    <p:animEffect filter="image" prLst="opacity: 0.5">
                                      <p:cBhvr rctx="IE">
                                        <p:cTn id="66" dur="indefinite"/>
                                        <p:tgtEl>
                                          <p:spTgt spid="74"/>
                                        </p:tgtEl>
                                      </p:cBhvr>
                                    </p:animEffect>
                                  </p:childTnLst>
                                </p:cTn>
                              </p:par>
                              <p:par>
                                <p:cTn id="67" presetID="9" presetClass="emph" presetSubtype="0" grpId="1" nodeType="withEffect">
                                  <p:stCondLst>
                                    <p:cond delay="0"/>
                                  </p:stCondLst>
                                  <p:childTnLst>
                                    <p:set>
                                      <p:cBhvr>
                                        <p:cTn id="68" dur="indefinite"/>
                                        <p:tgtEl>
                                          <p:spTgt spid="84"/>
                                        </p:tgtEl>
                                        <p:attrNameLst>
                                          <p:attrName>style.opacity</p:attrName>
                                        </p:attrNameLst>
                                      </p:cBhvr>
                                      <p:to>
                                        <p:strVal val="0.5"/>
                                      </p:to>
                                    </p:set>
                                    <p:animEffect filter="image" prLst="opacity: 0.5">
                                      <p:cBhvr rctx="IE">
                                        <p:cTn id="69" dur="indefinite"/>
                                        <p:tgtEl>
                                          <p:spTgt spid="84"/>
                                        </p:tgtEl>
                                      </p:cBhvr>
                                    </p:animEffect>
                                  </p:childTnLst>
                                </p:cTn>
                              </p:par>
                              <p:par>
                                <p:cTn id="70" presetID="9" presetClass="emph" presetSubtype="0" grpId="1" nodeType="withEffect">
                                  <p:stCondLst>
                                    <p:cond delay="0"/>
                                  </p:stCondLst>
                                  <p:childTnLst>
                                    <p:set>
                                      <p:cBhvr>
                                        <p:cTn id="71" dur="indefinite"/>
                                        <p:tgtEl>
                                          <p:spTgt spid="89"/>
                                        </p:tgtEl>
                                        <p:attrNameLst>
                                          <p:attrName>style.opacity</p:attrName>
                                        </p:attrNameLst>
                                      </p:cBhvr>
                                      <p:to>
                                        <p:strVal val="0.5"/>
                                      </p:to>
                                    </p:set>
                                    <p:animEffect filter="image" prLst="opacity: 0.5">
                                      <p:cBhvr rctx="IE">
                                        <p:cTn id="72" dur="indefinite"/>
                                        <p:tgtEl>
                                          <p:spTgt spid="89"/>
                                        </p:tgtEl>
                                      </p:cBhvr>
                                    </p:animEffect>
                                  </p:childTnLst>
                                </p:cTn>
                              </p:par>
                              <p:par>
                                <p:cTn id="73" presetID="9" presetClass="emph" presetSubtype="0" grpId="1" nodeType="withEffect">
                                  <p:stCondLst>
                                    <p:cond delay="0"/>
                                  </p:stCondLst>
                                  <p:childTnLst>
                                    <p:set>
                                      <p:cBhvr>
                                        <p:cTn id="74" dur="indefinite"/>
                                        <p:tgtEl>
                                          <p:spTgt spid="90"/>
                                        </p:tgtEl>
                                        <p:attrNameLst>
                                          <p:attrName>style.opacity</p:attrName>
                                        </p:attrNameLst>
                                      </p:cBhvr>
                                      <p:to>
                                        <p:strVal val="0.5"/>
                                      </p:to>
                                    </p:set>
                                    <p:animEffect filter="image" prLst="opacity: 0.5">
                                      <p:cBhvr rctx="IE">
                                        <p:cTn id="75" dur="indefinite"/>
                                        <p:tgtEl>
                                          <p:spTgt spid="90"/>
                                        </p:tgtEl>
                                      </p:cBhvr>
                                    </p:animEffect>
                                  </p:childTnLst>
                                </p:cTn>
                              </p:par>
                              <p:par>
                                <p:cTn id="76" presetID="9" presetClass="emph" presetSubtype="0" nodeType="withEffect">
                                  <p:stCondLst>
                                    <p:cond delay="0"/>
                                  </p:stCondLst>
                                  <p:childTnLst>
                                    <p:set>
                                      <p:cBhvr>
                                        <p:cTn id="77" dur="indefinite"/>
                                        <p:tgtEl>
                                          <p:spTgt spid="4"/>
                                        </p:tgtEl>
                                        <p:attrNameLst>
                                          <p:attrName>style.opacity</p:attrName>
                                        </p:attrNameLst>
                                      </p:cBhvr>
                                      <p:to>
                                        <p:strVal val="0.5"/>
                                      </p:to>
                                    </p:set>
                                    <p:animEffect filter="image" prLst="opacity: 0.5">
                                      <p:cBhvr rctx="IE">
                                        <p:cTn id="78" dur="indefinite"/>
                                        <p:tgtEl>
                                          <p:spTgt spid="4"/>
                                        </p:tgtEl>
                                      </p:cBhvr>
                                    </p:animEffect>
                                  </p:childTnLst>
                                </p:cTn>
                              </p:par>
                              <p:par>
                                <p:cTn id="79" presetID="9" presetClass="emph" presetSubtype="0" nodeType="withEffect">
                                  <p:stCondLst>
                                    <p:cond delay="0"/>
                                  </p:stCondLst>
                                  <p:childTnLst>
                                    <p:set>
                                      <p:cBhvr>
                                        <p:cTn id="80" dur="indefinite"/>
                                        <p:tgtEl>
                                          <p:spTgt spid="91"/>
                                        </p:tgtEl>
                                        <p:attrNameLst>
                                          <p:attrName>style.opacity</p:attrName>
                                        </p:attrNameLst>
                                      </p:cBhvr>
                                      <p:to>
                                        <p:strVal val="0.5"/>
                                      </p:to>
                                    </p:set>
                                    <p:animEffect filter="image" prLst="opacity: 0.5">
                                      <p:cBhvr rctx="IE">
                                        <p:cTn id="81" dur="indefinite"/>
                                        <p:tgtEl>
                                          <p:spTgt spid="91"/>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xit" presetSubtype="0" fill="hold" grpId="0" nodeType="clickEffect">
                                  <p:stCondLst>
                                    <p:cond delay="0"/>
                                  </p:stCondLst>
                                  <p:childTnLst>
                                    <p:animEffect transition="out" filter="dissolve">
                                      <p:cBhvr>
                                        <p:cTn id="85" dur="500"/>
                                        <p:tgtEl>
                                          <p:spTgt spid="94"/>
                                        </p:tgtEl>
                                      </p:cBhvr>
                                    </p:animEffect>
                                    <p:set>
                                      <p:cBhvr>
                                        <p:cTn id="86" dur="1" fill="hold">
                                          <p:stCondLst>
                                            <p:cond delay="499"/>
                                          </p:stCondLst>
                                        </p:cTn>
                                        <p:tgtEl>
                                          <p:spTgt spid="9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95"/>
                                        </p:tgtEl>
                                        <p:attrNameLst>
                                          <p:attrName>style.visibility</p:attrName>
                                        </p:attrNameLst>
                                      </p:cBhvr>
                                      <p:to>
                                        <p:strVal val="visible"/>
                                      </p:to>
                                    </p:set>
                                    <p:animEffect transition="in" filter="dissolve">
                                      <p:cBhvr>
                                        <p:cTn id="91" dur="500"/>
                                        <p:tgtEl>
                                          <p:spTgt spid="9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96"/>
                                        </p:tgtEl>
                                        <p:attrNameLst>
                                          <p:attrName>style.visibility</p:attrName>
                                        </p:attrNameLst>
                                      </p:cBhvr>
                                      <p:to>
                                        <p:strVal val="visible"/>
                                      </p:to>
                                    </p:set>
                                    <p:animEffect transition="in" filter="dissolve">
                                      <p:cBhvr>
                                        <p:cTn id="94" dur="500"/>
                                        <p:tgtEl>
                                          <p:spTgt spid="9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nodeType="clickEffect">
                                  <p:stCondLst>
                                    <p:cond delay="0"/>
                                  </p:stCondLst>
                                  <p:childTnLst>
                                    <p:set>
                                      <p:cBhvr>
                                        <p:cTn id="98" dur="1" fill="hold">
                                          <p:stCondLst>
                                            <p:cond delay="0"/>
                                          </p:stCondLst>
                                        </p:cTn>
                                        <p:tgtEl>
                                          <p:spTgt spid="167"/>
                                        </p:tgtEl>
                                        <p:attrNameLst>
                                          <p:attrName>style.visibility</p:attrName>
                                        </p:attrNameLst>
                                      </p:cBhvr>
                                      <p:to>
                                        <p:strVal val="visible"/>
                                      </p:to>
                                    </p:set>
                                    <p:animEffect transition="in" filter="wipe(up)">
                                      <p:cBhvr>
                                        <p:cTn id="99" dur="500"/>
                                        <p:tgtEl>
                                          <p:spTgt spid="167"/>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211"/>
                                        </p:tgtEl>
                                        <p:attrNameLst>
                                          <p:attrName>style.visibility</p:attrName>
                                        </p:attrNameLst>
                                      </p:cBhvr>
                                      <p:to>
                                        <p:strVal val="visible"/>
                                      </p:to>
                                    </p:set>
                                    <p:animEffect transition="in" filter="dissolve">
                                      <p:cBhvr>
                                        <p:cTn id="102" dur="500"/>
                                        <p:tgtEl>
                                          <p:spTgt spid="211"/>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212"/>
                                        </p:tgtEl>
                                        <p:attrNameLst>
                                          <p:attrName>style.visibility</p:attrName>
                                        </p:attrNameLst>
                                      </p:cBhvr>
                                      <p:to>
                                        <p:strVal val="visible"/>
                                      </p:to>
                                    </p:set>
                                    <p:animEffect transition="in" filter="dissolve">
                                      <p:cBhvr>
                                        <p:cTn id="105" dur="500"/>
                                        <p:tgtEl>
                                          <p:spTgt spid="212"/>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213"/>
                                        </p:tgtEl>
                                        <p:attrNameLst>
                                          <p:attrName>style.visibility</p:attrName>
                                        </p:attrNameLst>
                                      </p:cBhvr>
                                      <p:to>
                                        <p:strVal val="visible"/>
                                      </p:to>
                                    </p:set>
                                    <p:animEffect transition="in" filter="dissolve">
                                      <p:cBhvr>
                                        <p:cTn id="108" dur="500"/>
                                        <p:tgtEl>
                                          <p:spTgt spid="213"/>
                                        </p:tgtEl>
                                      </p:cBhvr>
                                    </p:animEffect>
                                  </p:childTnLst>
                                </p:cTn>
                              </p:par>
                              <p:par>
                                <p:cTn id="109" presetID="9" presetClass="entr" presetSubtype="0" fill="hold" nodeType="withEffect">
                                  <p:stCondLst>
                                    <p:cond delay="0"/>
                                  </p:stCondLst>
                                  <p:childTnLst>
                                    <p:set>
                                      <p:cBhvr>
                                        <p:cTn id="110" dur="1" fill="hold">
                                          <p:stCondLst>
                                            <p:cond delay="0"/>
                                          </p:stCondLst>
                                        </p:cTn>
                                        <p:tgtEl>
                                          <p:spTgt spid="12"/>
                                        </p:tgtEl>
                                        <p:attrNameLst>
                                          <p:attrName>style.visibility</p:attrName>
                                        </p:attrNameLst>
                                      </p:cBhvr>
                                      <p:to>
                                        <p:strVal val="visible"/>
                                      </p:to>
                                    </p:set>
                                    <p:animEffect transition="in" filter="dissolve">
                                      <p:cBhvr>
                                        <p:cTn id="111" dur="500"/>
                                        <p:tgtEl>
                                          <p:spTgt spid="12"/>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grpId="0" nodeType="clickEffect">
                                  <p:stCondLst>
                                    <p:cond delay="0"/>
                                  </p:stCondLst>
                                  <p:childTnLst>
                                    <p:set>
                                      <p:cBhvr>
                                        <p:cTn id="115" dur="1" fill="hold">
                                          <p:stCondLst>
                                            <p:cond delay="0"/>
                                          </p:stCondLst>
                                        </p:cTn>
                                        <p:tgtEl>
                                          <p:spTgt spid="99"/>
                                        </p:tgtEl>
                                        <p:attrNameLst>
                                          <p:attrName>style.visibility</p:attrName>
                                        </p:attrNameLst>
                                      </p:cBhvr>
                                      <p:to>
                                        <p:strVal val="visible"/>
                                      </p:to>
                                    </p:set>
                                    <p:animEffect transition="in" filter="dissolve">
                                      <p:cBhvr>
                                        <p:cTn id="116" dur="500"/>
                                        <p:tgtEl>
                                          <p:spTgt spid="99"/>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1" fill="hold" nodeType="clickEffect">
                                  <p:stCondLst>
                                    <p:cond delay="0"/>
                                  </p:stCondLst>
                                  <p:childTnLst>
                                    <p:set>
                                      <p:cBhvr>
                                        <p:cTn id="120" dur="1" fill="hold">
                                          <p:stCondLst>
                                            <p:cond delay="0"/>
                                          </p:stCondLst>
                                        </p:cTn>
                                        <p:tgtEl>
                                          <p:spTgt spid="101"/>
                                        </p:tgtEl>
                                        <p:attrNameLst>
                                          <p:attrName>style.visibility</p:attrName>
                                        </p:attrNameLst>
                                      </p:cBhvr>
                                      <p:to>
                                        <p:strVal val="visible"/>
                                      </p:to>
                                    </p:set>
                                    <p:animEffect transition="in" filter="wipe(up)">
                                      <p:cBhvr>
                                        <p:cTn id="121" dur="500"/>
                                        <p:tgtEl>
                                          <p:spTgt spid="101"/>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grpId="0" nodeType="clickEffect">
                                  <p:stCondLst>
                                    <p:cond delay="0"/>
                                  </p:stCondLst>
                                  <p:childTnLst>
                                    <p:set>
                                      <p:cBhvr>
                                        <p:cTn id="125" dur="1" fill="hold">
                                          <p:stCondLst>
                                            <p:cond delay="0"/>
                                          </p:stCondLst>
                                        </p:cTn>
                                        <p:tgtEl>
                                          <p:spTgt spid="100"/>
                                        </p:tgtEl>
                                        <p:attrNameLst>
                                          <p:attrName>style.visibility</p:attrName>
                                        </p:attrNameLst>
                                      </p:cBhvr>
                                      <p:to>
                                        <p:strVal val="visible"/>
                                      </p:to>
                                    </p:set>
                                    <p:animEffect transition="in" filter="dissolve">
                                      <p:cBhvr>
                                        <p:cTn id="126" dur="500"/>
                                        <p:tgtEl>
                                          <p:spTgt spid="100"/>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102"/>
                                        </p:tgtEl>
                                        <p:attrNameLst>
                                          <p:attrName>style.visibility</p:attrName>
                                        </p:attrNameLst>
                                      </p:cBhvr>
                                      <p:to>
                                        <p:strVal val="visible"/>
                                      </p:to>
                                    </p:set>
                                    <p:animEffect transition="in" filter="dissolve">
                                      <p:cBhvr>
                                        <p:cTn id="131" dur="500"/>
                                        <p:tgtEl>
                                          <p:spTgt spid="102"/>
                                        </p:tgtEl>
                                      </p:cBhvr>
                                    </p:animEffect>
                                  </p:childTnLst>
                                </p:cTn>
                              </p:par>
                              <p:par>
                                <p:cTn id="132" presetID="9" presetClass="entr" presetSubtype="0" fill="hold" grpId="0" nodeType="withEffect">
                                  <p:stCondLst>
                                    <p:cond delay="0"/>
                                  </p:stCondLst>
                                  <p:childTnLst>
                                    <p:set>
                                      <p:cBhvr>
                                        <p:cTn id="133" dur="1" fill="hold">
                                          <p:stCondLst>
                                            <p:cond delay="0"/>
                                          </p:stCondLst>
                                        </p:cTn>
                                        <p:tgtEl>
                                          <p:spTgt spid="103"/>
                                        </p:tgtEl>
                                        <p:attrNameLst>
                                          <p:attrName>style.visibility</p:attrName>
                                        </p:attrNameLst>
                                      </p:cBhvr>
                                      <p:to>
                                        <p:strVal val="visible"/>
                                      </p:to>
                                    </p:set>
                                    <p:animEffect transition="in" filter="dissolve">
                                      <p:cBhvr>
                                        <p:cTn id="134" dur="500"/>
                                        <p:tgtEl>
                                          <p:spTgt spid="103"/>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ntr" presetSubtype="0" fill="hold" grpId="0" nodeType="clickEffect">
                                  <p:stCondLst>
                                    <p:cond delay="0"/>
                                  </p:stCondLst>
                                  <p:childTnLst>
                                    <p:set>
                                      <p:cBhvr>
                                        <p:cTn id="138" dur="1" fill="hold">
                                          <p:stCondLst>
                                            <p:cond delay="0"/>
                                          </p:stCondLst>
                                        </p:cTn>
                                        <p:tgtEl>
                                          <p:spTgt spid="104"/>
                                        </p:tgtEl>
                                        <p:attrNameLst>
                                          <p:attrName>style.visibility</p:attrName>
                                        </p:attrNameLst>
                                      </p:cBhvr>
                                      <p:to>
                                        <p:strVal val="visible"/>
                                      </p:to>
                                    </p:set>
                                    <p:animEffect transition="in" filter="dissolve">
                                      <p:cBhvr>
                                        <p:cTn id="139" dur="500"/>
                                        <p:tgtEl>
                                          <p:spTgt spid="104"/>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grpId="0" nodeType="clickEffect">
                                  <p:stCondLst>
                                    <p:cond delay="0"/>
                                  </p:stCondLst>
                                  <p:childTnLst>
                                    <p:set>
                                      <p:cBhvr>
                                        <p:cTn id="143" dur="1" fill="hold">
                                          <p:stCondLst>
                                            <p:cond delay="0"/>
                                          </p:stCondLst>
                                        </p:cTn>
                                        <p:tgtEl>
                                          <p:spTgt spid="105"/>
                                        </p:tgtEl>
                                        <p:attrNameLst>
                                          <p:attrName>style.visibility</p:attrName>
                                        </p:attrNameLst>
                                      </p:cBhvr>
                                      <p:to>
                                        <p:strVal val="visible"/>
                                      </p:to>
                                    </p:set>
                                    <p:animEffect transition="in" filter="dissolve">
                                      <p:cBhvr>
                                        <p:cTn id="144" dur="500"/>
                                        <p:tgtEl>
                                          <p:spTgt spid="105"/>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106"/>
                                        </p:tgtEl>
                                        <p:attrNameLst>
                                          <p:attrName>style.visibility</p:attrName>
                                        </p:attrNameLst>
                                      </p:cBhvr>
                                      <p:to>
                                        <p:strVal val="visible"/>
                                      </p:to>
                                    </p:set>
                                    <p:animEffect transition="in" filter="dissolve">
                                      <p:cBhvr>
                                        <p:cTn id="147" dur="500"/>
                                        <p:tgtEl>
                                          <p:spTgt spid="106"/>
                                        </p:tgtEl>
                                      </p:cBhvr>
                                    </p:animEffect>
                                  </p:childTnLst>
                                </p:cTn>
                              </p:par>
                              <p:par>
                                <p:cTn id="148" presetID="9" presetClass="entr" presetSubtype="0" fill="hold" nodeType="withEffect">
                                  <p:stCondLst>
                                    <p:cond delay="0"/>
                                  </p:stCondLst>
                                  <p:childTnLst>
                                    <p:set>
                                      <p:cBhvr>
                                        <p:cTn id="149" dur="1" fill="hold">
                                          <p:stCondLst>
                                            <p:cond delay="0"/>
                                          </p:stCondLst>
                                        </p:cTn>
                                        <p:tgtEl>
                                          <p:spTgt spid="107"/>
                                        </p:tgtEl>
                                        <p:attrNameLst>
                                          <p:attrName>style.visibility</p:attrName>
                                        </p:attrNameLst>
                                      </p:cBhvr>
                                      <p:to>
                                        <p:strVal val="visible"/>
                                      </p:to>
                                    </p:set>
                                    <p:animEffect transition="in" filter="dissolve">
                                      <p:cBhvr>
                                        <p:cTn id="150" dur="500"/>
                                        <p:tgtEl>
                                          <p:spTgt spid="107"/>
                                        </p:tgtEl>
                                      </p:cBhvr>
                                    </p:animEffect>
                                  </p:childTnLst>
                                </p:cTn>
                              </p:par>
                              <p:par>
                                <p:cTn id="151" presetID="9" presetClass="entr" presetSubtype="0" fill="hold" nodeType="withEffect">
                                  <p:stCondLst>
                                    <p:cond delay="0"/>
                                  </p:stCondLst>
                                  <p:childTnLst>
                                    <p:set>
                                      <p:cBhvr>
                                        <p:cTn id="152" dur="1" fill="hold">
                                          <p:stCondLst>
                                            <p:cond delay="0"/>
                                          </p:stCondLst>
                                        </p:cTn>
                                        <p:tgtEl>
                                          <p:spTgt spid="108"/>
                                        </p:tgtEl>
                                        <p:attrNameLst>
                                          <p:attrName>style.visibility</p:attrName>
                                        </p:attrNameLst>
                                      </p:cBhvr>
                                      <p:to>
                                        <p:strVal val="visible"/>
                                      </p:to>
                                    </p:set>
                                    <p:animEffect transition="in" filter="dissolve">
                                      <p:cBhvr>
                                        <p:cTn id="153" dur="500"/>
                                        <p:tgtEl>
                                          <p:spTgt spid="108"/>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grpId="0" nodeType="clickEffect">
                                  <p:stCondLst>
                                    <p:cond delay="0"/>
                                  </p:stCondLst>
                                  <p:childTnLst>
                                    <p:set>
                                      <p:cBhvr>
                                        <p:cTn id="157" dur="1" fill="hold">
                                          <p:stCondLst>
                                            <p:cond delay="0"/>
                                          </p:stCondLst>
                                        </p:cTn>
                                        <p:tgtEl>
                                          <p:spTgt spid="113"/>
                                        </p:tgtEl>
                                        <p:attrNameLst>
                                          <p:attrName>style.visibility</p:attrName>
                                        </p:attrNameLst>
                                      </p:cBhvr>
                                      <p:to>
                                        <p:strVal val="visible"/>
                                      </p:to>
                                    </p:set>
                                    <p:animEffect transition="in" filter="dissolve">
                                      <p:cBhvr>
                                        <p:cTn id="158" dur="500"/>
                                        <p:tgtEl>
                                          <p:spTgt spid="113"/>
                                        </p:tgtEl>
                                      </p:cBhvr>
                                    </p:animEffect>
                                  </p:childTnLst>
                                </p:cTn>
                              </p:par>
                              <p:par>
                                <p:cTn id="159" presetID="9" presetClass="entr" presetSubtype="0" fill="hold" nodeType="withEffect">
                                  <p:stCondLst>
                                    <p:cond delay="0"/>
                                  </p:stCondLst>
                                  <p:childTnLst>
                                    <p:set>
                                      <p:cBhvr>
                                        <p:cTn id="160" dur="1" fill="hold">
                                          <p:stCondLst>
                                            <p:cond delay="0"/>
                                          </p:stCondLst>
                                        </p:cTn>
                                        <p:tgtEl>
                                          <p:spTgt spid="13"/>
                                        </p:tgtEl>
                                        <p:attrNameLst>
                                          <p:attrName>style.visibility</p:attrName>
                                        </p:attrNameLst>
                                      </p:cBhvr>
                                      <p:to>
                                        <p:strVal val="visible"/>
                                      </p:to>
                                    </p:set>
                                    <p:animEffect transition="in" filter="dissolve">
                                      <p:cBhvr>
                                        <p:cTn id="161" dur="500"/>
                                        <p:tgtEl>
                                          <p:spTgt spid="13"/>
                                        </p:tgtEl>
                                      </p:cBhvr>
                                    </p:animEffect>
                                  </p:childTnLst>
                                </p:cTn>
                              </p:par>
                              <p:par>
                                <p:cTn id="162" presetID="9" presetClass="emph" presetSubtype="0" grpId="1" nodeType="withEffect">
                                  <p:stCondLst>
                                    <p:cond delay="0"/>
                                  </p:stCondLst>
                                  <p:childTnLst>
                                    <p:set>
                                      <p:cBhvr>
                                        <p:cTn id="163" dur="indefinite"/>
                                        <p:tgtEl>
                                          <p:spTgt spid="99"/>
                                        </p:tgtEl>
                                        <p:attrNameLst>
                                          <p:attrName>style.opacity</p:attrName>
                                        </p:attrNameLst>
                                      </p:cBhvr>
                                      <p:to>
                                        <p:strVal val="0.5"/>
                                      </p:to>
                                    </p:set>
                                    <p:animEffect filter="image" prLst="opacity: 0.5">
                                      <p:cBhvr rctx="IE">
                                        <p:cTn id="164" dur="indefinite"/>
                                        <p:tgtEl>
                                          <p:spTgt spid="99"/>
                                        </p:tgtEl>
                                      </p:cBhvr>
                                    </p:animEffect>
                                  </p:childTnLst>
                                </p:cTn>
                              </p:par>
                              <p:par>
                                <p:cTn id="165" presetID="9" presetClass="emph" presetSubtype="0" grpId="1" nodeType="withEffect">
                                  <p:stCondLst>
                                    <p:cond delay="0"/>
                                  </p:stCondLst>
                                  <p:childTnLst>
                                    <p:set>
                                      <p:cBhvr>
                                        <p:cTn id="166" dur="indefinite"/>
                                        <p:tgtEl>
                                          <p:spTgt spid="100"/>
                                        </p:tgtEl>
                                        <p:attrNameLst>
                                          <p:attrName>style.opacity</p:attrName>
                                        </p:attrNameLst>
                                      </p:cBhvr>
                                      <p:to>
                                        <p:strVal val="0.5"/>
                                      </p:to>
                                    </p:set>
                                    <p:animEffect filter="image" prLst="opacity: 0.5">
                                      <p:cBhvr rctx="IE">
                                        <p:cTn id="167" dur="indefinite"/>
                                        <p:tgtEl>
                                          <p:spTgt spid="100"/>
                                        </p:tgtEl>
                                      </p:cBhvr>
                                    </p:animEffect>
                                  </p:childTnLst>
                                </p:cTn>
                              </p:par>
                              <p:par>
                                <p:cTn id="168" presetID="9" presetClass="emph" presetSubtype="0" grpId="1" nodeType="withEffect">
                                  <p:stCondLst>
                                    <p:cond delay="0"/>
                                  </p:stCondLst>
                                  <p:childTnLst>
                                    <p:set>
                                      <p:cBhvr>
                                        <p:cTn id="169" dur="indefinite"/>
                                        <p:tgtEl>
                                          <p:spTgt spid="102"/>
                                        </p:tgtEl>
                                        <p:attrNameLst>
                                          <p:attrName>style.opacity</p:attrName>
                                        </p:attrNameLst>
                                      </p:cBhvr>
                                      <p:to>
                                        <p:strVal val="0.5"/>
                                      </p:to>
                                    </p:set>
                                    <p:animEffect filter="image" prLst="opacity: 0.5">
                                      <p:cBhvr rctx="IE">
                                        <p:cTn id="170" dur="indefinite"/>
                                        <p:tgtEl>
                                          <p:spTgt spid="102"/>
                                        </p:tgtEl>
                                      </p:cBhvr>
                                    </p:animEffect>
                                  </p:childTnLst>
                                </p:cTn>
                              </p:par>
                              <p:par>
                                <p:cTn id="171" presetID="9" presetClass="emph" presetSubtype="0" grpId="1" nodeType="withEffect">
                                  <p:stCondLst>
                                    <p:cond delay="0"/>
                                  </p:stCondLst>
                                  <p:childTnLst>
                                    <p:set>
                                      <p:cBhvr>
                                        <p:cTn id="172" dur="indefinite"/>
                                        <p:tgtEl>
                                          <p:spTgt spid="103"/>
                                        </p:tgtEl>
                                        <p:attrNameLst>
                                          <p:attrName>style.opacity</p:attrName>
                                        </p:attrNameLst>
                                      </p:cBhvr>
                                      <p:to>
                                        <p:strVal val="0.5"/>
                                      </p:to>
                                    </p:set>
                                    <p:animEffect filter="image" prLst="opacity: 0.5">
                                      <p:cBhvr rctx="IE">
                                        <p:cTn id="173" dur="indefinite"/>
                                        <p:tgtEl>
                                          <p:spTgt spid="103"/>
                                        </p:tgtEl>
                                      </p:cBhvr>
                                    </p:animEffect>
                                  </p:childTnLst>
                                </p:cTn>
                              </p:par>
                              <p:par>
                                <p:cTn id="174" presetID="9" presetClass="emph" presetSubtype="0" grpId="1" nodeType="withEffect">
                                  <p:stCondLst>
                                    <p:cond delay="0"/>
                                  </p:stCondLst>
                                  <p:childTnLst>
                                    <p:set>
                                      <p:cBhvr>
                                        <p:cTn id="175" dur="indefinite"/>
                                        <p:tgtEl>
                                          <p:spTgt spid="104"/>
                                        </p:tgtEl>
                                        <p:attrNameLst>
                                          <p:attrName>style.opacity</p:attrName>
                                        </p:attrNameLst>
                                      </p:cBhvr>
                                      <p:to>
                                        <p:strVal val="0.5"/>
                                      </p:to>
                                    </p:set>
                                    <p:animEffect filter="image" prLst="opacity: 0.5">
                                      <p:cBhvr rctx="IE">
                                        <p:cTn id="176" dur="indefinite"/>
                                        <p:tgtEl>
                                          <p:spTgt spid="104"/>
                                        </p:tgtEl>
                                      </p:cBhvr>
                                    </p:animEffect>
                                  </p:childTnLst>
                                </p:cTn>
                              </p:par>
                              <p:par>
                                <p:cTn id="177" presetID="9" presetClass="emph" presetSubtype="0" grpId="1" nodeType="withEffect">
                                  <p:stCondLst>
                                    <p:cond delay="0"/>
                                  </p:stCondLst>
                                  <p:childTnLst>
                                    <p:set>
                                      <p:cBhvr>
                                        <p:cTn id="178" dur="indefinite"/>
                                        <p:tgtEl>
                                          <p:spTgt spid="105"/>
                                        </p:tgtEl>
                                        <p:attrNameLst>
                                          <p:attrName>style.opacity</p:attrName>
                                        </p:attrNameLst>
                                      </p:cBhvr>
                                      <p:to>
                                        <p:strVal val="0.5"/>
                                      </p:to>
                                    </p:set>
                                    <p:animEffect filter="image" prLst="opacity: 0.5">
                                      <p:cBhvr rctx="IE">
                                        <p:cTn id="179" dur="indefinite"/>
                                        <p:tgtEl>
                                          <p:spTgt spid="105"/>
                                        </p:tgtEl>
                                      </p:cBhvr>
                                    </p:animEffect>
                                  </p:childTnLst>
                                </p:cTn>
                              </p:par>
                              <p:par>
                                <p:cTn id="180" presetID="9" presetClass="emph" presetSubtype="0" grpId="1" nodeType="withEffect">
                                  <p:stCondLst>
                                    <p:cond delay="0"/>
                                  </p:stCondLst>
                                  <p:childTnLst>
                                    <p:set>
                                      <p:cBhvr>
                                        <p:cTn id="181" dur="indefinite"/>
                                        <p:tgtEl>
                                          <p:spTgt spid="106"/>
                                        </p:tgtEl>
                                        <p:attrNameLst>
                                          <p:attrName>style.opacity</p:attrName>
                                        </p:attrNameLst>
                                      </p:cBhvr>
                                      <p:to>
                                        <p:strVal val="0.5"/>
                                      </p:to>
                                    </p:set>
                                    <p:animEffect filter="image" prLst="opacity: 0.5">
                                      <p:cBhvr rctx="IE">
                                        <p:cTn id="182" dur="indefinite"/>
                                        <p:tgtEl>
                                          <p:spTgt spid="106"/>
                                        </p:tgtEl>
                                      </p:cBhvr>
                                    </p:animEffect>
                                  </p:childTnLst>
                                </p:cTn>
                              </p:par>
                              <p:par>
                                <p:cTn id="183" presetID="9" presetClass="emph" presetSubtype="0" nodeType="withEffect">
                                  <p:stCondLst>
                                    <p:cond delay="0"/>
                                  </p:stCondLst>
                                  <p:childTnLst>
                                    <p:set>
                                      <p:cBhvr>
                                        <p:cTn id="184" dur="indefinite"/>
                                        <p:tgtEl>
                                          <p:spTgt spid="107"/>
                                        </p:tgtEl>
                                        <p:attrNameLst>
                                          <p:attrName>style.opacity</p:attrName>
                                        </p:attrNameLst>
                                      </p:cBhvr>
                                      <p:to>
                                        <p:strVal val="0.5"/>
                                      </p:to>
                                    </p:set>
                                    <p:animEffect filter="image" prLst="opacity: 0.5">
                                      <p:cBhvr rctx="IE">
                                        <p:cTn id="185" dur="indefinite"/>
                                        <p:tgtEl>
                                          <p:spTgt spid="107"/>
                                        </p:tgtEl>
                                      </p:cBhvr>
                                    </p:animEffect>
                                  </p:childTnLst>
                                </p:cTn>
                              </p:par>
                              <p:par>
                                <p:cTn id="186" presetID="9" presetClass="emph" presetSubtype="0" nodeType="withEffect">
                                  <p:stCondLst>
                                    <p:cond delay="0"/>
                                  </p:stCondLst>
                                  <p:childTnLst>
                                    <p:set>
                                      <p:cBhvr>
                                        <p:cTn id="187" dur="indefinite"/>
                                        <p:tgtEl>
                                          <p:spTgt spid="108"/>
                                        </p:tgtEl>
                                        <p:attrNameLst>
                                          <p:attrName>style.opacity</p:attrName>
                                        </p:attrNameLst>
                                      </p:cBhvr>
                                      <p:to>
                                        <p:strVal val="0.5"/>
                                      </p:to>
                                    </p:set>
                                    <p:animEffect filter="image" prLst="opacity: 0.5">
                                      <p:cBhvr rctx="IE">
                                        <p:cTn id="188" dur="indefinite"/>
                                        <p:tgtEl>
                                          <p:spTgt spid="108"/>
                                        </p:tgtEl>
                                      </p:cBhvr>
                                    </p:animEffect>
                                  </p:childTnLst>
                                </p:cTn>
                              </p:par>
                            </p:childTnLst>
                          </p:cTn>
                        </p:par>
                      </p:childTnLst>
                    </p:cTn>
                  </p:par>
                  <p:par>
                    <p:cTn id="189" fill="hold">
                      <p:stCondLst>
                        <p:cond delay="indefinite"/>
                      </p:stCondLst>
                      <p:childTnLst>
                        <p:par>
                          <p:cTn id="190" fill="hold">
                            <p:stCondLst>
                              <p:cond delay="0"/>
                            </p:stCondLst>
                            <p:childTnLst>
                              <p:par>
                                <p:cTn id="191" presetID="9" presetClass="entr" presetSubtype="0" fill="hold" nodeType="clickEffect">
                                  <p:stCondLst>
                                    <p:cond delay="0"/>
                                  </p:stCondLst>
                                  <p:childTnLst>
                                    <p:set>
                                      <p:cBhvr>
                                        <p:cTn id="192" dur="1" fill="hold">
                                          <p:stCondLst>
                                            <p:cond delay="0"/>
                                          </p:stCondLst>
                                        </p:cTn>
                                        <p:tgtEl>
                                          <p:spTgt spid="15"/>
                                        </p:tgtEl>
                                        <p:attrNameLst>
                                          <p:attrName>style.visibility</p:attrName>
                                        </p:attrNameLst>
                                      </p:cBhvr>
                                      <p:to>
                                        <p:strVal val="visible"/>
                                      </p:to>
                                    </p:set>
                                    <p:animEffect transition="in" filter="dissolve">
                                      <p:cBhvr>
                                        <p:cTn id="193" dur="500"/>
                                        <p:tgtEl>
                                          <p:spTgt spid="15"/>
                                        </p:tgtEl>
                                      </p:cBhvr>
                                    </p:animEffect>
                                  </p:childTnLst>
                                </p:cTn>
                              </p:par>
                            </p:childTnLst>
                          </p:cTn>
                        </p:par>
                      </p:childTnLst>
                    </p:cTn>
                  </p:par>
                  <p:par>
                    <p:cTn id="194" fill="hold">
                      <p:stCondLst>
                        <p:cond delay="indefinite"/>
                      </p:stCondLst>
                      <p:childTnLst>
                        <p:par>
                          <p:cTn id="195" fill="hold">
                            <p:stCondLst>
                              <p:cond delay="0"/>
                            </p:stCondLst>
                            <p:childTnLst>
                              <p:par>
                                <p:cTn id="196" presetID="9" presetClass="exit" presetSubtype="0" fill="hold" grpId="0" nodeType="clickEffect">
                                  <p:stCondLst>
                                    <p:cond delay="0"/>
                                  </p:stCondLst>
                                  <p:childTnLst>
                                    <p:animEffect transition="out" filter="dissolve">
                                      <p:cBhvr>
                                        <p:cTn id="197" dur="500"/>
                                        <p:tgtEl>
                                          <p:spTgt spid="115"/>
                                        </p:tgtEl>
                                      </p:cBhvr>
                                    </p:animEffect>
                                    <p:set>
                                      <p:cBhvr>
                                        <p:cTn id="198" dur="1" fill="hold">
                                          <p:stCondLst>
                                            <p:cond delay="499"/>
                                          </p:stCondLst>
                                        </p:cTn>
                                        <p:tgtEl>
                                          <p:spTgt spid="115"/>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grpId="0" nodeType="clickEffect">
                                  <p:stCondLst>
                                    <p:cond delay="0"/>
                                  </p:stCondLst>
                                  <p:childTnLst>
                                    <p:set>
                                      <p:cBhvr>
                                        <p:cTn id="202" dur="1" fill="hold">
                                          <p:stCondLst>
                                            <p:cond delay="0"/>
                                          </p:stCondLst>
                                        </p:cTn>
                                        <p:tgtEl>
                                          <p:spTgt spid="134"/>
                                        </p:tgtEl>
                                        <p:attrNameLst>
                                          <p:attrName>style.visibility</p:attrName>
                                        </p:attrNameLst>
                                      </p:cBhvr>
                                      <p:to>
                                        <p:strVal val="visible"/>
                                      </p:to>
                                    </p:set>
                                    <p:animEffect transition="in" filter="dissolve">
                                      <p:cBhvr>
                                        <p:cTn id="203" dur="500"/>
                                        <p:tgtEl>
                                          <p:spTgt spid="134"/>
                                        </p:tgtEl>
                                      </p:cBhvr>
                                    </p:animEffect>
                                  </p:childTnLst>
                                </p:cTn>
                              </p:par>
                              <p:par>
                                <p:cTn id="204" presetID="9" presetClass="entr" presetSubtype="0" fill="hold" grpId="0" nodeType="withEffect">
                                  <p:stCondLst>
                                    <p:cond delay="0"/>
                                  </p:stCondLst>
                                  <p:childTnLst>
                                    <p:set>
                                      <p:cBhvr>
                                        <p:cTn id="205" dur="1" fill="hold">
                                          <p:stCondLst>
                                            <p:cond delay="0"/>
                                          </p:stCondLst>
                                        </p:cTn>
                                        <p:tgtEl>
                                          <p:spTgt spid="129"/>
                                        </p:tgtEl>
                                        <p:attrNameLst>
                                          <p:attrName>style.visibility</p:attrName>
                                        </p:attrNameLst>
                                      </p:cBhvr>
                                      <p:to>
                                        <p:strVal val="visible"/>
                                      </p:to>
                                    </p:set>
                                    <p:animEffect transition="in" filter="dissolve">
                                      <p:cBhvr>
                                        <p:cTn id="206"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211" grpId="0"/>
      <p:bldP spid="212" grpId="0"/>
      <p:bldP spid="213" grpId="0" animBg="1"/>
      <p:bldP spid="70" grpId="0"/>
      <p:bldP spid="70" grpId="1"/>
      <p:bldP spid="71" grpId="0"/>
      <p:bldP spid="71" grpId="1"/>
      <p:bldP spid="73" grpId="0"/>
      <p:bldP spid="73" grpId="1"/>
      <p:bldP spid="74" grpId="0"/>
      <p:bldP spid="74" grpId="1"/>
      <p:bldP spid="84" grpId="0"/>
      <p:bldP spid="84" grpId="1"/>
      <p:bldP spid="89" grpId="0"/>
      <p:bldP spid="89" grpId="1"/>
      <p:bldP spid="90" grpId="0"/>
      <p:bldP spid="90" grpId="1"/>
      <p:bldP spid="92" grpId="0"/>
      <p:bldP spid="93" grpId="0"/>
      <p:bldP spid="94" grpId="0" animBg="1"/>
      <p:bldP spid="95" grpId="0"/>
      <p:bldP spid="99" grpId="0"/>
      <p:bldP spid="99" grpId="1"/>
      <p:bldP spid="100" grpId="0"/>
      <p:bldP spid="100" grpId="1"/>
      <p:bldP spid="102" grpId="0"/>
      <p:bldP spid="102" grpId="1"/>
      <p:bldP spid="103" grpId="0"/>
      <p:bldP spid="103" grpId="1"/>
      <p:bldP spid="104" grpId="0"/>
      <p:bldP spid="104" grpId="1"/>
      <p:bldP spid="105" grpId="0"/>
      <p:bldP spid="105" grpId="1"/>
      <p:bldP spid="106" grpId="0"/>
      <p:bldP spid="106" grpId="1"/>
      <p:bldP spid="113" grpId="0"/>
      <p:bldP spid="115" grpId="0" animBg="1"/>
      <p:bldP spid="129" grpId="0" animBg="1"/>
      <p:bldP spid="1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76">
            <a:extLst>
              <a:ext uri="{FF2B5EF4-FFF2-40B4-BE49-F238E27FC236}">
                <a16:creationId xmlns:a16="http://schemas.microsoft.com/office/drawing/2014/main" id="{3CF15A8F-06FA-544B-B2D9-D3916D0DE06E}"/>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Q1</a:t>
            </a: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32A6857-3BE5-9643-9CDA-C45302754EA2}"/>
                  </a:ext>
                </a:extLst>
              </p:cNvPr>
              <p:cNvSpPr txBox="1"/>
              <p:nvPr/>
            </p:nvSpPr>
            <p:spPr>
              <a:xfrm>
                <a:off x="422571" y="958109"/>
                <a:ext cx="7709058" cy="246221"/>
              </a:xfrm>
              <a:prstGeom prst="rect">
                <a:avLst/>
              </a:prstGeom>
              <a:noFill/>
            </p:spPr>
            <p:txBody>
              <a:bodyPr wrap="square" lIns="36000" tIns="0" rIns="0" bIns="0" rtlCol="0">
                <a:spAutoFit/>
              </a:bodyPr>
              <a:lstStyle/>
              <a:p>
                <a:pPr fontAlgn="base">
                  <a:spcBef>
                    <a:spcPct val="0"/>
                  </a:spcBef>
                  <a:spcAft>
                    <a:spcPts val="800"/>
                  </a:spcAft>
                </a:pPr>
                <a:r>
                  <a:rPr lang="en-GB" sz="1600" dirty="0">
                    <a:solidFill>
                      <a:srgbClr val="000000"/>
                    </a:solidFill>
                  </a:rPr>
                  <a:t>Work out the missing angle, </a:t>
                </a:r>
                <a14:m>
                  <m:oMath xmlns:m="http://schemas.openxmlformats.org/officeDocument/2006/math">
                    <m:r>
                      <a:rPr lang="en-GB" sz="1600" b="0" i="1" smtClean="0">
                        <a:solidFill>
                          <a:srgbClr val="000000"/>
                        </a:solidFill>
                        <a:latin typeface="Cambria Math" panose="02040503050406030204" pitchFamily="18" charset="0"/>
                      </a:rPr>
                      <m:t>𝜃</m:t>
                    </m:r>
                  </m:oMath>
                </a14:m>
                <a:r>
                  <a:rPr lang="en-GB" sz="1600" baseline="30000" dirty="0">
                    <a:solidFill>
                      <a:srgbClr val="000000"/>
                    </a:solidFill>
                  </a:rPr>
                  <a:t>o</a:t>
                </a:r>
                <a:r>
                  <a:rPr lang="en-GB" sz="1600" dirty="0">
                    <a:solidFill>
                      <a:srgbClr val="000000"/>
                    </a:solidFill>
                  </a:rPr>
                  <a:t>, in each of the following triangles to one decimal place.</a:t>
                </a:r>
              </a:p>
            </p:txBody>
          </p:sp>
        </mc:Choice>
        <mc:Fallback xmlns="">
          <p:sp>
            <p:nvSpPr>
              <p:cNvPr id="78" name="TextBox 77">
                <a:extLst>
                  <a:ext uri="{FF2B5EF4-FFF2-40B4-BE49-F238E27FC236}">
                    <a16:creationId xmlns:a16="http://schemas.microsoft.com/office/drawing/2014/main" id="{732A6857-3BE5-9643-9CDA-C45302754EA2}"/>
                  </a:ext>
                </a:extLst>
              </p:cNvPr>
              <p:cNvSpPr txBox="1">
                <a:spLocks noRot="1" noChangeAspect="1" noMove="1" noResize="1" noEditPoints="1" noAdjustHandles="1" noChangeArrowheads="1" noChangeShapeType="1" noTextEdit="1"/>
              </p:cNvSpPr>
              <p:nvPr/>
            </p:nvSpPr>
            <p:spPr>
              <a:xfrm>
                <a:off x="422571" y="958109"/>
                <a:ext cx="7709058" cy="246221"/>
              </a:xfrm>
              <a:prstGeom prst="rect">
                <a:avLst/>
              </a:prstGeom>
              <a:blipFill>
                <a:blip r:embed="rId3"/>
                <a:stretch>
                  <a:fillRect l="-987" t="-19048" b="-42857"/>
                </a:stretch>
              </a:blipFill>
            </p:spPr>
            <p:txBody>
              <a:bodyPr/>
              <a:lstStyle/>
              <a:p>
                <a:r>
                  <a:rPr lang="en-GB">
                    <a:noFill/>
                  </a:rPr>
                  <a:t> </a:t>
                </a:r>
              </a:p>
            </p:txBody>
          </p:sp>
        </mc:Fallback>
      </mc:AlternateContent>
      <p:cxnSp>
        <p:nvCxnSpPr>
          <p:cNvPr id="76" name="Straight Connector 75">
            <a:extLst>
              <a:ext uri="{FF2B5EF4-FFF2-40B4-BE49-F238E27FC236}">
                <a16:creationId xmlns:a16="http://schemas.microsoft.com/office/drawing/2014/main" id="{CA612778-DCBB-114E-8213-956F8AEA12DE}"/>
              </a:ext>
            </a:extLst>
          </p:cNvPr>
          <p:cNvCxnSpPr>
            <a:cxnSpLocks/>
          </p:cNvCxnSpPr>
          <p:nvPr/>
        </p:nvCxnSpPr>
        <p:spPr>
          <a:xfrm flipH="1">
            <a:off x="0" y="2896834"/>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96660DD-2369-F742-B3B7-498A77F343B2}"/>
              </a:ext>
            </a:extLst>
          </p:cNvPr>
          <p:cNvCxnSpPr>
            <a:cxnSpLocks/>
          </p:cNvCxnSpPr>
          <p:nvPr/>
        </p:nvCxnSpPr>
        <p:spPr>
          <a:xfrm flipH="1">
            <a:off x="0" y="1285786"/>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B8D311C9-7BC6-054F-B8F6-EFEB5BE5CAEC}"/>
              </a:ext>
            </a:extLst>
          </p:cNvPr>
          <p:cNvSpPr txBox="1"/>
          <p:nvPr/>
        </p:nvSpPr>
        <p:spPr>
          <a:xfrm>
            <a:off x="11769" y="1320792"/>
            <a:ext cx="513302" cy="246221"/>
          </a:xfrm>
          <a:prstGeom prst="rect">
            <a:avLst/>
          </a:prstGeom>
          <a:noFill/>
        </p:spPr>
        <p:txBody>
          <a:bodyPr wrap="square" lIns="36000" tIns="0" rIns="0" bIns="0" rtlCol="0">
            <a:spAutoFit/>
          </a:bodyPr>
          <a:lstStyle/>
          <a:p>
            <a:r>
              <a:rPr lang="en-GB" sz="1600" b="1" dirty="0"/>
              <a:t>[a]</a:t>
            </a:r>
          </a:p>
        </p:txBody>
      </p:sp>
      <p:sp>
        <p:nvSpPr>
          <p:cNvPr id="104" name="TextBox 103">
            <a:extLst>
              <a:ext uri="{FF2B5EF4-FFF2-40B4-BE49-F238E27FC236}">
                <a16:creationId xmlns:a16="http://schemas.microsoft.com/office/drawing/2014/main" id="{E7BFF9AB-5B91-5F45-9092-4B684DD89F06}"/>
              </a:ext>
            </a:extLst>
          </p:cNvPr>
          <p:cNvSpPr txBox="1"/>
          <p:nvPr/>
        </p:nvSpPr>
        <p:spPr>
          <a:xfrm>
            <a:off x="2301836" y="1320792"/>
            <a:ext cx="513302" cy="246221"/>
          </a:xfrm>
          <a:prstGeom prst="rect">
            <a:avLst/>
          </a:prstGeom>
          <a:noFill/>
        </p:spPr>
        <p:txBody>
          <a:bodyPr wrap="square" lIns="36000" tIns="0" rIns="0" bIns="0" rtlCol="0">
            <a:spAutoFit/>
          </a:bodyPr>
          <a:lstStyle/>
          <a:p>
            <a:r>
              <a:rPr lang="en-GB" sz="1600" b="1" dirty="0"/>
              <a:t>[b]</a:t>
            </a:r>
          </a:p>
        </p:txBody>
      </p:sp>
      <p:sp>
        <p:nvSpPr>
          <p:cNvPr id="105" name="TextBox 104">
            <a:extLst>
              <a:ext uri="{FF2B5EF4-FFF2-40B4-BE49-F238E27FC236}">
                <a16:creationId xmlns:a16="http://schemas.microsoft.com/office/drawing/2014/main" id="{52650C7A-5805-024B-BC2E-EF2328F39ECA}"/>
              </a:ext>
            </a:extLst>
          </p:cNvPr>
          <p:cNvSpPr txBox="1"/>
          <p:nvPr/>
        </p:nvSpPr>
        <p:spPr>
          <a:xfrm>
            <a:off x="4591914" y="1320792"/>
            <a:ext cx="513302" cy="246221"/>
          </a:xfrm>
          <a:prstGeom prst="rect">
            <a:avLst/>
          </a:prstGeom>
          <a:noFill/>
        </p:spPr>
        <p:txBody>
          <a:bodyPr wrap="square" lIns="36000" tIns="0" rIns="0" bIns="0" rtlCol="0">
            <a:spAutoFit/>
          </a:bodyPr>
          <a:lstStyle/>
          <a:p>
            <a:r>
              <a:rPr lang="en-GB" sz="1600" b="1" dirty="0"/>
              <a:t>[c]</a:t>
            </a:r>
          </a:p>
        </p:txBody>
      </p:sp>
      <p:sp>
        <p:nvSpPr>
          <p:cNvPr id="124" name="TextBox 123">
            <a:extLst>
              <a:ext uri="{FF2B5EF4-FFF2-40B4-BE49-F238E27FC236}">
                <a16:creationId xmlns:a16="http://schemas.microsoft.com/office/drawing/2014/main" id="{B4B9E36B-7E07-6841-A40D-687B27745EE0}"/>
              </a:ext>
            </a:extLst>
          </p:cNvPr>
          <p:cNvSpPr txBox="1"/>
          <p:nvPr/>
        </p:nvSpPr>
        <p:spPr>
          <a:xfrm>
            <a:off x="11769" y="2927429"/>
            <a:ext cx="513302" cy="246221"/>
          </a:xfrm>
          <a:prstGeom prst="rect">
            <a:avLst/>
          </a:prstGeom>
          <a:noFill/>
        </p:spPr>
        <p:txBody>
          <a:bodyPr wrap="square" lIns="36000" tIns="0" rIns="0" bIns="0" rtlCol="0">
            <a:spAutoFit/>
          </a:bodyPr>
          <a:lstStyle/>
          <a:p>
            <a:r>
              <a:rPr lang="en-GB" sz="1600" b="1" dirty="0"/>
              <a:t>[e]</a:t>
            </a:r>
          </a:p>
        </p:txBody>
      </p:sp>
      <p:sp>
        <p:nvSpPr>
          <p:cNvPr id="129" name="TextBox 128">
            <a:extLst>
              <a:ext uri="{FF2B5EF4-FFF2-40B4-BE49-F238E27FC236}">
                <a16:creationId xmlns:a16="http://schemas.microsoft.com/office/drawing/2014/main" id="{F57C59FF-4514-9941-B9FD-F6F5FB65AD0A}"/>
              </a:ext>
            </a:extLst>
          </p:cNvPr>
          <p:cNvSpPr txBox="1"/>
          <p:nvPr/>
        </p:nvSpPr>
        <p:spPr>
          <a:xfrm>
            <a:off x="2301836" y="2927429"/>
            <a:ext cx="513302" cy="246221"/>
          </a:xfrm>
          <a:prstGeom prst="rect">
            <a:avLst/>
          </a:prstGeom>
          <a:noFill/>
        </p:spPr>
        <p:txBody>
          <a:bodyPr wrap="square" lIns="36000" tIns="0" rIns="0" bIns="0" rtlCol="0">
            <a:spAutoFit/>
          </a:bodyPr>
          <a:lstStyle/>
          <a:p>
            <a:r>
              <a:rPr lang="en-GB" sz="1600" b="1" dirty="0"/>
              <a:t>[f]</a:t>
            </a:r>
          </a:p>
        </p:txBody>
      </p:sp>
      <p:sp>
        <p:nvSpPr>
          <p:cNvPr id="130" name="TextBox 129">
            <a:extLst>
              <a:ext uri="{FF2B5EF4-FFF2-40B4-BE49-F238E27FC236}">
                <a16:creationId xmlns:a16="http://schemas.microsoft.com/office/drawing/2014/main" id="{59310E66-9678-EF4D-AA3C-43328B3174AF}"/>
              </a:ext>
            </a:extLst>
          </p:cNvPr>
          <p:cNvSpPr txBox="1"/>
          <p:nvPr/>
        </p:nvSpPr>
        <p:spPr>
          <a:xfrm>
            <a:off x="4591914" y="2927429"/>
            <a:ext cx="513302" cy="246221"/>
          </a:xfrm>
          <a:prstGeom prst="rect">
            <a:avLst/>
          </a:prstGeom>
          <a:noFill/>
        </p:spPr>
        <p:txBody>
          <a:bodyPr wrap="square" lIns="36000" tIns="0" rIns="0" bIns="0" rtlCol="0">
            <a:spAutoFit/>
          </a:bodyPr>
          <a:lstStyle/>
          <a:p>
            <a:r>
              <a:rPr lang="en-GB" sz="1600" b="1" dirty="0"/>
              <a:t>[g]</a:t>
            </a:r>
          </a:p>
        </p:txBody>
      </p:sp>
      <p:sp>
        <p:nvSpPr>
          <p:cNvPr id="142" name="TextBox 141">
            <a:extLst>
              <a:ext uri="{FF2B5EF4-FFF2-40B4-BE49-F238E27FC236}">
                <a16:creationId xmlns:a16="http://schemas.microsoft.com/office/drawing/2014/main" id="{3E087DD5-0057-8C47-9C51-1B62D62773E2}"/>
              </a:ext>
            </a:extLst>
          </p:cNvPr>
          <p:cNvSpPr txBox="1"/>
          <p:nvPr/>
        </p:nvSpPr>
        <p:spPr>
          <a:xfrm>
            <a:off x="2638338" y="1336032"/>
            <a:ext cx="538972" cy="228925"/>
          </a:xfrm>
          <a:prstGeom prst="rect">
            <a:avLst/>
          </a:prstGeom>
          <a:solidFill>
            <a:schemeClr val="accent3"/>
          </a:solidFill>
          <a:ln>
            <a:noFill/>
          </a:ln>
        </p:spPr>
        <p:txBody>
          <a:bodyPr wrap="square" lIns="0" tIns="0" rIns="0" bIns="0" rtlCol="0" anchor="ctr">
            <a:spAutoFit/>
          </a:bodyPr>
          <a:lstStyle/>
          <a:p>
            <a:pPr algn="ctr"/>
            <a:r>
              <a:rPr lang="en-GB" sz="1800" b="1" dirty="0"/>
              <a:t>72.0</a:t>
            </a:r>
            <a:r>
              <a:rPr lang="en-GB" sz="1800" b="1" baseline="30000" dirty="0"/>
              <a:t>o</a:t>
            </a:r>
          </a:p>
        </p:txBody>
      </p:sp>
      <p:sp>
        <p:nvSpPr>
          <p:cNvPr id="143" name="TextBox 142">
            <a:extLst>
              <a:ext uri="{FF2B5EF4-FFF2-40B4-BE49-F238E27FC236}">
                <a16:creationId xmlns:a16="http://schemas.microsoft.com/office/drawing/2014/main" id="{5F8973A3-0B43-9448-812D-9775A6B7DF9D}"/>
              </a:ext>
            </a:extLst>
          </p:cNvPr>
          <p:cNvSpPr txBox="1"/>
          <p:nvPr/>
        </p:nvSpPr>
        <p:spPr>
          <a:xfrm>
            <a:off x="342345" y="1336032"/>
            <a:ext cx="544346" cy="228925"/>
          </a:xfrm>
          <a:prstGeom prst="rect">
            <a:avLst/>
          </a:prstGeom>
          <a:solidFill>
            <a:schemeClr val="accent3"/>
          </a:solidFill>
          <a:ln>
            <a:noFill/>
          </a:ln>
        </p:spPr>
        <p:txBody>
          <a:bodyPr wrap="square" lIns="0" tIns="0" rIns="0" bIns="0" rtlCol="0" anchor="ctr">
            <a:spAutoFit/>
          </a:bodyPr>
          <a:lstStyle/>
          <a:p>
            <a:pPr algn="ctr"/>
            <a:r>
              <a:rPr lang="en-GB" sz="1800" b="1" dirty="0"/>
              <a:t>40.8</a:t>
            </a:r>
            <a:r>
              <a:rPr lang="en-GB" sz="1800" b="1" baseline="30000" dirty="0"/>
              <a:t>o</a:t>
            </a:r>
          </a:p>
        </p:txBody>
      </p:sp>
      <p:sp>
        <p:nvSpPr>
          <p:cNvPr id="152" name="TextBox 151">
            <a:extLst>
              <a:ext uri="{FF2B5EF4-FFF2-40B4-BE49-F238E27FC236}">
                <a16:creationId xmlns:a16="http://schemas.microsoft.com/office/drawing/2014/main" id="{64771A22-E4F2-A148-85BE-5C7E76AF4591}"/>
              </a:ext>
            </a:extLst>
          </p:cNvPr>
          <p:cNvSpPr txBox="1"/>
          <p:nvPr/>
        </p:nvSpPr>
        <p:spPr>
          <a:xfrm>
            <a:off x="4885733" y="1336032"/>
            <a:ext cx="559104" cy="228925"/>
          </a:xfrm>
          <a:prstGeom prst="rect">
            <a:avLst/>
          </a:prstGeom>
          <a:solidFill>
            <a:schemeClr val="accent3"/>
          </a:solidFill>
          <a:ln>
            <a:noFill/>
          </a:ln>
        </p:spPr>
        <p:txBody>
          <a:bodyPr wrap="square" lIns="0" tIns="0" rIns="0" bIns="0" rtlCol="0" anchor="ctr">
            <a:spAutoFit/>
          </a:bodyPr>
          <a:lstStyle/>
          <a:p>
            <a:pPr algn="ctr"/>
            <a:r>
              <a:rPr lang="en-GB" sz="1800" b="1" dirty="0"/>
              <a:t>24.1</a:t>
            </a:r>
            <a:r>
              <a:rPr lang="en-GB" sz="1800" b="1" baseline="30000" dirty="0"/>
              <a:t>o</a:t>
            </a:r>
          </a:p>
        </p:txBody>
      </p:sp>
      <p:sp>
        <p:nvSpPr>
          <p:cNvPr id="153" name="TextBox 152">
            <a:extLst>
              <a:ext uri="{FF2B5EF4-FFF2-40B4-BE49-F238E27FC236}">
                <a16:creationId xmlns:a16="http://schemas.microsoft.com/office/drawing/2014/main" id="{4C11A173-97AE-284E-8D0C-749929C72127}"/>
              </a:ext>
            </a:extLst>
          </p:cNvPr>
          <p:cNvSpPr txBox="1"/>
          <p:nvPr/>
        </p:nvSpPr>
        <p:spPr>
          <a:xfrm>
            <a:off x="2591843" y="2946392"/>
            <a:ext cx="530048" cy="228925"/>
          </a:xfrm>
          <a:prstGeom prst="rect">
            <a:avLst/>
          </a:prstGeom>
          <a:solidFill>
            <a:schemeClr val="accent3"/>
          </a:solidFill>
          <a:ln>
            <a:noFill/>
          </a:ln>
        </p:spPr>
        <p:txBody>
          <a:bodyPr wrap="square" lIns="0" tIns="0" rIns="0" bIns="0" rtlCol="0" anchor="ctr">
            <a:spAutoFit/>
          </a:bodyPr>
          <a:lstStyle/>
          <a:p>
            <a:pPr algn="ctr"/>
            <a:r>
              <a:rPr lang="en-GB" sz="1800" b="1" dirty="0"/>
              <a:t>64.3</a:t>
            </a:r>
            <a:r>
              <a:rPr lang="en-GB" sz="1800" b="1" baseline="30000" dirty="0"/>
              <a:t>o</a:t>
            </a:r>
          </a:p>
        </p:txBody>
      </p:sp>
      <p:sp>
        <p:nvSpPr>
          <p:cNvPr id="154" name="TextBox 153">
            <a:extLst>
              <a:ext uri="{FF2B5EF4-FFF2-40B4-BE49-F238E27FC236}">
                <a16:creationId xmlns:a16="http://schemas.microsoft.com/office/drawing/2014/main" id="{E12610A2-C0E3-0B45-8568-0984413C2BDC}"/>
              </a:ext>
            </a:extLst>
          </p:cNvPr>
          <p:cNvSpPr txBox="1"/>
          <p:nvPr/>
        </p:nvSpPr>
        <p:spPr>
          <a:xfrm>
            <a:off x="334596" y="2946392"/>
            <a:ext cx="552095" cy="228925"/>
          </a:xfrm>
          <a:prstGeom prst="rect">
            <a:avLst/>
          </a:prstGeom>
          <a:solidFill>
            <a:schemeClr val="accent3"/>
          </a:solidFill>
          <a:ln>
            <a:noFill/>
          </a:ln>
        </p:spPr>
        <p:txBody>
          <a:bodyPr wrap="square" lIns="0" tIns="0" rIns="0" bIns="0" rtlCol="0" anchor="ctr">
            <a:spAutoFit/>
          </a:bodyPr>
          <a:lstStyle/>
          <a:p>
            <a:pPr algn="ctr"/>
            <a:r>
              <a:rPr lang="en-GB" sz="1800" b="1" dirty="0"/>
              <a:t>81.1</a:t>
            </a:r>
            <a:r>
              <a:rPr lang="en-GB" sz="1800" b="1" baseline="30000" dirty="0"/>
              <a:t>o</a:t>
            </a:r>
          </a:p>
        </p:txBody>
      </p:sp>
      <p:sp>
        <p:nvSpPr>
          <p:cNvPr id="155" name="TextBox 154">
            <a:extLst>
              <a:ext uri="{FF2B5EF4-FFF2-40B4-BE49-F238E27FC236}">
                <a16:creationId xmlns:a16="http://schemas.microsoft.com/office/drawing/2014/main" id="{281265F4-378F-1445-83AB-2B126F706866}"/>
              </a:ext>
            </a:extLst>
          </p:cNvPr>
          <p:cNvSpPr txBox="1"/>
          <p:nvPr/>
        </p:nvSpPr>
        <p:spPr>
          <a:xfrm>
            <a:off x="4908980" y="2946392"/>
            <a:ext cx="571482" cy="228925"/>
          </a:xfrm>
          <a:prstGeom prst="rect">
            <a:avLst/>
          </a:prstGeom>
          <a:solidFill>
            <a:schemeClr val="accent3"/>
          </a:solidFill>
          <a:ln>
            <a:noFill/>
          </a:ln>
        </p:spPr>
        <p:txBody>
          <a:bodyPr wrap="square" lIns="0" tIns="0" rIns="0" bIns="0" rtlCol="0" anchor="ctr">
            <a:spAutoFit/>
          </a:bodyPr>
          <a:lstStyle/>
          <a:p>
            <a:pPr algn="ctr"/>
            <a:r>
              <a:rPr lang="en-GB" sz="1800" b="1" dirty="0"/>
              <a:t>20.0</a:t>
            </a:r>
            <a:r>
              <a:rPr lang="en-GB" sz="1800" b="1" baseline="30000" dirty="0"/>
              <a:t>o</a:t>
            </a:r>
          </a:p>
        </p:txBody>
      </p:sp>
      <p:cxnSp>
        <p:nvCxnSpPr>
          <p:cNvPr id="74" name="Straight Connector 73">
            <a:extLst>
              <a:ext uri="{FF2B5EF4-FFF2-40B4-BE49-F238E27FC236}">
                <a16:creationId xmlns:a16="http://schemas.microsoft.com/office/drawing/2014/main" id="{F40F3F22-58C1-E74C-9CBD-E5037A77C2D6}"/>
              </a:ext>
            </a:extLst>
          </p:cNvPr>
          <p:cNvCxnSpPr>
            <a:cxnSpLocks/>
          </p:cNvCxnSpPr>
          <p:nvPr/>
        </p:nvCxnSpPr>
        <p:spPr>
          <a:xfrm>
            <a:off x="2286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2E443BA-EACD-7A48-BC53-7E367F827B8B}"/>
              </a:ext>
            </a:extLst>
          </p:cNvPr>
          <p:cNvCxnSpPr>
            <a:cxnSpLocks/>
          </p:cNvCxnSpPr>
          <p:nvPr/>
        </p:nvCxnSpPr>
        <p:spPr>
          <a:xfrm>
            <a:off x="6858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22BD6932-A2BC-494C-9E25-FBB452D5B436}"/>
              </a:ext>
            </a:extLst>
          </p:cNvPr>
          <p:cNvCxnSpPr>
            <a:cxnSpLocks/>
          </p:cNvCxnSpPr>
          <p:nvPr/>
        </p:nvCxnSpPr>
        <p:spPr>
          <a:xfrm>
            <a:off x="4572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8AC1E2A0-69D3-8747-9F92-A0A59972A42F}"/>
              </a:ext>
            </a:extLst>
          </p:cNvPr>
          <p:cNvSpPr txBox="1"/>
          <p:nvPr/>
        </p:nvSpPr>
        <p:spPr>
          <a:xfrm>
            <a:off x="6877914" y="1320792"/>
            <a:ext cx="513302" cy="246221"/>
          </a:xfrm>
          <a:prstGeom prst="rect">
            <a:avLst/>
          </a:prstGeom>
          <a:noFill/>
        </p:spPr>
        <p:txBody>
          <a:bodyPr wrap="square" lIns="36000" tIns="0" rIns="0" bIns="0" rtlCol="0">
            <a:spAutoFit/>
          </a:bodyPr>
          <a:lstStyle/>
          <a:p>
            <a:r>
              <a:rPr lang="en-GB" sz="1600" b="1" dirty="0"/>
              <a:t>[d]</a:t>
            </a:r>
          </a:p>
        </p:txBody>
      </p:sp>
      <p:sp>
        <p:nvSpPr>
          <p:cNvPr id="158" name="TextBox 157">
            <a:extLst>
              <a:ext uri="{FF2B5EF4-FFF2-40B4-BE49-F238E27FC236}">
                <a16:creationId xmlns:a16="http://schemas.microsoft.com/office/drawing/2014/main" id="{024CC4D4-1C16-7049-9003-645628015BAD}"/>
              </a:ext>
            </a:extLst>
          </p:cNvPr>
          <p:cNvSpPr txBox="1"/>
          <p:nvPr/>
        </p:nvSpPr>
        <p:spPr>
          <a:xfrm>
            <a:off x="6877914" y="2927429"/>
            <a:ext cx="513302" cy="246221"/>
          </a:xfrm>
          <a:prstGeom prst="rect">
            <a:avLst/>
          </a:prstGeom>
          <a:noFill/>
        </p:spPr>
        <p:txBody>
          <a:bodyPr wrap="square" lIns="36000" tIns="0" rIns="0" bIns="0" rtlCol="0">
            <a:spAutoFit/>
          </a:bodyPr>
          <a:lstStyle/>
          <a:p>
            <a:r>
              <a:rPr lang="en-GB" sz="1600" b="1" dirty="0"/>
              <a:t>[h]</a:t>
            </a:r>
          </a:p>
        </p:txBody>
      </p:sp>
      <p:sp>
        <p:nvSpPr>
          <p:cNvPr id="159" name="TextBox 158">
            <a:extLst>
              <a:ext uri="{FF2B5EF4-FFF2-40B4-BE49-F238E27FC236}">
                <a16:creationId xmlns:a16="http://schemas.microsoft.com/office/drawing/2014/main" id="{055C23BC-881A-8C44-B639-689645ACCA1D}"/>
              </a:ext>
            </a:extLst>
          </p:cNvPr>
          <p:cNvSpPr txBox="1"/>
          <p:nvPr/>
        </p:nvSpPr>
        <p:spPr>
          <a:xfrm>
            <a:off x="7202728" y="1336032"/>
            <a:ext cx="563734" cy="228925"/>
          </a:xfrm>
          <a:prstGeom prst="rect">
            <a:avLst/>
          </a:prstGeom>
          <a:solidFill>
            <a:schemeClr val="accent3"/>
          </a:solidFill>
          <a:ln>
            <a:noFill/>
          </a:ln>
        </p:spPr>
        <p:txBody>
          <a:bodyPr wrap="square" lIns="0" tIns="0" rIns="0" bIns="0" rtlCol="0" anchor="ctr">
            <a:spAutoFit/>
          </a:bodyPr>
          <a:lstStyle/>
          <a:p>
            <a:pPr algn="ctr"/>
            <a:r>
              <a:rPr lang="en-GB" sz="1800" b="1" dirty="0"/>
              <a:t>59.1</a:t>
            </a:r>
            <a:r>
              <a:rPr lang="en-GB" sz="1800" b="1" baseline="30000" dirty="0"/>
              <a:t>o</a:t>
            </a:r>
          </a:p>
        </p:txBody>
      </p:sp>
      <p:sp>
        <p:nvSpPr>
          <p:cNvPr id="160" name="TextBox 159">
            <a:extLst>
              <a:ext uri="{FF2B5EF4-FFF2-40B4-BE49-F238E27FC236}">
                <a16:creationId xmlns:a16="http://schemas.microsoft.com/office/drawing/2014/main" id="{F5EF4E1D-1BF2-E04C-BE4F-4E93CC0755CF}"/>
              </a:ext>
            </a:extLst>
          </p:cNvPr>
          <p:cNvSpPr txBox="1"/>
          <p:nvPr/>
        </p:nvSpPr>
        <p:spPr>
          <a:xfrm>
            <a:off x="7202729" y="2946392"/>
            <a:ext cx="599360" cy="228925"/>
          </a:xfrm>
          <a:prstGeom prst="rect">
            <a:avLst/>
          </a:prstGeom>
          <a:solidFill>
            <a:schemeClr val="accent3"/>
          </a:solidFill>
          <a:ln>
            <a:noFill/>
          </a:ln>
        </p:spPr>
        <p:txBody>
          <a:bodyPr wrap="square" lIns="0" tIns="0" rIns="0" bIns="0" rtlCol="0" anchor="ctr">
            <a:spAutoFit/>
          </a:bodyPr>
          <a:lstStyle/>
          <a:p>
            <a:pPr algn="ctr"/>
            <a:r>
              <a:rPr lang="en-GB" sz="1800" b="1" dirty="0"/>
              <a:t>11.9</a:t>
            </a:r>
            <a:r>
              <a:rPr lang="en-GB" sz="1800" b="1" baseline="30000" dirty="0"/>
              <a:t>o</a:t>
            </a:r>
          </a:p>
        </p:txBody>
      </p:sp>
      <p:grpSp>
        <p:nvGrpSpPr>
          <p:cNvPr id="90" name="Group 89">
            <a:extLst>
              <a:ext uri="{FF2B5EF4-FFF2-40B4-BE49-F238E27FC236}">
                <a16:creationId xmlns:a16="http://schemas.microsoft.com/office/drawing/2014/main" id="{B02AD371-0C91-4544-95E6-88CBE0E61B36}"/>
              </a:ext>
            </a:extLst>
          </p:cNvPr>
          <p:cNvGrpSpPr/>
          <p:nvPr/>
        </p:nvGrpSpPr>
        <p:grpSpPr>
          <a:xfrm>
            <a:off x="320755" y="1728728"/>
            <a:ext cx="1820120" cy="1115602"/>
            <a:chOff x="6319651" y="1387038"/>
            <a:chExt cx="2931324" cy="1484866"/>
          </a:xfrm>
        </p:grpSpPr>
        <p:grpSp>
          <p:nvGrpSpPr>
            <p:cNvPr id="91" name="Group 90">
              <a:extLst>
                <a:ext uri="{FF2B5EF4-FFF2-40B4-BE49-F238E27FC236}">
                  <a16:creationId xmlns:a16="http://schemas.microsoft.com/office/drawing/2014/main" id="{DF1CE188-BD4B-AA42-AE28-EA631B0A7822}"/>
                </a:ext>
              </a:extLst>
            </p:cNvPr>
            <p:cNvGrpSpPr/>
            <p:nvPr/>
          </p:nvGrpSpPr>
          <p:grpSpPr>
            <a:xfrm>
              <a:off x="6534645" y="1387038"/>
              <a:ext cx="2716330" cy="1484866"/>
              <a:chOff x="6604182" y="1415186"/>
              <a:chExt cx="2716330" cy="1484866"/>
            </a:xfrm>
          </p:grpSpPr>
          <p:sp>
            <p:nvSpPr>
              <p:cNvPr id="95" name="Triangle 94">
                <a:extLst>
                  <a:ext uri="{FF2B5EF4-FFF2-40B4-BE49-F238E27FC236}">
                    <a16:creationId xmlns:a16="http://schemas.microsoft.com/office/drawing/2014/main" id="{1CD77C2A-2AE4-0C46-9BF9-E7FB20CDC31C}"/>
                  </a:ext>
                </a:extLst>
              </p:cNvPr>
              <p:cNvSpPr/>
              <p:nvPr/>
            </p:nvSpPr>
            <p:spPr>
              <a:xfrm>
                <a:off x="6604182" y="1415186"/>
                <a:ext cx="2266474" cy="1106716"/>
              </a:xfrm>
              <a:prstGeom prst="triangle">
                <a:avLst>
                  <a:gd name="adj" fmla="val 34997"/>
                </a:avLst>
              </a:pr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96" name="Arc 95">
                <a:extLst>
                  <a:ext uri="{FF2B5EF4-FFF2-40B4-BE49-F238E27FC236}">
                    <a16:creationId xmlns:a16="http://schemas.microsoft.com/office/drawing/2014/main" id="{761805AB-3538-8049-9EE3-59FE68BED76C}"/>
                  </a:ext>
                </a:extLst>
              </p:cNvPr>
              <p:cNvSpPr>
                <a:spLocks noChangeAspect="1"/>
              </p:cNvSpPr>
              <p:nvPr/>
            </p:nvSpPr>
            <p:spPr>
              <a:xfrm>
                <a:off x="8402135" y="2140268"/>
                <a:ext cx="918377" cy="759784"/>
              </a:xfrm>
              <a:prstGeom prst="arc">
                <a:avLst>
                  <a:gd name="adj1" fmla="val 10809643"/>
                  <a:gd name="adj2" fmla="val 1338311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92" name="Text Box 30">
                  <a:extLst>
                    <a:ext uri="{FF2B5EF4-FFF2-40B4-BE49-F238E27FC236}">
                      <a16:creationId xmlns:a16="http://schemas.microsoft.com/office/drawing/2014/main" id="{8C77A3E5-7B9D-644F-A4AD-2F10643F61CA}"/>
                    </a:ext>
                  </a:extLst>
                </p:cNvPr>
                <p:cNvSpPr txBox="1">
                  <a:spLocks noChangeArrowheads="1"/>
                </p:cNvSpPr>
                <p:nvPr/>
              </p:nvSpPr>
              <p:spPr bwMode="auto">
                <a:xfrm>
                  <a:off x="8035481" y="2149296"/>
                  <a:ext cx="293070"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i="1" dirty="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92" name="Text Box 30">
                  <a:extLst>
                    <a:ext uri="{FF2B5EF4-FFF2-40B4-BE49-F238E27FC236}">
                      <a16:creationId xmlns:a16="http://schemas.microsoft.com/office/drawing/2014/main" id="{8C77A3E5-7B9D-644F-A4AD-2F10643F61CA}"/>
                    </a:ext>
                  </a:extLst>
                </p:cNvPr>
                <p:cNvSpPr txBox="1">
                  <a:spLocks noRot="1" noChangeAspect="1" noMove="1" noResize="1" noEditPoints="1" noAdjustHandles="1" noChangeArrowheads="1" noChangeShapeType="1" noTextEdit="1"/>
                </p:cNvSpPr>
                <p:nvPr/>
              </p:nvSpPr>
              <p:spPr bwMode="auto">
                <a:xfrm>
                  <a:off x="8035481" y="2149296"/>
                  <a:ext cx="293070" cy="300155"/>
                </a:xfrm>
                <a:prstGeom prst="rect">
                  <a:avLst/>
                </a:prstGeom>
                <a:blipFill>
                  <a:blip r:embed="rId4"/>
                  <a:stretch>
                    <a:fillRect l="-26667" t="-5263" r="-40000"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93" name="Text Box 30">
              <a:extLst>
                <a:ext uri="{FF2B5EF4-FFF2-40B4-BE49-F238E27FC236}">
                  <a16:creationId xmlns:a16="http://schemas.microsoft.com/office/drawing/2014/main" id="{2E914B4D-71F7-AE49-AC25-7DF8970D5D3B}"/>
                </a:ext>
              </a:extLst>
            </p:cNvPr>
            <p:cNvSpPr txBox="1">
              <a:spLocks noChangeArrowheads="1"/>
            </p:cNvSpPr>
            <p:nvPr/>
          </p:nvSpPr>
          <p:spPr bwMode="auto">
            <a:xfrm>
              <a:off x="8060058" y="1602185"/>
              <a:ext cx="536985"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8cm</a:t>
              </a:r>
            </a:p>
          </p:txBody>
        </p:sp>
        <p:sp>
          <p:nvSpPr>
            <p:cNvPr id="94" name="Text Box 30">
              <a:extLst>
                <a:ext uri="{FF2B5EF4-FFF2-40B4-BE49-F238E27FC236}">
                  <a16:creationId xmlns:a16="http://schemas.microsoft.com/office/drawing/2014/main" id="{00305209-71F7-E740-BE44-79BF6DCADD37}"/>
                </a:ext>
              </a:extLst>
            </p:cNvPr>
            <p:cNvSpPr txBox="1">
              <a:spLocks noChangeArrowheads="1"/>
            </p:cNvSpPr>
            <p:nvPr/>
          </p:nvSpPr>
          <p:spPr bwMode="auto">
            <a:xfrm>
              <a:off x="7372540" y="2488397"/>
              <a:ext cx="590684" cy="33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9cm</a:t>
              </a:r>
              <a:endParaRPr lang="en-GB" altLang="en-US" sz="1500" baseline="30000" dirty="0">
                <a:latin typeface="Calibri" panose="020F0502020204030204" pitchFamily="34" charset="0"/>
                <a:cs typeface="Calibri" panose="020F0502020204030204" pitchFamily="34" charset="0"/>
              </a:endParaRPr>
            </a:p>
          </p:txBody>
        </p:sp>
        <p:sp>
          <p:nvSpPr>
            <p:cNvPr id="168" name="Text Box 30">
              <a:extLst>
                <a:ext uri="{FF2B5EF4-FFF2-40B4-BE49-F238E27FC236}">
                  <a16:creationId xmlns:a16="http://schemas.microsoft.com/office/drawing/2014/main" id="{0B0EA10C-010F-0242-90EC-004A92E32181}"/>
                </a:ext>
              </a:extLst>
            </p:cNvPr>
            <p:cNvSpPr txBox="1">
              <a:spLocks noChangeArrowheads="1"/>
            </p:cNvSpPr>
            <p:nvPr/>
          </p:nvSpPr>
          <p:spPr bwMode="auto">
            <a:xfrm>
              <a:off x="6319651" y="1700534"/>
              <a:ext cx="536986"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6cm</a:t>
              </a:r>
            </a:p>
          </p:txBody>
        </p:sp>
      </p:grpSp>
      <p:grpSp>
        <p:nvGrpSpPr>
          <p:cNvPr id="97" name="Group 96">
            <a:extLst>
              <a:ext uri="{FF2B5EF4-FFF2-40B4-BE49-F238E27FC236}">
                <a16:creationId xmlns:a16="http://schemas.microsoft.com/office/drawing/2014/main" id="{CF75AE73-08C2-DB42-A08A-B5480100AE91}"/>
              </a:ext>
            </a:extLst>
          </p:cNvPr>
          <p:cNvGrpSpPr/>
          <p:nvPr/>
        </p:nvGrpSpPr>
        <p:grpSpPr>
          <a:xfrm>
            <a:off x="2602495" y="1500774"/>
            <a:ext cx="1647479" cy="1255868"/>
            <a:chOff x="6304538" y="1013018"/>
            <a:chExt cx="2653283" cy="1671558"/>
          </a:xfrm>
        </p:grpSpPr>
        <p:grpSp>
          <p:nvGrpSpPr>
            <p:cNvPr id="98" name="Group 97">
              <a:extLst>
                <a:ext uri="{FF2B5EF4-FFF2-40B4-BE49-F238E27FC236}">
                  <a16:creationId xmlns:a16="http://schemas.microsoft.com/office/drawing/2014/main" id="{42F7F188-EFCF-1448-8181-70E90645E59C}"/>
                </a:ext>
              </a:extLst>
            </p:cNvPr>
            <p:cNvGrpSpPr/>
            <p:nvPr/>
          </p:nvGrpSpPr>
          <p:grpSpPr>
            <a:xfrm>
              <a:off x="6463056" y="1013018"/>
              <a:ext cx="2251134" cy="1484964"/>
              <a:chOff x="6532593" y="1041166"/>
              <a:chExt cx="2251134" cy="1484964"/>
            </a:xfrm>
          </p:grpSpPr>
          <p:sp>
            <p:nvSpPr>
              <p:cNvPr id="102" name="Triangle 210">
                <a:extLst>
                  <a:ext uri="{FF2B5EF4-FFF2-40B4-BE49-F238E27FC236}">
                    <a16:creationId xmlns:a16="http://schemas.microsoft.com/office/drawing/2014/main" id="{4A66638D-A9EB-164B-8DBA-8F7C469755F4}"/>
                  </a:ext>
                </a:extLst>
              </p:cNvPr>
              <p:cNvSpPr/>
              <p:nvPr/>
            </p:nvSpPr>
            <p:spPr>
              <a:xfrm>
                <a:off x="6532593" y="1263055"/>
                <a:ext cx="2251134" cy="1263075"/>
              </a:xfrm>
              <a:custGeom>
                <a:avLst/>
                <a:gdLst>
                  <a:gd name="connsiteX0" fmla="*/ 0 w 1407300"/>
                  <a:gd name="connsiteY0" fmla="*/ 831493 h 831493"/>
                  <a:gd name="connsiteX1" fmla="*/ 574896 w 1407300"/>
                  <a:gd name="connsiteY1" fmla="*/ 0 h 831493"/>
                  <a:gd name="connsiteX2" fmla="*/ 1407300 w 1407300"/>
                  <a:gd name="connsiteY2" fmla="*/ 831493 h 831493"/>
                  <a:gd name="connsiteX3" fmla="*/ 0 w 1407300"/>
                  <a:gd name="connsiteY3" fmla="*/ 831493 h 831493"/>
                  <a:gd name="connsiteX0" fmla="*/ 0 w 1407300"/>
                  <a:gd name="connsiteY0" fmla="*/ 945793 h 945793"/>
                  <a:gd name="connsiteX1" fmla="*/ 847946 w 1407300"/>
                  <a:gd name="connsiteY1" fmla="*/ 0 h 945793"/>
                  <a:gd name="connsiteX2" fmla="*/ 1407300 w 1407300"/>
                  <a:gd name="connsiteY2" fmla="*/ 945793 h 945793"/>
                  <a:gd name="connsiteX3" fmla="*/ 0 w 1407300"/>
                  <a:gd name="connsiteY3" fmla="*/ 945793 h 945793"/>
                  <a:gd name="connsiteX0" fmla="*/ 0 w 1451750"/>
                  <a:gd name="connsiteY0" fmla="*/ 787043 h 945793"/>
                  <a:gd name="connsiteX1" fmla="*/ 892396 w 1451750"/>
                  <a:gd name="connsiteY1" fmla="*/ 0 h 945793"/>
                  <a:gd name="connsiteX2" fmla="*/ 1451750 w 1451750"/>
                  <a:gd name="connsiteY2" fmla="*/ 945793 h 945793"/>
                  <a:gd name="connsiteX3" fmla="*/ 0 w 1451750"/>
                  <a:gd name="connsiteY3" fmla="*/ 787043 h 945793"/>
                  <a:gd name="connsiteX0" fmla="*/ 0 w 1397775"/>
                  <a:gd name="connsiteY0" fmla="*/ 787043 h 948968"/>
                  <a:gd name="connsiteX1" fmla="*/ 892396 w 1397775"/>
                  <a:gd name="connsiteY1" fmla="*/ 0 h 948968"/>
                  <a:gd name="connsiteX2" fmla="*/ 1397775 w 1397775"/>
                  <a:gd name="connsiteY2" fmla="*/ 948968 h 948968"/>
                  <a:gd name="connsiteX3" fmla="*/ 0 w 1397775"/>
                  <a:gd name="connsiteY3" fmla="*/ 787043 h 948968"/>
                </a:gdLst>
                <a:ahLst/>
                <a:cxnLst>
                  <a:cxn ang="0">
                    <a:pos x="connsiteX0" y="connsiteY0"/>
                  </a:cxn>
                  <a:cxn ang="0">
                    <a:pos x="connsiteX1" y="connsiteY1"/>
                  </a:cxn>
                  <a:cxn ang="0">
                    <a:pos x="connsiteX2" y="connsiteY2"/>
                  </a:cxn>
                  <a:cxn ang="0">
                    <a:pos x="connsiteX3" y="connsiteY3"/>
                  </a:cxn>
                </a:cxnLst>
                <a:rect l="l" t="t" r="r" b="b"/>
                <a:pathLst>
                  <a:path w="1397775" h="948968">
                    <a:moveTo>
                      <a:pt x="0" y="787043"/>
                    </a:moveTo>
                    <a:lnTo>
                      <a:pt x="892396" y="0"/>
                    </a:lnTo>
                    <a:lnTo>
                      <a:pt x="1397775" y="948968"/>
                    </a:lnTo>
                    <a:lnTo>
                      <a:pt x="0" y="787043"/>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06" name="Arc 105">
                <a:extLst>
                  <a:ext uri="{FF2B5EF4-FFF2-40B4-BE49-F238E27FC236}">
                    <a16:creationId xmlns:a16="http://schemas.microsoft.com/office/drawing/2014/main" id="{664F9A3D-8A16-5041-A30C-72B4768AAC95}"/>
                  </a:ext>
                </a:extLst>
              </p:cNvPr>
              <p:cNvSpPr>
                <a:spLocks noChangeAspect="1"/>
              </p:cNvSpPr>
              <p:nvPr/>
            </p:nvSpPr>
            <p:spPr>
              <a:xfrm>
                <a:off x="7686187" y="1041166"/>
                <a:ext cx="570242" cy="471766"/>
              </a:xfrm>
              <a:prstGeom prst="arc">
                <a:avLst>
                  <a:gd name="adj1" fmla="val 3671157"/>
                  <a:gd name="adj2" fmla="val 846293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99" name="Text Box 30">
                  <a:extLst>
                    <a:ext uri="{FF2B5EF4-FFF2-40B4-BE49-F238E27FC236}">
                      <a16:creationId xmlns:a16="http://schemas.microsoft.com/office/drawing/2014/main" id="{9400F3F8-9364-AC4A-9E3E-E29E4E2A9529}"/>
                    </a:ext>
                  </a:extLst>
                </p:cNvPr>
                <p:cNvSpPr txBox="1">
                  <a:spLocks noChangeArrowheads="1"/>
                </p:cNvSpPr>
                <p:nvPr/>
              </p:nvSpPr>
              <p:spPr bwMode="auto">
                <a:xfrm>
                  <a:off x="7666594" y="1467714"/>
                  <a:ext cx="293070"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i="1" dirty="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99" name="Text Box 30">
                  <a:extLst>
                    <a:ext uri="{FF2B5EF4-FFF2-40B4-BE49-F238E27FC236}">
                      <a16:creationId xmlns:a16="http://schemas.microsoft.com/office/drawing/2014/main" id="{9400F3F8-9364-AC4A-9E3E-E29E4E2A9529}"/>
                    </a:ext>
                  </a:extLst>
                </p:cNvPr>
                <p:cNvSpPr txBox="1">
                  <a:spLocks noRot="1" noChangeAspect="1" noMove="1" noResize="1" noEditPoints="1" noAdjustHandles="1" noChangeArrowheads="1" noChangeShapeType="1" noTextEdit="1"/>
                </p:cNvSpPr>
                <p:nvPr/>
              </p:nvSpPr>
              <p:spPr bwMode="auto">
                <a:xfrm>
                  <a:off x="7666594" y="1467714"/>
                  <a:ext cx="293070" cy="300155"/>
                </a:xfrm>
                <a:prstGeom prst="rect">
                  <a:avLst/>
                </a:prstGeom>
                <a:blipFill>
                  <a:blip r:embed="rId5"/>
                  <a:stretch>
                    <a:fillRect l="-33333" t="-5263" r="-33333"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00" name="Text Box 30">
              <a:extLst>
                <a:ext uri="{FF2B5EF4-FFF2-40B4-BE49-F238E27FC236}">
                  <a16:creationId xmlns:a16="http://schemas.microsoft.com/office/drawing/2014/main" id="{4B8B8A90-21B3-F440-945C-0617F01CBA3C}"/>
                </a:ext>
              </a:extLst>
            </p:cNvPr>
            <p:cNvSpPr txBox="1">
              <a:spLocks noChangeArrowheads="1"/>
            </p:cNvSpPr>
            <p:nvPr/>
          </p:nvSpPr>
          <p:spPr bwMode="auto">
            <a:xfrm>
              <a:off x="8395020" y="1614250"/>
              <a:ext cx="56280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10m</a:t>
              </a:r>
              <a:endParaRPr lang="en-GB" altLang="en-US" sz="1500" baseline="30000" dirty="0">
                <a:latin typeface="Calibri" panose="020F0502020204030204" pitchFamily="34" charset="0"/>
                <a:cs typeface="Calibri" panose="020F0502020204030204" pitchFamily="34" charset="0"/>
              </a:endParaRPr>
            </a:p>
          </p:txBody>
        </p:sp>
        <p:sp>
          <p:nvSpPr>
            <p:cNvPr id="101" name="Text Box 30">
              <a:extLst>
                <a:ext uri="{FF2B5EF4-FFF2-40B4-BE49-F238E27FC236}">
                  <a16:creationId xmlns:a16="http://schemas.microsoft.com/office/drawing/2014/main" id="{5D8B79BD-35C1-3846-83F7-6644435B7A37}"/>
                </a:ext>
              </a:extLst>
            </p:cNvPr>
            <p:cNvSpPr txBox="1">
              <a:spLocks noChangeArrowheads="1"/>
            </p:cNvSpPr>
            <p:nvPr/>
          </p:nvSpPr>
          <p:spPr bwMode="auto">
            <a:xfrm>
              <a:off x="6304538" y="1474741"/>
              <a:ext cx="797732"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10.4m</a:t>
              </a:r>
              <a:endParaRPr lang="en-GB" altLang="en-US" sz="1500" baseline="30000" dirty="0">
                <a:latin typeface="Calibri" panose="020F0502020204030204" pitchFamily="34" charset="0"/>
                <a:cs typeface="Calibri" panose="020F0502020204030204" pitchFamily="34" charset="0"/>
              </a:endParaRPr>
            </a:p>
          </p:txBody>
        </p:sp>
        <p:sp>
          <p:nvSpPr>
            <p:cNvPr id="169" name="Text Box 30">
              <a:extLst>
                <a:ext uri="{FF2B5EF4-FFF2-40B4-BE49-F238E27FC236}">
                  <a16:creationId xmlns:a16="http://schemas.microsoft.com/office/drawing/2014/main" id="{0FD6C681-EEF9-1D43-AC6B-2C902CE30D0B}"/>
                </a:ext>
              </a:extLst>
            </p:cNvPr>
            <p:cNvSpPr txBox="1">
              <a:spLocks noChangeArrowheads="1"/>
            </p:cNvSpPr>
            <p:nvPr/>
          </p:nvSpPr>
          <p:spPr bwMode="auto">
            <a:xfrm>
              <a:off x="7294476" y="2377339"/>
              <a:ext cx="56280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12m</a:t>
              </a:r>
              <a:endParaRPr lang="en-GB" altLang="en-US" sz="1500" baseline="30000" dirty="0">
                <a:latin typeface="Calibri" panose="020F0502020204030204" pitchFamily="34" charset="0"/>
                <a:cs typeface="Calibri" panose="020F0502020204030204" pitchFamily="34" charset="0"/>
              </a:endParaRPr>
            </a:p>
          </p:txBody>
        </p:sp>
      </p:grpSp>
      <p:grpSp>
        <p:nvGrpSpPr>
          <p:cNvPr id="107" name="Group 106">
            <a:extLst>
              <a:ext uri="{FF2B5EF4-FFF2-40B4-BE49-F238E27FC236}">
                <a16:creationId xmlns:a16="http://schemas.microsoft.com/office/drawing/2014/main" id="{CC71A750-B2FC-0E40-A5CD-F5490BFB0876}"/>
              </a:ext>
            </a:extLst>
          </p:cNvPr>
          <p:cNvGrpSpPr/>
          <p:nvPr/>
        </p:nvGrpSpPr>
        <p:grpSpPr>
          <a:xfrm>
            <a:off x="293801" y="3294309"/>
            <a:ext cx="1725966" cy="1187872"/>
            <a:chOff x="6496361" y="1173708"/>
            <a:chExt cx="2526988" cy="1437322"/>
          </a:xfrm>
        </p:grpSpPr>
        <p:grpSp>
          <p:nvGrpSpPr>
            <p:cNvPr id="108" name="Group 107">
              <a:extLst>
                <a:ext uri="{FF2B5EF4-FFF2-40B4-BE49-F238E27FC236}">
                  <a16:creationId xmlns:a16="http://schemas.microsoft.com/office/drawing/2014/main" id="{F350DCDD-F15D-2E47-A578-6866EFB1E9C2}"/>
                </a:ext>
              </a:extLst>
            </p:cNvPr>
            <p:cNvGrpSpPr/>
            <p:nvPr/>
          </p:nvGrpSpPr>
          <p:grpSpPr>
            <a:xfrm>
              <a:off x="6496361" y="1173708"/>
              <a:ext cx="2231410" cy="1437322"/>
              <a:chOff x="6565898" y="1201856"/>
              <a:chExt cx="2231410" cy="1437322"/>
            </a:xfrm>
          </p:grpSpPr>
          <p:sp>
            <p:nvSpPr>
              <p:cNvPr id="112" name="Triangle 217">
                <a:extLst>
                  <a:ext uri="{FF2B5EF4-FFF2-40B4-BE49-F238E27FC236}">
                    <a16:creationId xmlns:a16="http://schemas.microsoft.com/office/drawing/2014/main" id="{CE1831A5-D747-354A-A843-1FE15F6E05E3}"/>
                  </a:ext>
                </a:extLst>
              </p:cNvPr>
              <p:cNvSpPr/>
              <p:nvPr/>
            </p:nvSpPr>
            <p:spPr>
              <a:xfrm>
                <a:off x="6565898" y="1201856"/>
                <a:ext cx="2231410" cy="1233690"/>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1384621"/>
                  <a:gd name="connsiteY0" fmla="*/ 458452 h 923162"/>
                  <a:gd name="connsiteX1" fmla="*/ 1384621 w 1384621"/>
                  <a:gd name="connsiteY1" fmla="*/ 0 h 923162"/>
                  <a:gd name="connsiteX2" fmla="*/ 935729 w 1384621"/>
                  <a:gd name="connsiteY2" fmla="*/ 923162 h 923162"/>
                  <a:gd name="connsiteX3" fmla="*/ 0 w 1384621"/>
                  <a:gd name="connsiteY3" fmla="*/ 458452 h 923162"/>
                  <a:gd name="connsiteX0" fmla="*/ 0 w 1504324"/>
                  <a:gd name="connsiteY0" fmla="*/ 272247 h 736957"/>
                  <a:gd name="connsiteX1" fmla="*/ 1504324 w 1504324"/>
                  <a:gd name="connsiteY1" fmla="*/ 0 h 736957"/>
                  <a:gd name="connsiteX2" fmla="*/ 935729 w 1504324"/>
                  <a:gd name="connsiteY2" fmla="*/ 736957 h 736957"/>
                  <a:gd name="connsiteX3" fmla="*/ 0 w 1504324"/>
                  <a:gd name="connsiteY3" fmla="*/ 272247 h 736957"/>
                  <a:gd name="connsiteX0" fmla="*/ 0 w 1461098"/>
                  <a:gd name="connsiteY0" fmla="*/ 125943 h 736957"/>
                  <a:gd name="connsiteX1" fmla="*/ 1461098 w 1461098"/>
                  <a:gd name="connsiteY1" fmla="*/ 0 h 736957"/>
                  <a:gd name="connsiteX2" fmla="*/ 892503 w 1461098"/>
                  <a:gd name="connsiteY2" fmla="*/ 736957 h 736957"/>
                  <a:gd name="connsiteX3" fmla="*/ 0 w 1461098"/>
                  <a:gd name="connsiteY3" fmla="*/ 125943 h 736957"/>
                  <a:gd name="connsiteX0" fmla="*/ 0 w 1461098"/>
                  <a:gd name="connsiteY0" fmla="*/ 125943 h 637205"/>
                  <a:gd name="connsiteX1" fmla="*/ 1461098 w 1461098"/>
                  <a:gd name="connsiteY1" fmla="*/ 0 h 637205"/>
                  <a:gd name="connsiteX2" fmla="*/ 988930 w 1461098"/>
                  <a:gd name="connsiteY2" fmla="*/ 637205 h 637205"/>
                  <a:gd name="connsiteX3" fmla="*/ 0 w 1461098"/>
                  <a:gd name="connsiteY3" fmla="*/ 125943 h 637205"/>
                  <a:gd name="connsiteX0" fmla="*/ 0 w 1385527"/>
                  <a:gd name="connsiteY0" fmla="*/ 415629 h 926891"/>
                  <a:gd name="connsiteX1" fmla="*/ 1385527 w 1385527"/>
                  <a:gd name="connsiteY1" fmla="*/ 0 h 926891"/>
                  <a:gd name="connsiteX2" fmla="*/ 988930 w 1385527"/>
                  <a:gd name="connsiteY2" fmla="*/ 926891 h 926891"/>
                  <a:gd name="connsiteX3" fmla="*/ 0 w 1385527"/>
                  <a:gd name="connsiteY3" fmla="*/ 415629 h 926891"/>
                </a:gdLst>
                <a:ahLst/>
                <a:cxnLst>
                  <a:cxn ang="0">
                    <a:pos x="connsiteX0" y="connsiteY0"/>
                  </a:cxn>
                  <a:cxn ang="0">
                    <a:pos x="connsiteX1" y="connsiteY1"/>
                  </a:cxn>
                  <a:cxn ang="0">
                    <a:pos x="connsiteX2" y="connsiteY2"/>
                  </a:cxn>
                  <a:cxn ang="0">
                    <a:pos x="connsiteX3" y="connsiteY3"/>
                  </a:cxn>
                </a:cxnLst>
                <a:rect l="l" t="t" r="r" b="b"/>
                <a:pathLst>
                  <a:path w="1385527" h="926891">
                    <a:moveTo>
                      <a:pt x="0" y="415629"/>
                    </a:moveTo>
                    <a:lnTo>
                      <a:pt x="1385527" y="0"/>
                    </a:lnTo>
                    <a:lnTo>
                      <a:pt x="988930" y="926891"/>
                    </a:lnTo>
                    <a:lnTo>
                      <a:pt x="0" y="415629"/>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13" name="Arc 112">
                <a:extLst>
                  <a:ext uri="{FF2B5EF4-FFF2-40B4-BE49-F238E27FC236}">
                    <a16:creationId xmlns:a16="http://schemas.microsoft.com/office/drawing/2014/main" id="{C2A87A20-5982-9C48-8781-0FDEC60CA189}"/>
                  </a:ext>
                </a:extLst>
              </p:cNvPr>
              <p:cNvSpPr>
                <a:spLocks noChangeAspect="1"/>
              </p:cNvSpPr>
              <p:nvPr/>
            </p:nvSpPr>
            <p:spPr>
              <a:xfrm>
                <a:off x="7901873" y="2210300"/>
                <a:ext cx="518401" cy="428878"/>
              </a:xfrm>
              <a:prstGeom prst="arc">
                <a:avLst>
                  <a:gd name="adj1" fmla="val 12353658"/>
                  <a:gd name="adj2" fmla="val 1756147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09" name="Text Box 30">
                  <a:extLst>
                    <a:ext uri="{FF2B5EF4-FFF2-40B4-BE49-F238E27FC236}">
                      <a16:creationId xmlns:a16="http://schemas.microsoft.com/office/drawing/2014/main" id="{20DF00F2-B3B3-9343-9486-A0C6AE873FAB}"/>
                    </a:ext>
                  </a:extLst>
                </p:cNvPr>
                <p:cNvSpPr txBox="1">
                  <a:spLocks noChangeArrowheads="1"/>
                </p:cNvSpPr>
                <p:nvPr/>
              </p:nvSpPr>
              <p:spPr bwMode="auto">
                <a:xfrm>
                  <a:off x="7845553" y="1953694"/>
                  <a:ext cx="266427" cy="27286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i="1" dirty="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09" name="Text Box 30">
                  <a:extLst>
                    <a:ext uri="{FF2B5EF4-FFF2-40B4-BE49-F238E27FC236}">
                      <a16:creationId xmlns:a16="http://schemas.microsoft.com/office/drawing/2014/main" id="{20DF00F2-B3B3-9343-9486-A0C6AE873FAB}"/>
                    </a:ext>
                  </a:extLst>
                </p:cNvPr>
                <p:cNvSpPr txBox="1">
                  <a:spLocks noRot="1" noChangeAspect="1" noMove="1" noResize="1" noEditPoints="1" noAdjustHandles="1" noChangeArrowheads="1" noChangeShapeType="1" noTextEdit="1"/>
                </p:cNvSpPr>
                <p:nvPr/>
              </p:nvSpPr>
              <p:spPr bwMode="auto">
                <a:xfrm>
                  <a:off x="7845553" y="1953694"/>
                  <a:ext cx="266427" cy="272868"/>
                </a:xfrm>
                <a:prstGeom prst="rect">
                  <a:avLst/>
                </a:prstGeom>
                <a:blipFill>
                  <a:blip r:embed="rId6"/>
                  <a:stretch>
                    <a:fillRect l="-42857" t="-5263" r="-42857"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10" name="Text Box 30">
              <a:extLst>
                <a:ext uri="{FF2B5EF4-FFF2-40B4-BE49-F238E27FC236}">
                  <a16:creationId xmlns:a16="http://schemas.microsoft.com/office/drawing/2014/main" id="{FD4C6987-A19B-544B-A291-2C2D23800431}"/>
                </a:ext>
              </a:extLst>
            </p:cNvPr>
            <p:cNvSpPr txBox="1">
              <a:spLocks noChangeArrowheads="1"/>
            </p:cNvSpPr>
            <p:nvPr/>
          </p:nvSpPr>
          <p:spPr bwMode="auto">
            <a:xfrm>
              <a:off x="8453038" y="1742952"/>
              <a:ext cx="570311"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8.1in</a:t>
              </a:r>
              <a:endParaRPr lang="en-GB" altLang="en-US" sz="1500" baseline="30000" dirty="0">
                <a:latin typeface="Calibri" panose="020F0502020204030204" pitchFamily="34" charset="0"/>
                <a:cs typeface="Calibri" panose="020F0502020204030204" pitchFamily="34" charset="0"/>
              </a:endParaRPr>
            </a:p>
          </p:txBody>
        </p:sp>
        <p:sp>
          <p:nvSpPr>
            <p:cNvPr id="111" name="Text Box 30">
              <a:extLst>
                <a:ext uri="{FF2B5EF4-FFF2-40B4-BE49-F238E27FC236}">
                  <a16:creationId xmlns:a16="http://schemas.microsoft.com/office/drawing/2014/main" id="{A22433E5-DE2D-834C-98C1-D3E2BE26D192}"/>
                </a:ext>
              </a:extLst>
            </p:cNvPr>
            <p:cNvSpPr txBox="1">
              <a:spLocks noChangeArrowheads="1"/>
            </p:cNvSpPr>
            <p:nvPr/>
          </p:nvSpPr>
          <p:spPr bwMode="auto">
            <a:xfrm>
              <a:off x="6693467" y="2081596"/>
              <a:ext cx="713477"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10.2in</a:t>
              </a:r>
              <a:endParaRPr lang="en-GB" altLang="en-US" sz="1500" baseline="30000" dirty="0">
                <a:latin typeface="Calibri" panose="020F0502020204030204" pitchFamily="34" charset="0"/>
                <a:cs typeface="Calibri" panose="020F0502020204030204" pitchFamily="34" charset="0"/>
              </a:endParaRPr>
            </a:p>
          </p:txBody>
        </p:sp>
        <p:sp>
          <p:nvSpPr>
            <p:cNvPr id="167" name="Text Box 30">
              <a:extLst>
                <a:ext uri="{FF2B5EF4-FFF2-40B4-BE49-F238E27FC236}">
                  <a16:creationId xmlns:a16="http://schemas.microsoft.com/office/drawing/2014/main" id="{B37ACC76-8E03-C748-9DBD-B6A647A56CED}"/>
                </a:ext>
              </a:extLst>
            </p:cNvPr>
            <p:cNvSpPr txBox="1">
              <a:spLocks noChangeArrowheads="1"/>
            </p:cNvSpPr>
            <p:nvPr/>
          </p:nvSpPr>
          <p:spPr bwMode="auto">
            <a:xfrm>
              <a:off x="7156993" y="1174373"/>
              <a:ext cx="499903"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12in</a:t>
              </a:r>
              <a:endParaRPr lang="en-GB" altLang="en-US" sz="1500" baseline="30000" dirty="0">
                <a:latin typeface="Calibri" panose="020F0502020204030204" pitchFamily="34" charset="0"/>
                <a:cs typeface="Calibri" panose="020F0502020204030204" pitchFamily="34" charset="0"/>
              </a:endParaRPr>
            </a:p>
          </p:txBody>
        </p:sp>
      </p:grpSp>
      <p:grpSp>
        <p:nvGrpSpPr>
          <p:cNvPr id="114" name="Group 113">
            <a:extLst>
              <a:ext uri="{FF2B5EF4-FFF2-40B4-BE49-F238E27FC236}">
                <a16:creationId xmlns:a16="http://schemas.microsoft.com/office/drawing/2014/main" id="{3A77F664-3CF7-1B46-A5A6-37BF73B86C05}"/>
              </a:ext>
            </a:extLst>
          </p:cNvPr>
          <p:cNvGrpSpPr/>
          <p:nvPr/>
        </p:nvGrpSpPr>
        <p:grpSpPr>
          <a:xfrm>
            <a:off x="2618409" y="3203870"/>
            <a:ext cx="1747240" cy="1049140"/>
            <a:chOff x="6704196" y="1224968"/>
            <a:chExt cx="2325581" cy="1154048"/>
          </a:xfrm>
        </p:grpSpPr>
        <p:grpSp>
          <p:nvGrpSpPr>
            <p:cNvPr id="115" name="Group 114">
              <a:extLst>
                <a:ext uri="{FF2B5EF4-FFF2-40B4-BE49-F238E27FC236}">
                  <a16:creationId xmlns:a16="http://schemas.microsoft.com/office/drawing/2014/main" id="{3946CEE7-82E3-D04E-BAAE-9D8F5DBACC8F}"/>
                </a:ext>
              </a:extLst>
            </p:cNvPr>
            <p:cNvGrpSpPr/>
            <p:nvPr/>
          </p:nvGrpSpPr>
          <p:grpSpPr>
            <a:xfrm>
              <a:off x="6704196" y="1224968"/>
              <a:ext cx="2242743" cy="1055230"/>
              <a:chOff x="6773733" y="1253116"/>
              <a:chExt cx="2242743" cy="1055230"/>
            </a:xfrm>
          </p:grpSpPr>
          <p:sp>
            <p:nvSpPr>
              <p:cNvPr id="119" name="Triangle 217">
                <a:extLst>
                  <a:ext uri="{FF2B5EF4-FFF2-40B4-BE49-F238E27FC236}">
                    <a16:creationId xmlns:a16="http://schemas.microsoft.com/office/drawing/2014/main" id="{3D6D5545-D116-3549-BAA1-EF5C405D8951}"/>
                  </a:ext>
                </a:extLst>
              </p:cNvPr>
              <p:cNvSpPr/>
              <p:nvPr/>
            </p:nvSpPr>
            <p:spPr>
              <a:xfrm>
                <a:off x="6773733" y="1432557"/>
                <a:ext cx="1981527" cy="875789"/>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919104"/>
                  <a:gd name="connsiteY0" fmla="*/ 494405 h 699758"/>
                  <a:gd name="connsiteX1" fmla="*/ 178238 w 919104"/>
                  <a:gd name="connsiteY1" fmla="*/ 0 h 699758"/>
                  <a:gd name="connsiteX2" fmla="*/ 919104 w 919104"/>
                  <a:gd name="connsiteY2" fmla="*/ 699758 h 699758"/>
                  <a:gd name="connsiteX3" fmla="*/ 0 w 919104"/>
                  <a:gd name="connsiteY3" fmla="*/ 494405 h 699758"/>
                  <a:gd name="connsiteX0" fmla="*/ 0 w 1485407"/>
                  <a:gd name="connsiteY0" fmla="*/ 688265 h 688265"/>
                  <a:gd name="connsiteX1" fmla="*/ 178238 w 1485407"/>
                  <a:gd name="connsiteY1" fmla="*/ 193860 h 688265"/>
                  <a:gd name="connsiteX2" fmla="*/ 1485407 w 1485407"/>
                  <a:gd name="connsiteY2" fmla="*/ 0 h 688265"/>
                  <a:gd name="connsiteX3" fmla="*/ 0 w 1485407"/>
                  <a:gd name="connsiteY3" fmla="*/ 688265 h 688265"/>
                  <a:gd name="connsiteX0" fmla="*/ 0 w 1485407"/>
                  <a:gd name="connsiteY0" fmla="*/ 802565 h 802565"/>
                  <a:gd name="connsiteX1" fmla="*/ 178238 w 1485407"/>
                  <a:gd name="connsiteY1" fmla="*/ 193860 h 802565"/>
                  <a:gd name="connsiteX2" fmla="*/ 1485407 w 1485407"/>
                  <a:gd name="connsiteY2" fmla="*/ 0 h 802565"/>
                  <a:gd name="connsiteX3" fmla="*/ 0 w 1485407"/>
                  <a:gd name="connsiteY3" fmla="*/ 802565 h 802565"/>
                  <a:gd name="connsiteX0" fmla="*/ 0 w 1386016"/>
                  <a:gd name="connsiteY0" fmla="*/ 847742 h 847742"/>
                  <a:gd name="connsiteX1" fmla="*/ 178238 w 1386016"/>
                  <a:gd name="connsiteY1" fmla="*/ 239037 h 847742"/>
                  <a:gd name="connsiteX2" fmla="*/ 1386016 w 1386016"/>
                  <a:gd name="connsiteY2" fmla="*/ 0 h 847742"/>
                  <a:gd name="connsiteX3" fmla="*/ 0 w 1386016"/>
                  <a:gd name="connsiteY3" fmla="*/ 847742 h 847742"/>
                  <a:gd name="connsiteX0" fmla="*/ 1204200 w 1207778"/>
                  <a:gd name="connsiteY0" fmla="*/ 657995 h 657995"/>
                  <a:gd name="connsiteX1" fmla="*/ 0 w 1207778"/>
                  <a:gd name="connsiteY1" fmla="*/ 239037 h 657995"/>
                  <a:gd name="connsiteX2" fmla="*/ 1207778 w 1207778"/>
                  <a:gd name="connsiteY2" fmla="*/ 0 h 657995"/>
                  <a:gd name="connsiteX3" fmla="*/ 1204200 w 1207778"/>
                  <a:gd name="connsiteY3" fmla="*/ 657995 h 657995"/>
                  <a:gd name="connsiteX0" fmla="*/ 1226789 w 1230367"/>
                  <a:gd name="connsiteY0" fmla="*/ 657995 h 657995"/>
                  <a:gd name="connsiteX1" fmla="*/ 0 w 1230367"/>
                  <a:gd name="connsiteY1" fmla="*/ 424266 h 657995"/>
                  <a:gd name="connsiteX2" fmla="*/ 1230367 w 1230367"/>
                  <a:gd name="connsiteY2" fmla="*/ 0 h 657995"/>
                  <a:gd name="connsiteX3" fmla="*/ 1226789 w 1230367"/>
                  <a:gd name="connsiteY3" fmla="*/ 657995 h 657995"/>
                </a:gdLst>
                <a:ahLst/>
                <a:cxnLst>
                  <a:cxn ang="0">
                    <a:pos x="connsiteX0" y="connsiteY0"/>
                  </a:cxn>
                  <a:cxn ang="0">
                    <a:pos x="connsiteX1" y="connsiteY1"/>
                  </a:cxn>
                  <a:cxn ang="0">
                    <a:pos x="connsiteX2" y="connsiteY2"/>
                  </a:cxn>
                  <a:cxn ang="0">
                    <a:pos x="connsiteX3" y="connsiteY3"/>
                  </a:cxn>
                </a:cxnLst>
                <a:rect l="l" t="t" r="r" b="b"/>
                <a:pathLst>
                  <a:path w="1230367" h="657995">
                    <a:moveTo>
                      <a:pt x="1226789" y="657995"/>
                    </a:moveTo>
                    <a:lnTo>
                      <a:pt x="0" y="424266"/>
                    </a:lnTo>
                    <a:lnTo>
                      <a:pt x="1230367" y="0"/>
                    </a:lnTo>
                    <a:cubicBezTo>
                      <a:pt x="1229174" y="219332"/>
                      <a:pt x="1227982" y="438663"/>
                      <a:pt x="1226789" y="657995"/>
                    </a:cubicBez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20" name="Arc 119">
                <a:extLst>
                  <a:ext uri="{FF2B5EF4-FFF2-40B4-BE49-F238E27FC236}">
                    <a16:creationId xmlns:a16="http://schemas.microsoft.com/office/drawing/2014/main" id="{D3EAB1BB-370D-114A-98C3-3CAC02E08183}"/>
                  </a:ext>
                </a:extLst>
              </p:cNvPr>
              <p:cNvSpPr>
                <a:spLocks noChangeAspect="1"/>
              </p:cNvSpPr>
              <p:nvPr/>
            </p:nvSpPr>
            <p:spPr>
              <a:xfrm>
                <a:off x="8498074" y="1253116"/>
                <a:ext cx="518402" cy="428877"/>
              </a:xfrm>
              <a:prstGeom prst="arc">
                <a:avLst>
                  <a:gd name="adj1" fmla="val 5518401"/>
                  <a:gd name="adj2" fmla="val 100703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dirty="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16" name="Text Box 30">
                  <a:extLst>
                    <a:ext uri="{FF2B5EF4-FFF2-40B4-BE49-F238E27FC236}">
                      <a16:creationId xmlns:a16="http://schemas.microsoft.com/office/drawing/2014/main" id="{E67F6DBD-C231-6041-AD69-B2DA5A014DCA}"/>
                    </a:ext>
                  </a:extLst>
                </p:cNvPr>
                <p:cNvSpPr txBox="1">
                  <a:spLocks noChangeArrowheads="1"/>
                </p:cNvSpPr>
                <p:nvPr/>
              </p:nvSpPr>
              <p:spPr bwMode="auto">
                <a:xfrm>
                  <a:off x="8292810" y="1599740"/>
                  <a:ext cx="242206" cy="24806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i="1" dirty="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16" name="Text Box 30">
                  <a:extLst>
                    <a:ext uri="{FF2B5EF4-FFF2-40B4-BE49-F238E27FC236}">
                      <a16:creationId xmlns:a16="http://schemas.microsoft.com/office/drawing/2014/main" id="{E67F6DBD-C231-6041-AD69-B2DA5A014DCA}"/>
                    </a:ext>
                  </a:extLst>
                </p:cNvPr>
                <p:cNvSpPr txBox="1">
                  <a:spLocks noRot="1" noChangeAspect="1" noMove="1" noResize="1" noEditPoints="1" noAdjustHandles="1" noChangeArrowheads="1" noChangeShapeType="1" noTextEdit="1"/>
                </p:cNvSpPr>
                <p:nvPr/>
              </p:nvSpPr>
              <p:spPr bwMode="auto">
                <a:xfrm>
                  <a:off x="8292810" y="1599740"/>
                  <a:ext cx="242206" cy="248061"/>
                </a:xfrm>
                <a:prstGeom prst="rect">
                  <a:avLst/>
                </a:prstGeom>
                <a:blipFill>
                  <a:blip r:embed="rId7"/>
                  <a:stretch>
                    <a:fillRect l="-35714" t="-10526" r="-42857"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17" name="Text Box 30">
              <a:extLst>
                <a:ext uri="{FF2B5EF4-FFF2-40B4-BE49-F238E27FC236}">
                  <a16:creationId xmlns:a16="http://schemas.microsoft.com/office/drawing/2014/main" id="{B16FE92A-5305-8E4A-A6F9-693E5BAF8FF9}"/>
                </a:ext>
              </a:extLst>
            </p:cNvPr>
            <p:cNvSpPr txBox="1">
              <a:spLocks noChangeArrowheads="1"/>
            </p:cNvSpPr>
            <p:nvPr/>
          </p:nvSpPr>
          <p:spPr bwMode="auto">
            <a:xfrm>
              <a:off x="7033024" y="1423091"/>
              <a:ext cx="680620" cy="27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12.2ft</a:t>
              </a:r>
              <a:endParaRPr lang="en-GB" altLang="en-US" sz="1500" baseline="30000" dirty="0">
                <a:latin typeface="Calibri" panose="020F0502020204030204" pitchFamily="34" charset="0"/>
                <a:cs typeface="Calibri" panose="020F0502020204030204" pitchFamily="34" charset="0"/>
              </a:endParaRPr>
            </a:p>
          </p:txBody>
        </p:sp>
        <p:sp>
          <p:nvSpPr>
            <p:cNvPr id="118" name="Text Box 30">
              <a:extLst>
                <a:ext uri="{FF2B5EF4-FFF2-40B4-BE49-F238E27FC236}">
                  <a16:creationId xmlns:a16="http://schemas.microsoft.com/office/drawing/2014/main" id="{8DAE12D3-BB4D-5A4E-839A-DEC0720777F1}"/>
                </a:ext>
              </a:extLst>
            </p:cNvPr>
            <p:cNvSpPr txBox="1">
              <a:spLocks noChangeArrowheads="1"/>
            </p:cNvSpPr>
            <p:nvPr/>
          </p:nvSpPr>
          <p:spPr bwMode="auto">
            <a:xfrm>
              <a:off x="8735341" y="1732237"/>
              <a:ext cx="294436" cy="253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5ft</a:t>
              </a:r>
              <a:endParaRPr lang="en-GB" altLang="en-US" sz="1500" baseline="30000" dirty="0">
                <a:latin typeface="Calibri" panose="020F0502020204030204" pitchFamily="34" charset="0"/>
                <a:cs typeface="Calibri" panose="020F0502020204030204" pitchFamily="34" charset="0"/>
              </a:endParaRPr>
            </a:p>
          </p:txBody>
        </p:sp>
        <p:sp>
          <p:nvSpPr>
            <p:cNvPr id="170" name="Text Box 30">
              <a:extLst>
                <a:ext uri="{FF2B5EF4-FFF2-40B4-BE49-F238E27FC236}">
                  <a16:creationId xmlns:a16="http://schemas.microsoft.com/office/drawing/2014/main" id="{469F2A6E-09C5-7B45-9CAF-87549840BEDC}"/>
                </a:ext>
              </a:extLst>
            </p:cNvPr>
            <p:cNvSpPr txBox="1">
              <a:spLocks noChangeArrowheads="1"/>
            </p:cNvSpPr>
            <p:nvPr/>
          </p:nvSpPr>
          <p:spPr bwMode="auto">
            <a:xfrm>
              <a:off x="7371703" y="2125102"/>
              <a:ext cx="424587" cy="253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11ft</a:t>
              </a:r>
              <a:endParaRPr lang="en-GB" altLang="en-US" sz="1500" baseline="30000" dirty="0">
                <a:latin typeface="Calibri" panose="020F0502020204030204" pitchFamily="34" charset="0"/>
                <a:cs typeface="Calibri" panose="020F0502020204030204" pitchFamily="34" charset="0"/>
              </a:endParaRPr>
            </a:p>
          </p:txBody>
        </p:sp>
      </p:grpSp>
      <p:grpSp>
        <p:nvGrpSpPr>
          <p:cNvPr id="121" name="Group 120">
            <a:extLst>
              <a:ext uri="{FF2B5EF4-FFF2-40B4-BE49-F238E27FC236}">
                <a16:creationId xmlns:a16="http://schemas.microsoft.com/office/drawing/2014/main" id="{6D12F6AF-D8E4-8044-A50E-B89668793BA6}"/>
              </a:ext>
            </a:extLst>
          </p:cNvPr>
          <p:cNvGrpSpPr/>
          <p:nvPr/>
        </p:nvGrpSpPr>
        <p:grpSpPr>
          <a:xfrm>
            <a:off x="4713862" y="1637437"/>
            <a:ext cx="1861176" cy="1070715"/>
            <a:chOff x="5863616" y="1158952"/>
            <a:chExt cx="3297193" cy="1567633"/>
          </a:xfrm>
        </p:grpSpPr>
        <p:grpSp>
          <p:nvGrpSpPr>
            <p:cNvPr id="122" name="Group 121">
              <a:extLst>
                <a:ext uri="{FF2B5EF4-FFF2-40B4-BE49-F238E27FC236}">
                  <a16:creationId xmlns:a16="http://schemas.microsoft.com/office/drawing/2014/main" id="{E37C66E5-26D5-D44D-BB81-50454F2456D0}"/>
                </a:ext>
              </a:extLst>
            </p:cNvPr>
            <p:cNvGrpSpPr/>
            <p:nvPr/>
          </p:nvGrpSpPr>
          <p:grpSpPr>
            <a:xfrm>
              <a:off x="5863616" y="1328829"/>
              <a:ext cx="2705576" cy="1397756"/>
              <a:chOff x="5933153" y="1356977"/>
              <a:chExt cx="2705576" cy="1397756"/>
            </a:xfrm>
          </p:grpSpPr>
          <p:sp>
            <p:nvSpPr>
              <p:cNvPr id="127" name="Triangle 113">
                <a:extLst>
                  <a:ext uri="{FF2B5EF4-FFF2-40B4-BE49-F238E27FC236}">
                    <a16:creationId xmlns:a16="http://schemas.microsoft.com/office/drawing/2014/main" id="{4BCAC007-27A9-794A-97F0-C14C772CF6E4}"/>
                  </a:ext>
                </a:extLst>
              </p:cNvPr>
              <p:cNvSpPr/>
              <p:nvPr/>
            </p:nvSpPr>
            <p:spPr>
              <a:xfrm>
                <a:off x="6392890" y="1356977"/>
                <a:ext cx="2245839" cy="1397756"/>
              </a:xfrm>
              <a:custGeom>
                <a:avLst/>
                <a:gdLst>
                  <a:gd name="connsiteX0" fmla="*/ 0 w 1279363"/>
                  <a:gd name="connsiteY0" fmla="*/ 755902 h 755902"/>
                  <a:gd name="connsiteX1" fmla="*/ 447739 w 1279363"/>
                  <a:gd name="connsiteY1" fmla="*/ 0 h 755902"/>
                  <a:gd name="connsiteX2" fmla="*/ 1279363 w 1279363"/>
                  <a:gd name="connsiteY2" fmla="*/ 755902 h 755902"/>
                  <a:gd name="connsiteX3" fmla="*/ 0 w 1279363"/>
                  <a:gd name="connsiteY3" fmla="*/ 755902 h 755902"/>
                  <a:gd name="connsiteX0" fmla="*/ 0 w 1279363"/>
                  <a:gd name="connsiteY0" fmla="*/ 626694 h 626694"/>
                  <a:gd name="connsiteX1" fmla="*/ 855243 w 1279363"/>
                  <a:gd name="connsiteY1" fmla="*/ 0 h 626694"/>
                  <a:gd name="connsiteX2" fmla="*/ 1279363 w 1279363"/>
                  <a:gd name="connsiteY2" fmla="*/ 626694 h 626694"/>
                  <a:gd name="connsiteX3" fmla="*/ 0 w 1279363"/>
                  <a:gd name="connsiteY3" fmla="*/ 626694 h 626694"/>
                  <a:gd name="connsiteX0" fmla="*/ 0 w 1299241"/>
                  <a:gd name="connsiteY0" fmla="*/ 258946 h 626694"/>
                  <a:gd name="connsiteX1" fmla="*/ 875121 w 1299241"/>
                  <a:gd name="connsiteY1" fmla="*/ 0 h 626694"/>
                  <a:gd name="connsiteX2" fmla="*/ 1299241 w 1299241"/>
                  <a:gd name="connsiteY2" fmla="*/ 626694 h 626694"/>
                  <a:gd name="connsiteX3" fmla="*/ 0 w 1299241"/>
                  <a:gd name="connsiteY3" fmla="*/ 258946 h 626694"/>
                  <a:gd name="connsiteX0" fmla="*/ 0 w 971249"/>
                  <a:gd name="connsiteY0" fmla="*/ 258946 h 825477"/>
                  <a:gd name="connsiteX1" fmla="*/ 875121 w 971249"/>
                  <a:gd name="connsiteY1" fmla="*/ 0 h 825477"/>
                  <a:gd name="connsiteX2" fmla="*/ 971249 w 971249"/>
                  <a:gd name="connsiteY2" fmla="*/ 825477 h 825477"/>
                  <a:gd name="connsiteX3" fmla="*/ 0 w 971249"/>
                  <a:gd name="connsiteY3" fmla="*/ 258946 h 825477"/>
                  <a:gd name="connsiteX0" fmla="*/ 0 w 1168325"/>
                  <a:gd name="connsiteY0" fmla="*/ 427911 h 994442"/>
                  <a:gd name="connsiteX1" fmla="*/ 1168325 w 1168325"/>
                  <a:gd name="connsiteY1" fmla="*/ 0 h 994442"/>
                  <a:gd name="connsiteX2" fmla="*/ 971249 w 1168325"/>
                  <a:gd name="connsiteY2" fmla="*/ 994442 h 994442"/>
                  <a:gd name="connsiteX3" fmla="*/ 0 w 1168325"/>
                  <a:gd name="connsiteY3" fmla="*/ 427911 h 994442"/>
                  <a:gd name="connsiteX0" fmla="*/ 0 w 1267716"/>
                  <a:gd name="connsiteY0" fmla="*/ 258945 h 994442"/>
                  <a:gd name="connsiteX1" fmla="*/ 1267716 w 1267716"/>
                  <a:gd name="connsiteY1" fmla="*/ 0 h 994442"/>
                  <a:gd name="connsiteX2" fmla="*/ 1070640 w 1267716"/>
                  <a:gd name="connsiteY2" fmla="*/ 994442 h 994442"/>
                  <a:gd name="connsiteX3" fmla="*/ 0 w 1267716"/>
                  <a:gd name="connsiteY3" fmla="*/ 258945 h 994442"/>
                  <a:gd name="connsiteX0" fmla="*/ 0 w 1267716"/>
                  <a:gd name="connsiteY0" fmla="*/ 258945 h 954686"/>
                  <a:gd name="connsiteX1" fmla="*/ 1267716 w 1267716"/>
                  <a:gd name="connsiteY1" fmla="*/ 0 h 954686"/>
                  <a:gd name="connsiteX2" fmla="*/ 1130275 w 1267716"/>
                  <a:gd name="connsiteY2" fmla="*/ 954686 h 954686"/>
                  <a:gd name="connsiteX3" fmla="*/ 0 w 1267716"/>
                  <a:gd name="connsiteY3" fmla="*/ 258945 h 954686"/>
                </a:gdLst>
                <a:ahLst/>
                <a:cxnLst>
                  <a:cxn ang="0">
                    <a:pos x="connsiteX0" y="connsiteY0"/>
                  </a:cxn>
                  <a:cxn ang="0">
                    <a:pos x="connsiteX1" y="connsiteY1"/>
                  </a:cxn>
                  <a:cxn ang="0">
                    <a:pos x="connsiteX2" y="connsiteY2"/>
                  </a:cxn>
                  <a:cxn ang="0">
                    <a:pos x="connsiteX3" y="connsiteY3"/>
                  </a:cxn>
                </a:cxnLst>
                <a:rect l="l" t="t" r="r" b="b"/>
                <a:pathLst>
                  <a:path w="1267716" h="954686">
                    <a:moveTo>
                      <a:pt x="0" y="258945"/>
                    </a:moveTo>
                    <a:lnTo>
                      <a:pt x="1267716" y="0"/>
                    </a:lnTo>
                    <a:lnTo>
                      <a:pt x="1130275" y="954686"/>
                    </a:lnTo>
                    <a:lnTo>
                      <a:pt x="0" y="258945"/>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28" name="Arc 127">
                <a:extLst>
                  <a:ext uri="{FF2B5EF4-FFF2-40B4-BE49-F238E27FC236}">
                    <a16:creationId xmlns:a16="http://schemas.microsoft.com/office/drawing/2014/main" id="{D761F163-3BE7-1048-85A9-3703BAF9AD0A}"/>
                  </a:ext>
                </a:extLst>
              </p:cNvPr>
              <p:cNvSpPr>
                <a:spLocks noChangeAspect="1"/>
              </p:cNvSpPr>
              <p:nvPr/>
            </p:nvSpPr>
            <p:spPr>
              <a:xfrm>
                <a:off x="5933153" y="1361686"/>
                <a:ext cx="918377" cy="759785"/>
              </a:xfrm>
              <a:prstGeom prst="arc">
                <a:avLst>
                  <a:gd name="adj1" fmla="val 20930887"/>
                  <a:gd name="adj2" fmla="val 1824887"/>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23" name="Text Box 30">
                  <a:extLst>
                    <a:ext uri="{FF2B5EF4-FFF2-40B4-BE49-F238E27FC236}">
                      <a16:creationId xmlns:a16="http://schemas.microsoft.com/office/drawing/2014/main" id="{BE329555-E805-EA4D-9517-9FFCE226F95E}"/>
                    </a:ext>
                  </a:extLst>
                </p:cNvPr>
                <p:cNvSpPr txBox="1">
                  <a:spLocks noChangeArrowheads="1"/>
                </p:cNvSpPr>
                <p:nvPr/>
              </p:nvSpPr>
              <p:spPr bwMode="auto">
                <a:xfrm>
                  <a:off x="6853311" y="1626976"/>
                  <a:ext cx="322377" cy="33017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11" name="Text Box 30">
                  <a:extLst>
                    <a:ext uri="{FF2B5EF4-FFF2-40B4-BE49-F238E27FC236}">
                      <a16:creationId xmlns:a16="http://schemas.microsoft.com/office/drawing/2014/main" id="{85E07563-4BDF-0843-B18D-8BF006B25F45}"/>
                    </a:ext>
                  </a:extLst>
                </p:cNvPr>
                <p:cNvSpPr txBox="1">
                  <a:spLocks noRot="1" noChangeAspect="1" noMove="1" noResize="1" noEditPoints="1" noAdjustHandles="1" noChangeArrowheads="1" noChangeShapeType="1" noTextEdit="1"/>
                </p:cNvSpPr>
                <p:nvPr/>
              </p:nvSpPr>
              <p:spPr bwMode="auto">
                <a:xfrm>
                  <a:off x="6853311" y="1626976"/>
                  <a:ext cx="322377" cy="330171"/>
                </a:xfrm>
                <a:prstGeom prst="rect">
                  <a:avLst/>
                </a:prstGeom>
                <a:blipFill>
                  <a:blip r:embed="rId20"/>
                  <a:stretch>
                    <a:fillRect l="-33333" t="-10526" r="-40000"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25" name="Text Box 30">
              <a:extLst>
                <a:ext uri="{FF2B5EF4-FFF2-40B4-BE49-F238E27FC236}">
                  <a16:creationId xmlns:a16="http://schemas.microsoft.com/office/drawing/2014/main" id="{36A8DF84-BA95-2044-9B61-D1A1525C1DAF}"/>
                </a:ext>
              </a:extLst>
            </p:cNvPr>
            <p:cNvSpPr txBox="1">
              <a:spLocks noChangeArrowheads="1"/>
            </p:cNvSpPr>
            <p:nvPr/>
          </p:nvSpPr>
          <p:spPr bwMode="auto">
            <a:xfrm>
              <a:off x="6856601" y="1158952"/>
              <a:ext cx="763913" cy="33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10cm</a:t>
              </a:r>
            </a:p>
          </p:txBody>
        </p:sp>
        <p:sp>
          <p:nvSpPr>
            <p:cNvPr id="126" name="Text Box 30">
              <a:extLst>
                <a:ext uri="{FF2B5EF4-FFF2-40B4-BE49-F238E27FC236}">
                  <a16:creationId xmlns:a16="http://schemas.microsoft.com/office/drawing/2014/main" id="{F81F0426-93E1-0E46-980A-FEB4B9079E73}"/>
                </a:ext>
              </a:extLst>
            </p:cNvPr>
            <p:cNvSpPr txBox="1">
              <a:spLocks noChangeArrowheads="1"/>
            </p:cNvSpPr>
            <p:nvPr/>
          </p:nvSpPr>
          <p:spPr bwMode="auto">
            <a:xfrm>
              <a:off x="6716977" y="2237666"/>
              <a:ext cx="763913" cy="33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16cm</a:t>
              </a:r>
              <a:endParaRPr lang="en-GB" altLang="en-US" sz="1500" baseline="30000" dirty="0">
                <a:latin typeface="Calibri" panose="020F0502020204030204" pitchFamily="34" charset="0"/>
                <a:cs typeface="Calibri" panose="020F0502020204030204" pitchFamily="34" charset="0"/>
              </a:endParaRPr>
            </a:p>
          </p:txBody>
        </p:sp>
        <p:sp>
          <p:nvSpPr>
            <p:cNvPr id="163" name="Text Box 30">
              <a:extLst>
                <a:ext uri="{FF2B5EF4-FFF2-40B4-BE49-F238E27FC236}">
                  <a16:creationId xmlns:a16="http://schemas.microsoft.com/office/drawing/2014/main" id="{DFF1E43A-6A71-0841-9FA4-1D48ACE431D8}"/>
                </a:ext>
              </a:extLst>
            </p:cNvPr>
            <p:cNvSpPr txBox="1">
              <a:spLocks noChangeArrowheads="1"/>
            </p:cNvSpPr>
            <p:nvPr/>
          </p:nvSpPr>
          <p:spPr bwMode="auto">
            <a:xfrm>
              <a:off x="8570125" y="1923850"/>
              <a:ext cx="590684" cy="33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8cm</a:t>
              </a:r>
              <a:endParaRPr lang="en-GB" altLang="en-US" sz="1500" baseline="30000" dirty="0">
                <a:latin typeface="Calibri" panose="020F0502020204030204" pitchFamily="34" charset="0"/>
                <a:cs typeface="Calibri" panose="020F0502020204030204" pitchFamily="34" charset="0"/>
              </a:endParaRPr>
            </a:p>
          </p:txBody>
        </p:sp>
      </p:grpSp>
      <p:grpSp>
        <p:nvGrpSpPr>
          <p:cNvPr id="131" name="Group 130">
            <a:extLst>
              <a:ext uri="{FF2B5EF4-FFF2-40B4-BE49-F238E27FC236}">
                <a16:creationId xmlns:a16="http://schemas.microsoft.com/office/drawing/2014/main" id="{CD368450-68FB-5A42-BC50-B35B892D7A3E}"/>
              </a:ext>
            </a:extLst>
          </p:cNvPr>
          <p:cNvGrpSpPr/>
          <p:nvPr/>
        </p:nvGrpSpPr>
        <p:grpSpPr>
          <a:xfrm>
            <a:off x="7153774" y="1755295"/>
            <a:ext cx="1732659" cy="1022322"/>
            <a:chOff x="6122893" y="1259848"/>
            <a:chExt cx="2790467" cy="1360709"/>
          </a:xfrm>
        </p:grpSpPr>
        <p:grpSp>
          <p:nvGrpSpPr>
            <p:cNvPr id="132" name="Group 131">
              <a:extLst>
                <a:ext uri="{FF2B5EF4-FFF2-40B4-BE49-F238E27FC236}">
                  <a16:creationId xmlns:a16="http://schemas.microsoft.com/office/drawing/2014/main" id="{97D61503-49F2-8245-91FB-072390C0348C}"/>
                </a:ext>
              </a:extLst>
            </p:cNvPr>
            <p:cNvGrpSpPr/>
            <p:nvPr/>
          </p:nvGrpSpPr>
          <p:grpSpPr>
            <a:xfrm>
              <a:off x="6177934" y="1259848"/>
              <a:ext cx="2735426" cy="1251573"/>
              <a:chOff x="6247471" y="1287996"/>
              <a:chExt cx="2735426" cy="1251573"/>
            </a:xfrm>
          </p:grpSpPr>
          <p:sp>
            <p:nvSpPr>
              <p:cNvPr id="136" name="Triangle 210">
                <a:extLst>
                  <a:ext uri="{FF2B5EF4-FFF2-40B4-BE49-F238E27FC236}">
                    <a16:creationId xmlns:a16="http://schemas.microsoft.com/office/drawing/2014/main" id="{A2B40CA0-2500-8C41-826A-07069042CBCC}"/>
                  </a:ext>
                </a:extLst>
              </p:cNvPr>
              <p:cNvSpPr/>
              <p:nvPr/>
            </p:nvSpPr>
            <p:spPr>
              <a:xfrm>
                <a:off x="6532593" y="1287996"/>
                <a:ext cx="2450304" cy="1068544"/>
              </a:xfrm>
              <a:custGeom>
                <a:avLst/>
                <a:gdLst>
                  <a:gd name="connsiteX0" fmla="*/ 0 w 1407300"/>
                  <a:gd name="connsiteY0" fmla="*/ 831493 h 831493"/>
                  <a:gd name="connsiteX1" fmla="*/ 574896 w 1407300"/>
                  <a:gd name="connsiteY1" fmla="*/ 0 h 831493"/>
                  <a:gd name="connsiteX2" fmla="*/ 1407300 w 1407300"/>
                  <a:gd name="connsiteY2" fmla="*/ 831493 h 831493"/>
                  <a:gd name="connsiteX3" fmla="*/ 0 w 1407300"/>
                  <a:gd name="connsiteY3" fmla="*/ 831493 h 831493"/>
                  <a:gd name="connsiteX0" fmla="*/ 0 w 1407300"/>
                  <a:gd name="connsiteY0" fmla="*/ 945793 h 945793"/>
                  <a:gd name="connsiteX1" fmla="*/ 847946 w 1407300"/>
                  <a:gd name="connsiteY1" fmla="*/ 0 h 945793"/>
                  <a:gd name="connsiteX2" fmla="*/ 1407300 w 1407300"/>
                  <a:gd name="connsiteY2" fmla="*/ 945793 h 945793"/>
                  <a:gd name="connsiteX3" fmla="*/ 0 w 1407300"/>
                  <a:gd name="connsiteY3" fmla="*/ 945793 h 945793"/>
                  <a:gd name="connsiteX0" fmla="*/ 0 w 1451750"/>
                  <a:gd name="connsiteY0" fmla="*/ 787043 h 945793"/>
                  <a:gd name="connsiteX1" fmla="*/ 892396 w 1451750"/>
                  <a:gd name="connsiteY1" fmla="*/ 0 h 945793"/>
                  <a:gd name="connsiteX2" fmla="*/ 1451750 w 1451750"/>
                  <a:gd name="connsiteY2" fmla="*/ 945793 h 945793"/>
                  <a:gd name="connsiteX3" fmla="*/ 0 w 1451750"/>
                  <a:gd name="connsiteY3" fmla="*/ 787043 h 945793"/>
                  <a:gd name="connsiteX0" fmla="*/ 0 w 1397775"/>
                  <a:gd name="connsiteY0" fmla="*/ 787043 h 948968"/>
                  <a:gd name="connsiteX1" fmla="*/ 892396 w 1397775"/>
                  <a:gd name="connsiteY1" fmla="*/ 0 h 948968"/>
                  <a:gd name="connsiteX2" fmla="*/ 1397775 w 1397775"/>
                  <a:gd name="connsiteY2" fmla="*/ 948968 h 948968"/>
                  <a:gd name="connsiteX3" fmla="*/ 0 w 1397775"/>
                  <a:gd name="connsiteY3" fmla="*/ 787043 h 948968"/>
                  <a:gd name="connsiteX0" fmla="*/ 0 w 1397775"/>
                  <a:gd name="connsiteY0" fmla="*/ 768305 h 930230"/>
                  <a:gd name="connsiteX1" fmla="*/ 446440 w 1397775"/>
                  <a:gd name="connsiteY1" fmla="*/ 0 h 930230"/>
                  <a:gd name="connsiteX2" fmla="*/ 1397775 w 1397775"/>
                  <a:gd name="connsiteY2" fmla="*/ 930230 h 930230"/>
                  <a:gd name="connsiteX3" fmla="*/ 0 w 1397775"/>
                  <a:gd name="connsiteY3" fmla="*/ 768305 h 930230"/>
                  <a:gd name="connsiteX0" fmla="*/ 0 w 1521444"/>
                  <a:gd name="connsiteY0" fmla="*/ 768305 h 802814"/>
                  <a:gd name="connsiteX1" fmla="*/ 446440 w 1521444"/>
                  <a:gd name="connsiteY1" fmla="*/ 0 h 802814"/>
                  <a:gd name="connsiteX2" fmla="*/ 1521444 w 1521444"/>
                  <a:gd name="connsiteY2" fmla="*/ 802814 h 802814"/>
                  <a:gd name="connsiteX3" fmla="*/ 0 w 1521444"/>
                  <a:gd name="connsiteY3" fmla="*/ 768305 h 802814"/>
                </a:gdLst>
                <a:ahLst/>
                <a:cxnLst>
                  <a:cxn ang="0">
                    <a:pos x="connsiteX0" y="connsiteY0"/>
                  </a:cxn>
                  <a:cxn ang="0">
                    <a:pos x="connsiteX1" y="connsiteY1"/>
                  </a:cxn>
                  <a:cxn ang="0">
                    <a:pos x="connsiteX2" y="connsiteY2"/>
                  </a:cxn>
                  <a:cxn ang="0">
                    <a:pos x="connsiteX3" y="connsiteY3"/>
                  </a:cxn>
                </a:cxnLst>
                <a:rect l="l" t="t" r="r" b="b"/>
                <a:pathLst>
                  <a:path w="1521444" h="802814">
                    <a:moveTo>
                      <a:pt x="0" y="768305"/>
                    </a:moveTo>
                    <a:lnTo>
                      <a:pt x="446440" y="0"/>
                    </a:lnTo>
                    <a:lnTo>
                      <a:pt x="1521444" y="802814"/>
                    </a:lnTo>
                    <a:lnTo>
                      <a:pt x="0" y="768305"/>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37" name="Arc 136">
                <a:extLst>
                  <a:ext uri="{FF2B5EF4-FFF2-40B4-BE49-F238E27FC236}">
                    <a16:creationId xmlns:a16="http://schemas.microsoft.com/office/drawing/2014/main" id="{C17BB284-EAA1-8A4B-B1E4-BC404AEDF3D7}"/>
                  </a:ext>
                </a:extLst>
              </p:cNvPr>
              <p:cNvSpPr>
                <a:spLocks noChangeAspect="1"/>
              </p:cNvSpPr>
              <p:nvPr/>
            </p:nvSpPr>
            <p:spPr>
              <a:xfrm>
                <a:off x="6247471" y="2067803"/>
                <a:ext cx="570242" cy="471766"/>
              </a:xfrm>
              <a:prstGeom prst="arc">
                <a:avLst>
                  <a:gd name="adj1" fmla="val 18098533"/>
                  <a:gd name="adj2" fmla="val 9216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33" name="Text Box 30">
                  <a:extLst>
                    <a:ext uri="{FF2B5EF4-FFF2-40B4-BE49-F238E27FC236}">
                      <a16:creationId xmlns:a16="http://schemas.microsoft.com/office/drawing/2014/main" id="{632E3F22-F2A8-C642-B38B-8E2962C186D3}"/>
                    </a:ext>
                  </a:extLst>
                </p:cNvPr>
                <p:cNvSpPr txBox="1">
                  <a:spLocks noChangeArrowheads="1"/>
                </p:cNvSpPr>
                <p:nvPr/>
              </p:nvSpPr>
              <p:spPr bwMode="auto">
                <a:xfrm>
                  <a:off x="6760158" y="1948198"/>
                  <a:ext cx="293070"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18" name="Text Box 30">
                  <a:extLst>
                    <a:ext uri="{FF2B5EF4-FFF2-40B4-BE49-F238E27FC236}">
                      <a16:creationId xmlns:a16="http://schemas.microsoft.com/office/drawing/2014/main" id="{DE8AE69C-402D-3C46-8ECA-F7973AAC9371}"/>
                    </a:ext>
                  </a:extLst>
                </p:cNvPr>
                <p:cNvSpPr txBox="1">
                  <a:spLocks noRot="1" noChangeAspect="1" noMove="1" noResize="1" noEditPoints="1" noAdjustHandles="1" noChangeArrowheads="1" noChangeShapeType="1" noTextEdit="1"/>
                </p:cNvSpPr>
                <p:nvPr/>
              </p:nvSpPr>
              <p:spPr bwMode="auto">
                <a:xfrm>
                  <a:off x="6760158" y="1948198"/>
                  <a:ext cx="293070" cy="300155"/>
                </a:xfrm>
                <a:prstGeom prst="rect">
                  <a:avLst/>
                </a:prstGeom>
                <a:blipFill>
                  <a:blip r:embed="rId21"/>
                  <a:stretch>
                    <a:fillRect l="-25000" t="-11111" r="-31250" b="-555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34" name="Text Box 30">
              <a:extLst>
                <a:ext uri="{FF2B5EF4-FFF2-40B4-BE49-F238E27FC236}">
                  <a16:creationId xmlns:a16="http://schemas.microsoft.com/office/drawing/2014/main" id="{3DAC164D-DF5D-6547-9E68-B8C29A8F0D26}"/>
                </a:ext>
              </a:extLst>
            </p:cNvPr>
            <p:cNvSpPr txBox="1">
              <a:spLocks noChangeArrowheads="1"/>
            </p:cNvSpPr>
            <p:nvPr/>
          </p:nvSpPr>
          <p:spPr bwMode="auto">
            <a:xfrm>
              <a:off x="7285418" y="2313320"/>
              <a:ext cx="79773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13.1m</a:t>
              </a:r>
            </a:p>
          </p:txBody>
        </p:sp>
        <p:sp>
          <p:nvSpPr>
            <p:cNvPr id="135" name="Text Box 30">
              <a:extLst>
                <a:ext uri="{FF2B5EF4-FFF2-40B4-BE49-F238E27FC236}">
                  <a16:creationId xmlns:a16="http://schemas.microsoft.com/office/drawing/2014/main" id="{8E7C8FD6-B5F1-CC4C-9A0F-02D2E425931B}"/>
                </a:ext>
              </a:extLst>
            </p:cNvPr>
            <p:cNvSpPr txBox="1">
              <a:spLocks noChangeArrowheads="1"/>
            </p:cNvSpPr>
            <p:nvPr/>
          </p:nvSpPr>
          <p:spPr bwMode="auto">
            <a:xfrm>
              <a:off x="6122893" y="1494926"/>
              <a:ext cx="64025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8.6m</a:t>
              </a:r>
              <a:endParaRPr lang="en-GB" altLang="en-US" sz="1500" baseline="30000" dirty="0">
                <a:latin typeface="Calibri" panose="020F0502020204030204" pitchFamily="34" charset="0"/>
                <a:cs typeface="Calibri" panose="020F0502020204030204" pitchFamily="34" charset="0"/>
              </a:endParaRPr>
            </a:p>
          </p:txBody>
        </p:sp>
        <p:sp>
          <p:nvSpPr>
            <p:cNvPr id="164" name="Text Box 30">
              <a:extLst>
                <a:ext uri="{FF2B5EF4-FFF2-40B4-BE49-F238E27FC236}">
                  <a16:creationId xmlns:a16="http://schemas.microsoft.com/office/drawing/2014/main" id="{0BB99E86-F31D-4341-BDE5-2F42AAA1658D}"/>
                </a:ext>
              </a:extLst>
            </p:cNvPr>
            <p:cNvSpPr txBox="1">
              <a:spLocks noChangeArrowheads="1"/>
            </p:cNvSpPr>
            <p:nvPr/>
          </p:nvSpPr>
          <p:spPr bwMode="auto">
            <a:xfrm>
              <a:off x="8070560" y="1491104"/>
              <a:ext cx="79773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11.4m</a:t>
              </a:r>
            </a:p>
          </p:txBody>
        </p:sp>
      </p:grpSp>
      <p:grpSp>
        <p:nvGrpSpPr>
          <p:cNvPr id="138" name="Group 137">
            <a:extLst>
              <a:ext uri="{FF2B5EF4-FFF2-40B4-BE49-F238E27FC236}">
                <a16:creationId xmlns:a16="http://schemas.microsoft.com/office/drawing/2014/main" id="{1BEDAC0E-CF30-4246-A772-48DFA7BFAFFC}"/>
              </a:ext>
            </a:extLst>
          </p:cNvPr>
          <p:cNvGrpSpPr/>
          <p:nvPr/>
        </p:nvGrpSpPr>
        <p:grpSpPr>
          <a:xfrm>
            <a:off x="4878440" y="3382091"/>
            <a:ext cx="1825199" cy="1014057"/>
            <a:chOff x="6514657" y="1393765"/>
            <a:chExt cx="2672275" cy="1227005"/>
          </a:xfrm>
        </p:grpSpPr>
        <p:grpSp>
          <p:nvGrpSpPr>
            <p:cNvPr id="139" name="Group 138">
              <a:extLst>
                <a:ext uri="{FF2B5EF4-FFF2-40B4-BE49-F238E27FC236}">
                  <a16:creationId xmlns:a16="http://schemas.microsoft.com/office/drawing/2014/main" id="{7E04D3B5-A4B1-EE43-A79B-F2F98E218E39}"/>
                </a:ext>
              </a:extLst>
            </p:cNvPr>
            <p:cNvGrpSpPr/>
            <p:nvPr/>
          </p:nvGrpSpPr>
          <p:grpSpPr>
            <a:xfrm>
              <a:off x="6580035" y="1394086"/>
              <a:ext cx="2500505" cy="1226684"/>
              <a:chOff x="6649572" y="1422234"/>
              <a:chExt cx="2500505" cy="1226684"/>
            </a:xfrm>
          </p:grpSpPr>
          <p:sp>
            <p:nvSpPr>
              <p:cNvPr id="145" name="Triangle 217">
                <a:extLst>
                  <a:ext uri="{FF2B5EF4-FFF2-40B4-BE49-F238E27FC236}">
                    <a16:creationId xmlns:a16="http://schemas.microsoft.com/office/drawing/2014/main" id="{AEDE5874-2961-824F-9227-368583E6DC76}"/>
                  </a:ext>
                </a:extLst>
              </p:cNvPr>
              <p:cNvSpPr/>
              <p:nvPr/>
            </p:nvSpPr>
            <p:spPr>
              <a:xfrm>
                <a:off x="6649572" y="1422234"/>
                <a:ext cx="2192344" cy="963368"/>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1384621"/>
                  <a:gd name="connsiteY0" fmla="*/ 458452 h 923162"/>
                  <a:gd name="connsiteX1" fmla="*/ 1384621 w 1384621"/>
                  <a:gd name="connsiteY1" fmla="*/ 0 h 923162"/>
                  <a:gd name="connsiteX2" fmla="*/ 935729 w 1384621"/>
                  <a:gd name="connsiteY2" fmla="*/ 923162 h 923162"/>
                  <a:gd name="connsiteX3" fmla="*/ 0 w 1384621"/>
                  <a:gd name="connsiteY3" fmla="*/ 458452 h 923162"/>
                  <a:gd name="connsiteX0" fmla="*/ 0 w 1504324"/>
                  <a:gd name="connsiteY0" fmla="*/ 272247 h 736957"/>
                  <a:gd name="connsiteX1" fmla="*/ 1504324 w 1504324"/>
                  <a:gd name="connsiteY1" fmla="*/ 0 h 736957"/>
                  <a:gd name="connsiteX2" fmla="*/ 935729 w 1504324"/>
                  <a:gd name="connsiteY2" fmla="*/ 736957 h 736957"/>
                  <a:gd name="connsiteX3" fmla="*/ 0 w 1504324"/>
                  <a:gd name="connsiteY3" fmla="*/ 272247 h 736957"/>
                  <a:gd name="connsiteX0" fmla="*/ 0 w 1461098"/>
                  <a:gd name="connsiteY0" fmla="*/ 125943 h 736957"/>
                  <a:gd name="connsiteX1" fmla="*/ 1461098 w 1461098"/>
                  <a:gd name="connsiteY1" fmla="*/ 0 h 736957"/>
                  <a:gd name="connsiteX2" fmla="*/ 892503 w 1461098"/>
                  <a:gd name="connsiteY2" fmla="*/ 736957 h 736957"/>
                  <a:gd name="connsiteX3" fmla="*/ 0 w 1461098"/>
                  <a:gd name="connsiteY3" fmla="*/ 125943 h 736957"/>
                  <a:gd name="connsiteX0" fmla="*/ 0 w 1461098"/>
                  <a:gd name="connsiteY0" fmla="*/ 125943 h 637205"/>
                  <a:gd name="connsiteX1" fmla="*/ 1461098 w 1461098"/>
                  <a:gd name="connsiteY1" fmla="*/ 0 h 637205"/>
                  <a:gd name="connsiteX2" fmla="*/ 988930 w 1461098"/>
                  <a:gd name="connsiteY2" fmla="*/ 637205 h 637205"/>
                  <a:gd name="connsiteX3" fmla="*/ 0 w 1461098"/>
                  <a:gd name="connsiteY3" fmla="*/ 125943 h 637205"/>
                  <a:gd name="connsiteX0" fmla="*/ 0 w 1461098"/>
                  <a:gd name="connsiteY0" fmla="*/ 125943 h 599682"/>
                  <a:gd name="connsiteX1" fmla="*/ 1461098 w 1461098"/>
                  <a:gd name="connsiteY1" fmla="*/ 0 h 599682"/>
                  <a:gd name="connsiteX2" fmla="*/ 1413224 w 1461098"/>
                  <a:gd name="connsiteY2" fmla="*/ 599682 h 599682"/>
                  <a:gd name="connsiteX3" fmla="*/ 0 w 1461098"/>
                  <a:gd name="connsiteY3" fmla="*/ 125943 h 599682"/>
                  <a:gd name="connsiteX0" fmla="*/ 0 w 1413224"/>
                  <a:gd name="connsiteY0" fmla="*/ 250056 h 723795"/>
                  <a:gd name="connsiteX1" fmla="*/ 823213 w 1413224"/>
                  <a:gd name="connsiteY1" fmla="*/ 0 h 723795"/>
                  <a:gd name="connsiteX2" fmla="*/ 1413224 w 1413224"/>
                  <a:gd name="connsiteY2" fmla="*/ 723795 h 723795"/>
                  <a:gd name="connsiteX3" fmla="*/ 0 w 1413224"/>
                  <a:gd name="connsiteY3" fmla="*/ 250056 h 723795"/>
                  <a:gd name="connsiteX0" fmla="*/ 0 w 1361270"/>
                  <a:gd name="connsiteY0" fmla="*/ 411692 h 723795"/>
                  <a:gd name="connsiteX1" fmla="*/ 771259 w 1361270"/>
                  <a:gd name="connsiteY1" fmla="*/ 0 h 723795"/>
                  <a:gd name="connsiteX2" fmla="*/ 1361270 w 1361270"/>
                  <a:gd name="connsiteY2" fmla="*/ 723795 h 723795"/>
                  <a:gd name="connsiteX3" fmla="*/ 0 w 1361270"/>
                  <a:gd name="connsiteY3" fmla="*/ 411692 h 723795"/>
                </a:gdLst>
                <a:ahLst/>
                <a:cxnLst>
                  <a:cxn ang="0">
                    <a:pos x="connsiteX0" y="connsiteY0"/>
                  </a:cxn>
                  <a:cxn ang="0">
                    <a:pos x="connsiteX1" y="connsiteY1"/>
                  </a:cxn>
                  <a:cxn ang="0">
                    <a:pos x="connsiteX2" y="connsiteY2"/>
                  </a:cxn>
                  <a:cxn ang="0">
                    <a:pos x="connsiteX3" y="connsiteY3"/>
                  </a:cxn>
                </a:cxnLst>
                <a:rect l="l" t="t" r="r" b="b"/>
                <a:pathLst>
                  <a:path w="1361270" h="723795">
                    <a:moveTo>
                      <a:pt x="0" y="411692"/>
                    </a:moveTo>
                    <a:lnTo>
                      <a:pt x="771259" y="0"/>
                    </a:lnTo>
                    <a:lnTo>
                      <a:pt x="1361270" y="723795"/>
                    </a:lnTo>
                    <a:lnTo>
                      <a:pt x="0" y="411692"/>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46" name="Arc 145">
                <a:extLst>
                  <a:ext uri="{FF2B5EF4-FFF2-40B4-BE49-F238E27FC236}">
                    <a16:creationId xmlns:a16="http://schemas.microsoft.com/office/drawing/2014/main" id="{D072DC03-1894-8E4C-893C-ECDE6A234EE2}"/>
                  </a:ext>
                </a:extLst>
              </p:cNvPr>
              <p:cNvSpPr>
                <a:spLocks noChangeAspect="1"/>
              </p:cNvSpPr>
              <p:nvPr/>
            </p:nvSpPr>
            <p:spPr>
              <a:xfrm>
                <a:off x="8522811" y="2129976"/>
                <a:ext cx="627266" cy="518942"/>
              </a:xfrm>
              <a:prstGeom prst="arc">
                <a:avLst>
                  <a:gd name="adj1" fmla="val 11769684"/>
                  <a:gd name="adj2" fmla="val 13894928"/>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40" name="Text Box 30">
                  <a:extLst>
                    <a:ext uri="{FF2B5EF4-FFF2-40B4-BE49-F238E27FC236}">
                      <a16:creationId xmlns:a16="http://schemas.microsoft.com/office/drawing/2014/main" id="{F3D5E769-174D-6747-8AFE-9263F320485C}"/>
                    </a:ext>
                  </a:extLst>
                </p:cNvPr>
                <p:cNvSpPr txBox="1">
                  <a:spLocks noChangeArrowheads="1"/>
                </p:cNvSpPr>
                <p:nvPr/>
              </p:nvSpPr>
              <p:spPr bwMode="auto">
                <a:xfrm>
                  <a:off x="8199426" y="2001308"/>
                  <a:ext cx="266427" cy="2728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26" name="Text Box 30">
                  <a:extLst>
                    <a:ext uri="{FF2B5EF4-FFF2-40B4-BE49-F238E27FC236}">
                      <a16:creationId xmlns:a16="http://schemas.microsoft.com/office/drawing/2014/main" id="{80D30D77-DC43-0845-BC6D-8526B94ED151}"/>
                    </a:ext>
                  </a:extLst>
                </p:cNvPr>
                <p:cNvSpPr txBox="1">
                  <a:spLocks noRot="1" noChangeAspect="1" noMove="1" noResize="1" noEditPoints="1" noAdjustHandles="1" noChangeArrowheads="1" noChangeShapeType="1" noTextEdit="1"/>
                </p:cNvSpPr>
                <p:nvPr/>
              </p:nvSpPr>
              <p:spPr bwMode="auto">
                <a:xfrm>
                  <a:off x="8199426" y="2001308"/>
                  <a:ext cx="266427" cy="272867"/>
                </a:xfrm>
                <a:prstGeom prst="rect">
                  <a:avLst/>
                </a:prstGeom>
                <a:blipFill>
                  <a:blip r:embed="rId22"/>
                  <a:stretch>
                    <a:fillRect l="-33333" t="-5263" r="-40000"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41" name="Text Box 30">
              <a:extLst>
                <a:ext uri="{FF2B5EF4-FFF2-40B4-BE49-F238E27FC236}">
                  <a16:creationId xmlns:a16="http://schemas.microsoft.com/office/drawing/2014/main" id="{3EAB4E53-8E3D-1B4D-A47A-E34B3B6992BE}"/>
                </a:ext>
              </a:extLst>
            </p:cNvPr>
            <p:cNvSpPr txBox="1">
              <a:spLocks noChangeArrowheads="1"/>
            </p:cNvSpPr>
            <p:nvPr/>
          </p:nvSpPr>
          <p:spPr bwMode="auto">
            <a:xfrm>
              <a:off x="8332638" y="1629003"/>
              <a:ext cx="854294"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14.2km</a:t>
              </a:r>
              <a:endParaRPr lang="en-GB" altLang="en-US" sz="1500" baseline="30000" dirty="0">
                <a:latin typeface="Calibri" panose="020F0502020204030204" pitchFamily="34" charset="0"/>
                <a:cs typeface="Calibri" panose="020F0502020204030204" pitchFamily="34" charset="0"/>
              </a:endParaRPr>
            </a:p>
          </p:txBody>
        </p:sp>
        <p:sp>
          <p:nvSpPr>
            <p:cNvPr id="144" name="Text Box 30">
              <a:extLst>
                <a:ext uri="{FF2B5EF4-FFF2-40B4-BE49-F238E27FC236}">
                  <a16:creationId xmlns:a16="http://schemas.microsoft.com/office/drawing/2014/main" id="{C0D3F6C2-7CCD-D345-9496-7B05EA79C765}"/>
                </a:ext>
              </a:extLst>
            </p:cNvPr>
            <p:cNvSpPr txBox="1">
              <a:spLocks noChangeArrowheads="1"/>
            </p:cNvSpPr>
            <p:nvPr/>
          </p:nvSpPr>
          <p:spPr bwMode="auto">
            <a:xfrm>
              <a:off x="6852381" y="2101297"/>
              <a:ext cx="854294"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18.1km</a:t>
              </a:r>
            </a:p>
          </p:txBody>
        </p:sp>
        <p:sp>
          <p:nvSpPr>
            <p:cNvPr id="165" name="Text Box 30">
              <a:extLst>
                <a:ext uri="{FF2B5EF4-FFF2-40B4-BE49-F238E27FC236}">
                  <a16:creationId xmlns:a16="http://schemas.microsoft.com/office/drawing/2014/main" id="{084C9F37-4E58-B44C-BEA6-DE30789A2A52}"/>
                </a:ext>
              </a:extLst>
            </p:cNvPr>
            <p:cNvSpPr txBox="1">
              <a:spLocks noChangeArrowheads="1"/>
            </p:cNvSpPr>
            <p:nvPr/>
          </p:nvSpPr>
          <p:spPr bwMode="auto">
            <a:xfrm>
              <a:off x="6514657" y="1393765"/>
              <a:ext cx="711128"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6.8km</a:t>
              </a:r>
              <a:endParaRPr lang="en-GB" altLang="en-US" sz="1500" baseline="30000" dirty="0">
                <a:latin typeface="Calibri" panose="020F0502020204030204" pitchFamily="34" charset="0"/>
                <a:cs typeface="Calibri" panose="020F0502020204030204" pitchFamily="34" charset="0"/>
              </a:endParaRPr>
            </a:p>
          </p:txBody>
        </p:sp>
      </p:grpSp>
      <p:grpSp>
        <p:nvGrpSpPr>
          <p:cNvPr id="147" name="Group 146">
            <a:extLst>
              <a:ext uri="{FF2B5EF4-FFF2-40B4-BE49-F238E27FC236}">
                <a16:creationId xmlns:a16="http://schemas.microsoft.com/office/drawing/2014/main" id="{650E6CB8-FA90-5F44-B99B-3B701DDF96F7}"/>
              </a:ext>
            </a:extLst>
          </p:cNvPr>
          <p:cNvGrpSpPr/>
          <p:nvPr/>
        </p:nvGrpSpPr>
        <p:grpSpPr>
          <a:xfrm>
            <a:off x="6999093" y="3378208"/>
            <a:ext cx="2198002" cy="880394"/>
            <a:chOff x="6046013" y="1424820"/>
            <a:chExt cx="3218096" cy="1065273"/>
          </a:xfrm>
        </p:grpSpPr>
        <p:grpSp>
          <p:nvGrpSpPr>
            <p:cNvPr id="148" name="Group 147">
              <a:extLst>
                <a:ext uri="{FF2B5EF4-FFF2-40B4-BE49-F238E27FC236}">
                  <a16:creationId xmlns:a16="http://schemas.microsoft.com/office/drawing/2014/main" id="{03F3E7B1-5913-7945-BA00-0D4A02F937C9}"/>
                </a:ext>
              </a:extLst>
            </p:cNvPr>
            <p:cNvGrpSpPr/>
            <p:nvPr/>
          </p:nvGrpSpPr>
          <p:grpSpPr>
            <a:xfrm>
              <a:off x="6515924" y="1424820"/>
              <a:ext cx="2748185" cy="979910"/>
              <a:chOff x="6585461" y="1452968"/>
              <a:chExt cx="2748185" cy="979910"/>
            </a:xfrm>
          </p:grpSpPr>
          <p:sp>
            <p:nvSpPr>
              <p:cNvPr id="161" name="Triangle 217">
                <a:extLst>
                  <a:ext uri="{FF2B5EF4-FFF2-40B4-BE49-F238E27FC236}">
                    <a16:creationId xmlns:a16="http://schemas.microsoft.com/office/drawing/2014/main" id="{672279E5-C425-0D47-B853-B6614FBFBCEF}"/>
                  </a:ext>
                </a:extLst>
              </p:cNvPr>
              <p:cNvSpPr/>
              <p:nvPr/>
            </p:nvSpPr>
            <p:spPr>
              <a:xfrm>
                <a:off x="6585461" y="1452968"/>
                <a:ext cx="2330833" cy="951343"/>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1384621"/>
                  <a:gd name="connsiteY0" fmla="*/ 458452 h 923162"/>
                  <a:gd name="connsiteX1" fmla="*/ 1384621 w 1384621"/>
                  <a:gd name="connsiteY1" fmla="*/ 0 h 923162"/>
                  <a:gd name="connsiteX2" fmla="*/ 935729 w 1384621"/>
                  <a:gd name="connsiteY2" fmla="*/ 923162 h 923162"/>
                  <a:gd name="connsiteX3" fmla="*/ 0 w 1384621"/>
                  <a:gd name="connsiteY3" fmla="*/ 458452 h 923162"/>
                  <a:gd name="connsiteX0" fmla="*/ 0 w 1504324"/>
                  <a:gd name="connsiteY0" fmla="*/ 272247 h 736957"/>
                  <a:gd name="connsiteX1" fmla="*/ 1504324 w 1504324"/>
                  <a:gd name="connsiteY1" fmla="*/ 0 h 736957"/>
                  <a:gd name="connsiteX2" fmla="*/ 935729 w 1504324"/>
                  <a:gd name="connsiteY2" fmla="*/ 736957 h 736957"/>
                  <a:gd name="connsiteX3" fmla="*/ 0 w 1504324"/>
                  <a:gd name="connsiteY3" fmla="*/ 272247 h 736957"/>
                  <a:gd name="connsiteX0" fmla="*/ 0 w 1461098"/>
                  <a:gd name="connsiteY0" fmla="*/ 125943 h 736957"/>
                  <a:gd name="connsiteX1" fmla="*/ 1461098 w 1461098"/>
                  <a:gd name="connsiteY1" fmla="*/ 0 h 736957"/>
                  <a:gd name="connsiteX2" fmla="*/ 892503 w 1461098"/>
                  <a:gd name="connsiteY2" fmla="*/ 736957 h 736957"/>
                  <a:gd name="connsiteX3" fmla="*/ 0 w 1461098"/>
                  <a:gd name="connsiteY3" fmla="*/ 125943 h 736957"/>
                  <a:gd name="connsiteX0" fmla="*/ 0 w 1461098"/>
                  <a:gd name="connsiteY0" fmla="*/ 125943 h 637205"/>
                  <a:gd name="connsiteX1" fmla="*/ 1461098 w 1461098"/>
                  <a:gd name="connsiteY1" fmla="*/ 0 h 637205"/>
                  <a:gd name="connsiteX2" fmla="*/ 988930 w 1461098"/>
                  <a:gd name="connsiteY2" fmla="*/ 637205 h 637205"/>
                  <a:gd name="connsiteX3" fmla="*/ 0 w 1461098"/>
                  <a:gd name="connsiteY3" fmla="*/ 125943 h 637205"/>
                  <a:gd name="connsiteX0" fmla="*/ 0 w 1461098"/>
                  <a:gd name="connsiteY0" fmla="*/ 125943 h 599682"/>
                  <a:gd name="connsiteX1" fmla="*/ 1461098 w 1461098"/>
                  <a:gd name="connsiteY1" fmla="*/ 0 h 599682"/>
                  <a:gd name="connsiteX2" fmla="*/ 1413224 w 1461098"/>
                  <a:gd name="connsiteY2" fmla="*/ 599682 h 599682"/>
                  <a:gd name="connsiteX3" fmla="*/ 0 w 1461098"/>
                  <a:gd name="connsiteY3" fmla="*/ 125943 h 599682"/>
                  <a:gd name="connsiteX0" fmla="*/ 0 w 1413224"/>
                  <a:gd name="connsiteY0" fmla="*/ 250056 h 723795"/>
                  <a:gd name="connsiteX1" fmla="*/ 823213 w 1413224"/>
                  <a:gd name="connsiteY1" fmla="*/ 0 h 723795"/>
                  <a:gd name="connsiteX2" fmla="*/ 1413224 w 1413224"/>
                  <a:gd name="connsiteY2" fmla="*/ 723795 h 723795"/>
                  <a:gd name="connsiteX3" fmla="*/ 0 w 1413224"/>
                  <a:gd name="connsiteY3" fmla="*/ 250056 h 723795"/>
                  <a:gd name="connsiteX0" fmla="*/ 0 w 1361270"/>
                  <a:gd name="connsiteY0" fmla="*/ 411692 h 723795"/>
                  <a:gd name="connsiteX1" fmla="*/ 771259 w 1361270"/>
                  <a:gd name="connsiteY1" fmla="*/ 0 h 723795"/>
                  <a:gd name="connsiteX2" fmla="*/ 1361270 w 1361270"/>
                  <a:gd name="connsiteY2" fmla="*/ 723795 h 723795"/>
                  <a:gd name="connsiteX3" fmla="*/ 0 w 1361270"/>
                  <a:gd name="connsiteY3" fmla="*/ 411692 h 723795"/>
                  <a:gd name="connsiteX0" fmla="*/ 0 w 1133248"/>
                  <a:gd name="connsiteY0" fmla="*/ 737851 h 737851"/>
                  <a:gd name="connsiteX1" fmla="*/ 543237 w 1133248"/>
                  <a:gd name="connsiteY1" fmla="*/ 0 h 737851"/>
                  <a:gd name="connsiteX2" fmla="*/ 1133248 w 1133248"/>
                  <a:gd name="connsiteY2" fmla="*/ 723795 h 737851"/>
                  <a:gd name="connsiteX3" fmla="*/ 0 w 1133248"/>
                  <a:gd name="connsiteY3" fmla="*/ 737851 h 737851"/>
                  <a:gd name="connsiteX0" fmla="*/ 267830 w 1401078"/>
                  <a:gd name="connsiteY0" fmla="*/ 714760 h 714760"/>
                  <a:gd name="connsiteX1" fmla="*/ 0 w 1401078"/>
                  <a:gd name="connsiteY1" fmla="*/ 0 h 714760"/>
                  <a:gd name="connsiteX2" fmla="*/ 1401078 w 1401078"/>
                  <a:gd name="connsiteY2" fmla="*/ 700704 h 714760"/>
                  <a:gd name="connsiteX3" fmla="*/ 267830 w 1401078"/>
                  <a:gd name="connsiteY3" fmla="*/ 714760 h 714760"/>
                  <a:gd name="connsiteX0" fmla="*/ 267830 w 1447260"/>
                  <a:gd name="connsiteY0" fmla="*/ 714760 h 714760"/>
                  <a:gd name="connsiteX1" fmla="*/ 0 w 1447260"/>
                  <a:gd name="connsiteY1" fmla="*/ 0 h 714760"/>
                  <a:gd name="connsiteX2" fmla="*/ 1447260 w 1447260"/>
                  <a:gd name="connsiteY2" fmla="*/ 478454 h 714760"/>
                  <a:gd name="connsiteX3" fmla="*/ 267830 w 1447260"/>
                  <a:gd name="connsiteY3" fmla="*/ 714760 h 714760"/>
                </a:gdLst>
                <a:ahLst/>
                <a:cxnLst>
                  <a:cxn ang="0">
                    <a:pos x="connsiteX0" y="connsiteY0"/>
                  </a:cxn>
                  <a:cxn ang="0">
                    <a:pos x="connsiteX1" y="connsiteY1"/>
                  </a:cxn>
                  <a:cxn ang="0">
                    <a:pos x="connsiteX2" y="connsiteY2"/>
                  </a:cxn>
                  <a:cxn ang="0">
                    <a:pos x="connsiteX3" y="connsiteY3"/>
                  </a:cxn>
                </a:cxnLst>
                <a:rect l="l" t="t" r="r" b="b"/>
                <a:pathLst>
                  <a:path w="1447260" h="714760">
                    <a:moveTo>
                      <a:pt x="267830" y="714760"/>
                    </a:moveTo>
                    <a:lnTo>
                      <a:pt x="0" y="0"/>
                    </a:lnTo>
                    <a:lnTo>
                      <a:pt x="1447260" y="478454"/>
                    </a:lnTo>
                    <a:lnTo>
                      <a:pt x="267830" y="714760"/>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162" name="Arc 161">
                <a:extLst>
                  <a:ext uri="{FF2B5EF4-FFF2-40B4-BE49-F238E27FC236}">
                    <a16:creationId xmlns:a16="http://schemas.microsoft.com/office/drawing/2014/main" id="{4EA5BCEB-1C90-8543-8B9F-8506AC800BE0}"/>
                  </a:ext>
                </a:extLst>
              </p:cNvPr>
              <p:cNvSpPr>
                <a:spLocks noChangeAspect="1"/>
              </p:cNvSpPr>
              <p:nvPr/>
            </p:nvSpPr>
            <p:spPr>
              <a:xfrm>
                <a:off x="8498756" y="1742167"/>
                <a:ext cx="834890" cy="690711"/>
              </a:xfrm>
              <a:prstGeom prst="arc">
                <a:avLst>
                  <a:gd name="adj1" fmla="val 10142617"/>
                  <a:gd name="adj2" fmla="val 11867378"/>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49" name="Text Box 30">
                  <a:extLst>
                    <a:ext uri="{FF2B5EF4-FFF2-40B4-BE49-F238E27FC236}">
                      <a16:creationId xmlns:a16="http://schemas.microsoft.com/office/drawing/2014/main" id="{A17FE2EB-FC88-D64E-A7B7-7BBF084AB57B}"/>
                    </a:ext>
                  </a:extLst>
                </p:cNvPr>
                <p:cNvSpPr txBox="1">
                  <a:spLocks noChangeArrowheads="1"/>
                </p:cNvSpPr>
                <p:nvPr/>
              </p:nvSpPr>
              <p:spPr bwMode="auto">
                <a:xfrm>
                  <a:off x="8113899" y="1891225"/>
                  <a:ext cx="266427" cy="2728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148" name="Text Box 30">
                  <a:extLst>
                    <a:ext uri="{FF2B5EF4-FFF2-40B4-BE49-F238E27FC236}">
                      <a16:creationId xmlns:a16="http://schemas.microsoft.com/office/drawing/2014/main" id="{7B1B8EA6-42F7-9640-99A0-F7B8BE1E61D3}"/>
                    </a:ext>
                  </a:extLst>
                </p:cNvPr>
                <p:cNvSpPr txBox="1">
                  <a:spLocks noRot="1" noChangeAspect="1" noMove="1" noResize="1" noEditPoints="1" noAdjustHandles="1" noChangeArrowheads="1" noChangeShapeType="1" noTextEdit="1"/>
                </p:cNvSpPr>
                <p:nvPr/>
              </p:nvSpPr>
              <p:spPr bwMode="auto">
                <a:xfrm>
                  <a:off x="8113899" y="1891225"/>
                  <a:ext cx="266427" cy="272867"/>
                </a:xfrm>
                <a:prstGeom prst="rect">
                  <a:avLst/>
                </a:prstGeom>
                <a:blipFill>
                  <a:blip r:embed="rId26"/>
                  <a:stretch>
                    <a:fillRect l="-33333" t="-5263" r="-40000"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150" name="Text Box 30">
              <a:extLst>
                <a:ext uri="{FF2B5EF4-FFF2-40B4-BE49-F238E27FC236}">
                  <a16:creationId xmlns:a16="http://schemas.microsoft.com/office/drawing/2014/main" id="{D6944185-0B22-9244-8593-6BCCB5AA7112}"/>
                </a:ext>
              </a:extLst>
            </p:cNvPr>
            <p:cNvSpPr txBox="1">
              <a:spLocks noChangeArrowheads="1"/>
            </p:cNvSpPr>
            <p:nvPr/>
          </p:nvSpPr>
          <p:spPr bwMode="auto">
            <a:xfrm>
              <a:off x="7641073" y="1464076"/>
              <a:ext cx="557639"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25yd</a:t>
              </a:r>
              <a:endParaRPr lang="en-GB" altLang="en-US" sz="1500" baseline="30000" dirty="0">
                <a:latin typeface="Calibri" panose="020F0502020204030204" pitchFamily="34" charset="0"/>
                <a:cs typeface="Calibri" panose="020F0502020204030204" pitchFamily="34" charset="0"/>
              </a:endParaRPr>
            </a:p>
          </p:txBody>
        </p:sp>
        <p:sp>
          <p:nvSpPr>
            <p:cNvPr id="151" name="Text Box 30">
              <a:extLst>
                <a:ext uri="{FF2B5EF4-FFF2-40B4-BE49-F238E27FC236}">
                  <a16:creationId xmlns:a16="http://schemas.microsoft.com/office/drawing/2014/main" id="{8D1F37C4-3C12-3C41-B353-2215B43C3852}"/>
                </a:ext>
              </a:extLst>
            </p:cNvPr>
            <p:cNvSpPr txBox="1">
              <a:spLocks noChangeArrowheads="1"/>
            </p:cNvSpPr>
            <p:nvPr/>
          </p:nvSpPr>
          <p:spPr bwMode="auto">
            <a:xfrm>
              <a:off x="7723826" y="2210787"/>
              <a:ext cx="557639"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21yd</a:t>
              </a:r>
            </a:p>
          </p:txBody>
        </p:sp>
        <p:sp>
          <p:nvSpPr>
            <p:cNvPr id="166" name="Text Box 30">
              <a:extLst>
                <a:ext uri="{FF2B5EF4-FFF2-40B4-BE49-F238E27FC236}">
                  <a16:creationId xmlns:a16="http://schemas.microsoft.com/office/drawing/2014/main" id="{6A6458E7-8E93-2146-A5AC-4C2D21D96009}"/>
                </a:ext>
              </a:extLst>
            </p:cNvPr>
            <p:cNvSpPr txBox="1">
              <a:spLocks noChangeArrowheads="1"/>
            </p:cNvSpPr>
            <p:nvPr/>
          </p:nvSpPr>
          <p:spPr bwMode="auto">
            <a:xfrm>
              <a:off x="6046013" y="1851203"/>
              <a:ext cx="628046"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6.2yd</a:t>
              </a:r>
              <a:endParaRPr lang="en-GB" altLang="en-US" sz="1500" baseline="300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3359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dissolv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dissolve">
                                      <p:cBhvr>
                                        <p:cTn id="12" dur="5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dissolve">
                                      <p:cBhvr>
                                        <p:cTn id="17" dur="500"/>
                                        <p:tgtEl>
                                          <p:spTgt spid="1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9"/>
                                        </p:tgtEl>
                                        <p:attrNameLst>
                                          <p:attrName>style.visibility</p:attrName>
                                        </p:attrNameLst>
                                      </p:cBhvr>
                                      <p:to>
                                        <p:strVal val="visible"/>
                                      </p:to>
                                    </p:set>
                                    <p:animEffect transition="in" filter="dissolve">
                                      <p:cBhvr>
                                        <p:cTn id="22" dur="500"/>
                                        <p:tgtEl>
                                          <p:spTgt spid="1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animEffect transition="in" filter="dissolve">
                                      <p:cBhvr>
                                        <p:cTn id="27" dur="500"/>
                                        <p:tgtEl>
                                          <p:spTgt spid="1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3"/>
                                        </p:tgtEl>
                                        <p:attrNameLst>
                                          <p:attrName>style.visibility</p:attrName>
                                        </p:attrNameLst>
                                      </p:cBhvr>
                                      <p:to>
                                        <p:strVal val="visible"/>
                                      </p:to>
                                    </p:set>
                                    <p:animEffect transition="in" filter="dissolve">
                                      <p:cBhvr>
                                        <p:cTn id="32" dur="500"/>
                                        <p:tgtEl>
                                          <p:spTgt spid="15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5"/>
                                        </p:tgtEl>
                                        <p:attrNameLst>
                                          <p:attrName>style.visibility</p:attrName>
                                        </p:attrNameLst>
                                      </p:cBhvr>
                                      <p:to>
                                        <p:strVal val="visible"/>
                                      </p:to>
                                    </p:set>
                                    <p:animEffect transition="in" filter="dissolve">
                                      <p:cBhvr>
                                        <p:cTn id="37" dur="500"/>
                                        <p:tgtEl>
                                          <p:spTgt spid="15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0"/>
                                        </p:tgtEl>
                                        <p:attrNameLst>
                                          <p:attrName>style.visibility</p:attrName>
                                        </p:attrNameLst>
                                      </p:cBhvr>
                                      <p:to>
                                        <p:strVal val="visible"/>
                                      </p:to>
                                    </p:set>
                                    <p:animEffect transition="in" filter="dissolve">
                                      <p:cBhvr>
                                        <p:cTn id="42"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P spid="152" grpId="0" animBg="1"/>
      <p:bldP spid="153" grpId="0" animBg="1"/>
      <p:bldP spid="154" grpId="0" animBg="1"/>
      <p:bldP spid="155" grpId="0" animBg="1"/>
      <p:bldP spid="159" grpId="0" animBg="1"/>
      <p:bldP spid="1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8F9ACDA6-D7C8-C644-A368-ABAF697A3855}"/>
              </a:ext>
            </a:extLst>
          </p:cNvPr>
          <p:cNvSpPr/>
          <p:nvPr/>
        </p:nvSpPr>
        <p:spPr>
          <a:xfrm>
            <a:off x="7794089" y="3538933"/>
            <a:ext cx="771633" cy="6746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TextBox 164">
            <a:extLst>
              <a:ext uri="{FF2B5EF4-FFF2-40B4-BE49-F238E27FC236}">
                <a16:creationId xmlns:a16="http://schemas.microsoft.com/office/drawing/2014/main" id="{9960D2FF-554B-5E44-816D-736372CD2329}"/>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Q3</a:t>
            </a:r>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5B29E57D-9EB8-FC4D-B9AC-100EA08D095C}"/>
                  </a:ext>
                </a:extLst>
              </p:cNvPr>
              <p:cNvSpPr txBox="1"/>
              <p:nvPr/>
            </p:nvSpPr>
            <p:spPr>
              <a:xfrm>
                <a:off x="422571" y="958109"/>
                <a:ext cx="4093490" cy="738664"/>
              </a:xfrm>
              <a:prstGeom prst="rect">
                <a:avLst/>
              </a:prstGeom>
              <a:noFill/>
            </p:spPr>
            <p:txBody>
              <a:bodyPr wrap="square" lIns="36000" tIns="0" rIns="0" bIns="0" rtlCol="0">
                <a:spAutoFit/>
              </a:bodyPr>
              <a:lstStyle/>
              <a:p>
                <a:pPr fontAlgn="base">
                  <a:spcBef>
                    <a:spcPct val="0"/>
                  </a:spcBef>
                  <a:spcAft>
                    <a:spcPct val="0"/>
                  </a:spcAft>
                </a:pPr>
                <a:r>
                  <a:rPr lang="en-GB" sz="1600" dirty="0">
                    <a:solidFill>
                      <a:srgbClr val="000000"/>
                    </a:solidFill>
                  </a:rPr>
                  <a:t>The diagram shows a kite. Find the size of the missing angle, </a:t>
                </a:r>
                <a14:m>
                  <m:oMath xmlns:m="http://schemas.openxmlformats.org/officeDocument/2006/math">
                    <m:r>
                      <a:rPr lang="en-GB" sz="1600" i="1">
                        <a:solidFill>
                          <a:srgbClr val="000000"/>
                        </a:solidFill>
                        <a:latin typeface="Cambria Math" panose="02040503050406030204" pitchFamily="18" charset="0"/>
                      </a:rPr>
                      <m:t>𝜃</m:t>
                    </m:r>
                  </m:oMath>
                </a14:m>
                <a:r>
                  <a:rPr lang="en-GB" sz="1600" baseline="30000" dirty="0">
                    <a:solidFill>
                      <a:srgbClr val="000000"/>
                    </a:solidFill>
                  </a:rPr>
                  <a:t>o</a:t>
                </a:r>
                <a:r>
                  <a:rPr lang="en-GB" sz="1600" dirty="0">
                    <a:solidFill>
                      <a:srgbClr val="000000"/>
                    </a:solidFill>
                  </a:rPr>
                  <a:t>, correct to the nearest one decimal place.</a:t>
                </a:r>
              </a:p>
            </p:txBody>
          </p:sp>
        </mc:Choice>
        <mc:Fallback xmlns="">
          <p:sp>
            <p:nvSpPr>
              <p:cNvPr id="166" name="TextBox 165">
                <a:extLst>
                  <a:ext uri="{FF2B5EF4-FFF2-40B4-BE49-F238E27FC236}">
                    <a16:creationId xmlns:a16="http://schemas.microsoft.com/office/drawing/2014/main" id="{5B29E57D-9EB8-FC4D-B9AC-100EA08D095C}"/>
                  </a:ext>
                </a:extLst>
              </p:cNvPr>
              <p:cNvSpPr txBox="1">
                <a:spLocks noRot="1" noChangeAspect="1" noMove="1" noResize="1" noEditPoints="1" noAdjustHandles="1" noChangeArrowheads="1" noChangeShapeType="1" noTextEdit="1"/>
              </p:cNvSpPr>
              <p:nvPr/>
            </p:nvSpPr>
            <p:spPr>
              <a:xfrm>
                <a:off x="422571" y="958109"/>
                <a:ext cx="4093490" cy="738664"/>
              </a:xfrm>
              <a:prstGeom prst="rect">
                <a:avLst/>
              </a:prstGeom>
              <a:blipFill>
                <a:blip r:embed="rId3"/>
                <a:stretch>
                  <a:fillRect l="-1852" t="-6667" b="-13333"/>
                </a:stretch>
              </a:blipFill>
            </p:spPr>
            <p:txBody>
              <a:bodyPr/>
              <a:lstStyle/>
              <a:p>
                <a:r>
                  <a:rPr lang="en-GB">
                    <a:noFill/>
                  </a:rPr>
                  <a:t> </a:t>
                </a:r>
              </a:p>
            </p:txBody>
          </p:sp>
        </mc:Fallback>
      </mc:AlternateContent>
      <p:cxnSp>
        <p:nvCxnSpPr>
          <p:cNvPr id="167" name="Straight Connector 166">
            <a:extLst>
              <a:ext uri="{FF2B5EF4-FFF2-40B4-BE49-F238E27FC236}">
                <a16:creationId xmlns:a16="http://schemas.microsoft.com/office/drawing/2014/main" id="{47438012-4CCC-A048-9697-0FB101FF797E}"/>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Rectangle 167">
            <a:extLst>
              <a:ext uri="{FF2B5EF4-FFF2-40B4-BE49-F238E27FC236}">
                <a16:creationId xmlns:a16="http://schemas.microsoft.com/office/drawing/2014/main" id="{DF9E5E5C-1EDC-664A-BF7E-7C319E6621C1}"/>
              </a:ext>
            </a:extLst>
          </p:cNvPr>
          <p:cNvSpPr/>
          <p:nvPr/>
        </p:nvSpPr>
        <p:spPr>
          <a:xfrm rot="16200000">
            <a:off x="-137318" y="1452039"/>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29" name="TextBox 128">
            <a:extLst>
              <a:ext uri="{FF2B5EF4-FFF2-40B4-BE49-F238E27FC236}">
                <a16:creationId xmlns:a16="http://schemas.microsoft.com/office/drawing/2014/main" id="{3E7A9AE3-18D2-0E48-9FC2-9E45D2C47A3E}"/>
              </a:ext>
            </a:extLst>
          </p:cNvPr>
          <p:cNvSpPr txBox="1"/>
          <p:nvPr/>
        </p:nvSpPr>
        <p:spPr>
          <a:xfrm>
            <a:off x="4638011" y="958109"/>
            <a:ext cx="513302" cy="246221"/>
          </a:xfrm>
          <a:prstGeom prst="rect">
            <a:avLst/>
          </a:prstGeom>
          <a:noFill/>
          <a:ln>
            <a:noFill/>
          </a:ln>
        </p:spPr>
        <p:txBody>
          <a:bodyPr wrap="square" lIns="36000" tIns="0" rIns="0" bIns="0" rtlCol="0">
            <a:spAutoFit/>
          </a:bodyPr>
          <a:lstStyle/>
          <a:p>
            <a:r>
              <a:rPr lang="en-GB" sz="1600" b="1" dirty="0"/>
              <a:t>Q4</a:t>
            </a:r>
          </a:p>
        </p:txBody>
      </p:sp>
      <p:sp>
        <p:nvSpPr>
          <p:cNvPr id="130" name="TextBox 129">
            <a:extLst>
              <a:ext uri="{FF2B5EF4-FFF2-40B4-BE49-F238E27FC236}">
                <a16:creationId xmlns:a16="http://schemas.microsoft.com/office/drawing/2014/main" id="{F62EF121-EB9C-9D4D-BF33-20A1D86A8B4E}"/>
              </a:ext>
            </a:extLst>
          </p:cNvPr>
          <p:cNvSpPr txBox="1"/>
          <p:nvPr/>
        </p:nvSpPr>
        <p:spPr>
          <a:xfrm>
            <a:off x="5014666" y="953219"/>
            <a:ext cx="3995770" cy="492443"/>
          </a:xfrm>
          <a:prstGeom prst="rect">
            <a:avLst/>
          </a:prstGeom>
          <a:noFill/>
        </p:spPr>
        <p:txBody>
          <a:bodyPr wrap="square" lIns="36000" tIns="0" rIns="0" bIns="0" rtlCol="0">
            <a:spAutoFit/>
          </a:bodyPr>
          <a:lstStyle/>
          <a:p>
            <a:pPr fontAlgn="base">
              <a:spcBef>
                <a:spcPct val="0"/>
              </a:spcBef>
              <a:spcAft>
                <a:spcPct val="0"/>
              </a:spcAft>
            </a:pPr>
            <a:r>
              <a:rPr lang="en-GB" sz="1600" dirty="0">
                <a:solidFill>
                  <a:srgbClr val="000000"/>
                </a:solidFill>
              </a:rPr>
              <a:t>Find the size of the smallest angle in the following triangle.</a:t>
            </a:r>
          </a:p>
        </p:txBody>
      </p:sp>
      <p:sp>
        <p:nvSpPr>
          <p:cNvPr id="131" name="Rectangle 130">
            <a:extLst>
              <a:ext uri="{FF2B5EF4-FFF2-40B4-BE49-F238E27FC236}">
                <a16:creationId xmlns:a16="http://schemas.microsoft.com/office/drawing/2014/main" id="{EE731F89-C126-DE40-9B02-92CC30BC6FCD}"/>
              </a:ext>
            </a:extLst>
          </p:cNvPr>
          <p:cNvSpPr/>
          <p:nvPr/>
        </p:nvSpPr>
        <p:spPr>
          <a:xfrm rot="16200000">
            <a:off x="4454777" y="1452039"/>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66" name="Group 65">
            <a:extLst>
              <a:ext uri="{FF2B5EF4-FFF2-40B4-BE49-F238E27FC236}">
                <a16:creationId xmlns:a16="http://schemas.microsoft.com/office/drawing/2014/main" id="{B534D61F-C35F-D647-90FB-0403582DD228}"/>
              </a:ext>
            </a:extLst>
          </p:cNvPr>
          <p:cNvGrpSpPr/>
          <p:nvPr/>
        </p:nvGrpSpPr>
        <p:grpSpPr>
          <a:xfrm>
            <a:off x="1397076" y="1689998"/>
            <a:ext cx="1784914" cy="2591578"/>
            <a:chOff x="1397076" y="1689998"/>
            <a:chExt cx="1784914" cy="2591578"/>
          </a:xfrm>
        </p:grpSpPr>
        <p:grpSp>
          <p:nvGrpSpPr>
            <p:cNvPr id="61" name="Group 60">
              <a:extLst>
                <a:ext uri="{FF2B5EF4-FFF2-40B4-BE49-F238E27FC236}">
                  <a16:creationId xmlns:a16="http://schemas.microsoft.com/office/drawing/2014/main" id="{508EA4E9-01CC-5146-930D-B2D4307B6892}"/>
                </a:ext>
              </a:extLst>
            </p:cNvPr>
            <p:cNvGrpSpPr/>
            <p:nvPr/>
          </p:nvGrpSpPr>
          <p:grpSpPr>
            <a:xfrm>
              <a:off x="1549673" y="1689998"/>
              <a:ext cx="1632317" cy="2591578"/>
              <a:chOff x="1549673" y="1689998"/>
              <a:chExt cx="1632317" cy="2591578"/>
            </a:xfrm>
          </p:grpSpPr>
          <p:grpSp>
            <p:nvGrpSpPr>
              <p:cNvPr id="60" name="Group 59">
                <a:extLst>
                  <a:ext uri="{FF2B5EF4-FFF2-40B4-BE49-F238E27FC236}">
                    <a16:creationId xmlns:a16="http://schemas.microsoft.com/office/drawing/2014/main" id="{0CE107DE-EF61-604F-86C7-F11AC61A9DEA}"/>
                  </a:ext>
                </a:extLst>
              </p:cNvPr>
              <p:cNvGrpSpPr/>
              <p:nvPr/>
            </p:nvGrpSpPr>
            <p:grpSpPr>
              <a:xfrm>
                <a:off x="1549673" y="1689998"/>
                <a:ext cx="1632317" cy="2591578"/>
                <a:chOff x="1549673" y="1689998"/>
                <a:chExt cx="1632317" cy="2591578"/>
              </a:xfrm>
            </p:grpSpPr>
            <p:grpSp>
              <p:nvGrpSpPr>
                <p:cNvPr id="26" name="Group 25">
                  <a:extLst>
                    <a:ext uri="{FF2B5EF4-FFF2-40B4-BE49-F238E27FC236}">
                      <a16:creationId xmlns:a16="http://schemas.microsoft.com/office/drawing/2014/main" id="{C48282B2-47F5-FB48-8D8E-ECB953AC8E65}"/>
                    </a:ext>
                  </a:extLst>
                </p:cNvPr>
                <p:cNvGrpSpPr/>
                <p:nvPr/>
              </p:nvGrpSpPr>
              <p:grpSpPr>
                <a:xfrm>
                  <a:off x="1549673" y="1852594"/>
                  <a:ext cx="1632317" cy="2199291"/>
                  <a:chOff x="1549673" y="1852594"/>
                  <a:chExt cx="1632317" cy="2199291"/>
                </a:xfrm>
              </p:grpSpPr>
              <p:sp>
                <p:nvSpPr>
                  <p:cNvPr id="6" name="Diamond 5">
                    <a:extLst>
                      <a:ext uri="{FF2B5EF4-FFF2-40B4-BE49-F238E27FC236}">
                        <a16:creationId xmlns:a16="http://schemas.microsoft.com/office/drawing/2014/main" id="{C9CCD104-1292-7146-9842-87250FE0A62D}"/>
                      </a:ext>
                    </a:extLst>
                  </p:cNvPr>
                  <p:cNvSpPr/>
                  <p:nvPr/>
                </p:nvSpPr>
                <p:spPr>
                  <a:xfrm>
                    <a:off x="1549673" y="1852594"/>
                    <a:ext cx="1632317" cy="2199291"/>
                  </a:xfrm>
                  <a:custGeom>
                    <a:avLst/>
                    <a:gdLst>
                      <a:gd name="connsiteX0" fmla="*/ 0 w 1632317"/>
                      <a:gd name="connsiteY0" fmla="*/ 536647 h 1073294"/>
                      <a:gd name="connsiteX1" fmla="*/ 816159 w 1632317"/>
                      <a:gd name="connsiteY1" fmla="*/ 0 h 1073294"/>
                      <a:gd name="connsiteX2" fmla="*/ 1632317 w 1632317"/>
                      <a:gd name="connsiteY2" fmla="*/ 536647 h 1073294"/>
                      <a:gd name="connsiteX3" fmla="*/ 816159 w 1632317"/>
                      <a:gd name="connsiteY3" fmla="*/ 1073294 h 1073294"/>
                      <a:gd name="connsiteX4" fmla="*/ 0 w 1632317"/>
                      <a:gd name="connsiteY4" fmla="*/ 536647 h 1073294"/>
                      <a:gd name="connsiteX0" fmla="*/ 0 w 1632317"/>
                      <a:gd name="connsiteY0" fmla="*/ 536647 h 1466259"/>
                      <a:gd name="connsiteX1" fmla="*/ 816159 w 1632317"/>
                      <a:gd name="connsiteY1" fmla="*/ 0 h 1466259"/>
                      <a:gd name="connsiteX2" fmla="*/ 1632317 w 1632317"/>
                      <a:gd name="connsiteY2" fmla="*/ 536647 h 1466259"/>
                      <a:gd name="connsiteX3" fmla="*/ 823716 w 1632317"/>
                      <a:gd name="connsiteY3" fmla="*/ 1466259 h 1466259"/>
                      <a:gd name="connsiteX4" fmla="*/ 0 w 1632317"/>
                      <a:gd name="connsiteY4" fmla="*/ 536647 h 1466259"/>
                      <a:gd name="connsiteX0" fmla="*/ 0 w 1632317"/>
                      <a:gd name="connsiteY0" fmla="*/ 536647 h 2199291"/>
                      <a:gd name="connsiteX1" fmla="*/ 816159 w 1632317"/>
                      <a:gd name="connsiteY1" fmla="*/ 0 h 2199291"/>
                      <a:gd name="connsiteX2" fmla="*/ 1632317 w 1632317"/>
                      <a:gd name="connsiteY2" fmla="*/ 536647 h 2199291"/>
                      <a:gd name="connsiteX3" fmla="*/ 816159 w 1632317"/>
                      <a:gd name="connsiteY3" fmla="*/ 2199291 h 2199291"/>
                      <a:gd name="connsiteX4" fmla="*/ 0 w 1632317"/>
                      <a:gd name="connsiteY4" fmla="*/ 536647 h 2199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317" h="2199291">
                        <a:moveTo>
                          <a:pt x="0" y="536647"/>
                        </a:moveTo>
                        <a:lnTo>
                          <a:pt x="816159" y="0"/>
                        </a:lnTo>
                        <a:lnTo>
                          <a:pt x="1632317" y="536647"/>
                        </a:lnTo>
                        <a:lnTo>
                          <a:pt x="816159" y="2199291"/>
                        </a:lnTo>
                        <a:lnTo>
                          <a:pt x="0" y="536647"/>
                        </a:lnTo>
                        <a:close/>
                      </a:path>
                    </a:pathLst>
                  </a:custGeom>
                  <a:noFill/>
                  <a:ln w="1905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52CCFB28-3C83-D945-88DE-3D899ED36DA8}"/>
                      </a:ext>
                    </a:extLst>
                  </p:cNvPr>
                  <p:cNvCxnSpPr>
                    <a:cxnSpLocks/>
                  </p:cNvCxnSpPr>
                  <p:nvPr/>
                </p:nvCxnSpPr>
                <p:spPr>
                  <a:xfrm rot="5400000" flipV="1">
                    <a:off x="1925827" y="2082416"/>
                    <a:ext cx="84729" cy="5571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097D29A-00CE-CF46-B440-39504BBBC46D}"/>
                      </a:ext>
                    </a:extLst>
                  </p:cNvPr>
                  <p:cNvCxnSpPr>
                    <a:cxnSpLocks/>
                  </p:cNvCxnSpPr>
                  <p:nvPr/>
                </p:nvCxnSpPr>
                <p:spPr>
                  <a:xfrm rot="16200000">
                    <a:off x="1895276" y="3098272"/>
                    <a:ext cx="44305" cy="9025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AA6A57-92BA-3D41-B855-BB042F54D26B}"/>
                      </a:ext>
                    </a:extLst>
                  </p:cNvPr>
                  <p:cNvCxnSpPr>
                    <a:cxnSpLocks/>
                  </p:cNvCxnSpPr>
                  <p:nvPr/>
                </p:nvCxnSpPr>
                <p:spPr>
                  <a:xfrm rot="16200000">
                    <a:off x="1879402" y="3066522"/>
                    <a:ext cx="44305" cy="9025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2746CA6-0888-C449-AFE6-E3D740A8B0F3}"/>
                      </a:ext>
                    </a:extLst>
                  </p:cNvPr>
                  <p:cNvCxnSpPr>
                    <a:cxnSpLocks/>
                  </p:cNvCxnSpPr>
                  <p:nvPr/>
                </p:nvCxnSpPr>
                <p:spPr>
                  <a:xfrm rot="5400000" flipH="1">
                    <a:off x="2787452" y="3098272"/>
                    <a:ext cx="44305" cy="9025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0D1BBD7-0929-254E-99D4-8E9C80625491}"/>
                      </a:ext>
                    </a:extLst>
                  </p:cNvPr>
                  <p:cNvCxnSpPr>
                    <a:cxnSpLocks/>
                  </p:cNvCxnSpPr>
                  <p:nvPr/>
                </p:nvCxnSpPr>
                <p:spPr>
                  <a:xfrm rot="5400000" flipH="1">
                    <a:off x="2803328" y="3066522"/>
                    <a:ext cx="44305" cy="9025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075034A-3309-2F4F-96F1-0D3B7E44C548}"/>
                      </a:ext>
                    </a:extLst>
                  </p:cNvPr>
                  <p:cNvCxnSpPr>
                    <a:cxnSpLocks/>
                  </p:cNvCxnSpPr>
                  <p:nvPr/>
                </p:nvCxnSpPr>
                <p:spPr>
                  <a:xfrm rot="16200000" flipH="1" flipV="1">
                    <a:off x="2716403" y="2082417"/>
                    <a:ext cx="84729" cy="55716"/>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Arc 67">
                  <a:extLst>
                    <a:ext uri="{FF2B5EF4-FFF2-40B4-BE49-F238E27FC236}">
                      <a16:creationId xmlns:a16="http://schemas.microsoft.com/office/drawing/2014/main" id="{49A8645B-D9F6-594D-AFD3-F0C459690366}"/>
                    </a:ext>
                  </a:extLst>
                </p:cNvPr>
                <p:cNvSpPr>
                  <a:spLocks noChangeAspect="1"/>
                </p:cNvSpPr>
                <p:nvPr/>
              </p:nvSpPr>
              <p:spPr>
                <a:xfrm>
                  <a:off x="2188794" y="1689998"/>
                  <a:ext cx="354074" cy="354445"/>
                </a:xfrm>
                <a:prstGeom prst="arc">
                  <a:avLst>
                    <a:gd name="adj1" fmla="val 1915937"/>
                    <a:gd name="adj2" fmla="val 8968991"/>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sp>
              <p:nvSpPr>
                <p:cNvPr id="69" name="Arc 68">
                  <a:extLst>
                    <a:ext uri="{FF2B5EF4-FFF2-40B4-BE49-F238E27FC236}">
                      <a16:creationId xmlns:a16="http://schemas.microsoft.com/office/drawing/2014/main" id="{24A52297-6285-E242-BA6E-4C23991A496B}"/>
                    </a:ext>
                  </a:extLst>
                </p:cNvPr>
                <p:cNvSpPr>
                  <a:spLocks noChangeAspect="1"/>
                </p:cNvSpPr>
                <p:nvPr/>
              </p:nvSpPr>
              <p:spPr>
                <a:xfrm>
                  <a:off x="2130195" y="3809809"/>
                  <a:ext cx="471272" cy="471767"/>
                </a:xfrm>
                <a:prstGeom prst="arc">
                  <a:avLst>
                    <a:gd name="adj1" fmla="val 14608111"/>
                    <a:gd name="adj2" fmla="val 17684531"/>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71" name="Text Box 30">
                    <a:extLst>
                      <a:ext uri="{FF2B5EF4-FFF2-40B4-BE49-F238E27FC236}">
                        <a16:creationId xmlns:a16="http://schemas.microsoft.com/office/drawing/2014/main" id="{0072F3DD-9DDD-734A-A9B8-9BF46E81F850}"/>
                      </a:ext>
                    </a:extLst>
                  </p:cNvPr>
                  <p:cNvSpPr txBox="1">
                    <a:spLocks noChangeArrowheads="1"/>
                  </p:cNvSpPr>
                  <p:nvPr/>
                </p:nvSpPr>
                <p:spPr bwMode="auto">
                  <a:xfrm>
                    <a:off x="2290084" y="3582797"/>
                    <a:ext cx="181973" cy="2255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i="1" dirty="0">
                            <a:latin typeface="Cambria Math" panose="02040503050406030204" pitchFamily="18" charset="0"/>
                            <a:cs typeface="Calibri" panose="020F0502020204030204" pitchFamily="34" charset="0"/>
                          </a:rPr>
                          <m:t>𝜃</m:t>
                        </m:r>
                      </m:oMath>
                    </a14:m>
                    <a:r>
                      <a:rPr lang="en-GB" altLang="en-US" sz="1500" baseline="30000" dirty="0">
                        <a:latin typeface="Calibri" panose="020F0502020204030204" pitchFamily="34" charset="0"/>
                        <a:cs typeface="Calibri" panose="020F0502020204030204" pitchFamily="34" charset="0"/>
                      </a:rPr>
                      <a:t>o</a:t>
                    </a:r>
                  </a:p>
                </p:txBody>
              </p:sp>
            </mc:Choice>
            <mc:Fallback xmlns="">
              <p:sp>
                <p:nvSpPr>
                  <p:cNvPr id="71" name="Text Box 30">
                    <a:extLst>
                      <a:ext uri="{FF2B5EF4-FFF2-40B4-BE49-F238E27FC236}">
                        <a16:creationId xmlns:a16="http://schemas.microsoft.com/office/drawing/2014/main" id="{0072F3DD-9DDD-734A-A9B8-9BF46E81F850}"/>
                      </a:ext>
                    </a:extLst>
                  </p:cNvPr>
                  <p:cNvSpPr txBox="1">
                    <a:spLocks noRot="1" noChangeAspect="1" noMove="1" noResize="1" noEditPoints="1" noAdjustHandles="1" noChangeArrowheads="1" noChangeShapeType="1" noTextEdit="1"/>
                  </p:cNvSpPr>
                  <p:nvPr/>
                </p:nvSpPr>
                <p:spPr bwMode="auto">
                  <a:xfrm>
                    <a:off x="2290084" y="3582797"/>
                    <a:ext cx="181973" cy="225511"/>
                  </a:xfrm>
                  <a:prstGeom prst="rect">
                    <a:avLst/>
                  </a:prstGeom>
                  <a:blipFill>
                    <a:blip r:embed="rId4"/>
                    <a:stretch>
                      <a:fillRect l="-33333" t="-10526" r="-33333" b="-5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sp>
            <p:nvSpPr>
              <p:cNvPr id="75" name="Text Box 30">
                <a:extLst>
                  <a:ext uri="{FF2B5EF4-FFF2-40B4-BE49-F238E27FC236}">
                    <a16:creationId xmlns:a16="http://schemas.microsoft.com/office/drawing/2014/main" id="{1484C63E-CAB0-4D42-99F3-204F16D10BC4}"/>
                  </a:ext>
                </a:extLst>
              </p:cNvPr>
              <p:cNvSpPr txBox="1">
                <a:spLocks noChangeArrowheads="1"/>
              </p:cNvSpPr>
              <p:nvPr/>
            </p:nvSpPr>
            <p:spPr bwMode="auto">
              <a:xfrm>
                <a:off x="2187016" y="2048516"/>
                <a:ext cx="36067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114</a:t>
                </a:r>
                <a:r>
                  <a:rPr lang="en-GB" altLang="en-US" sz="1500" baseline="30000" dirty="0">
                    <a:latin typeface="Calibri" panose="020F0502020204030204" pitchFamily="34" charset="0"/>
                    <a:cs typeface="Calibri" panose="020F0502020204030204" pitchFamily="34" charset="0"/>
                  </a:rPr>
                  <a:t>o</a:t>
                </a:r>
              </a:p>
            </p:txBody>
          </p:sp>
        </p:grpSp>
        <p:sp>
          <p:nvSpPr>
            <p:cNvPr id="73" name="Text Box 30">
              <a:extLst>
                <a:ext uri="{FF2B5EF4-FFF2-40B4-BE49-F238E27FC236}">
                  <a16:creationId xmlns:a16="http://schemas.microsoft.com/office/drawing/2014/main" id="{DADB3A87-0DAB-DE41-A6FD-4A67912B7186}"/>
                </a:ext>
              </a:extLst>
            </p:cNvPr>
            <p:cNvSpPr txBox="1">
              <a:spLocks noChangeArrowheads="1"/>
            </p:cNvSpPr>
            <p:nvPr/>
          </p:nvSpPr>
          <p:spPr bwMode="auto">
            <a:xfrm>
              <a:off x="1397076" y="3071814"/>
              <a:ext cx="43120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15cm</a:t>
              </a:r>
              <a:endParaRPr lang="en-GB" altLang="en-US" sz="1500" baseline="30000" dirty="0">
                <a:latin typeface="Calibri" panose="020F0502020204030204" pitchFamily="34" charset="0"/>
                <a:cs typeface="Calibri" panose="020F0502020204030204" pitchFamily="34" charset="0"/>
              </a:endParaRPr>
            </a:p>
          </p:txBody>
        </p:sp>
        <p:sp>
          <p:nvSpPr>
            <p:cNvPr id="74" name="Text Box 30">
              <a:extLst>
                <a:ext uri="{FF2B5EF4-FFF2-40B4-BE49-F238E27FC236}">
                  <a16:creationId xmlns:a16="http://schemas.microsoft.com/office/drawing/2014/main" id="{4CD76C91-A645-E744-B1F2-B39A3AE7692D}"/>
                </a:ext>
              </a:extLst>
            </p:cNvPr>
            <p:cNvSpPr txBox="1">
              <a:spLocks noChangeArrowheads="1"/>
            </p:cNvSpPr>
            <p:nvPr/>
          </p:nvSpPr>
          <p:spPr bwMode="auto">
            <a:xfrm>
              <a:off x="2819817" y="1909107"/>
              <a:ext cx="33342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7cm</a:t>
              </a:r>
              <a:endParaRPr lang="en-GB" altLang="en-US" sz="1500" baseline="30000" dirty="0">
                <a:latin typeface="Calibri" panose="020F0502020204030204" pitchFamily="34" charset="0"/>
                <a:cs typeface="Calibri" panose="020F0502020204030204" pitchFamily="34" charset="0"/>
              </a:endParaRPr>
            </a:p>
          </p:txBody>
        </p:sp>
      </p:grpSp>
      <p:sp>
        <p:nvSpPr>
          <p:cNvPr id="76" name="TextBox 75">
            <a:extLst>
              <a:ext uri="{FF2B5EF4-FFF2-40B4-BE49-F238E27FC236}">
                <a16:creationId xmlns:a16="http://schemas.microsoft.com/office/drawing/2014/main" id="{F6D5B22C-44DE-454E-96EB-FFBD31989368}"/>
              </a:ext>
            </a:extLst>
          </p:cNvPr>
          <p:cNvSpPr txBox="1"/>
          <p:nvPr/>
        </p:nvSpPr>
        <p:spPr>
          <a:xfrm>
            <a:off x="2074304" y="3312162"/>
            <a:ext cx="583053" cy="251817"/>
          </a:xfrm>
          <a:prstGeom prst="rect">
            <a:avLst/>
          </a:prstGeom>
          <a:solidFill>
            <a:schemeClr val="accent3"/>
          </a:solidFill>
          <a:ln>
            <a:noFill/>
          </a:ln>
        </p:spPr>
        <p:txBody>
          <a:bodyPr wrap="square" lIns="0" tIns="0" rIns="0" bIns="0" rtlCol="0" anchor="ctr">
            <a:spAutoFit/>
          </a:bodyPr>
          <a:lstStyle/>
          <a:p>
            <a:pPr algn="ctr"/>
            <a:r>
              <a:rPr lang="en-GB" sz="1800" b="1" dirty="0"/>
              <a:t>46.1</a:t>
            </a:r>
            <a:r>
              <a:rPr lang="en-GB" sz="1800" b="1" baseline="30000" dirty="0"/>
              <a:t>o</a:t>
            </a:r>
          </a:p>
        </p:txBody>
      </p:sp>
      <p:grpSp>
        <p:nvGrpSpPr>
          <p:cNvPr id="77" name="Group 76">
            <a:extLst>
              <a:ext uri="{FF2B5EF4-FFF2-40B4-BE49-F238E27FC236}">
                <a16:creationId xmlns:a16="http://schemas.microsoft.com/office/drawing/2014/main" id="{B3E11B75-30DF-9F48-8C91-C2CB1799BFB3}"/>
              </a:ext>
            </a:extLst>
          </p:cNvPr>
          <p:cNvGrpSpPr/>
          <p:nvPr/>
        </p:nvGrpSpPr>
        <p:grpSpPr>
          <a:xfrm rot="19800000">
            <a:off x="5613573" y="1660831"/>
            <a:ext cx="2542869" cy="3003081"/>
            <a:chOff x="5971234" y="1355983"/>
            <a:chExt cx="2797160" cy="2730070"/>
          </a:xfrm>
        </p:grpSpPr>
        <p:sp>
          <p:nvSpPr>
            <p:cNvPr id="82" name="Triangle 65">
              <a:extLst>
                <a:ext uri="{FF2B5EF4-FFF2-40B4-BE49-F238E27FC236}">
                  <a16:creationId xmlns:a16="http://schemas.microsoft.com/office/drawing/2014/main" id="{5E9A6000-2C76-F146-8FAA-15900C3516DB}"/>
                </a:ext>
              </a:extLst>
            </p:cNvPr>
            <p:cNvSpPr/>
            <p:nvPr/>
          </p:nvSpPr>
          <p:spPr>
            <a:xfrm>
              <a:off x="5971234" y="1355983"/>
              <a:ext cx="2365939" cy="2730070"/>
            </a:xfrm>
            <a:custGeom>
              <a:avLst/>
              <a:gdLst>
                <a:gd name="connsiteX0" fmla="*/ 0 w 2060428"/>
                <a:gd name="connsiteY0" fmla="*/ 1217390 h 1217390"/>
                <a:gd name="connsiteX1" fmla="*/ 841705 w 2060428"/>
                <a:gd name="connsiteY1" fmla="*/ 0 h 1217390"/>
                <a:gd name="connsiteX2" fmla="*/ 2060428 w 2060428"/>
                <a:gd name="connsiteY2" fmla="*/ 1217390 h 1217390"/>
                <a:gd name="connsiteX3" fmla="*/ 0 w 2060428"/>
                <a:gd name="connsiteY3" fmla="*/ 1217390 h 1217390"/>
                <a:gd name="connsiteX0" fmla="*/ 0 w 2154164"/>
                <a:gd name="connsiteY0" fmla="*/ 1217390 h 1816730"/>
                <a:gd name="connsiteX1" fmla="*/ 841705 w 2154164"/>
                <a:gd name="connsiteY1" fmla="*/ 0 h 1816730"/>
                <a:gd name="connsiteX2" fmla="*/ 2154164 w 2154164"/>
                <a:gd name="connsiteY2" fmla="*/ 1816730 h 1816730"/>
                <a:gd name="connsiteX3" fmla="*/ 0 w 2154164"/>
                <a:gd name="connsiteY3" fmla="*/ 1217390 h 1816730"/>
                <a:gd name="connsiteX0" fmla="*/ 0 w 2154164"/>
                <a:gd name="connsiteY0" fmla="*/ 1251550 h 1850890"/>
                <a:gd name="connsiteX1" fmla="*/ 1321205 w 2154164"/>
                <a:gd name="connsiteY1" fmla="*/ 0 h 1850890"/>
                <a:gd name="connsiteX2" fmla="*/ 2154164 w 2154164"/>
                <a:gd name="connsiteY2" fmla="*/ 1850890 h 1850890"/>
                <a:gd name="connsiteX3" fmla="*/ 0 w 2154164"/>
                <a:gd name="connsiteY3" fmla="*/ 1251550 h 1850890"/>
                <a:gd name="connsiteX0" fmla="*/ 0 w 1638659"/>
                <a:gd name="connsiteY0" fmla="*/ 1251550 h 3003083"/>
                <a:gd name="connsiteX1" fmla="*/ 1321205 w 1638659"/>
                <a:gd name="connsiteY1" fmla="*/ 0 h 3003083"/>
                <a:gd name="connsiteX2" fmla="*/ 1638659 w 1638659"/>
                <a:gd name="connsiteY2" fmla="*/ 3003083 h 3003083"/>
                <a:gd name="connsiteX3" fmla="*/ 0 w 1638659"/>
                <a:gd name="connsiteY3" fmla="*/ 1251550 h 3003083"/>
                <a:gd name="connsiteX0" fmla="*/ 0 w 2150850"/>
                <a:gd name="connsiteY0" fmla="*/ 1037865 h 3003083"/>
                <a:gd name="connsiteX1" fmla="*/ 1833396 w 2150850"/>
                <a:gd name="connsiteY1" fmla="*/ 0 h 3003083"/>
                <a:gd name="connsiteX2" fmla="*/ 2150850 w 2150850"/>
                <a:gd name="connsiteY2" fmla="*/ 3003083 h 3003083"/>
                <a:gd name="connsiteX3" fmla="*/ 0 w 2150850"/>
                <a:gd name="connsiteY3" fmla="*/ 1037865 h 3003083"/>
              </a:gdLst>
              <a:ahLst/>
              <a:cxnLst>
                <a:cxn ang="0">
                  <a:pos x="connsiteX0" y="connsiteY0"/>
                </a:cxn>
                <a:cxn ang="0">
                  <a:pos x="connsiteX1" y="connsiteY1"/>
                </a:cxn>
                <a:cxn ang="0">
                  <a:pos x="connsiteX2" y="connsiteY2"/>
                </a:cxn>
                <a:cxn ang="0">
                  <a:pos x="connsiteX3" y="connsiteY3"/>
                </a:cxn>
              </a:cxnLst>
              <a:rect l="l" t="t" r="r" b="b"/>
              <a:pathLst>
                <a:path w="2150850" h="3003083">
                  <a:moveTo>
                    <a:pt x="0" y="1037865"/>
                  </a:moveTo>
                  <a:lnTo>
                    <a:pt x="1833396" y="0"/>
                  </a:lnTo>
                  <a:lnTo>
                    <a:pt x="2150850" y="3003083"/>
                  </a:lnTo>
                  <a:lnTo>
                    <a:pt x="0" y="1037865"/>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80" name="Text Box 30">
              <a:extLst>
                <a:ext uri="{FF2B5EF4-FFF2-40B4-BE49-F238E27FC236}">
                  <a16:creationId xmlns:a16="http://schemas.microsoft.com/office/drawing/2014/main" id="{5AD40D23-78A2-114F-97EB-0B389B3B0411}"/>
                </a:ext>
              </a:extLst>
            </p:cNvPr>
            <p:cNvSpPr txBox="1">
              <a:spLocks noChangeArrowheads="1"/>
            </p:cNvSpPr>
            <p:nvPr/>
          </p:nvSpPr>
          <p:spPr bwMode="auto">
            <a:xfrm rot="1800000">
              <a:off x="8223532" y="2669623"/>
              <a:ext cx="544862" cy="20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28.4m</a:t>
              </a:r>
              <a:endParaRPr lang="en-GB" altLang="en-US" sz="1500" baseline="30000" dirty="0">
                <a:latin typeface="Calibri" panose="020F0502020204030204" pitchFamily="34" charset="0"/>
                <a:cs typeface="Calibri" panose="020F0502020204030204" pitchFamily="34" charset="0"/>
              </a:endParaRPr>
            </a:p>
          </p:txBody>
        </p:sp>
        <p:sp>
          <p:nvSpPr>
            <p:cNvPr id="81" name="Text Box 30">
              <a:extLst>
                <a:ext uri="{FF2B5EF4-FFF2-40B4-BE49-F238E27FC236}">
                  <a16:creationId xmlns:a16="http://schemas.microsoft.com/office/drawing/2014/main" id="{E5F3D850-18F9-D14B-B327-DEF10C621F91}"/>
                </a:ext>
              </a:extLst>
            </p:cNvPr>
            <p:cNvSpPr txBox="1">
              <a:spLocks noChangeArrowheads="1"/>
            </p:cNvSpPr>
            <p:nvPr/>
          </p:nvSpPr>
          <p:spPr bwMode="auto">
            <a:xfrm rot="1800000">
              <a:off x="6532555" y="3057512"/>
              <a:ext cx="634791" cy="20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27.5cm</a:t>
              </a:r>
              <a:endParaRPr lang="en-GB" altLang="en-US" sz="1500" baseline="30000" dirty="0">
                <a:latin typeface="Calibri" panose="020F0502020204030204" pitchFamily="34" charset="0"/>
                <a:cs typeface="Calibri" panose="020F0502020204030204" pitchFamily="34" charset="0"/>
              </a:endParaRPr>
            </a:p>
          </p:txBody>
        </p:sp>
        <p:sp>
          <p:nvSpPr>
            <p:cNvPr id="91" name="Text Box 30">
              <a:extLst>
                <a:ext uri="{FF2B5EF4-FFF2-40B4-BE49-F238E27FC236}">
                  <a16:creationId xmlns:a16="http://schemas.microsoft.com/office/drawing/2014/main" id="{149F44E8-EBD6-C94C-8003-85050C744481}"/>
                </a:ext>
              </a:extLst>
            </p:cNvPr>
            <p:cNvSpPr txBox="1">
              <a:spLocks noChangeArrowheads="1"/>
            </p:cNvSpPr>
            <p:nvPr/>
          </p:nvSpPr>
          <p:spPr bwMode="auto">
            <a:xfrm rot="1800000">
              <a:off x="6387997" y="1548050"/>
              <a:ext cx="544862" cy="20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19.6m</a:t>
              </a:r>
              <a:endParaRPr lang="en-GB" altLang="en-US" sz="1500" baseline="30000" dirty="0">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41CDC909-13C0-8D47-A1F8-1862260A0BC5}"/>
              </a:ext>
            </a:extLst>
          </p:cNvPr>
          <p:cNvGrpSpPr/>
          <p:nvPr/>
        </p:nvGrpSpPr>
        <p:grpSpPr>
          <a:xfrm>
            <a:off x="6369364" y="1331001"/>
            <a:ext cx="518401" cy="767051"/>
            <a:chOff x="6369364" y="1331001"/>
            <a:chExt cx="518401" cy="767051"/>
          </a:xfrm>
        </p:grpSpPr>
        <p:sp>
          <p:nvSpPr>
            <p:cNvPr id="84" name="Arc 83">
              <a:extLst>
                <a:ext uri="{FF2B5EF4-FFF2-40B4-BE49-F238E27FC236}">
                  <a16:creationId xmlns:a16="http://schemas.microsoft.com/office/drawing/2014/main" id="{D709E177-5ED9-6643-8316-ED5D66A778A2}"/>
                </a:ext>
              </a:extLst>
            </p:cNvPr>
            <p:cNvSpPr>
              <a:spLocks noChangeAspect="1"/>
            </p:cNvSpPr>
            <p:nvPr/>
          </p:nvSpPr>
          <p:spPr>
            <a:xfrm>
              <a:off x="6369364" y="1331001"/>
              <a:ext cx="518401" cy="518942"/>
            </a:xfrm>
            <a:prstGeom prst="arc">
              <a:avLst>
                <a:gd name="adj1" fmla="val 3280415"/>
                <a:gd name="adj2" fmla="val 731078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sp>
          <p:nvSpPr>
            <p:cNvPr id="85" name="Text Box 30">
              <a:extLst>
                <a:ext uri="{FF2B5EF4-FFF2-40B4-BE49-F238E27FC236}">
                  <a16:creationId xmlns:a16="http://schemas.microsoft.com/office/drawing/2014/main" id="{DAB99E49-F162-1444-AB13-BB0114A80363}"/>
                </a:ext>
              </a:extLst>
            </p:cNvPr>
            <p:cNvSpPr txBox="1">
              <a:spLocks noChangeArrowheads="1"/>
            </p:cNvSpPr>
            <p:nvPr/>
          </p:nvSpPr>
          <p:spPr bwMode="auto">
            <a:xfrm>
              <a:off x="6499327" y="1867220"/>
              <a:ext cx="26289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67</a:t>
              </a:r>
              <a:r>
                <a:rPr lang="en-GB" altLang="en-US" sz="1500" baseline="30000" dirty="0">
                  <a:latin typeface="Calibri" panose="020F0502020204030204" pitchFamily="34" charset="0"/>
                  <a:cs typeface="Calibri" panose="020F0502020204030204" pitchFamily="34" charset="0"/>
                </a:rPr>
                <a:t>o</a:t>
              </a:r>
            </a:p>
          </p:txBody>
        </p:sp>
      </p:grpSp>
      <p:grpSp>
        <p:nvGrpSpPr>
          <p:cNvPr id="64" name="Group 63">
            <a:extLst>
              <a:ext uri="{FF2B5EF4-FFF2-40B4-BE49-F238E27FC236}">
                <a16:creationId xmlns:a16="http://schemas.microsoft.com/office/drawing/2014/main" id="{88D96D3B-706B-3448-9A58-A3B1294946E8}"/>
              </a:ext>
            </a:extLst>
          </p:cNvPr>
          <p:cNvGrpSpPr/>
          <p:nvPr/>
        </p:nvGrpSpPr>
        <p:grpSpPr>
          <a:xfrm>
            <a:off x="5299516" y="3136806"/>
            <a:ext cx="799449" cy="523649"/>
            <a:chOff x="5299516" y="3136806"/>
            <a:chExt cx="799449" cy="523649"/>
          </a:xfrm>
        </p:grpSpPr>
        <p:sp>
          <p:nvSpPr>
            <p:cNvPr id="89" name="Arc 88">
              <a:extLst>
                <a:ext uri="{FF2B5EF4-FFF2-40B4-BE49-F238E27FC236}">
                  <a16:creationId xmlns:a16="http://schemas.microsoft.com/office/drawing/2014/main" id="{3BF44502-B291-D049-8C51-6294033A3171}"/>
                </a:ext>
              </a:extLst>
            </p:cNvPr>
            <p:cNvSpPr>
              <a:spLocks noChangeAspect="1"/>
            </p:cNvSpPr>
            <p:nvPr/>
          </p:nvSpPr>
          <p:spPr>
            <a:xfrm>
              <a:off x="5299516" y="3141513"/>
              <a:ext cx="518401" cy="518942"/>
            </a:xfrm>
            <a:prstGeom prst="arc">
              <a:avLst>
                <a:gd name="adj1" fmla="val 17946596"/>
                <a:gd name="adj2" fmla="val 715422"/>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sp>
          <p:nvSpPr>
            <p:cNvPr id="90" name="Text Box 30">
              <a:extLst>
                <a:ext uri="{FF2B5EF4-FFF2-40B4-BE49-F238E27FC236}">
                  <a16:creationId xmlns:a16="http://schemas.microsoft.com/office/drawing/2014/main" id="{BB646086-2CE9-2045-8E53-BF9B23ADD10B}"/>
                </a:ext>
              </a:extLst>
            </p:cNvPr>
            <p:cNvSpPr txBox="1">
              <a:spLocks noChangeArrowheads="1"/>
            </p:cNvSpPr>
            <p:nvPr/>
          </p:nvSpPr>
          <p:spPr bwMode="auto">
            <a:xfrm>
              <a:off x="5836073" y="3136806"/>
              <a:ext cx="26289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72</a:t>
              </a:r>
              <a:r>
                <a:rPr lang="en-GB" altLang="en-US" sz="1500" baseline="30000" dirty="0">
                  <a:latin typeface="Calibri" panose="020F0502020204030204" pitchFamily="34" charset="0"/>
                  <a:cs typeface="Calibri" panose="020F0502020204030204" pitchFamily="34" charset="0"/>
                </a:rPr>
                <a:t>o</a:t>
              </a:r>
            </a:p>
          </p:txBody>
        </p:sp>
      </p:grpSp>
      <p:grpSp>
        <p:nvGrpSpPr>
          <p:cNvPr id="63" name="Group 62">
            <a:extLst>
              <a:ext uri="{FF2B5EF4-FFF2-40B4-BE49-F238E27FC236}">
                <a16:creationId xmlns:a16="http://schemas.microsoft.com/office/drawing/2014/main" id="{CF0FDC46-25D6-1A48-B283-D5B7EE56BDDF}"/>
              </a:ext>
            </a:extLst>
          </p:cNvPr>
          <p:cNvGrpSpPr/>
          <p:nvPr/>
        </p:nvGrpSpPr>
        <p:grpSpPr>
          <a:xfrm>
            <a:off x="7884229" y="3681910"/>
            <a:ext cx="790383" cy="629495"/>
            <a:chOff x="7884229" y="3681910"/>
            <a:chExt cx="790383" cy="629495"/>
          </a:xfrm>
        </p:grpSpPr>
        <p:sp>
          <p:nvSpPr>
            <p:cNvPr id="92" name="Arc 91">
              <a:extLst>
                <a:ext uri="{FF2B5EF4-FFF2-40B4-BE49-F238E27FC236}">
                  <a16:creationId xmlns:a16="http://schemas.microsoft.com/office/drawing/2014/main" id="{6E439A5B-F774-484E-835A-A46233054975}"/>
                </a:ext>
              </a:extLst>
            </p:cNvPr>
            <p:cNvSpPr>
              <a:spLocks noChangeAspect="1"/>
            </p:cNvSpPr>
            <p:nvPr/>
          </p:nvSpPr>
          <p:spPr>
            <a:xfrm>
              <a:off x="8104371" y="3740569"/>
              <a:ext cx="570241" cy="570836"/>
            </a:xfrm>
            <a:prstGeom prst="arc">
              <a:avLst>
                <a:gd name="adj1" fmla="val 11592406"/>
                <a:gd name="adj2" fmla="val 14165658"/>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sp>
          <p:nvSpPr>
            <p:cNvPr id="93" name="Text Box 30">
              <a:extLst>
                <a:ext uri="{FF2B5EF4-FFF2-40B4-BE49-F238E27FC236}">
                  <a16:creationId xmlns:a16="http://schemas.microsoft.com/office/drawing/2014/main" id="{3DFCB9DE-BCE5-B04D-A88A-E4B2BAB7F667}"/>
                </a:ext>
              </a:extLst>
            </p:cNvPr>
            <p:cNvSpPr txBox="1">
              <a:spLocks noChangeArrowheads="1"/>
            </p:cNvSpPr>
            <p:nvPr/>
          </p:nvSpPr>
          <p:spPr bwMode="auto">
            <a:xfrm>
              <a:off x="7884229" y="3681910"/>
              <a:ext cx="26289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41</a:t>
              </a:r>
              <a:r>
                <a:rPr lang="en-GB" altLang="en-US" sz="1500" baseline="30000" dirty="0">
                  <a:latin typeface="Calibri" panose="020F0502020204030204" pitchFamily="34" charset="0"/>
                  <a:cs typeface="Calibri" panose="020F0502020204030204" pitchFamily="34" charset="0"/>
                </a:rPr>
                <a:t>o</a:t>
              </a:r>
            </a:p>
          </p:txBody>
        </p:sp>
      </p:grpSp>
    </p:spTree>
    <p:extLst>
      <p:ext uri="{BB962C8B-B14F-4D97-AF65-F5344CB8AC3E}">
        <p14:creationId xmlns:p14="http://schemas.microsoft.com/office/powerpoint/2010/main" val="165496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dissolv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par>
                                <p:cTn id="13" presetID="9" presetClass="entr" presetSubtype="0" fill="hold" nodeType="with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dissolve">
                                      <p:cBhvr>
                                        <p:cTn id="15" dur="500"/>
                                        <p:tgtEl>
                                          <p:spTgt spid="63"/>
                                        </p:tgtEl>
                                      </p:cBhvr>
                                    </p:animEffect>
                                  </p:childTnLst>
                                </p:cTn>
                              </p:par>
                              <p:par>
                                <p:cTn id="16" presetID="9" presetClass="entr" presetSubtype="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dissolve">
                                      <p:cBhvr>
                                        <p:cTn id="18" dur="500"/>
                                        <p:tgtEl>
                                          <p:spTgt spid="6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dissolve">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76" grpId="0" animBg="1"/>
    </p:bldLst>
  </p:timing>
</p:sld>
</file>

<file path=ppt/theme/theme1.xml><?xml version="1.0" encoding="utf-8"?>
<a:theme xmlns:a="http://schemas.openxmlformats.org/drawingml/2006/main" name="Office Theme">
  <a:themeElements>
    <a:clrScheme name="CP3">
      <a:dk1>
        <a:srgbClr val="000000"/>
      </a:dk1>
      <a:lt1>
        <a:srgbClr val="FFFFFF"/>
      </a:lt1>
      <a:dk2>
        <a:srgbClr val="000000"/>
      </a:dk2>
      <a:lt2>
        <a:srgbClr val="FEFFFF"/>
      </a:lt2>
      <a:accent1>
        <a:srgbClr val="75D5FF"/>
      </a:accent1>
      <a:accent2>
        <a:srgbClr val="72FA78"/>
      </a:accent2>
      <a:accent3>
        <a:srgbClr val="FEFC78"/>
      </a:accent3>
      <a:accent4>
        <a:srgbClr val="FFD478"/>
      </a:accent4>
      <a:accent5>
        <a:srgbClr val="FF7D78"/>
      </a:accent5>
      <a:accent6>
        <a:srgbClr val="D783FF"/>
      </a:accent6>
      <a:hlink>
        <a:srgbClr val="0096FF"/>
      </a:hlink>
      <a:folHlink>
        <a:srgbClr val="FF26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5661</TotalTime>
  <Words>457</Words>
  <Application>Microsoft Office PowerPoint</Application>
  <PresentationFormat>On-screen Show (16:9)</PresentationFormat>
  <Paragraphs>145</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CP3</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Cosine Rule</dc:title>
  <dc:subject>Mathematics</dc:subject>
  <dc:creator>CP3</dc:creator>
  <cp:keywords/>
  <dc:description/>
  <cp:lastModifiedBy>Cian Lyons</cp:lastModifiedBy>
  <cp:revision>1478</cp:revision>
  <dcterms:created xsi:type="dcterms:W3CDTF">2018-09-23T11:32:36Z</dcterms:created>
  <dcterms:modified xsi:type="dcterms:W3CDTF">2020-04-25T16:56:13Z</dcterms:modified>
  <cp:category/>
</cp:coreProperties>
</file>