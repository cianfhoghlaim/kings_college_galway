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87" r:id="rId2"/>
    <p:sldId id="256" r:id="rId3"/>
    <p:sldId id="257" r:id="rId4"/>
    <p:sldId id="258" r:id="rId5"/>
    <p:sldId id="259" r:id="rId6"/>
    <p:sldId id="263" r:id="rId7"/>
    <p:sldId id="264" r:id="rId8"/>
    <p:sldId id="265" r:id="rId9"/>
    <p:sldId id="260" r:id="rId10"/>
    <p:sldId id="261" r:id="rId11"/>
    <p:sldId id="262" r:id="rId12"/>
    <p:sldId id="266" r:id="rId13"/>
    <p:sldId id="267" r:id="rId14"/>
    <p:sldId id="281" r:id="rId15"/>
    <p:sldId id="282" r:id="rId16"/>
    <p:sldId id="283" r:id="rId17"/>
    <p:sldId id="285" r:id="rId18"/>
    <p:sldId id="286" r:id="rId19"/>
  </p:sldIdLst>
  <p:sldSz cx="12190413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20" y="30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F138CF-8515-44D4-A656-CD0E98818BE6}" type="datetimeFigureOut">
              <a:rPr lang="en-GB" smtClean="0"/>
              <a:t>24/04/2020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B16150-2CAE-47F0-A80F-687B3266A0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15607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B16150-2CAE-47F0-A80F-687B3266A091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17850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B16150-2CAE-47F0-A80F-687B3266A091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22581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B16150-2CAE-47F0-A80F-687B3266A091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25229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B16150-2CAE-47F0-A80F-687B3266A091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25229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B16150-2CAE-47F0-A80F-687B3266A091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22581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B16150-2CAE-47F0-A80F-687B3266A091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22581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B16150-2CAE-47F0-A80F-687B3266A091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22581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B16150-2CAE-47F0-A80F-687B3266A091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17850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B16150-2CAE-47F0-A80F-687B3266A091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17850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B16150-2CAE-47F0-A80F-687B3266A091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45600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281" y="2130427"/>
            <a:ext cx="10361851" cy="938534"/>
          </a:xfrm>
        </p:spPr>
        <p:txBody>
          <a:bodyPr/>
          <a:lstStyle>
            <a:lvl1pPr>
              <a:defRPr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Lesson Title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828562" y="3166120"/>
            <a:ext cx="8533289" cy="694928"/>
          </a:xfrm>
        </p:spPr>
        <p:txBody>
          <a:bodyPr>
            <a:normAutofit/>
          </a:bodyPr>
          <a:lstStyle>
            <a:lvl1pPr marL="0" indent="0" algn="ctr">
              <a:buNone/>
              <a:defRPr sz="3600" b="1">
                <a:solidFill>
                  <a:srgbClr val="00B05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Subtitle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62558" y="332656"/>
            <a:ext cx="4896544" cy="365125"/>
          </a:xfrm>
        </p:spPr>
        <p:txBody>
          <a:bodyPr/>
          <a:lstStyle>
            <a:lvl1pPr>
              <a:defRPr sz="2800"/>
            </a:lvl1pPr>
          </a:lstStyle>
          <a:p>
            <a:fld id="{C584E384-4DE3-47FA-AB97-65249CC4AC27}" type="datetime2">
              <a:rPr lang="en-GB" smtClean="0"/>
              <a:pPr/>
              <a:t>Friday, 24 April 2020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58054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375126" y="44624"/>
            <a:ext cx="6061751" cy="1143000"/>
          </a:xfrm>
        </p:spPr>
        <p:txBody>
          <a:bodyPr/>
          <a:lstStyle>
            <a:lvl1pPr algn="r">
              <a:defRPr>
                <a:solidFill>
                  <a:srgbClr val="00B050"/>
                </a:solidFill>
              </a:defRPr>
            </a:lvl1pPr>
          </a:lstStyle>
          <a:p>
            <a:r>
              <a:rPr lang="en-US" dirty="0"/>
              <a:t>Lesson Title</a:t>
            </a:r>
            <a:endParaRPr lang="en-GB" dirty="0"/>
          </a:p>
        </p:txBody>
      </p:sp>
      <p:sp>
        <p:nvSpPr>
          <p:cNvPr id="7" name="Date Placeholder 3"/>
          <p:cNvSpPr txBox="1">
            <a:spLocks/>
          </p:cNvSpPr>
          <p:nvPr userDrawn="1"/>
        </p:nvSpPr>
        <p:spPr>
          <a:xfrm>
            <a:off x="262558" y="332656"/>
            <a:ext cx="48965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584E384-4DE3-47FA-AB97-65249CC4AC27}" type="datetime2">
              <a:rPr lang="en-GB" smtClean="0"/>
              <a:pPr/>
              <a:t>Friday, 24 April 2020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73001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21" y="274638"/>
            <a:ext cx="10971372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21" y="1600201"/>
            <a:ext cx="10971372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21" y="6356351"/>
            <a:ext cx="284443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FABEBC-D925-49BD-9388-11E7984E8EEB}" type="datetimeFigureOut">
              <a:rPr lang="en-GB" smtClean="0"/>
              <a:t>24/04/2020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058" y="6356351"/>
            <a:ext cx="386029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6463" y="6356351"/>
            <a:ext cx="284443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52B2DF-95B7-4A93-9DD9-C0B623699D3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9880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9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9.jpeg"/><Relationship Id="rId7" Type="http://schemas.openxmlformats.org/officeDocument/2006/relationships/image" Target="../media/image2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9.jpeg"/><Relationship Id="rId7" Type="http://schemas.openxmlformats.org/officeDocument/2006/relationships/image" Target="../media/image4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25.png"/><Relationship Id="rId9" Type="http://schemas.openxmlformats.org/officeDocument/2006/relationships/image" Target="../media/image4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3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11" Type="http://schemas.openxmlformats.org/officeDocument/2006/relationships/image" Target="../media/image61.png"/><Relationship Id="rId5" Type="http://schemas.openxmlformats.org/officeDocument/2006/relationships/image" Target="../media/image57.png"/><Relationship Id="rId10" Type="http://schemas.openxmlformats.org/officeDocument/2006/relationships/image" Target="../media/image60.png"/><Relationship Id="rId4" Type="http://schemas.openxmlformats.org/officeDocument/2006/relationships/image" Target="../media/image56.png"/><Relationship Id="rId9" Type="http://schemas.openxmlformats.org/officeDocument/2006/relationships/image" Target="../media/image5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79E18-246C-4D1B-A767-1FFB38EE3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Triangles in </a:t>
            </a:r>
            <a:r>
              <a:rPr lang="en-GB"/>
              <a:t>Real Life</a:t>
            </a:r>
            <a:endParaRPr lang="ga-IE" dirty="0"/>
          </a:p>
        </p:txBody>
      </p:sp>
      <p:pic>
        <p:nvPicPr>
          <p:cNvPr id="1026" name="Picture 2" descr="Angle of Elevation and find Height &amp; Distance at Algebra Den">
            <a:extLst>
              <a:ext uri="{FF2B5EF4-FFF2-40B4-BE49-F238E27FC236}">
                <a16:creationId xmlns:a16="http://schemas.microsoft.com/office/drawing/2014/main" id="{93A1BFC3-45A7-42F8-9B9C-B9ACE27353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7587" y="1844824"/>
            <a:ext cx="5275238" cy="439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67331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-25474" y="2299595"/>
            <a:ext cx="10361851" cy="938534"/>
          </a:xfrm>
        </p:spPr>
        <p:txBody>
          <a:bodyPr>
            <a:normAutofit/>
          </a:bodyPr>
          <a:lstStyle/>
          <a:p>
            <a:r>
              <a:rPr lang="en-GB" sz="3600" b="1" dirty="0"/>
              <a:t>Trigonometry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888807" y="3094112"/>
            <a:ext cx="8533289" cy="694928"/>
          </a:xfrm>
        </p:spPr>
        <p:txBody>
          <a:bodyPr/>
          <a:lstStyle/>
          <a:p>
            <a:r>
              <a:rPr lang="en-GB" dirty="0"/>
              <a:t>SOH-CAH-TOA</a:t>
            </a:r>
          </a:p>
        </p:txBody>
      </p:sp>
      <p:pic>
        <p:nvPicPr>
          <p:cNvPr id="13" name="Picture 12"/>
          <p:cNvPicPr/>
          <p:nvPr/>
        </p:nvPicPr>
        <p:blipFill rotWithShape="1"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l="77375" t="20730" r="-502" b="17489"/>
          <a:stretch/>
        </p:blipFill>
        <p:spPr bwMode="auto">
          <a:xfrm rot="20715863">
            <a:off x="9515884" y="5385684"/>
            <a:ext cx="1641928" cy="10639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4151304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7535366" y="260648"/>
            <a:ext cx="3744416" cy="72008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Labelling Triangles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10830" y="1262687"/>
            <a:ext cx="6552728" cy="72008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Before we even consider using trigonometry to solve problems, we need to know how to label right-angled triangles.</a:t>
            </a:r>
          </a:p>
        </p:txBody>
      </p:sp>
      <p:grpSp>
        <p:nvGrpSpPr>
          <p:cNvPr id="5" name="Group 20"/>
          <p:cNvGrpSpPr>
            <a:grpSpLocks/>
          </p:cNvGrpSpPr>
          <p:nvPr/>
        </p:nvGrpSpPr>
        <p:grpSpPr bwMode="auto">
          <a:xfrm>
            <a:off x="4441851" y="2564904"/>
            <a:ext cx="2455154" cy="2664296"/>
            <a:chOff x="1746" y="709"/>
            <a:chExt cx="1407" cy="2359"/>
          </a:xfrm>
        </p:grpSpPr>
        <p:grpSp>
          <p:nvGrpSpPr>
            <p:cNvPr id="6" name="Group 13"/>
            <p:cNvGrpSpPr>
              <a:grpSpLocks/>
            </p:cNvGrpSpPr>
            <p:nvPr/>
          </p:nvGrpSpPr>
          <p:grpSpPr bwMode="auto">
            <a:xfrm>
              <a:off x="1746" y="709"/>
              <a:ext cx="1407" cy="2359"/>
              <a:chOff x="1655" y="1026"/>
              <a:chExt cx="1407" cy="2359"/>
            </a:xfrm>
          </p:grpSpPr>
          <p:sp>
            <p:nvSpPr>
              <p:cNvPr id="9" name="AutoShape 3"/>
              <p:cNvSpPr>
                <a:spLocks noChangeArrowheads="1"/>
              </p:cNvSpPr>
              <p:nvPr/>
            </p:nvSpPr>
            <p:spPr bwMode="auto">
              <a:xfrm rot="16200000">
                <a:off x="1179" y="1502"/>
                <a:ext cx="2359" cy="1407"/>
              </a:xfrm>
              <a:prstGeom prst="rtTriangle">
                <a:avLst/>
              </a:prstGeom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eaVert" wrap="none" anchor="ctr"/>
              <a:lstStyle/>
              <a:p>
                <a:pPr algn="ctr"/>
                <a:endParaRPr lang="en-US" sz="2000">
                  <a:solidFill>
                    <a:srgbClr val="FF9933"/>
                  </a:solidFill>
                  <a:latin typeface="Comic Sans MS" pitchFamily="66" charset="0"/>
                </a:endParaRPr>
              </a:p>
            </p:txBody>
          </p:sp>
          <p:sp>
            <p:nvSpPr>
              <p:cNvPr id="10" name="Arc 8"/>
              <p:cNvSpPr>
                <a:spLocks/>
              </p:cNvSpPr>
              <p:nvPr/>
            </p:nvSpPr>
            <p:spPr bwMode="auto">
              <a:xfrm>
                <a:off x="1882" y="2976"/>
                <a:ext cx="318" cy="409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endParaRPr lang="en-GB" sz="2000">
                  <a:latin typeface="Comic Sans MS" pitchFamily="66" charset="0"/>
                </a:endParaRPr>
              </a:p>
            </p:txBody>
          </p:sp>
        </p:grpSp>
        <p:sp>
          <p:nvSpPr>
            <p:cNvPr id="7" name="Line 18"/>
            <p:cNvSpPr>
              <a:spLocks noChangeShapeType="1"/>
            </p:cNvSpPr>
            <p:nvPr/>
          </p:nvSpPr>
          <p:spPr bwMode="auto">
            <a:xfrm flipV="1">
              <a:off x="2880" y="2750"/>
              <a:ext cx="0" cy="317"/>
            </a:xfrm>
            <a:prstGeom prst="line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en-GB" sz="2000">
                <a:latin typeface="Comic Sans MS" pitchFamily="66" charset="0"/>
              </a:endParaRPr>
            </a:p>
          </p:txBody>
        </p:sp>
        <p:sp>
          <p:nvSpPr>
            <p:cNvPr id="8" name="Line 19"/>
            <p:cNvSpPr>
              <a:spLocks noChangeShapeType="1"/>
            </p:cNvSpPr>
            <p:nvPr/>
          </p:nvSpPr>
          <p:spPr bwMode="auto">
            <a:xfrm>
              <a:off x="2880" y="2750"/>
              <a:ext cx="272" cy="0"/>
            </a:xfrm>
            <a:prstGeom prst="line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en-GB" sz="2000">
                <a:latin typeface="Comic Sans MS" pitchFamily="66" charset="0"/>
              </a:endParaRPr>
            </a:p>
          </p:txBody>
        </p:sp>
      </p:grpSp>
      <p:pic>
        <p:nvPicPr>
          <p:cNvPr id="11" name="Picture 4" descr="http://vector-magz.com/wp-content/uploads/2013/09/curved-arrow-clip-art3-300x131.png"/>
          <p:cNvPicPr>
            <a:picLocks noChangeAspect="1" noChangeArrowheads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2262935" flipH="1" flipV="1">
            <a:off x="3822032" y="2502666"/>
            <a:ext cx="1485448" cy="648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/>
          <p:cNvSpPr/>
          <p:nvPr/>
        </p:nvSpPr>
        <p:spPr>
          <a:xfrm>
            <a:off x="491669" y="2274647"/>
            <a:ext cx="3756773" cy="62843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/>
              <a:t>This is the </a:t>
            </a:r>
            <a:r>
              <a:rPr lang="en-GB" sz="1600" b="1" dirty="0"/>
              <a:t>hypotenuse.</a:t>
            </a:r>
            <a:r>
              <a:rPr lang="en-GB" sz="1600" dirty="0"/>
              <a:t> It is the longest side and always opposite  the right angle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39701" y="3484920"/>
            <a:ext cx="507883" cy="53650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/>
              <a:t>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27483" y="3764436"/>
            <a:ext cx="507883" cy="53650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/>
              <a:t>O</a:t>
            </a:r>
          </a:p>
        </p:txBody>
      </p:sp>
      <p:pic>
        <p:nvPicPr>
          <p:cNvPr id="15" name="Picture 4" descr="http://vector-magz.com/wp-content/uploads/2013/09/curved-arrow-clip-art3-300x131.png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166482" flipH="1" flipV="1">
            <a:off x="7611414" y="3286727"/>
            <a:ext cx="1485448" cy="648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 15"/>
          <p:cNvSpPr/>
          <p:nvPr/>
        </p:nvSpPr>
        <p:spPr>
          <a:xfrm>
            <a:off x="7967415" y="2512774"/>
            <a:ext cx="3024336" cy="62843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/>
              <a:t>This is called the </a:t>
            </a:r>
            <a:r>
              <a:rPr lang="en-GB" sz="1600" b="1" dirty="0"/>
              <a:t>opposite.</a:t>
            </a:r>
            <a:r>
              <a:rPr lang="en-GB" sz="1600" dirty="0"/>
              <a:t> It is opposite the labelled angle.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15486" y="5400791"/>
            <a:ext cx="507883" cy="53650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/>
              <a:t>A</a:t>
            </a:r>
          </a:p>
        </p:txBody>
      </p:sp>
      <p:pic>
        <p:nvPicPr>
          <p:cNvPr id="18" name="Picture 4" descr="http://vector-magz.com/wp-content/uploads/2013/09/curved-arrow-clip-art3-300x131.png"/>
          <p:cNvPicPr>
            <a:picLocks noChangeAspect="1" noChangeArrowheads="1"/>
          </p:cNvPicPr>
          <p:nvPr/>
        </p:nvPicPr>
        <p:blipFill rotWithShape="1"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735" t="-7852" b="-1"/>
          <a:stretch/>
        </p:blipFill>
        <p:spPr bwMode="auto">
          <a:xfrm flipH="1" flipV="1">
            <a:off x="6013698" y="5715842"/>
            <a:ext cx="984328" cy="699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angle 18"/>
          <p:cNvSpPr/>
          <p:nvPr/>
        </p:nvSpPr>
        <p:spPr>
          <a:xfrm>
            <a:off x="6895260" y="5751418"/>
            <a:ext cx="3024336" cy="62843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/>
              <a:t>The is called the </a:t>
            </a:r>
            <a:r>
              <a:rPr lang="en-GB" sz="1600" b="1" dirty="0"/>
              <a:t>adjacent.</a:t>
            </a:r>
            <a:r>
              <a:rPr lang="en-GB" sz="1600" dirty="0"/>
              <a:t> It is next to the angle.</a:t>
            </a:r>
          </a:p>
        </p:txBody>
      </p:sp>
    </p:spTree>
    <p:extLst>
      <p:ext uri="{BB962C8B-B14F-4D97-AF65-F5344CB8AC3E}">
        <p14:creationId xmlns:p14="http://schemas.microsoft.com/office/powerpoint/2010/main" val="804088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6" grpId="0" animBg="1"/>
      <p:bldP spid="17" grpId="0" animBg="1"/>
      <p:bldP spid="1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/>
          <p:cNvPicPr/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390042" y="1009898"/>
            <a:ext cx="10009112" cy="51125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/>
          <p:cNvSpPr/>
          <p:nvPr/>
        </p:nvSpPr>
        <p:spPr>
          <a:xfrm>
            <a:off x="7535366" y="260648"/>
            <a:ext cx="3744416" cy="72008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/>
              <a:t>Label the following triangles…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6774" y="2564904"/>
            <a:ext cx="466145" cy="5301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2838" y="1700808"/>
            <a:ext cx="474008" cy="5301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6106" y="1473637"/>
            <a:ext cx="457159" cy="5301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8248" y="2299819"/>
            <a:ext cx="466145" cy="5301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4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0130" y="1225333"/>
            <a:ext cx="474008" cy="5301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5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4966" y="2003807"/>
            <a:ext cx="457159" cy="5301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3157" y="2034734"/>
            <a:ext cx="466145" cy="5301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8277" y="2189403"/>
            <a:ext cx="474008" cy="5301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5841" y="2955155"/>
            <a:ext cx="457159" cy="5301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31221" y="1924318"/>
            <a:ext cx="466145" cy="5301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9622" y="3059398"/>
            <a:ext cx="474008" cy="5301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1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0415" y="2256176"/>
            <a:ext cx="457159" cy="5301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6693" y="4699030"/>
            <a:ext cx="466145" cy="5301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1473" y="4964115"/>
            <a:ext cx="474008" cy="5301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2748" y="5857381"/>
            <a:ext cx="457159" cy="5301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9735" y="4699030"/>
            <a:ext cx="466145" cy="5301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6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0130" y="5792596"/>
            <a:ext cx="474008" cy="5301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7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6400" y="4966414"/>
            <a:ext cx="457159" cy="5301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2861" y="5747033"/>
            <a:ext cx="466145" cy="5301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8362" y="4928500"/>
            <a:ext cx="474008" cy="5301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4925" y="4928500"/>
            <a:ext cx="457159" cy="5301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6626" y="4928500"/>
            <a:ext cx="466145" cy="5301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6626" y="5747033"/>
            <a:ext cx="474008" cy="5301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6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8994" y="5052085"/>
            <a:ext cx="457159" cy="5301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89665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7535366" y="260648"/>
            <a:ext cx="3744416" cy="72008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SOH-CAH-TOA</a:t>
            </a:r>
          </a:p>
        </p:txBody>
      </p:sp>
      <p:sp>
        <p:nvSpPr>
          <p:cNvPr id="4" name="Rectangle 3"/>
          <p:cNvSpPr/>
          <p:nvPr/>
        </p:nvSpPr>
        <p:spPr>
          <a:xfrm>
            <a:off x="838622" y="1196753"/>
            <a:ext cx="9793088" cy="50405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When we are faced with a trigonometry problem in a right-angled triangle, you need to remember…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22798" y="1778889"/>
            <a:ext cx="6562627" cy="497983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/>
              <a:t>SOH-CAH-TOA</a:t>
            </a:r>
          </a:p>
        </p:txBody>
      </p:sp>
      <p:pic>
        <p:nvPicPr>
          <p:cNvPr id="21" name="Picture 2" descr="http://www.hazemagazine.co.uk/wp-content/uploads/2014/07/soh-cah-toa-triangles.jpg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1778" y="3238331"/>
            <a:ext cx="5984665" cy="1584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4" descr="http://vector-magz.com/wp-content/uploads/2013/09/curved-arrow-clip-art3-300x131.png"/>
          <p:cNvPicPr>
            <a:picLocks noChangeAspect="1" noChangeArrowheads="1"/>
          </p:cNvPicPr>
          <p:nvPr/>
        </p:nvPicPr>
        <p:blipFill>
          <a:blip r:embed="rId4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067191" flipV="1">
            <a:off x="1398220" y="3554250"/>
            <a:ext cx="1485448" cy="648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Rectangle 23"/>
          <p:cNvSpPr/>
          <p:nvPr/>
        </p:nvSpPr>
        <p:spPr>
          <a:xfrm>
            <a:off x="262559" y="2780100"/>
            <a:ext cx="2808312" cy="62843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/>
              <a:t>This is the </a:t>
            </a:r>
            <a:r>
              <a:rPr lang="en-GB" sz="1600" b="1" dirty="0"/>
              <a:t>SINE</a:t>
            </a:r>
            <a:r>
              <a:rPr lang="en-GB" sz="1600" dirty="0"/>
              <a:t> triangle</a:t>
            </a:r>
          </a:p>
        </p:txBody>
      </p:sp>
      <p:pic>
        <p:nvPicPr>
          <p:cNvPr id="25" name="Picture 4" descr="http://vector-magz.com/wp-content/uploads/2013/09/curved-arrow-clip-art3-300x131.png"/>
          <p:cNvPicPr>
            <a:picLocks noChangeAspect="1" noChangeArrowheads="1"/>
          </p:cNvPicPr>
          <p:nvPr/>
        </p:nvPicPr>
        <p:blipFill rotWithShape="1"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735" t="-7852" b="-1"/>
          <a:stretch/>
        </p:blipFill>
        <p:spPr bwMode="auto">
          <a:xfrm rot="1718639" flipH="1" flipV="1">
            <a:off x="5487490" y="4897089"/>
            <a:ext cx="984328" cy="699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Rectangle 25"/>
          <p:cNvSpPr/>
          <p:nvPr/>
        </p:nvSpPr>
        <p:spPr>
          <a:xfrm>
            <a:off x="6354348" y="5246880"/>
            <a:ext cx="3024336" cy="62843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/>
              <a:t>This is the </a:t>
            </a:r>
            <a:r>
              <a:rPr lang="en-GB" sz="1600" b="1" dirty="0"/>
              <a:t>COSINE</a:t>
            </a:r>
            <a:r>
              <a:rPr lang="en-GB" sz="1600" dirty="0"/>
              <a:t> triangle</a:t>
            </a:r>
          </a:p>
        </p:txBody>
      </p:sp>
      <p:pic>
        <p:nvPicPr>
          <p:cNvPr id="27" name="Picture 4" descr="http://vector-magz.com/wp-content/uploads/2013/09/curved-arrow-clip-art3-300x131.png"/>
          <p:cNvPicPr>
            <a:picLocks noChangeAspect="1" noChangeArrowheads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166482" flipH="1" flipV="1">
            <a:off x="7998137" y="3184652"/>
            <a:ext cx="1485448" cy="648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Rectangle 27"/>
          <p:cNvSpPr/>
          <p:nvPr/>
        </p:nvSpPr>
        <p:spPr>
          <a:xfrm>
            <a:off x="8389987" y="2880545"/>
            <a:ext cx="3024336" cy="62843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/>
              <a:t>This is the </a:t>
            </a:r>
            <a:r>
              <a:rPr lang="en-GB" sz="1600" b="1" dirty="0"/>
              <a:t>TANGENT</a:t>
            </a:r>
            <a:r>
              <a:rPr lang="en-GB" sz="1600" dirty="0"/>
              <a:t> triangle</a:t>
            </a:r>
          </a:p>
        </p:txBody>
      </p:sp>
      <p:sp>
        <p:nvSpPr>
          <p:cNvPr id="29" name="Rectangular Callout 28"/>
          <p:cNvSpPr/>
          <p:nvPr/>
        </p:nvSpPr>
        <p:spPr>
          <a:xfrm>
            <a:off x="805982" y="5373215"/>
            <a:ext cx="3417015" cy="992637"/>
          </a:xfrm>
          <a:prstGeom prst="wedgeRectCallout">
            <a:avLst>
              <a:gd name="adj1" fmla="val -49505"/>
              <a:gd name="adj2" fmla="val 91404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These triangles allow us to easily remember each formula.</a:t>
            </a:r>
          </a:p>
        </p:txBody>
      </p:sp>
    </p:spTree>
    <p:extLst>
      <p:ext uri="{BB962C8B-B14F-4D97-AF65-F5344CB8AC3E}">
        <p14:creationId xmlns:p14="http://schemas.microsoft.com/office/powerpoint/2010/main" val="1209073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0" grpId="0" animBg="1"/>
      <p:bldP spid="24" grpId="0" animBg="1"/>
      <p:bldP spid="26" grpId="0" animBg="1"/>
      <p:bldP spid="28" grpId="0" animBg="1"/>
      <p:bldP spid="2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7535366" y="260648"/>
            <a:ext cx="3744416" cy="72008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Which rule do we use?</a:t>
            </a:r>
          </a:p>
        </p:txBody>
      </p:sp>
      <p:sp>
        <p:nvSpPr>
          <p:cNvPr id="4" name="Rectangle 3"/>
          <p:cNvSpPr/>
          <p:nvPr/>
        </p:nvSpPr>
        <p:spPr>
          <a:xfrm>
            <a:off x="2246461" y="1154836"/>
            <a:ext cx="7989205" cy="108012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/>
              <a:t>Every time you are faced with a trigonometry question, </a:t>
            </a:r>
            <a:br>
              <a:rPr lang="en-GB" sz="2000" b="1" dirty="0"/>
            </a:br>
            <a:r>
              <a:rPr lang="en-GB" sz="2000" b="1" dirty="0"/>
              <a:t>you will need to decide which rule you are using.</a:t>
            </a:r>
          </a:p>
        </p:txBody>
      </p:sp>
      <p:grpSp>
        <p:nvGrpSpPr>
          <p:cNvPr id="5" name="Group 20"/>
          <p:cNvGrpSpPr>
            <a:grpSpLocks/>
          </p:cNvGrpSpPr>
          <p:nvPr/>
        </p:nvGrpSpPr>
        <p:grpSpPr bwMode="auto">
          <a:xfrm>
            <a:off x="1846734" y="2564904"/>
            <a:ext cx="2455154" cy="2664296"/>
            <a:chOff x="1746" y="709"/>
            <a:chExt cx="1407" cy="2359"/>
          </a:xfrm>
        </p:grpSpPr>
        <p:grpSp>
          <p:nvGrpSpPr>
            <p:cNvPr id="6" name="Group 13"/>
            <p:cNvGrpSpPr>
              <a:grpSpLocks/>
            </p:cNvGrpSpPr>
            <p:nvPr/>
          </p:nvGrpSpPr>
          <p:grpSpPr bwMode="auto">
            <a:xfrm>
              <a:off x="1746" y="709"/>
              <a:ext cx="1407" cy="2359"/>
              <a:chOff x="1655" y="1026"/>
              <a:chExt cx="1407" cy="2359"/>
            </a:xfrm>
          </p:grpSpPr>
          <p:sp>
            <p:nvSpPr>
              <p:cNvPr id="9" name="AutoShape 3"/>
              <p:cNvSpPr>
                <a:spLocks noChangeArrowheads="1"/>
              </p:cNvSpPr>
              <p:nvPr/>
            </p:nvSpPr>
            <p:spPr bwMode="auto">
              <a:xfrm rot="16200000">
                <a:off x="1179" y="1502"/>
                <a:ext cx="2359" cy="1407"/>
              </a:xfrm>
              <a:prstGeom prst="rtTriangle">
                <a:avLst/>
              </a:prstGeom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eaVert" wrap="none" anchor="ctr"/>
              <a:lstStyle/>
              <a:p>
                <a:pPr algn="ctr"/>
                <a:endParaRPr lang="en-US" sz="2000">
                  <a:solidFill>
                    <a:srgbClr val="FF9933"/>
                  </a:solidFill>
                  <a:latin typeface="Comic Sans MS" pitchFamily="66" charset="0"/>
                </a:endParaRPr>
              </a:p>
            </p:txBody>
          </p:sp>
          <p:sp>
            <p:nvSpPr>
              <p:cNvPr id="10" name="Arc 8"/>
              <p:cNvSpPr>
                <a:spLocks/>
              </p:cNvSpPr>
              <p:nvPr/>
            </p:nvSpPr>
            <p:spPr bwMode="auto">
              <a:xfrm>
                <a:off x="1882" y="2976"/>
                <a:ext cx="318" cy="409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endParaRPr lang="en-GB" sz="2000">
                  <a:latin typeface="Comic Sans MS" pitchFamily="66" charset="0"/>
                </a:endParaRPr>
              </a:p>
            </p:txBody>
          </p:sp>
        </p:grpSp>
        <p:sp>
          <p:nvSpPr>
            <p:cNvPr id="7" name="Line 18"/>
            <p:cNvSpPr>
              <a:spLocks noChangeShapeType="1"/>
            </p:cNvSpPr>
            <p:nvPr/>
          </p:nvSpPr>
          <p:spPr bwMode="auto">
            <a:xfrm flipV="1">
              <a:off x="2880" y="2750"/>
              <a:ext cx="0" cy="317"/>
            </a:xfrm>
            <a:prstGeom prst="line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en-GB" sz="2000">
                <a:latin typeface="Comic Sans MS" pitchFamily="66" charset="0"/>
              </a:endParaRPr>
            </a:p>
          </p:txBody>
        </p:sp>
        <p:sp>
          <p:nvSpPr>
            <p:cNvPr id="8" name="Line 19"/>
            <p:cNvSpPr>
              <a:spLocks noChangeShapeType="1"/>
            </p:cNvSpPr>
            <p:nvPr/>
          </p:nvSpPr>
          <p:spPr bwMode="auto">
            <a:xfrm>
              <a:off x="2880" y="2750"/>
              <a:ext cx="272" cy="0"/>
            </a:xfrm>
            <a:prstGeom prst="line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en-GB" sz="2000">
                <a:latin typeface="Comic Sans MS" pitchFamily="66" charset="0"/>
              </a:endParaRPr>
            </a:p>
          </p:txBody>
        </p:sp>
      </p:grpSp>
      <p:sp>
        <p:nvSpPr>
          <p:cNvPr id="13" name="Rectangle 12"/>
          <p:cNvSpPr/>
          <p:nvPr/>
        </p:nvSpPr>
        <p:spPr>
          <a:xfrm>
            <a:off x="2498525" y="3358612"/>
            <a:ext cx="507883" cy="53650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/>
              <a:t>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5427" y="3861987"/>
            <a:ext cx="507883" cy="53650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/>
              <a:t>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9852" y="5330597"/>
            <a:ext cx="507883" cy="53650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/>
              <a:t>A</a:t>
            </a:r>
          </a:p>
        </p:txBody>
      </p:sp>
      <p:pic>
        <p:nvPicPr>
          <p:cNvPr id="20" name="Picture 2" descr="http://www.hazemagazine.co.uk/wp-content/uploads/2014/07/soh-cah-toa-triangles.jpg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142" y="3643789"/>
            <a:ext cx="4901211" cy="1297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Multiply 22"/>
          <p:cNvSpPr/>
          <p:nvPr/>
        </p:nvSpPr>
        <p:spPr>
          <a:xfrm>
            <a:off x="5591150" y="3857153"/>
            <a:ext cx="1445013" cy="1014842"/>
          </a:xfrm>
          <a:prstGeom prst="mathMultiply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4" name="Picture 2" descr="http://www.clipartbest.com/cliparts/yjT/x68/yjTx68XiE.png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2924" y="5228070"/>
            <a:ext cx="1127967" cy="1045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Rectangle 25"/>
          <p:cNvSpPr/>
          <p:nvPr/>
        </p:nvSpPr>
        <p:spPr>
          <a:xfrm>
            <a:off x="5847644" y="2731015"/>
            <a:ext cx="4388022" cy="72008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/>
              <a:t>Do we use Sine, Cosine or Tan?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2797735" y="5372613"/>
                <a:ext cx="88744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1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𝟏𝟐</m:t>
                      </m:r>
                      <m:r>
                        <a:rPr lang="en-GB" sz="2400" b="1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𝒄𝒎</m:t>
                      </m:r>
                    </m:oMath>
                  </m:oMathPara>
                </a14:m>
                <a:endParaRPr lang="en-GB" sz="2400" b="1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7735" y="5372613"/>
                <a:ext cx="887444" cy="461665"/>
              </a:xfrm>
              <a:prstGeom prst="rect">
                <a:avLst/>
              </a:prstGeom>
              <a:blipFill rotWithShape="1">
                <a:blip r:embed="rId4"/>
                <a:stretch>
                  <a:fillRect l="-2055" r="-1164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2607445" y="4473978"/>
                <a:ext cx="922047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1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𝟑𝟓</m:t>
                      </m:r>
                      <m:r>
                        <a:rPr lang="en-GB" sz="3200" b="1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  <a:ea typeface="Cambria Math"/>
                        </a:rPr>
                        <m:t>°</m:t>
                      </m:r>
                    </m:oMath>
                  </m:oMathPara>
                </a14:m>
                <a:endParaRPr lang="en-GB" sz="3200" b="1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7445" y="4473978"/>
                <a:ext cx="922047" cy="58477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4409589" y="3356992"/>
                <a:ext cx="88744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400" b="1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𝒙</m:t>
                      </m:r>
                    </m:oMath>
                  </m:oMathPara>
                </a14:m>
                <a:endParaRPr lang="en-GB" sz="2400" b="1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9589" y="3356992"/>
                <a:ext cx="887444" cy="461665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9" name="Picture 2" descr="http://www.clipartbest.com/cliparts/yjT/x68/yjTx68XiE.png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1391" y="3780768"/>
            <a:ext cx="504056" cy="4670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2" descr="http://www.clipartbest.com/cliparts/yjT/x68/yjTx68XiE.png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4463" y="3780768"/>
            <a:ext cx="1083132" cy="1003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2" descr="http://www.clipartbest.com/cliparts/yjT/x68/yjTx68XiE.png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3598" y="4292478"/>
            <a:ext cx="504056" cy="4670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2" descr="http://www.clipartbest.com/cliparts/yjT/x68/yjTx68XiE.png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9302" y="3643789"/>
            <a:ext cx="651875" cy="604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Multiply 32"/>
          <p:cNvSpPr/>
          <p:nvPr/>
        </p:nvSpPr>
        <p:spPr>
          <a:xfrm>
            <a:off x="7188563" y="3853840"/>
            <a:ext cx="1445013" cy="1014842"/>
          </a:xfrm>
          <a:prstGeom prst="mathMultiply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Rectangle 33"/>
          <p:cNvSpPr/>
          <p:nvPr/>
        </p:nvSpPr>
        <p:spPr>
          <a:xfrm>
            <a:off x="5775736" y="5254958"/>
            <a:ext cx="4388022" cy="720080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We would be using the Tan rule.</a:t>
            </a:r>
          </a:p>
        </p:txBody>
      </p:sp>
    </p:spTree>
    <p:extLst>
      <p:ext uri="{BB962C8B-B14F-4D97-AF65-F5344CB8AC3E}">
        <p14:creationId xmlns:p14="http://schemas.microsoft.com/office/powerpoint/2010/main" val="3856736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3" grpId="0" animBg="1"/>
      <p:bldP spid="14" grpId="0" animBg="1"/>
      <p:bldP spid="17" grpId="0" animBg="1"/>
      <p:bldP spid="23" grpId="0" animBg="1"/>
      <p:bldP spid="26" grpId="0" animBg="1"/>
      <p:bldP spid="27" grpId="0"/>
      <p:bldP spid="2" grpId="0"/>
      <p:bldP spid="28" grpId="0"/>
      <p:bldP spid="33" grpId="0" animBg="1"/>
      <p:bldP spid="3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" descr="http://www.clipartbest.com/cliparts/yjT/x68/yjTx68XiE.png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040" y="1887970"/>
            <a:ext cx="1127967" cy="1045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7535366" y="260648"/>
            <a:ext cx="3744416" cy="72008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Which rule do we use?</a:t>
            </a:r>
          </a:p>
        </p:txBody>
      </p:sp>
      <p:grpSp>
        <p:nvGrpSpPr>
          <p:cNvPr id="5" name="Group 20"/>
          <p:cNvGrpSpPr>
            <a:grpSpLocks/>
          </p:cNvGrpSpPr>
          <p:nvPr/>
        </p:nvGrpSpPr>
        <p:grpSpPr bwMode="auto">
          <a:xfrm>
            <a:off x="1846734" y="1924184"/>
            <a:ext cx="2455154" cy="2664296"/>
            <a:chOff x="1746" y="709"/>
            <a:chExt cx="1407" cy="2359"/>
          </a:xfrm>
        </p:grpSpPr>
        <p:grpSp>
          <p:nvGrpSpPr>
            <p:cNvPr id="6" name="Group 13"/>
            <p:cNvGrpSpPr>
              <a:grpSpLocks/>
            </p:cNvGrpSpPr>
            <p:nvPr/>
          </p:nvGrpSpPr>
          <p:grpSpPr bwMode="auto">
            <a:xfrm>
              <a:off x="1746" y="709"/>
              <a:ext cx="1407" cy="2359"/>
              <a:chOff x="1655" y="1026"/>
              <a:chExt cx="1407" cy="2359"/>
            </a:xfrm>
          </p:grpSpPr>
          <p:sp>
            <p:nvSpPr>
              <p:cNvPr id="9" name="AutoShape 3"/>
              <p:cNvSpPr>
                <a:spLocks noChangeArrowheads="1"/>
              </p:cNvSpPr>
              <p:nvPr/>
            </p:nvSpPr>
            <p:spPr bwMode="auto">
              <a:xfrm rot="16200000">
                <a:off x="1179" y="1502"/>
                <a:ext cx="2359" cy="1407"/>
              </a:xfrm>
              <a:prstGeom prst="rtTriangle">
                <a:avLst/>
              </a:prstGeom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eaVert" wrap="none" anchor="ctr"/>
              <a:lstStyle/>
              <a:p>
                <a:pPr algn="ctr"/>
                <a:endParaRPr lang="en-US" sz="2000">
                  <a:solidFill>
                    <a:srgbClr val="FF9933"/>
                  </a:solidFill>
                  <a:latin typeface="Comic Sans MS" pitchFamily="66" charset="0"/>
                </a:endParaRPr>
              </a:p>
            </p:txBody>
          </p:sp>
          <p:sp>
            <p:nvSpPr>
              <p:cNvPr id="10" name="Arc 8"/>
              <p:cNvSpPr>
                <a:spLocks/>
              </p:cNvSpPr>
              <p:nvPr/>
            </p:nvSpPr>
            <p:spPr bwMode="auto">
              <a:xfrm>
                <a:off x="1882" y="2976"/>
                <a:ext cx="318" cy="409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endParaRPr lang="en-GB" sz="2000">
                  <a:latin typeface="Comic Sans MS" pitchFamily="66" charset="0"/>
                </a:endParaRPr>
              </a:p>
            </p:txBody>
          </p:sp>
        </p:grpSp>
        <p:sp>
          <p:nvSpPr>
            <p:cNvPr id="7" name="Line 18"/>
            <p:cNvSpPr>
              <a:spLocks noChangeShapeType="1"/>
            </p:cNvSpPr>
            <p:nvPr/>
          </p:nvSpPr>
          <p:spPr bwMode="auto">
            <a:xfrm flipV="1">
              <a:off x="2880" y="2750"/>
              <a:ext cx="0" cy="317"/>
            </a:xfrm>
            <a:prstGeom prst="line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en-GB" sz="2000">
                <a:latin typeface="Comic Sans MS" pitchFamily="66" charset="0"/>
              </a:endParaRPr>
            </a:p>
          </p:txBody>
        </p:sp>
        <p:sp>
          <p:nvSpPr>
            <p:cNvPr id="8" name="Line 19"/>
            <p:cNvSpPr>
              <a:spLocks noChangeShapeType="1"/>
            </p:cNvSpPr>
            <p:nvPr/>
          </p:nvSpPr>
          <p:spPr bwMode="auto">
            <a:xfrm>
              <a:off x="2880" y="2750"/>
              <a:ext cx="272" cy="0"/>
            </a:xfrm>
            <a:prstGeom prst="line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en-GB" sz="2000">
                <a:latin typeface="Comic Sans MS" pitchFamily="66" charset="0"/>
              </a:endParaRPr>
            </a:p>
          </p:txBody>
        </p:sp>
      </p:grpSp>
      <p:sp>
        <p:nvSpPr>
          <p:cNvPr id="13" name="Rectangle 12"/>
          <p:cNvSpPr/>
          <p:nvPr/>
        </p:nvSpPr>
        <p:spPr>
          <a:xfrm>
            <a:off x="2359024" y="2410595"/>
            <a:ext cx="507883" cy="53650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/>
              <a:t>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63187" y="3004304"/>
            <a:ext cx="507883" cy="53650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/>
              <a:t>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99911" y="4666945"/>
            <a:ext cx="507883" cy="53650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/>
              <a:t>A</a:t>
            </a:r>
          </a:p>
        </p:txBody>
      </p:sp>
      <p:pic>
        <p:nvPicPr>
          <p:cNvPr id="20" name="Picture 2" descr="http://www.hazemagazine.co.uk/wp-content/uploads/2014/07/soh-cah-toa-triangles.jpg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142" y="3003069"/>
            <a:ext cx="4901211" cy="1297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Multiply 22"/>
          <p:cNvSpPr/>
          <p:nvPr/>
        </p:nvSpPr>
        <p:spPr>
          <a:xfrm>
            <a:off x="8844063" y="3214483"/>
            <a:ext cx="1445013" cy="1014842"/>
          </a:xfrm>
          <a:prstGeom prst="mathMultiply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 25"/>
          <p:cNvSpPr/>
          <p:nvPr/>
        </p:nvSpPr>
        <p:spPr>
          <a:xfrm>
            <a:off x="5847644" y="2090295"/>
            <a:ext cx="4388022" cy="72008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/>
              <a:t>Do we use Sine, Cosine or Tan?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2118964" y="2909215"/>
                <a:ext cx="88744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1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𝟏𝟐</m:t>
                      </m:r>
                      <m:r>
                        <a:rPr lang="en-GB" sz="2400" b="1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𝒄𝒎</m:t>
                      </m:r>
                    </m:oMath>
                  </m:oMathPara>
                </a14:m>
                <a:endParaRPr lang="en-GB" sz="2400" b="1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8964" y="2909215"/>
                <a:ext cx="887444" cy="461665"/>
              </a:xfrm>
              <a:prstGeom prst="rect">
                <a:avLst/>
              </a:prstGeom>
              <a:blipFill rotWithShape="1">
                <a:blip r:embed="rId5"/>
                <a:stretch>
                  <a:fillRect l="-2069" r="-1241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2607445" y="3833258"/>
                <a:ext cx="922047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1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𝟑𝟓</m:t>
                      </m:r>
                      <m:r>
                        <a:rPr lang="en-GB" sz="3200" b="1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  <a:ea typeface="Cambria Math"/>
                        </a:rPr>
                        <m:t>°</m:t>
                      </m:r>
                    </m:oMath>
                  </m:oMathPara>
                </a14:m>
                <a:endParaRPr lang="en-GB" sz="3200" b="1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7445" y="3833258"/>
                <a:ext cx="922047" cy="584775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2938071" y="4648310"/>
                <a:ext cx="88744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3200" b="1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𝒙</m:t>
                      </m:r>
                    </m:oMath>
                  </m:oMathPara>
                </a14:m>
                <a:endParaRPr lang="en-GB" sz="3200" b="1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8071" y="4648310"/>
                <a:ext cx="887444" cy="584775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Rectangle 33"/>
          <p:cNvSpPr/>
          <p:nvPr/>
        </p:nvSpPr>
        <p:spPr>
          <a:xfrm>
            <a:off x="5775736" y="4614238"/>
            <a:ext cx="4388022" cy="720080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/>
              <a:t>We would be using the Cosine rule.</a:t>
            </a:r>
          </a:p>
        </p:txBody>
      </p:sp>
      <p:pic>
        <p:nvPicPr>
          <p:cNvPr id="35" name="Picture 2" descr="http://www.clipartbest.com/cliparts/yjT/x68/yjTx68XiE.png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3238" y="3529619"/>
            <a:ext cx="576064" cy="533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2" descr="http://www.clipartbest.com/cliparts/yjT/x68/yjTx68XiE.png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1655" y="3591825"/>
            <a:ext cx="576064" cy="533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2" descr="http://www.clipartbest.com/cliparts/yjT/x68/yjTx68XiE.png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6096" y="3094076"/>
            <a:ext cx="613591" cy="568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Multiply 38"/>
          <p:cNvSpPr/>
          <p:nvPr/>
        </p:nvSpPr>
        <p:spPr>
          <a:xfrm>
            <a:off x="5660731" y="3170132"/>
            <a:ext cx="1445013" cy="1014842"/>
          </a:xfrm>
          <a:prstGeom prst="mathMultiply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7" name="Picture 2" descr="http://www.clipartbest.com/cliparts/yjT/x68/yjTx68XiE.png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8981" y="4399974"/>
            <a:ext cx="1127967" cy="1045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6757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7" grpId="0" animBg="1"/>
      <p:bldP spid="23" grpId="0" animBg="1"/>
      <p:bldP spid="26" grpId="0" animBg="1"/>
      <p:bldP spid="27" grpId="0"/>
      <p:bldP spid="2" grpId="0"/>
      <p:bldP spid="28" grpId="0"/>
      <p:bldP spid="34" grpId="0" animBg="1"/>
      <p:bldP spid="3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2" descr="http://www.clipartbest.com/cliparts/yjT/x68/yjTx68XiE.png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7086" y="2243006"/>
            <a:ext cx="1127967" cy="1045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" descr="http://www.clipartbest.com/cliparts/yjT/x68/yjTx68XiE.png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040" y="1782852"/>
            <a:ext cx="1127967" cy="1045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7535366" y="260648"/>
            <a:ext cx="3744416" cy="72008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Which rule do we use?</a:t>
            </a:r>
          </a:p>
        </p:txBody>
      </p:sp>
      <p:grpSp>
        <p:nvGrpSpPr>
          <p:cNvPr id="5" name="Group 20"/>
          <p:cNvGrpSpPr>
            <a:grpSpLocks/>
          </p:cNvGrpSpPr>
          <p:nvPr/>
        </p:nvGrpSpPr>
        <p:grpSpPr bwMode="auto">
          <a:xfrm>
            <a:off x="1846734" y="1819066"/>
            <a:ext cx="2455154" cy="2664296"/>
            <a:chOff x="1746" y="709"/>
            <a:chExt cx="1407" cy="2359"/>
          </a:xfrm>
        </p:grpSpPr>
        <p:grpSp>
          <p:nvGrpSpPr>
            <p:cNvPr id="6" name="Group 13"/>
            <p:cNvGrpSpPr>
              <a:grpSpLocks/>
            </p:cNvGrpSpPr>
            <p:nvPr/>
          </p:nvGrpSpPr>
          <p:grpSpPr bwMode="auto">
            <a:xfrm>
              <a:off x="1746" y="709"/>
              <a:ext cx="1407" cy="2359"/>
              <a:chOff x="1655" y="1026"/>
              <a:chExt cx="1407" cy="2359"/>
            </a:xfrm>
          </p:grpSpPr>
          <p:sp>
            <p:nvSpPr>
              <p:cNvPr id="9" name="AutoShape 3"/>
              <p:cNvSpPr>
                <a:spLocks noChangeArrowheads="1"/>
              </p:cNvSpPr>
              <p:nvPr/>
            </p:nvSpPr>
            <p:spPr bwMode="auto">
              <a:xfrm rot="16200000">
                <a:off x="1179" y="1502"/>
                <a:ext cx="2359" cy="1407"/>
              </a:xfrm>
              <a:prstGeom prst="rtTriangle">
                <a:avLst/>
              </a:prstGeom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eaVert" wrap="none" anchor="ctr"/>
              <a:lstStyle/>
              <a:p>
                <a:pPr algn="ctr"/>
                <a:endParaRPr lang="en-US" sz="2000">
                  <a:solidFill>
                    <a:srgbClr val="FF9933"/>
                  </a:solidFill>
                  <a:latin typeface="Comic Sans MS" pitchFamily="66" charset="0"/>
                </a:endParaRPr>
              </a:p>
            </p:txBody>
          </p:sp>
          <p:sp>
            <p:nvSpPr>
              <p:cNvPr id="10" name="Arc 8"/>
              <p:cNvSpPr>
                <a:spLocks/>
              </p:cNvSpPr>
              <p:nvPr/>
            </p:nvSpPr>
            <p:spPr bwMode="auto">
              <a:xfrm>
                <a:off x="1882" y="2976"/>
                <a:ext cx="318" cy="409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endParaRPr lang="en-GB" sz="2000">
                  <a:latin typeface="Comic Sans MS" pitchFamily="66" charset="0"/>
                </a:endParaRPr>
              </a:p>
            </p:txBody>
          </p:sp>
        </p:grpSp>
        <p:sp>
          <p:nvSpPr>
            <p:cNvPr id="7" name="Line 18"/>
            <p:cNvSpPr>
              <a:spLocks noChangeShapeType="1"/>
            </p:cNvSpPr>
            <p:nvPr/>
          </p:nvSpPr>
          <p:spPr bwMode="auto">
            <a:xfrm flipV="1">
              <a:off x="2880" y="2750"/>
              <a:ext cx="0" cy="317"/>
            </a:xfrm>
            <a:prstGeom prst="line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en-GB" sz="2000">
                <a:latin typeface="Comic Sans MS" pitchFamily="66" charset="0"/>
              </a:endParaRPr>
            </a:p>
          </p:txBody>
        </p:sp>
        <p:sp>
          <p:nvSpPr>
            <p:cNvPr id="8" name="Line 19"/>
            <p:cNvSpPr>
              <a:spLocks noChangeShapeType="1"/>
            </p:cNvSpPr>
            <p:nvPr/>
          </p:nvSpPr>
          <p:spPr bwMode="auto">
            <a:xfrm>
              <a:off x="2880" y="2750"/>
              <a:ext cx="272" cy="0"/>
            </a:xfrm>
            <a:prstGeom prst="line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en-GB" sz="2000">
                <a:latin typeface="Comic Sans MS" pitchFamily="66" charset="0"/>
              </a:endParaRPr>
            </a:p>
          </p:txBody>
        </p:sp>
      </p:grpSp>
      <p:sp>
        <p:nvSpPr>
          <p:cNvPr id="13" name="Rectangle 12"/>
          <p:cNvSpPr/>
          <p:nvPr/>
        </p:nvSpPr>
        <p:spPr>
          <a:xfrm>
            <a:off x="2359024" y="2305477"/>
            <a:ext cx="507883" cy="53650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/>
              <a:t>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63187" y="2611154"/>
            <a:ext cx="507883" cy="53650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/>
              <a:t>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23027" y="4561827"/>
            <a:ext cx="507883" cy="53650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/>
              <a:t>A</a:t>
            </a:r>
          </a:p>
        </p:txBody>
      </p:sp>
      <p:pic>
        <p:nvPicPr>
          <p:cNvPr id="20" name="Picture 2" descr="http://www.hazemagazine.co.uk/wp-content/uploads/2014/07/soh-cah-toa-triangles.jpg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142" y="2897951"/>
            <a:ext cx="4901211" cy="1297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Multiply 22"/>
          <p:cNvSpPr/>
          <p:nvPr/>
        </p:nvSpPr>
        <p:spPr>
          <a:xfrm>
            <a:off x="8935066" y="3093176"/>
            <a:ext cx="1445013" cy="1014842"/>
          </a:xfrm>
          <a:prstGeom prst="mathMultiply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 25"/>
          <p:cNvSpPr/>
          <p:nvPr/>
        </p:nvSpPr>
        <p:spPr>
          <a:xfrm>
            <a:off x="5847644" y="1985177"/>
            <a:ext cx="4388022" cy="72008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/>
              <a:t>Do we use Sine, Cosine or Tan?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2118964" y="2804097"/>
                <a:ext cx="88744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1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𝟏𝟐</m:t>
                      </m:r>
                      <m:r>
                        <a:rPr lang="en-GB" sz="2400" b="1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𝒄𝒎</m:t>
                      </m:r>
                    </m:oMath>
                  </m:oMathPara>
                </a14:m>
                <a:endParaRPr lang="en-GB" sz="2400" b="1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8964" y="2804097"/>
                <a:ext cx="887444" cy="461665"/>
              </a:xfrm>
              <a:prstGeom prst="rect">
                <a:avLst/>
              </a:prstGeom>
              <a:blipFill rotWithShape="1">
                <a:blip r:embed="rId5"/>
                <a:stretch>
                  <a:fillRect l="-2069" r="-1241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2607445" y="3728140"/>
                <a:ext cx="668773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1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𝒙</m:t>
                      </m:r>
                      <m:r>
                        <a:rPr lang="en-GB" sz="3200" b="1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  <a:ea typeface="Cambria Math"/>
                        </a:rPr>
                        <m:t>°</m:t>
                      </m:r>
                    </m:oMath>
                  </m:oMathPara>
                </a14:m>
                <a:endParaRPr lang="en-GB" sz="3200" b="1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7445" y="3728140"/>
                <a:ext cx="668773" cy="584775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4363187" y="3232319"/>
                <a:ext cx="88744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3200" b="1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𝟓</m:t>
                      </m:r>
                      <m:r>
                        <a:rPr lang="en-GB" sz="3200" b="1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𝒄𝒎</m:t>
                      </m:r>
                    </m:oMath>
                  </m:oMathPara>
                </a14:m>
                <a:endParaRPr lang="en-GB" sz="3200" b="1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3187" y="3232319"/>
                <a:ext cx="887444" cy="584775"/>
              </a:xfrm>
              <a:prstGeom prst="rect">
                <a:avLst/>
              </a:prstGeom>
              <a:blipFill rotWithShape="1">
                <a:blip r:embed="rId7"/>
                <a:stretch>
                  <a:fillRect r="-413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Rectangle 33"/>
          <p:cNvSpPr/>
          <p:nvPr/>
        </p:nvSpPr>
        <p:spPr>
          <a:xfrm>
            <a:off x="5775736" y="4509120"/>
            <a:ext cx="4388022" cy="720080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/>
              <a:t>We would be using the Sine rule.</a:t>
            </a:r>
          </a:p>
        </p:txBody>
      </p:sp>
      <p:pic>
        <p:nvPicPr>
          <p:cNvPr id="29" name="Picture 2" descr="http://www.clipartbest.com/cliparts/yjT/x68/yjTx68XiE.png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0329" y="3435695"/>
            <a:ext cx="563983" cy="522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2" descr="http://www.clipartbest.com/cliparts/yjT/x68/yjTx68XiE.png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1655" y="3501646"/>
            <a:ext cx="563983" cy="522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2" descr="http://www.clipartbest.com/cliparts/yjT/x68/yjTx68XiE.png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0065" y="3024312"/>
            <a:ext cx="522430" cy="484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Multiply 32"/>
          <p:cNvSpPr/>
          <p:nvPr/>
        </p:nvSpPr>
        <p:spPr>
          <a:xfrm>
            <a:off x="7247240" y="3093176"/>
            <a:ext cx="1445013" cy="1014842"/>
          </a:xfrm>
          <a:prstGeom prst="mathMultiply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1648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7" grpId="0" animBg="1"/>
      <p:bldP spid="23" grpId="0" animBg="1"/>
      <p:bldP spid="26" grpId="0" animBg="1"/>
      <p:bldP spid="27" grpId="0"/>
      <p:bldP spid="2" grpId="0"/>
      <p:bldP spid="28" grpId="0"/>
      <p:bldP spid="34" grpId="0" animBg="1"/>
      <p:bldP spid="3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7535366" y="260648"/>
            <a:ext cx="3744416" cy="72008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Using the triangles</a:t>
            </a:r>
          </a:p>
        </p:txBody>
      </p:sp>
      <p:pic>
        <p:nvPicPr>
          <p:cNvPr id="21" name="Picture 2" descr="http://www.hazemagazine.co.uk/wp-content/uploads/2014/07/soh-cah-toa-triangles.jpg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4846" y="3150170"/>
            <a:ext cx="5984665" cy="1584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2"/>
          <p:cNvSpPr/>
          <p:nvPr/>
        </p:nvSpPr>
        <p:spPr>
          <a:xfrm>
            <a:off x="1558702" y="1268760"/>
            <a:ext cx="3240360" cy="72008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The “Cover Up” Method</a:t>
            </a:r>
          </a:p>
        </p:txBody>
      </p:sp>
      <p:sp>
        <p:nvSpPr>
          <p:cNvPr id="14" name="Oval 13"/>
          <p:cNvSpPr/>
          <p:nvPr/>
        </p:nvSpPr>
        <p:spPr>
          <a:xfrm>
            <a:off x="3469228" y="3326631"/>
            <a:ext cx="720080" cy="738494"/>
          </a:xfrm>
          <a:prstGeom prst="ellipse">
            <a:avLst/>
          </a:prstGeom>
          <a:solidFill>
            <a:schemeClr val="accent2">
              <a:lumMod val="75000"/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/>
          <p:cNvSpPr/>
          <p:nvPr/>
        </p:nvSpPr>
        <p:spPr>
          <a:xfrm>
            <a:off x="4957302" y="1265027"/>
            <a:ext cx="5098344" cy="72008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You simply cover up what you are looking for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58702" y="2137507"/>
            <a:ext cx="8496944" cy="72008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If we using the Sine rule and we are looking for the Opposite, we cover up the opposite.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4681472" y="5013176"/>
                <a:ext cx="4594288" cy="720080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1" i="1" dirty="0" smtClean="0">
                          <a:latin typeface="Cambria Math"/>
                        </a:rPr>
                        <m:t>𝑶𝒑𝒑𝒐𝒔𝒊𝒕𝒆</m:t>
                      </m:r>
                      <m:r>
                        <a:rPr lang="en-GB" sz="2000" b="1" i="1" dirty="0" smtClean="0">
                          <a:latin typeface="Cambria Math"/>
                        </a:rPr>
                        <m:t>=</m:t>
                      </m:r>
                      <m:r>
                        <a:rPr lang="en-GB" sz="2000" b="1" i="1" dirty="0" smtClean="0">
                          <a:latin typeface="Cambria Math"/>
                        </a:rPr>
                        <m:t>𝒔𝒊𝒏</m:t>
                      </m:r>
                      <m:d>
                        <m:dPr>
                          <m:ctrlPr>
                            <a:rPr lang="en-GB" sz="2000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b="1" i="1" dirty="0" smtClean="0">
                              <a:latin typeface="Cambria Math"/>
                            </a:rPr>
                            <m:t>𝒙</m:t>
                          </m:r>
                        </m:e>
                      </m:d>
                      <m:r>
                        <a:rPr lang="en-GB" sz="2000" b="1" i="1" dirty="0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GB" sz="2000" b="1" i="1" dirty="0" smtClean="0">
                          <a:latin typeface="Cambria Math"/>
                          <a:ea typeface="Cambria Math"/>
                        </a:rPr>
                        <m:t>𝒉𝒚𝒑𝒐𝒕𝒆𝒏𝒖𝒔𝒆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1472" y="5013176"/>
                <a:ext cx="4594288" cy="72008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Picture 4" descr="http://vector-magz.com/wp-content/uploads/2013/09/curved-arrow-clip-art3-300x131.png"/>
          <p:cNvPicPr>
            <a:picLocks noChangeAspect="1" noChangeArrowheads="1"/>
          </p:cNvPicPr>
          <p:nvPr/>
        </p:nvPicPr>
        <p:blipFill rotWithShape="1">
          <a:blip r:embed="rId5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735" t="-7852" b="-1"/>
          <a:stretch/>
        </p:blipFill>
        <p:spPr bwMode="auto">
          <a:xfrm flipH="1" flipV="1">
            <a:off x="3679457" y="4734346"/>
            <a:ext cx="984328" cy="906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8898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7535366" y="260648"/>
            <a:ext cx="3744416" cy="72008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Using the triangles</a:t>
            </a:r>
          </a:p>
        </p:txBody>
      </p:sp>
      <p:pic>
        <p:nvPicPr>
          <p:cNvPr id="21" name="Picture 2" descr="http://www.hazemagazine.co.uk/wp-content/uploads/2014/07/soh-cah-toa-triangles.jpg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4846" y="3150170"/>
            <a:ext cx="5984665" cy="1584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2"/>
          <p:cNvSpPr/>
          <p:nvPr/>
        </p:nvSpPr>
        <p:spPr>
          <a:xfrm>
            <a:off x="1558702" y="1268760"/>
            <a:ext cx="3240360" cy="72008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The “Cover Up” Method</a:t>
            </a:r>
          </a:p>
        </p:txBody>
      </p:sp>
      <p:sp>
        <p:nvSpPr>
          <p:cNvPr id="14" name="Oval 13"/>
          <p:cNvSpPr/>
          <p:nvPr/>
        </p:nvSpPr>
        <p:spPr>
          <a:xfrm>
            <a:off x="5855358" y="3942258"/>
            <a:ext cx="720080" cy="738494"/>
          </a:xfrm>
          <a:prstGeom prst="ellipse">
            <a:avLst/>
          </a:prstGeom>
          <a:solidFill>
            <a:schemeClr val="accent1">
              <a:lumMod val="75000"/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/>
          <p:cNvSpPr/>
          <p:nvPr/>
        </p:nvSpPr>
        <p:spPr>
          <a:xfrm>
            <a:off x="4957302" y="1265027"/>
            <a:ext cx="5098344" cy="72008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You simply cover up what you are looking for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58702" y="2137507"/>
            <a:ext cx="8496944" cy="72008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/>
              <a:t>If we using the </a:t>
            </a:r>
            <a:r>
              <a:rPr lang="en-GB" sz="1600" dirty="0" err="1"/>
              <a:t>Coine</a:t>
            </a:r>
            <a:r>
              <a:rPr lang="en-GB" sz="1600" dirty="0"/>
              <a:t> rule and we are looking for the Hypotenuse, we cover up the opposite.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6978616" y="5013176"/>
                <a:ext cx="4157150" cy="720080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1" i="1" dirty="0" smtClean="0">
                          <a:latin typeface="Cambria Math"/>
                        </a:rPr>
                        <m:t>𝑯𝒚𝒑𝒐𝒕𝒆𝒏𝒖𝒔𝒆</m:t>
                      </m:r>
                      <m:r>
                        <a:rPr lang="en-GB" sz="2000" b="1" i="1" dirty="0" smtClean="0"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n-GB" sz="2000" b="1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1" i="1" dirty="0" smtClean="0">
                              <a:latin typeface="Cambria Math"/>
                            </a:rPr>
                            <m:t>𝒂𝒅𝒋𝒂𝒄𝒆𝒏𝒕</m:t>
                          </m:r>
                        </m:num>
                        <m:den>
                          <m:r>
                            <a:rPr lang="en-GB" sz="2000" b="1" i="1" dirty="0" smtClean="0">
                              <a:latin typeface="Cambria Math"/>
                            </a:rPr>
                            <m:t>𝒄𝒐𝒔</m:t>
                          </m:r>
                          <m:r>
                            <a:rPr lang="en-GB" sz="2000" b="1" i="1" dirty="0" smtClean="0">
                              <a:latin typeface="Cambria Math"/>
                            </a:rPr>
                            <m:t>(</m:t>
                          </m:r>
                          <m:r>
                            <a:rPr lang="en-GB" sz="2000" b="1" i="1" dirty="0" smtClean="0">
                              <a:latin typeface="Cambria Math"/>
                            </a:rPr>
                            <m:t>𝒙</m:t>
                          </m:r>
                          <m:r>
                            <a:rPr lang="en-GB" sz="2000" b="1" i="1" dirty="0" smtClean="0">
                              <a:latin typeface="Cambria Math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8616" y="5013176"/>
                <a:ext cx="4157150" cy="72008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Picture 4" descr="http://vector-magz.com/wp-content/uploads/2013/09/curved-arrow-clip-art3-300x131.png"/>
          <p:cNvPicPr>
            <a:picLocks noChangeAspect="1" noChangeArrowheads="1"/>
          </p:cNvPicPr>
          <p:nvPr/>
        </p:nvPicPr>
        <p:blipFill rotWithShape="1"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735" t="-7852" b="-1"/>
          <a:stretch/>
        </p:blipFill>
        <p:spPr bwMode="auto">
          <a:xfrm flipH="1" flipV="1">
            <a:off x="5976601" y="4734346"/>
            <a:ext cx="984328" cy="906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3285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4" descr="http://vector-magz.com/wp-content/uploads/2013/09/curved-arrow-clip-art3-300x131.png"/>
          <p:cNvPicPr>
            <a:picLocks noChangeAspect="1" noChangeArrowheads="1"/>
          </p:cNvPicPr>
          <p:nvPr/>
        </p:nvPicPr>
        <p:blipFill rotWithShape="1"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735" t="-7852" b="-1"/>
          <a:stretch/>
        </p:blipFill>
        <p:spPr bwMode="auto">
          <a:xfrm rot="815087" flipV="1">
            <a:off x="5953970" y="4516151"/>
            <a:ext cx="1297076" cy="1413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7535366" y="260648"/>
            <a:ext cx="3744416" cy="72008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Using the triangles</a:t>
            </a:r>
          </a:p>
        </p:txBody>
      </p:sp>
      <p:pic>
        <p:nvPicPr>
          <p:cNvPr id="21" name="Picture 2" descr="http://www.hazemagazine.co.uk/wp-content/uploads/2014/07/soh-cah-toa-triangles.jpg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4846" y="3150170"/>
            <a:ext cx="5984665" cy="1584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2"/>
          <p:cNvSpPr/>
          <p:nvPr/>
        </p:nvSpPr>
        <p:spPr>
          <a:xfrm>
            <a:off x="1558702" y="1268760"/>
            <a:ext cx="3240360" cy="72008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The “Cover Up” Method</a:t>
            </a:r>
          </a:p>
        </p:txBody>
      </p:sp>
      <p:sp>
        <p:nvSpPr>
          <p:cNvPr id="14" name="Oval 13"/>
          <p:cNvSpPr/>
          <p:nvPr/>
        </p:nvSpPr>
        <p:spPr>
          <a:xfrm>
            <a:off x="7038874" y="3942258"/>
            <a:ext cx="720080" cy="738494"/>
          </a:xfrm>
          <a:prstGeom prst="ellipse">
            <a:avLst/>
          </a:prstGeom>
          <a:solidFill>
            <a:schemeClr val="accent6">
              <a:lumMod val="75000"/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/>
          <p:cNvSpPr/>
          <p:nvPr/>
        </p:nvSpPr>
        <p:spPr>
          <a:xfrm>
            <a:off x="4957302" y="1265027"/>
            <a:ext cx="5098344" cy="72008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You simply cover up what you are looking for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58702" y="2137507"/>
            <a:ext cx="8496944" cy="72008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/>
              <a:t>If we are using the Tan rule and looking for the angle, we cover up tan.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1990750" y="5028020"/>
                <a:ext cx="4157150" cy="72008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1" i="1" dirty="0" smtClean="0">
                          <a:latin typeface="Cambria Math"/>
                        </a:rPr>
                        <m:t>𝑻𝒂𝒏</m:t>
                      </m:r>
                      <m:r>
                        <a:rPr lang="en-GB" sz="2000" b="1" i="1" dirty="0" smtClean="0">
                          <a:latin typeface="Cambria Math"/>
                        </a:rPr>
                        <m:t>(</m:t>
                      </m:r>
                      <m:r>
                        <a:rPr lang="en-GB" sz="2000" b="1" i="1" dirty="0" smtClean="0">
                          <a:latin typeface="Cambria Math"/>
                        </a:rPr>
                        <m:t>𝒙</m:t>
                      </m:r>
                      <m:r>
                        <a:rPr lang="en-GB" sz="2000" b="1" i="1" dirty="0" smtClean="0">
                          <a:latin typeface="Cambria Math"/>
                        </a:rPr>
                        <m:t>)= </m:t>
                      </m:r>
                      <m:f>
                        <m:fPr>
                          <m:ctrlPr>
                            <a:rPr lang="en-GB" sz="2000" b="1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1" i="1" dirty="0" smtClean="0">
                              <a:latin typeface="Cambria Math"/>
                            </a:rPr>
                            <m:t>𝒐𝒑𝒑𝒐𝒔𝒊𝒕𝒆</m:t>
                          </m:r>
                        </m:num>
                        <m:den>
                          <m:r>
                            <a:rPr lang="en-GB" sz="2000" b="1" i="1" dirty="0" smtClean="0">
                              <a:latin typeface="Cambria Math"/>
                            </a:rPr>
                            <m:t>𝒂𝒅𝒋</m:t>
                          </m:r>
                        </m:den>
                      </m:f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0750" y="5028020"/>
                <a:ext cx="4157150" cy="72008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5342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406574" y="2130427"/>
            <a:ext cx="10361851" cy="938534"/>
          </a:xfrm>
        </p:spPr>
        <p:txBody>
          <a:bodyPr>
            <a:normAutofit/>
          </a:bodyPr>
          <a:lstStyle/>
          <a:p>
            <a:r>
              <a:rPr lang="en-GB" sz="3600" b="1" dirty="0"/>
              <a:t>SOH-CAH-TOA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1320855" y="2924944"/>
            <a:ext cx="8533289" cy="1224136"/>
          </a:xfrm>
        </p:spPr>
        <p:txBody>
          <a:bodyPr>
            <a:normAutofit/>
          </a:bodyPr>
          <a:lstStyle/>
          <a:p>
            <a:r>
              <a:rPr lang="en-GB" dirty="0"/>
              <a:t>Finding lengths in </a:t>
            </a:r>
            <a:br>
              <a:rPr lang="en-GB" dirty="0"/>
            </a:br>
            <a:r>
              <a:rPr lang="en-GB" dirty="0"/>
              <a:t>right-angled triangles</a:t>
            </a:r>
          </a:p>
        </p:txBody>
      </p:sp>
      <p:pic>
        <p:nvPicPr>
          <p:cNvPr id="12" name="Picture 11"/>
          <p:cNvPicPr/>
          <p:nvPr/>
        </p:nvPicPr>
        <p:blipFill rotWithShape="1"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l="77375" t="20730" r="-502" b="17489"/>
          <a:stretch/>
        </p:blipFill>
        <p:spPr bwMode="auto">
          <a:xfrm rot="20715863">
            <a:off x="9586032" y="243883"/>
            <a:ext cx="1641928" cy="10639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0852396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" descr="http://www.clipartbest.com/cliparts/yjT/x68/yjTx68XiE.png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0224" y="2412616"/>
            <a:ext cx="1083132" cy="1003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" descr="http://www.clipartbest.com/cliparts/yjT/x68/yjTx68XiE.png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8685" y="3859918"/>
            <a:ext cx="1127967" cy="1045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6313656" y="260648"/>
            <a:ext cx="4966126" cy="72008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Find the length of x in the following triangle</a:t>
            </a:r>
          </a:p>
        </p:txBody>
      </p:sp>
      <p:grpSp>
        <p:nvGrpSpPr>
          <p:cNvPr id="5" name="Group 20"/>
          <p:cNvGrpSpPr>
            <a:grpSpLocks/>
          </p:cNvGrpSpPr>
          <p:nvPr/>
        </p:nvGrpSpPr>
        <p:grpSpPr bwMode="auto">
          <a:xfrm>
            <a:off x="1252495" y="1196752"/>
            <a:ext cx="2455154" cy="2664296"/>
            <a:chOff x="1746" y="709"/>
            <a:chExt cx="1407" cy="2359"/>
          </a:xfrm>
        </p:grpSpPr>
        <p:grpSp>
          <p:nvGrpSpPr>
            <p:cNvPr id="6" name="Group 13"/>
            <p:cNvGrpSpPr>
              <a:grpSpLocks/>
            </p:cNvGrpSpPr>
            <p:nvPr/>
          </p:nvGrpSpPr>
          <p:grpSpPr bwMode="auto">
            <a:xfrm>
              <a:off x="1746" y="709"/>
              <a:ext cx="1407" cy="2359"/>
              <a:chOff x="1655" y="1026"/>
              <a:chExt cx="1407" cy="2359"/>
            </a:xfrm>
          </p:grpSpPr>
          <p:sp>
            <p:nvSpPr>
              <p:cNvPr id="9" name="AutoShape 3"/>
              <p:cNvSpPr>
                <a:spLocks noChangeArrowheads="1"/>
              </p:cNvSpPr>
              <p:nvPr/>
            </p:nvSpPr>
            <p:spPr bwMode="auto">
              <a:xfrm rot="16200000">
                <a:off x="1179" y="1502"/>
                <a:ext cx="2359" cy="1407"/>
              </a:xfrm>
              <a:prstGeom prst="rtTriangle">
                <a:avLst/>
              </a:prstGeom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eaVert" wrap="none" anchor="ctr"/>
              <a:lstStyle/>
              <a:p>
                <a:pPr algn="ctr"/>
                <a:endParaRPr lang="en-US" sz="2000">
                  <a:solidFill>
                    <a:srgbClr val="FF9933"/>
                  </a:solidFill>
                  <a:latin typeface="Comic Sans MS" pitchFamily="66" charset="0"/>
                </a:endParaRPr>
              </a:p>
            </p:txBody>
          </p:sp>
          <p:sp>
            <p:nvSpPr>
              <p:cNvPr id="10" name="Arc 8"/>
              <p:cNvSpPr>
                <a:spLocks/>
              </p:cNvSpPr>
              <p:nvPr/>
            </p:nvSpPr>
            <p:spPr bwMode="auto">
              <a:xfrm>
                <a:off x="1882" y="2976"/>
                <a:ext cx="318" cy="409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endParaRPr lang="en-GB" sz="2000">
                  <a:latin typeface="Comic Sans MS" pitchFamily="66" charset="0"/>
                </a:endParaRPr>
              </a:p>
            </p:txBody>
          </p:sp>
        </p:grpSp>
        <p:sp>
          <p:nvSpPr>
            <p:cNvPr id="7" name="Line 18"/>
            <p:cNvSpPr>
              <a:spLocks noChangeShapeType="1"/>
            </p:cNvSpPr>
            <p:nvPr/>
          </p:nvSpPr>
          <p:spPr bwMode="auto">
            <a:xfrm flipV="1">
              <a:off x="2880" y="2750"/>
              <a:ext cx="0" cy="317"/>
            </a:xfrm>
            <a:prstGeom prst="line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en-GB" sz="2000">
                <a:latin typeface="Comic Sans MS" pitchFamily="66" charset="0"/>
              </a:endParaRPr>
            </a:p>
          </p:txBody>
        </p:sp>
        <p:sp>
          <p:nvSpPr>
            <p:cNvPr id="8" name="Line 19"/>
            <p:cNvSpPr>
              <a:spLocks noChangeShapeType="1"/>
            </p:cNvSpPr>
            <p:nvPr/>
          </p:nvSpPr>
          <p:spPr bwMode="auto">
            <a:xfrm>
              <a:off x="2880" y="2750"/>
              <a:ext cx="272" cy="0"/>
            </a:xfrm>
            <a:prstGeom prst="line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en-GB" sz="2000">
                <a:latin typeface="Comic Sans MS" pitchFamily="66" charset="0"/>
              </a:endParaRPr>
            </a:p>
          </p:txBody>
        </p:sp>
      </p:grpSp>
      <p:sp>
        <p:nvSpPr>
          <p:cNvPr id="13" name="Rectangle 12"/>
          <p:cNvSpPr/>
          <p:nvPr/>
        </p:nvSpPr>
        <p:spPr>
          <a:xfrm>
            <a:off x="1904286" y="1990460"/>
            <a:ext cx="507883" cy="53650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/>
              <a:t>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51188" y="2493835"/>
            <a:ext cx="507883" cy="53650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/>
              <a:t>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95613" y="3962445"/>
            <a:ext cx="507883" cy="53650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/>
              <a:t>A</a:t>
            </a:r>
          </a:p>
        </p:txBody>
      </p:sp>
      <p:pic>
        <p:nvPicPr>
          <p:cNvPr id="20" name="Picture 2" descr="http://www.hazemagazine.co.uk/wp-content/uploads/2014/07/soh-cah-toa-triangles.jpg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50" y="5083949"/>
            <a:ext cx="4901211" cy="1297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Multiply 22"/>
          <p:cNvSpPr/>
          <p:nvPr/>
        </p:nvSpPr>
        <p:spPr>
          <a:xfrm>
            <a:off x="315257" y="5275408"/>
            <a:ext cx="1445013" cy="1014842"/>
          </a:xfrm>
          <a:prstGeom prst="mathMultiply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 25"/>
          <p:cNvSpPr/>
          <p:nvPr/>
        </p:nvSpPr>
        <p:spPr>
          <a:xfrm>
            <a:off x="5707642" y="1417577"/>
            <a:ext cx="4980319" cy="477630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Label the triangle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2203496" y="4004461"/>
                <a:ext cx="88744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1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𝟏𝟐</m:t>
                      </m:r>
                      <m:r>
                        <a:rPr lang="en-GB" sz="2400" b="1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𝒄𝒎</m:t>
                      </m:r>
                    </m:oMath>
                  </m:oMathPara>
                </a14:m>
                <a:endParaRPr lang="en-GB" sz="2400" b="1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496" y="4004461"/>
                <a:ext cx="887444" cy="461665"/>
              </a:xfrm>
              <a:prstGeom prst="rect">
                <a:avLst/>
              </a:prstGeom>
              <a:blipFill rotWithShape="1">
                <a:blip r:embed="rId4"/>
                <a:stretch>
                  <a:fillRect l="-1370" r="-1232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2013206" y="3105826"/>
                <a:ext cx="922047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1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𝟑𝟓</m:t>
                      </m:r>
                      <m:r>
                        <a:rPr lang="en-GB" sz="3200" b="1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  <a:ea typeface="Cambria Math"/>
                        </a:rPr>
                        <m:t>°</m:t>
                      </m:r>
                    </m:oMath>
                  </m:oMathPara>
                </a14:m>
                <a:endParaRPr lang="en-GB" sz="3200" b="1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3206" y="3105826"/>
                <a:ext cx="922047" cy="58477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3815350" y="1988840"/>
                <a:ext cx="88744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400" b="1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𝒙</m:t>
                      </m:r>
                    </m:oMath>
                  </m:oMathPara>
                </a14:m>
                <a:endParaRPr lang="en-GB" sz="2400" b="1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5350" y="1988840"/>
                <a:ext cx="887444" cy="461665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9" name="Picture 2" descr="http://www.clipartbest.com/cliparts/yjT/x68/yjTx68XiE.png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2799" y="5220928"/>
            <a:ext cx="504056" cy="4670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2" descr="http://www.clipartbest.com/cliparts/yjT/x68/yjTx68XiE.png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5006" y="5732638"/>
            <a:ext cx="504056" cy="4670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2" descr="http://www.clipartbest.com/cliparts/yjT/x68/yjTx68XiE.png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0710" y="5083949"/>
            <a:ext cx="651875" cy="604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Multiply 32"/>
          <p:cNvSpPr/>
          <p:nvPr/>
        </p:nvSpPr>
        <p:spPr>
          <a:xfrm>
            <a:off x="1883765" y="5180599"/>
            <a:ext cx="1445013" cy="1014842"/>
          </a:xfrm>
          <a:prstGeom prst="mathMultiply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Rectangle 34"/>
          <p:cNvSpPr/>
          <p:nvPr/>
        </p:nvSpPr>
        <p:spPr>
          <a:xfrm>
            <a:off x="5707643" y="2047607"/>
            <a:ext cx="4980318" cy="47763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Decide which rule to use.</a:t>
            </a:r>
          </a:p>
        </p:txBody>
      </p:sp>
      <p:pic>
        <p:nvPicPr>
          <p:cNvPr id="36" name="Picture 2" descr="http://www.hazemagazine.co.uk/wp-content/uploads/2014/07/soh-cah-toa-triangles.jpg"/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899"/>
          <a:stretch/>
        </p:blipFill>
        <p:spPr bwMode="auto">
          <a:xfrm>
            <a:off x="5928422" y="3245557"/>
            <a:ext cx="1512818" cy="1209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Rectangle 36"/>
          <p:cNvSpPr/>
          <p:nvPr/>
        </p:nvSpPr>
        <p:spPr>
          <a:xfrm>
            <a:off x="5721952" y="2637264"/>
            <a:ext cx="4980319" cy="477630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Use the cover-up method</a:t>
            </a:r>
          </a:p>
        </p:txBody>
      </p:sp>
      <p:sp>
        <p:nvSpPr>
          <p:cNvPr id="38" name="Oval 37"/>
          <p:cNvSpPr/>
          <p:nvPr/>
        </p:nvSpPr>
        <p:spPr>
          <a:xfrm>
            <a:off x="6395592" y="3346071"/>
            <a:ext cx="578477" cy="553579"/>
          </a:xfrm>
          <a:prstGeom prst="ellipse">
            <a:avLst/>
          </a:prstGeom>
          <a:solidFill>
            <a:schemeClr val="accent6">
              <a:lumMod val="75000"/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tangle 38"/>
              <p:cNvSpPr/>
              <p:nvPr/>
            </p:nvSpPr>
            <p:spPr>
              <a:xfrm>
                <a:off x="7303770" y="3545640"/>
                <a:ext cx="3384190" cy="540056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dirty="0" smtClean="0">
                          <a:latin typeface="Cambria Math"/>
                        </a:rPr>
                        <m:t>𝑶𝒑𝒑𝒐𝒔𝒊𝒕𝒆</m:t>
                      </m:r>
                      <m:r>
                        <a:rPr lang="en-GB" sz="1600" b="1" i="1" dirty="0" smtClean="0">
                          <a:latin typeface="Cambria Math"/>
                        </a:rPr>
                        <m:t>=</m:t>
                      </m:r>
                      <m:r>
                        <a:rPr lang="en-GB" sz="1600" b="1" i="1" dirty="0" smtClean="0">
                          <a:latin typeface="Cambria Math"/>
                        </a:rPr>
                        <m:t>𝒕𝒂𝒏</m:t>
                      </m:r>
                      <m:d>
                        <m:dPr>
                          <m:ctrlPr>
                            <a:rPr lang="en-GB" sz="1600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1" i="1" dirty="0" smtClean="0">
                              <a:latin typeface="Cambria Math"/>
                            </a:rPr>
                            <m:t>𝒙</m:t>
                          </m:r>
                        </m:e>
                      </m:d>
                      <m:r>
                        <a:rPr lang="en-GB" sz="1600" b="1" i="1" dirty="0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GB" sz="1600" b="1" i="1" dirty="0" smtClean="0">
                          <a:latin typeface="Cambria Math"/>
                          <a:ea typeface="Cambria Math"/>
                        </a:rPr>
                        <m:t>𝒂𝒅𝒋𝒂𝒄𝒆𝒏𝒕</m:t>
                      </m:r>
                    </m:oMath>
                  </m:oMathPara>
                </a14:m>
                <a:endParaRPr lang="en-GB" sz="1400" b="1" dirty="0"/>
              </a:p>
            </p:txBody>
          </p:sp>
        </mc:Choice>
        <mc:Fallback xmlns="">
          <p:sp>
            <p:nvSpPr>
              <p:cNvPr id="39" name="Rectangle 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3770" y="3545640"/>
                <a:ext cx="3384190" cy="540056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Rectangle 39"/>
          <p:cNvSpPr/>
          <p:nvPr/>
        </p:nvSpPr>
        <p:spPr>
          <a:xfrm>
            <a:off x="5707640" y="4451959"/>
            <a:ext cx="4980319" cy="477630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Substitute in your values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Rectangle 40"/>
              <p:cNvSpPr/>
              <p:nvPr/>
            </p:nvSpPr>
            <p:spPr>
              <a:xfrm>
                <a:off x="6493854" y="5165816"/>
                <a:ext cx="3384190" cy="423424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dirty="0" smtClean="0">
                          <a:latin typeface="Cambria Math"/>
                        </a:rPr>
                        <m:t>𝑶𝒑𝒑𝒐𝒔𝒊𝒕𝒆</m:t>
                      </m:r>
                      <m:r>
                        <a:rPr lang="en-GB" b="1" i="1" dirty="0" smtClean="0">
                          <a:latin typeface="Cambria Math"/>
                        </a:rPr>
                        <m:t>=</m:t>
                      </m:r>
                      <m:r>
                        <a:rPr lang="en-GB" b="1" i="1" dirty="0" smtClean="0">
                          <a:latin typeface="Cambria Math"/>
                        </a:rPr>
                        <m:t>𝒕𝒂𝒏</m:t>
                      </m:r>
                      <m:d>
                        <m:dPr>
                          <m:ctrlPr>
                            <a:rPr lang="en-GB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1" dirty="0" smtClean="0">
                              <a:latin typeface="Cambria Math"/>
                            </a:rPr>
                            <m:t>𝟑𝟓</m:t>
                          </m:r>
                        </m:e>
                      </m:d>
                      <m:r>
                        <a:rPr lang="en-GB" b="1" i="1" dirty="0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GB" b="1" i="0" dirty="0" smtClean="0">
                          <a:latin typeface="Cambria Math"/>
                          <a:ea typeface="Cambria Math"/>
                        </a:rPr>
                        <m:t>𝟏𝟐</m:t>
                      </m:r>
                    </m:oMath>
                  </m:oMathPara>
                </a14:m>
                <a:endParaRPr lang="en-GB" sz="1600" b="1" dirty="0"/>
              </a:p>
            </p:txBody>
          </p:sp>
        </mc:Choice>
        <mc:Fallback xmlns="">
          <p:sp>
            <p:nvSpPr>
              <p:cNvPr id="41" name="Rectangle 4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3854" y="5165816"/>
                <a:ext cx="3384190" cy="423424"/>
              </a:xfrm>
              <a:prstGeom prst="rect">
                <a:avLst/>
              </a:prstGeom>
              <a:blipFill rotWithShape="1">
                <a:blip r:embed="rId8"/>
                <a:stretch>
                  <a:fillRect b="-428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Rectangle 41"/>
              <p:cNvSpPr/>
              <p:nvPr/>
            </p:nvSpPr>
            <p:spPr>
              <a:xfrm>
                <a:off x="6509972" y="5813888"/>
                <a:ext cx="3384190" cy="423424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dirty="0" smtClean="0">
                          <a:latin typeface="Cambria Math"/>
                        </a:rPr>
                        <m:t>𝑶𝒑𝒑𝒐𝒔𝒊𝒕𝒆</m:t>
                      </m:r>
                      <m:r>
                        <a:rPr lang="en-GB" b="1" i="1" dirty="0" smtClean="0">
                          <a:latin typeface="Cambria Math"/>
                        </a:rPr>
                        <m:t>=</m:t>
                      </m:r>
                      <m:r>
                        <a:rPr lang="en-GB" b="1" i="1" dirty="0" smtClean="0">
                          <a:latin typeface="Cambria Math"/>
                        </a:rPr>
                        <m:t>𝟖</m:t>
                      </m:r>
                      <m:r>
                        <a:rPr lang="en-GB" b="1" i="1" dirty="0" smtClean="0">
                          <a:latin typeface="Cambria Math"/>
                        </a:rPr>
                        <m:t>.</m:t>
                      </m:r>
                      <m:r>
                        <a:rPr lang="en-GB" b="1" i="1" dirty="0" smtClean="0">
                          <a:latin typeface="Cambria Math"/>
                        </a:rPr>
                        <m:t>𝟒</m:t>
                      </m:r>
                      <m:r>
                        <a:rPr lang="en-GB" b="1" i="1" dirty="0" smtClean="0">
                          <a:latin typeface="Cambria Math"/>
                        </a:rPr>
                        <m:t>𝒄𝒎</m:t>
                      </m:r>
                    </m:oMath>
                  </m:oMathPara>
                </a14:m>
                <a:endParaRPr lang="en-GB" sz="1600" b="1" dirty="0"/>
              </a:p>
            </p:txBody>
          </p:sp>
        </mc:Choice>
        <mc:Fallback xmlns="">
          <p:sp>
            <p:nvSpPr>
              <p:cNvPr id="42" name="Rectangle 4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9972" y="5813888"/>
                <a:ext cx="3384190" cy="423424"/>
              </a:xfrm>
              <a:prstGeom prst="rect">
                <a:avLst/>
              </a:prstGeom>
              <a:blipFill rotWithShape="1">
                <a:blip r:embed="rId9"/>
                <a:stretch>
                  <a:fillRect b="-434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Straight Connector 42"/>
          <p:cNvCxnSpPr/>
          <p:nvPr/>
        </p:nvCxnSpPr>
        <p:spPr>
          <a:xfrm>
            <a:off x="5294082" y="657631"/>
            <a:ext cx="0" cy="5939721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4405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7" grpId="0" animBg="1"/>
      <p:bldP spid="23" grpId="0" animBg="1"/>
      <p:bldP spid="26" grpId="0" animBg="1"/>
      <p:bldP spid="27" grpId="0"/>
      <p:bldP spid="2" grpId="0"/>
      <p:bldP spid="28" grpId="0"/>
      <p:bldP spid="33" grpId="0" animBg="1"/>
      <p:bldP spid="35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313656" y="260648"/>
            <a:ext cx="4966126" cy="72008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Independent Task - SOHCAHTOA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574" y="1268760"/>
            <a:ext cx="10723562" cy="526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779050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118542" y="2130427"/>
            <a:ext cx="10361851" cy="938534"/>
          </a:xfrm>
        </p:spPr>
        <p:txBody>
          <a:bodyPr>
            <a:normAutofit/>
          </a:bodyPr>
          <a:lstStyle/>
          <a:p>
            <a:r>
              <a:rPr lang="en-GB" sz="3600" b="1" dirty="0"/>
              <a:t>SOH-CAH-TOA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1032823" y="2924944"/>
            <a:ext cx="8533289" cy="1080120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Finding angles in </a:t>
            </a:r>
            <a:br>
              <a:rPr lang="en-GB" dirty="0"/>
            </a:br>
            <a:r>
              <a:rPr lang="en-GB" dirty="0"/>
              <a:t>right-angled triangles</a:t>
            </a:r>
          </a:p>
        </p:txBody>
      </p:sp>
      <p:pic>
        <p:nvPicPr>
          <p:cNvPr id="12" name="Picture 11"/>
          <p:cNvPicPr/>
          <p:nvPr/>
        </p:nvPicPr>
        <p:blipFill rotWithShape="1"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l="77375" t="20730" r="-502" b="17489"/>
          <a:stretch/>
        </p:blipFill>
        <p:spPr bwMode="auto">
          <a:xfrm rot="20715863">
            <a:off x="9661087" y="191323"/>
            <a:ext cx="1641928" cy="10639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7862239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" descr="http://www.clipartbest.com/cliparts/yjT/x68/yjTx68XiE.png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0224" y="2412616"/>
            <a:ext cx="1083132" cy="1003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" descr="http://www.clipartbest.com/cliparts/yjT/x68/yjTx68XiE.png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8685" y="3859918"/>
            <a:ext cx="1127967" cy="1045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6313656" y="260648"/>
            <a:ext cx="4966126" cy="72008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Find the angle x in the following triangle</a:t>
            </a:r>
          </a:p>
        </p:txBody>
      </p:sp>
      <p:grpSp>
        <p:nvGrpSpPr>
          <p:cNvPr id="5" name="Group 20"/>
          <p:cNvGrpSpPr>
            <a:grpSpLocks/>
          </p:cNvGrpSpPr>
          <p:nvPr/>
        </p:nvGrpSpPr>
        <p:grpSpPr bwMode="auto">
          <a:xfrm>
            <a:off x="1252495" y="1196752"/>
            <a:ext cx="2455154" cy="2664296"/>
            <a:chOff x="1746" y="709"/>
            <a:chExt cx="1407" cy="2359"/>
          </a:xfrm>
        </p:grpSpPr>
        <p:grpSp>
          <p:nvGrpSpPr>
            <p:cNvPr id="6" name="Group 13"/>
            <p:cNvGrpSpPr>
              <a:grpSpLocks/>
            </p:cNvGrpSpPr>
            <p:nvPr/>
          </p:nvGrpSpPr>
          <p:grpSpPr bwMode="auto">
            <a:xfrm>
              <a:off x="1746" y="709"/>
              <a:ext cx="1407" cy="2359"/>
              <a:chOff x="1655" y="1026"/>
              <a:chExt cx="1407" cy="2359"/>
            </a:xfrm>
          </p:grpSpPr>
          <p:sp>
            <p:nvSpPr>
              <p:cNvPr id="9" name="AutoShape 3"/>
              <p:cNvSpPr>
                <a:spLocks noChangeArrowheads="1"/>
              </p:cNvSpPr>
              <p:nvPr/>
            </p:nvSpPr>
            <p:spPr bwMode="auto">
              <a:xfrm rot="16200000">
                <a:off x="1179" y="1502"/>
                <a:ext cx="2359" cy="1407"/>
              </a:xfrm>
              <a:prstGeom prst="rtTriangle">
                <a:avLst/>
              </a:prstGeom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eaVert" wrap="none" anchor="ctr"/>
              <a:lstStyle/>
              <a:p>
                <a:pPr algn="ctr"/>
                <a:endParaRPr lang="en-US" sz="2000">
                  <a:solidFill>
                    <a:srgbClr val="FF9933"/>
                  </a:solidFill>
                  <a:latin typeface="Comic Sans MS" pitchFamily="66" charset="0"/>
                </a:endParaRPr>
              </a:p>
            </p:txBody>
          </p:sp>
          <p:sp>
            <p:nvSpPr>
              <p:cNvPr id="10" name="Arc 8"/>
              <p:cNvSpPr>
                <a:spLocks/>
              </p:cNvSpPr>
              <p:nvPr/>
            </p:nvSpPr>
            <p:spPr bwMode="auto">
              <a:xfrm>
                <a:off x="1882" y="2976"/>
                <a:ext cx="318" cy="409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endParaRPr lang="en-GB" sz="2000">
                  <a:latin typeface="Comic Sans MS" pitchFamily="66" charset="0"/>
                </a:endParaRPr>
              </a:p>
            </p:txBody>
          </p:sp>
        </p:grpSp>
        <p:sp>
          <p:nvSpPr>
            <p:cNvPr id="7" name="Line 18"/>
            <p:cNvSpPr>
              <a:spLocks noChangeShapeType="1"/>
            </p:cNvSpPr>
            <p:nvPr/>
          </p:nvSpPr>
          <p:spPr bwMode="auto">
            <a:xfrm flipV="1">
              <a:off x="2880" y="2750"/>
              <a:ext cx="0" cy="317"/>
            </a:xfrm>
            <a:prstGeom prst="line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en-GB" sz="2000">
                <a:latin typeface="Comic Sans MS" pitchFamily="66" charset="0"/>
              </a:endParaRPr>
            </a:p>
          </p:txBody>
        </p:sp>
        <p:sp>
          <p:nvSpPr>
            <p:cNvPr id="8" name="Line 19"/>
            <p:cNvSpPr>
              <a:spLocks noChangeShapeType="1"/>
            </p:cNvSpPr>
            <p:nvPr/>
          </p:nvSpPr>
          <p:spPr bwMode="auto">
            <a:xfrm>
              <a:off x="2880" y="2750"/>
              <a:ext cx="272" cy="0"/>
            </a:xfrm>
            <a:prstGeom prst="line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en-GB" sz="2000">
                <a:latin typeface="Comic Sans MS" pitchFamily="66" charset="0"/>
              </a:endParaRPr>
            </a:p>
          </p:txBody>
        </p:sp>
      </p:grpSp>
      <p:sp>
        <p:nvSpPr>
          <p:cNvPr id="13" name="Rectangle 12"/>
          <p:cNvSpPr/>
          <p:nvPr/>
        </p:nvSpPr>
        <p:spPr>
          <a:xfrm>
            <a:off x="1904286" y="1990460"/>
            <a:ext cx="507883" cy="53650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/>
              <a:t>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51188" y="2493835"/>
            <a:ext cx="507883" cy="53650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/>
              <a:t>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95613" y="3962445"/>
            <a:ext cx="507883" cy="53650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/>
              <a:t>A</a:t>
            </a:r>
          </a:p>
        </p:txBody>
      </p:sp>
      <p:pic>
        <p:nvPicPr>
          <p:cNvPr id="20" name="Picture 2" descr="http://www.hazemagazine.co.uk/wp-content/uploads/2014/07/soh-cah-toa-triangles.jpg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50" y="5083949"/>
            <a:ext cx="4901211" cy="1297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Multiply 22"/>
          <p:cNvSpPr/>
          <p:nvPr/>
        </p:nvSpPr>
        <p:spPr>
          <a:xfrm>
            <a:off x="315257" y="5275408"/>
            <a:ext cx="1445013" cy="1014842"/>
          </a:xfrm>
          <a:prstGeom prst="mathMultiply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 25"/>
          <p:cNvSpPr/>
          <p:nvPr/>
        </p:nvSpPr>
        <p:spPr>
          <a:xfrm>
            <a:off x="5707642" y="1417577"/>
            <a:ext cx="4980319" cy="477630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Label the triangle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2203496" y="4004461"/>
                <a:ext cx="88744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1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𝟏𝟐</m:t>
                      </m:r>
                      <m:r>
                        <a:rPr lang="en-GB" sz="2400" b="1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𝒄𝒎</m:t>
                      </m:r>
                    </m:oMath>
                  </m:oMathPara>
                </a14:m>
                <a:endParaRPr lang="en-GB" sz="2400" b="1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496" y="4004461"/>
                <a:ext cx="887444" cy="461665"/>
              </a:xfrm>
              <a:prstGeom prst="rect">
                <a:avLst/>
              </a:prstGeom>
              <a:blipFill rotWithShape="1">
                <a:blip r:embed="rId4"/>
                <a:stretch>
                  <a:fillRect l="-1370" r="-1232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2013206" y="3105826"/>
                <a:ext cx="668773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1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𝒙</m:t>
                      </m:r>
                      <m:r>
                        <a:rPr lang="en-GB" sz="3200" b="1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  <a:ea typeface="Cambria Math"/>
                        </a:rPr>
                        <m:t>°</m:t>
                      </m:r>
                    </m:oMath>
                  </m:oMathPara>
                </a14:m>
                <a:endParaRPr lang="en-GB" sz="3200" b="1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3206" y="3105826"/>
                <a:ext cx="668773" cy="58477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3815350" y="1988840"/>
                <a:ext cx="88744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400" b="1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𝟕</m:t>
                      </m:r>
                      <m:r>
                        <a:rPr lang="en-GB" sz="2400" b="1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𝒄𝒎</m:t>
                      </m:r>
                    </m:oMath>
                  </m:oMathPara>
                </a14:m>
                <a:endParaRPr lang="en-GB" sz="2400" b="1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5350" y="1988840"/>
                <a:ext cx="887444" cy="461665"/>
              </a:xfrm>
              <a:prstGeom prst="rect">
                <a:avLst/>
              </a:prstGeom>
              <a:blipFill rotWithShape="1">
                <a:blip r:embed="rId6"/>
                <a:stretch>
                  <a:fillRect l="-206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9" name="Picture 2" descr="http://www.clipartbest.com/cliparts/yjT/x68/yjTx68XiE.png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2799" y="5220928"/>
            <a:ext cx="504056" cy="4670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2" descr="http://www.clipartbest.com/cliparts/yjT/x68/yjTx68XiE.png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5006" y="5732638"/>
            <a:ext cx="504056" cy="4670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2" descr="http://www.clipartbest.com/cliparts/yjT/x68/yjTx68XiE.png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0710" y="5083949"/>
            <a:ext cx="651875" cy="604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Multiply 32"/>
          <p:cNvSpPr/>
          <p:nvPr/>
        </p:nvSpPr>
        <p:spPr>
          <a:xfrm>
            <a:off x="1883765" y="5180599"/>
            <a:ext cx="1445013" cy="1014842"/>
          </a:xfrm>
          <a:prstGeom prst="mathMultiply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Rectangle 34"/>
          <p:cNvSpPr/>
          <p:nvPr/>
        </p:nvSpPr>
        <p:spPr>
          <a:xfrm>
            <a:off x="5707643" y="2047607"/>
            <a:ext cx="4980318" cy="47763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Decide which rule to use.</a:t>
            </a:r>
          </a:p>
        </p:txBody>
      </p:sp>
      <p:pic>
        <p:nvPicPr>
          <p:cNvPr id="36" name="Picture 2" descr="http://www.hazemagazine.co.uk/wp-content/uploads/2014/07/soh-cah-toa-triangles.jpg"/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899"/>
          <a:stretch/>
        </p:blipFill>
        <p:spPr bwMode="auto">
          <a:xfrm>
            <a:off x="5928422" y="3245557"/>
            <a:ext cx="1512818" cy="1209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Rectangle 36"/>
          <p:cNvSpPr/>
          <p:nvPr/>
        </p:nvSpPr>
        <p:spPr>
          <a:xfrm>
            <a:off x="5721952" y="2637264"/>
            <a:ext cx="4980319" cy="477630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Use the cover-up method</a:t>
            </a:r>
          </a:p>
        </p:txBody>
      </p:sp>
      <p:sp>
        <p:nvSpPr>
          <p:cNvPr id="38" name="Oval 37"/>
          <p:cNvSpPr/>
          <p:nvPr/>
        </p:nvSpPr>
        <p:spPr>
          <a:xfrm>
            <a:off x="6106353" y="3828964"/>
            <a:ext cx="578477" cy="553579"/>
          </a:xfrm>
          <a:prstGeom prst="ellipse">
            <a:avLst/>
          </a:prstGeom>
          <a:solidFill>
            <a:schemeClr val="accent6">
              <a:lumMod val="75000"/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         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tangle 38"/>
              <p:cNvSpPr/>
              <p:nvPr/>
            </p:nvSpPr>
            <p:spPr>
              <a:xfrm>
                <a:off x="7303770" y="3545640"/>
                <a:ext cx="3384190" cy="540056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dirty="0" smtClean="0">
                          <a:latin typeface="Cambria Math"/>
                        </a:rPr>
                        <m:t>𝒕𝒂𝒏</m:t>
                      </m:r>
                      <m:d>
                        <m:dPr>
                          <m:ctrlPr>
                            <a:rPr lang="en-GB" sz="1600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1" i="1" dirty="0" smtClean="0">
                              <a:latin typeface="Cambria Math"/>
                            </a:rPr>
                            <m:t>𝒙</m:t>
                          </m:r>
                        </m:e>
                      </m:d>
                      <m:r>
                        <a:rPr lang="en-GB" sz="1600" b="1" i="1" dirty="0" smtClean="0"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n-GB" sz="1600" b="1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1" i="1" dirty="0" smtClean="0">
                              <a:latin typeface="Cambria Math"/>
                            </a:rPr>
                            <m:t>𝒐𝒑𝒑𝒐𝒔𝒊𝒕𝒆</m:t>
                          </m:r>
                        </m:num>
                        <m:den>
                          <m:r>
                            <a:rPr lang="en-GB" sz="1600" b="1" i="1" dirty="0" smtClean="0">
                              <a:latin typeface="Cambria Math"/>
                            </a:rPr>
                            <m:t>𝒂𝒅𝒋𝒂𝒄𝒆𝒏𝒕</m:t>
                          </m:r>
                        </m:den>
                      </m:f>
                    </m:oMath>
                  </m:oMathPara>
                </a14:m>
                <a:endParaRPr lang="en-GB" sz="1400" b="1" dirty="0"/>
              </a:p>
            </p:txBody>
          </p:sp>
        </mc:Choice>
        <mc:Fallback xmlns="">
          <p:sp>
            <p:nvSpPr>
              <p:cNvPr id="39" name="Rectangle 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3770" y="3545640"/>
                <a:ext cx="3384190" cy="540056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Rectangle 39"/>
          <p:cNvSpPr/>
          <p:nvPr/>
        </p:nvSpPr>
        <p:spPr>
          <a:xfrm>
            <a:off x="5707640" y="4451959"/>
            <a:ext cx="4980319" cy="477630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Substitute in your values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5294082" y="657631"/>
            <a:ext cx="0" cy="5939721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/>
              <p:cNvSpPr/>
              <p:nvPr/>
            </p:nvSpPr>
            <p:spPr>
              <a:xfrm>
                <a:off x="6520016" y="5115956"/>
                <a:ext cx="3384190" cy="540056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dirty="0" smtClean="0">
                          <a:latin typeface="Cambria Math"/>
                        </a:rPr>
                        <m:t>𝒕𝒂𝒏</m:t>
                      </m:r>
                      <m:d>
                        <m:dPr>
                          <m:ctrlPr>
                            <a:rPr lang="en-GB" sz="1600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1" i="1" dirty="0" smtClean="0">
                              <a:latin typeface="Cambria Math"/>
                            </a:rPr>
                            <m:t>𝒙</m:t>
                          </m:r>
                        </m:e>
                      </m:d>
                      <m:r>
                        <a:rPr lang="en-GB" sz="1600" b="1" i="1" dirty="0" smtClean="0"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n-GB" sz="1600" b="1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1" i="1" dirty="0" smtClean="0">
                              <a:latin typeface="Cambria Math"/>
                            </a:rPr>
                            <m:t>𝟕</m:t>
                          </m:r>
                        </m:num>
                        <m:den>
                          <m:r>
                            <a:rPr lang="en-GB" sz="1600" b="1" i="1" dirty="0" smtClean="0">
                              <a:latin typeface="Cambria Math"/>
                            </a:rPr>
                            <m:t>𝟏𝟐</m:t>
                          </m:r>
                        </m:den>
                      </m:f>
                    </m:oMath>
                  </m:oMathPara>
                </a14:m>
                <a:endParaRPr lang="en-GB" sz="1400" b="1" dirty="0"/>
              </a:p>
            </p:txBody>
          </p:sp>
        </mc:Choice>
        <mc:Fallback xmlns="">
          <p:sp>
            <p:nvSpPr>
              <p:cNvPr id="34" name="Rectangle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0016" y="5115956"/>
                <a:ext cx="3384190" cy="540056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43"/>
              <p:cNvSpPr/>
              <p:nvPr/>
            </p:nvSpPr>
            <p:spPr>
              <a:xfrm>
                <a:off x="6520016" y="5743679"/>
                <a:ext cx="3384190" cy="540056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600" b="1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 dirty="0" smtClean="0">
                              <a:latin typeface="Cambria Math"/>
                            </a:rPr>
                            <m:t>𝒕𝒂𝒏</m:t>
                          </m:r>
                        </m:e>
                        <m:sup>
                          <m:r>
                            <a:rPr lang="en-GB" sz="1600" b="1" i="1" dirty="0" smtClean="0">
                              <a:latin typeface="Cambria Math"/>
                            </a:rPr>
                            <m:t>−</m:t>
                          </m:r>
                          <m:r>
                            <a:rPr lang="en-GB" sz="1600" b="1" i="1" dirty="0" smtClean="0">
                              <a:latin typeface="Cambria Math"/>
                            </a:rPr>
                            <m:t>𝟏</m:t>
                          </m:r>
                        </m:sup>
                      </m:sSup>
                      <m:d>
                        <m:dPr>
                          <m:ctrlPr>
                            <a:rPr lang="en-GB" sz="1600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sz="16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600" b="1" i="1" dirty="0" smtClean="0">
                                  <a:latin typeface="Cambria Math"/>
                                </a:rPr>
                                <m:t>𝟕</m:t>
                              </m:r>
                            </m:num>
                            <m:den>
                              <m:r>
                                <a:rPr lang="en-GB" sz="1600" b="1" i="1" dirty="0" smtClean="0">
                                  <a:latin typeface="Cambria Math"/>
                                </a:rPr>
                                <m:t>𝟏𝟐</m:t>
                              </m:r>
                            </m:den>
                          </m:f>
                        </m:e>
                      </m:d>
                      <m:r>
                        <a:rPr lang="en-GB" sz="1600" b="1" i="1" dirty="0" smtClean="0">
                          <a:latin typeface="Cambria Math"/>
                        </a:rPr>
                        <m:t>=</m:t>
                      </m:r>
                      <m:r>
                        <a:rPr lang="en-GB" sz="1600" b="1" i="1" dirty="0" smtClean="0">
                          <a:latin typeface="Cambria Math"/>
                        </a:rPr>
                        <m:t>𝟑𝟎</m:t>
                      </m:r>
                      <m:r>
                        <a:rPr lang="en-GB" sz="1600" b="1" i="1" dirty="0" smtClean="0">
                          <a:latin typeface="Cambria Math"/>
                          <a:ea typeface="Cambria Math"/>
                        </a:rPr>
                        <m:t>°</m:t>
                      </m:r>
                    </m:oMath>
                  </m:oMathPara>
                </a14:m>
                <a:endParaRPr lang="en-GB" sz="1400" b="1" dirty="0"/>
              </a:p>
            </p:txBody>
          </p:sp>
        </mc:Choice>
        <mc:Fallback xmlns="">
          <p:sp>
            <p:nvSpPr>
              <p:cNvPr id="44" name="Rectangle 4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0016" y="5743679"/>
                <a:ext cx="3384190" cy="540056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4864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7" grpId="0" animBg="1"/>
      <p:bldP spid="23" grpId="0" animBg="1"/>
      <p:bldP spid="26" grpId="0" animBg="1"/>
      <p:bldP spid="27" grpId="0"/>
      <p:bldP spid="2" grpId="0"/>
      <p:bldP spid="28" grpId="0"/>
      <p:bldP spid="33" grpId="0" animBg="1"/>
      <p:bldP spid="35" grpId="0" animBg="1"/>
      <p:bldP spid="37" grpId="0" animBg="1"/>
      <p:bldP spid="38" grpId="0" animBg="1"/>
      <p:bldP spid="39" grpId="0" animBg="1"/>
      <p:bldP spid="40" grpId="0" animBg="1"/>
      <p:bldP spid="34" grpId="0" animBg="1"/>
      <p:bldP spid="4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/>
          <p:nvPr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6371"/>
          <a:stretch/>
        </p:blipFill>
        <p:spPr bwMode="auto">
          <a:xfrm>
            <a:off x="1419637" y="1526964"/>
            <a:ext cx="8924041" cy="47103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/>
          <p:cNvSpPr/>
          <p:nvPr/>
        </p:nvSpPr>
        <p:spPr>
          <a:xfrm>
            <a:off x="6313656" y="260648"/>
            <a:ext cx="4966126" cy="72008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Independent Task - SOHCAHTOA</a:t>
            </a:r>
          </a:p>
        </p:txBody>
      </p:sp>
      <p:pic>
        <p:nvPicPr>
          <p:cNvPr id="4" name="Picture 3"/>
          <p:cNvPicPr/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3105" y="1764633"/>
            <a:ext cx="468580" cy="515620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8069" y="1719633"/>
            <a:ext cx="573588" cy="560619"/>
          </a:xfrm>
          <a:prstGeom prst="rect">
            <a:avLst/>
          </a:prstGeom>
        </p:spPr>
      </p:pic>
      <p:pic>
        <p:nvPicPr>
          <p:cNvPr id="6" name="Picture 5"/>
          <p:cNvPicPr/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2405" y="1263068"/>
            <a:ext cx="648072" cy="581756"/>
          </a:xfrm>
          <a:prstGeom prst="rect">
            <a:avLst/>
          </a:prstGeom>
        </p:spPr>
      </p:pic>
      <p:pic>
        <p:nvPicPr>
          <p:cNvPr id="7" name="Picture 6"/>
          <p:cNvPicPr/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6939" y="4034679"/>
            <a:ext cx="598762" cy="618457"/>
          </a:xfrm>
          <a:prstGeom prst="rect">
            <a:avLst/>
          </a:prstGeom>
        </p:spPr>
      </p:pic>
      <p:pic>
        <p:nvPicPr>
          <p:cNvPr id="8" name="Picture 7"/>
          <p:cNvPicPr/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4787" y="4021104"/>
            <a:ext cx="731474" cy="632031"/>
          </a:xfrm>
          <a:prstGeom prst="rect">
            <a:avLst/>
          </a:prstGeom>
        </p:spPr>
      </p:pic>
      <p:pic>
        <p:nvPicPr>
          <p:cNvPr id="9" name="Picture 8"/>
          <p:cNvPicPr/>
          <p:nvPr/>
        </p:nvPicPr>
        <p:blipFill>
          <a:blip r:embed="rId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3473" y="4227798"/>
            <a:ext cx="637084" cy="569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9803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313656" y="260648"/>
            <a:ext cx="4966126" cy="72008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Stretch and Challenge</a:t>
            </a:r>
          </a:p>
        </p:txBody>
      </p:sp>
      <p:pic>
        <p:nvPicPr>
          <p:cNvPr id="3074" name="Picture 2" descr="http://4.bp.blogspot.com/-z29-aMsMogI/UT_AnC4YBDI/AAAAAAAAJNE/AwJUAyW-QYM/s1600/Picture11.png"/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375" b="42575"/>
          <a:stretch/>
        </p:blipFill>
        <p:spPr bwMode="auto">
          <a:xfrm>
            <a:off x="270738" y="1268760"/>
            <a:ext cx="5670514" cy="5040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/>
          <p:cNvSpPr/>
          <p:nvPr/>
        </p:nvSpPr>
        <p:spPr>
          <a:xfrm>
            <a:off x="9165960" y="1124744"/>
            <a:ext cx="507883" cy="53650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/>
              <a:t>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80913" y="1850898"/>
            <a:ext cx="507883" cy="53650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/>
              <a:t>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12150" y="2492896"/>
            <a:ext cx="507883" cy="53650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/>
              <a:t>A</a:t>
            </a:r>
          </a:p>
        </p:txBody>
      </p:sp>
      <p:sp>
        <p:nvSpPr>
          <p:cNvPr id="2" name="Right Triangle 1"/>
          <p:cNvSpPr/>
          <p:nvPr/>
        </p:nvSpPr>
        <p:spPr>
          <a:xfrm>
            <a:off x="7586612" y="1188376"/>
            <a:ext cx="3333129" cy="1194519"/>
          </a:xfrm>
          <a:prstGeom prst="rtTriangle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9503776" y="1985432"/>
                <a:ext cx="73770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1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𝟑𝟐</m:t>
                      </m:r>
                      <m:r>
                        <a:rPr lang="en-GB" sz="2400" b="1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  <a:ea typeface="Cambria Math"/>
                        </a:rPr>
                        <m:t>°</m:t>
                      </m:r>
                    </m:oMath>
                  </m:oMathPara>
                </a14:m>
                <a:endParaRPr lang="en-GB" sz="2400" b="1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3776" y="1985432"/>
                <a:ext cx="737701" cy="46166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9220033" y="2530319"/>
                <a:ext cx="90762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1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𝟐𝟎</m:t>
                      </m:r>
                      <m:r>
                        <a:rPr lang="en-GB" sz="2400" b="1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𝒎</m:t>
                      </m:r>
                    </m:oMath>
                  </m:oMathPara>
                </a14:m>
                <a:endParaRPr lang="en-GB" sz="2400" b="1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0033" y="2530319"/>
                <a:ext cx="907621" cy="46166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Picture 2" descr="http://www.hazemagazine.co.uk/wp-content/uploads/2014/07/soh-cah-toa-triangles.jpg"/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8456" y="3253943"/>
            <a:ext cx="3762132" cy="995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 descr="http://www.clipartbest.com/cliparts/yjT/x68/yjTx68XiE.png"/>
          <p:cNvPicPr>
            <a:picLocks noChangeAspect="1" noChangeArrowheads="1"/>
          </p:cNvPicPr>
          <p:nvPr/>
        </p:nvPicPr>
        <p:blipFill>
          <a:blip r:embed="rId7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217" y="3253942"/>
            <a:ext cx="511187" cy="473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http://www.clipartbest.com/cliparts/yjT/x68/yjTx68XiE.png"/>
          <p:cNvPicPr>
            <a:picLocks noChangeAspect="1" noChangeArrowheads="1"/>
          </p:cNvPicPr>
          <p:nvPr/>
        </p:nvPicPr>
        <p:blipFill>
          <a:blip r:embed="rId7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1477" y="3608252"/>
            <a:ext cx="511187" cy="473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2" descr="http://www.clipartbest.com/cliparts/yjT/x68/yjTx68XiE.png"/>
          <p:cNvPicPr>
            <a:picLocks noChangeAspect="1" noChangeArrowheads="1"/>
          </p:cNvPicPr>
          <p:nvPr/>
        </p:nvPicPr>
        <p:blipFill>
          <a:blip r:embed="rId7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3890" y="2492896"/>
            <a:ext cx="548260" cy="508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Multiply 21"/>
          <p:cNvSpPr/>
          <p:nvPr/>
        </p:nvSpPr>
        <p:spPr>
          <a:xfrm>
            <a:off x="7138236" y="3350244"/>
            <a:ext cx="996637" cy="884820"/>
          </a:xfrm>
          <a:prstGeom prst="mathMultiply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3" name="Picture 2" descr="http://www.clipartbest.com/cliparts/yjT/x68/yjTx68XiE.png"/>
          <p:cNvPicPr>
            <a:picLocks noChangeAspect="1" noChangeArrowheads="1"/>
          </p:cNvPicPr>
          <p:nvPr/>
        </p:nvPicPr>
        <p:blipFill>
          <a:blip r:embed="rId7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7483" y="1210144"/>
            <a:ext cx="651899" cy="604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" descr="http://www.clipartbest.com/cliparts/yjT/x68/yjTx68XiE.png"/>
          <p:cNvPicPr>
            <a:picLocks noChangeAspect="1" noChangeArrowheads="1"/>
          </p:cNvPicPr>
          <p:nvPr/>
        </p:nvPicPr>
        <p:blipFill>
          <a:blip r:embed="rId7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5527" y="3212976"/>
            <a:ext cx="581543" cy="538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Multiply 24"/>
          <p:cNvSpPr/>
          <p:nvPr/>
        </p:nvSpPr>
        <p:spPr>
          <a:xfrm>
            <a:off x="8457428" y="3350244"/>
            <a:ext cx="996637" cy="884820"/>
          </a:xfrm>
          <a:prstGeom prst="mathMultiply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/>
              <p:cNvSpPr/>
              <p:nvPr/>
            </p:nvSpPr>
            <p:spPr>
              <a:xfrm>
                <a:off x="7147297" y="4509120"/>
                <a:ext cx="3384190" cy="540056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dirty="0" smtClean="0">
                          <a:latin typeface="Cambria Math"/>
                        </a:rPr>
                        <m:t>𝑶𝒑𝒑𝒐𝒔𝒊𝒕𝒆</m:t>
                      </m:r>
                      <m:r>
                        <a:rPr lang="en-GB" sz="1600" b="1" i="1" dirty="0" smtClean="0">
                          <a:latin typeface="Cambria Math"/>
                        </a:rPr>
                        <m:t>=</m:t>
                      </m:r>
                      <m:r>
                        <a:rPr lang="en-GB" sz="1600" b="1" i="1" dirty="0" smtClean="0">
                          <a:latin typeface="Cambria Math"/>
                        </a:rPr>
                        <m:t>𝒕𝒂𝒏</m:t>
                      </m:r>
                      <m:d>
                        <m:dPr>
                          <m:ctrlPr>
                            <a:rPr lang="en-GB" sz="1600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1" i="1" dirty="0" smtClean="0">
                              <a:latin typeface="Cambria Math"/>
                            </a:rPr>
                            <m:t>𝟑𝟐</m:t>
                          </m:r>
                        </m:e>
                      </m:d>
                      <m:r>
                        <a:rPr lang="en-GB" sz="1600" b="1" i="1" dirty="0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GB" sz="1600" b="1" i="1" dirty="0" smtClean="0">
                          <a:latin typeface="Cambria Math"/>
                          <a:ea typeface="Cambria Math"/>
                        </a:rPr>
                        <m:t>𝟐𝟎</m:t>
                      </m:r>
                    </m:oMath>
                  </m:oMathPara>
                </a14:m>
                <a:endParaRPr lang="en-GB" sz="1400" b="1" dirty="0"/>
              </a:p>
            </p:txBody>
          </p:sp>
        </mc:Choice>
        <mc:Fallback xmlns="">
          <p:sp>
            <p:nvSpPr>
              <p:cNvPr id="26" name="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7297" y="4509120"/>
                <a:ext cx="3384190" cy="540056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/>
              <p:cNvSpPr/>
              <p:nvPr/>
            </p:nvSpPr>
            <p:spPr>
              <a:xfrm>
                <a:off x="7147297" y="5078133"/>
                <a:ext cx="3384190" cy="540056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dirty="0" smtClean="0">
                          <a:latin typeface="Cambria Math"/>
                        </a:rPr>
                        <m:t>𝑶𝒑𝒑𝒐𝒔𝒊𝒕𝒆</m:t>
                      </m:r>
                      <m:r>
                        <a:rPr lang="en-GB" sz="1600" b="1" i="1" dirty="0" smtClean="0">
                          <a:latin typeface="Cambria Math"/>
                        </a:rPr>
                        <m:t>=</m:t>
                      </m:r>
                      <m:r>
                        <a:rPr lang="en-GB" sz="1600" b="1" i="1" dirty="0" smtClean="0">
                          <a:latin typeface="Cambria Math"/>
                        </a:rPr>
                        <m:t>𝟏𝟐</m:t>
                      </m:r>
                      <m:r>
                        <a:rPr lang="en-GB" sz="1600" b="1" i="1" dirty="0" smtClean="0">
                          <a:latin typeface="Cambria Math"/>
                        </a:rPr>
                        <m:t>.</m:t>
                      </m:r>
                      <m:r>
                        <a:rPr lang="en-GB" sz="1600" b="1" i="1" dirty="0" smtClean="0">
                          <a:latin typeface="Cambria Math"/>
                        </a:rPr>
                        <m:t>𝟓</m:t>
                      </m:r>
                      <m:r>
                        <a:rPr lang="en-GB" sz="1600" b="1" i="1" dirty="0" smtClean="0">
                          <a:latin typeface="Cambria Math"/>
                        </a:rPr>
                        <m:t>𝒎</m:t>
                      </m:r>
                    </m:oMath>
                  </m:oMathPara>
                </a14:m>
                <a:endParaRPr lang="en-GB" sz="1400" b="1" dirty="0"/>
              </a:p>
            </p:txBody>
          </p:sp>
        </mc:Choice>
        <mc:Fallback xmlns="">
          <p:sp>
            <p:nvSpPr>
              <p:cNvPr id="27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7297" y="5078133"/>
                <a:ext cx="3384190" cy="540056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Oval 27"/>
          <p:cNvSpPr/>
          <p:nvPr/>
        </p:nvSpPr>
        <p:spPr>
          <a:xfrm>
            <a:off x="4573408" y="5293039"/>
            <a:ext cx="1008112" cy="810092"/>
          </a:xfrm>
          <a:prstGeom prst="ellipse">
            <a:avLst/>
          </a:prstGeom>
          <a:solidFill>
            <a:schemeClr val="accent6">
              <a:lumMod val="75000"/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6378198" y="5716305"/>
                <a:ext cx="3384190" cy="540056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dirty="0" smtClean="0">
                          <a:latin typeface="Cambria Math"/>
                        </a:rPr>
                        <m:t>𝑯𝒆𝒊𝒈𝒉𝒕</m:t>
                      </m:r>
                      <m:r>
                        <a:rPr lang="en-GB" sz="1600" b="1" i="1" dirty="0" smtClean="0">
                          <a:latin typeface="Cambria Math"/>
                        </a:rPr>
                        <m:t> </m:t>
                      </m:r>
                      <m:r>
                        <a:rPr lang="en-GB" sz="1600" b="1" i="1" dirty="0" smtClean="0">
                          <a:latin typeface="Cambria Math"/>
                        </a:rPr>
                        <m:t>𝒐𝒇</m:t>
                      </m:r>
                      <m:r>
                        <a:rPr lang="en-GB" sz="1600" b="1" i="1" dirty="0" smtClean="0">
                          <a:latin typeface="Cambria Math"/>
                        </a:rPr>
                        <m:t> </m:t>
                      </m:r>
                      <m:r>
                        <a:rPr lang="en-GB" sz="1600" b="1" i="1" dirty="0" smtClean="0">
                          <a:latin typeface="Cambria Math"/>
                        </a:rPr>
                        <m:t>𝒕𝒓𝒆𝒆</m:t>
                      </m:r>
                      <m:r>
                        <a:rPr lang="en-GB" sz="1600" b="1" i="1" dirty="0" smtClean="0">
                          <a:latin typeface="Cambria Math"/>
                        </a:rPr>
                        <m:t>=</m:t>
                      </m:r>
                      <m:r>
                        <a:rPr lang="en-GB" sz="1600" b="1" i="1" dirty="0" smtClean="0">
                          <a:latin typeface="Cambria Math"/>
                        </a:rPr>
                        <m:t>𝟏𝟐</m:t>
                      </m:r>
                      <m:r>
                        <a:rPr lang="en-GB" sz="1600" b="1" i="1" dirty="0" smtClean="0">
                          <a:latin typeface="Cambria Math"/>
                        </a:rPr>
                        <m:t>.</m:t>
                      </m:r>
                      <m:r>
                        <a:rPr lang="en-GB" sz="1600" b="1" i="1" dirty="0" smtClean="0">
                          <a:latin typeface="Cambria Math"/>
                        </a:rPr>
                        <m:t>𝟓</m:t>
                      </m:r>
                      <m:r>
                        <a:rPr lang="en-GB" sz="1600" b="1" i="1" dirty="0" smtClean="0">
                          <a:latin typeface="Cambria Math"/>
                        </a:rPr>
                        <m:t>+</m:t>
                      </m:r>
                      <m:r>
                        <a:rPr lang="en-GB" sz="1600" b="1" i="1" dirty="0" smtClean="0">
                          <a:latin typeface="Cambria Math"/>
                        </a:rPr>
                        <m:t>𝟏</m:t>
                      </m:r>
                      <m:r>
                        <a:rPr lang="en-GB" sz="1600" b="1" i="1" dirty="0" smtClean="0">
                          <a:latin typeface="Cambria Math"/>
                        </a:rPr>
                        <m:t>.</m:t>
                      </m:r>
                      <m:r>
                        <a:rPr lang="en-GB" sz="1600" b="1" i="1" dirty="0" smtClean="0">
                          <a:latin typeface="Cambria Math"/>
                        </a:rPr>
                        <m:t>𝟔</m:t>
                      </m:r>
                    </m:oMath>
                  </m:oMathPara>
                </a14:m>
                <a:endParaRPr lang="en-GB" sz="1400" b="1" dirty="0"/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8198" y="5716305"/>
                <a:ext cx="3384190" cy="540056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/>
              <p:cNvSpPr/>
              <p:nvPr/>
            </p:nvSpPr>
            <p:spPr>
              <a:xfrm>
                <a:off x="9857880" y="5716305"/>
                <a:ext cx="1421902" cy="540056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dirty="0" smtClean="0">
                          <a:latin typeface="Cambria Math"/>
                        </a:rPr>
                        <m:t>=</m:t>
                      </m:r>
                      <m:r>
                        <a:rPr lang="en-GB" sz="1600" b="1" i="1" dirty="0" smtClean="0">
                          <a:latin typeface="Cambria Math"/>
                        </a:rPr>
                        <m:t>𝟏𝟒</m:t>
                      </m:r>
                      <m:r>
                        <a:rPr lang="en-GB" sz="1600" b="1" i="1" dirty="0" smtClean="0">
                          <a:latin typeface="Cambria Math"/>
                        </a:rPr>
                        <m:t>.</m:t>
                      </m:r>
                      <m:r>
                        <a:rPr lang="en-GB" sz="1600" b="1" i="1" dirty="0" smtClean="0">
                          <a:latin typeface="Cambria Math"/>
                        </a:rPr>
                        <m:t>𝟏</m:t>
                      </m:r>
                      <m:r>
                        <a:rPr lang="en-GB" sz="1600" b="1" i="1" dirty="0" smtClean="0">
                          <a:latin typeface="Cambria Math"/>
                        </a:rPr>
                        <m:t>𝒎</m:t>
                      </m:r>
                    </m:oMath>
                  </m:oMathPara>
                </a14:m>
                <a:endParaRPr lang="en-GB" sz="1400" b="1" dirty="0"/>
              </a:p>
            </p:txBody>
          </p:sp>
        </mc:Choice>
        <mc:Fallback xmlns="">
          <p:sp>
            <p:nvSpPr>
              <p:cNvPr id="30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7880" y="5716305"/>
                <a:ext cx="1421902" cy="540056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0131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22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theme/theme1.xml><?xml version="1.0" encoding="utf-8"?>
<a:theme xmlns:a="http://schemas.openxmlformats.org/drawingml/2006/main" name="Powerpoint 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Powerpoint Template</Template>
  <TotalTime>166</TotalTime>
  <Words>524</Words>
  <Application>Microsoft Office PowerPoint</Application>
  <PresentationFormat>Custom</PresentationFormat>
  <Paragraphs>117</Paragraphs>
  <Slides>18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Cambria Math</vt:lpstr>
      <vt:lpstr>Comic Sans MS</vt:lpstr>
      <vt:lpstr>Powerpoint Template</vt:lpstr>
      <vt:lpstr>Triangles in Real Life</vt:lpstr>
      <vt:lpstr>Trigonometry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SOH-CAH-TOA</vt:lpstr>
      <vt:lpstr>PowerPoint Presentation</vt:lpstr>
      <vt:lpstr>PowerPoint Presentation</vt:lpstr>
      <vt:lpstr>SOH-CAH-TOA</vt:lpstr>
      <vt:lpstr>PowerPoint Presentation</vt:lpstr>
      <vt:lpstr>PowerPoint Presentation</vt:lpstr>
      <vt:lpstr>PowerPoint Presentation</vt:lpstr>
    </vt:vector>
  </TitlesOfParts>
  <Company>Aldersley High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Trigonometry</dc:title>
  <dc:creator>Jack Warburton</dc:creator>
  <cp:lastModifiedBy>Cian Lyons</cp:lastModifiedBy>
  <cp:revision>25</cp:revision>
  <dcterms:created xsi:type="dcterms:W3CDTF">2015-10-11T17:45:09Z</dcterms:created>
  <dcterms:modified xsi:type="dcterms:W3CDTF">2020-04-24T14:29:07Z</dcterms:modified>
</cp:coreProperties>
</file>