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2" r:id="rId5"/>
    <p:sldId id="263" r:id="rId6"/>
    <p:sldId id="260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3" autoAdjust="0"/>
    <p:restoredTop sz="94660"/>
  </p:normalViewPr>
  <p:slideViewPr>
    <p:cSldViewPr snapToGrid="0">
      <p:cViewPr varScale="1">
        <p:scale>
          <a:sx n="41" d="100"/>
          <a:sy n="41" d="100"/>
        </p:scale>
        <p:origin x="84" y="1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23/04/2020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707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23/04/2020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166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23/04/2020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812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23/04/2020</a:t>
            </a:fld>
            <a:endParaRPr lang="ga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321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23/04/2020</a:t>
            </a:fld>
            <a:endParaRPr lang="ga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303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23/04/2020</a:t>
            </a:fld>
            <a:endParaRPr lang="ga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08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23/04/2020</a:t>
            </a:fld>
            <a:endParaRPr lang="ga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1874656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23/04/2020</a:t>
            </a:fld>
            <a:endParaRPr lang="ga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619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E4E4B7A-03CE-4DA5-BAFA-FDA2A785BBB1}" type="datetimeFigureOut">
              <a:rPr lang="ga-IE" smtClean="0"/>
              <a:t>23/04/2020</a:t>
            </a:fld>
            <a:endParaRPr lang="ga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ga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597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23/04/2020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756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E4B7A-03CE-4DA5-BAFA-FDA2A785BBB1}" type="datetimeFigureOut">
              <a:rPr lang="ga-IE" smtClean="0"/>
              <a:t>23/04/2020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71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E4B7A-03CE-4DA5-BAFA-FDA2A785BBB1}" type="datetimeFigureOut">
              <a:rPr lang="ga-IE" smtClean="0"/>
              <a:t>23/04/2020</a:t>
            </a:fld>
            <a:endParaRPr lang="ga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ga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FCB4D8A-9D58-441C-8306-81BF7EC14453}" type="slidenum">
              <a:rPr lang="ga-IE" smtClean="0"/>
              <a:t>‹#›</a:t>
            </a:fld>
            <a:endParaRPr lang="ga-IE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27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50C04-94D6-48E1-AA3E-36051BB51E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Operations: division</a:t>
            </a:r>
            <a:endParaRPr lang="ga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5F2FFE-56A3-4244-90D3-8B56610A4B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Complex numbers</a:t>
            </a:r>
            <a:endParaRPr lang="ga-IE" dirty="0"/>
          </a:p>
        </p:txBody>
      </p:sp>
    </p:spTree>
    <p:extLst>
      <p:ext uri="{BB962C8B-B14F-4D97-AF65-F5344CB8AC3E}">
        <p14:creationId xmlns:p14="http://schemas.microsoft.com/office/powerpoint/2010/main" val="197928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CC3D01-D449-407D-9028-534B7753E337}"/>
              </a:ext>
            </a:extLst>
          </p:cNvPr>
          <p:cNvSpPr txBox="1"/>
          <p:nvPr/>
        </p:nvSpPr>
        <p:spPr>
          <a:xfrm>
            <a:off x="1928327" y="322901"/>
            <a:ext cx="8192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Why haven’t we divided yet?</a:t>
            </a:r>
            <a:endParaRPr lang="ga-IE" sz="4000" b="1" dirty="0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9BE351E7-D087-49BB-B73A-DAB2B8291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553" y="1119553"/>
            <a:ext cx="4618893" cy="461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404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8093A2-55B8-4817-AA7A-0EE2F6848027}"/>
              </a:ext>
            </a:extLst>
          </p:cNvPr>
          <p:cNvSpPr txBox="1"/>
          <p:nvPr/>
        </p:nvSpPr>
        <p:spPr>
          <a:xfrm>
            <a:off x="1403684" y="144379"/>
            <a:ext cx="9384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u="sng" dirty="0">
                <a:solidFill>
                  <a:schemeClr val="accent1"/>
                </a:solidFill>
              </a:rPr>
              <a:t>Addition</a:t>
            </a:r>
            <a:endParaRPr lang="ga-IE" sz="4400" u="sng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FC1AD-B2CA-4EA5-8B7C-659734D7E761}"/>
              </a:ext>
            </a:extLst>
          </p:cNvPr>
          <p:cNvSpPr txBox="1"/>
          <p:nvPr/>
        </p:nvSpPr>
        <p:spPr>
          <a:xfrm>
            <a:off x="596766" y="992745"/>
            <a:ext cx="618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</a:pPr>
            <a:endParaRPr lang="ga-IE" sz="2400" dirty="0"/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6E577F12-A568-4E52-8C02-38E7D50D5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735" y="234215"/>
            <a:ext cx="10017324" cy="563104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1DE65D2-17F6-4EF4-89A7-5B9BBB166BCD}"/>
              </a:ext>
            </a:extLst>
          </p:cNvPr>
          <p:cNvSpPr/>
          <p:nvPr/>
        </p:nvSpPr>
        <p:spPr>
          <a:xfrm>
            <a:off x="1403684" y="2513396"/>
            <a:ext cx="9577137" cy="676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7CC26-B282-4DA5-94E5-A6F1B9E94413}"/>
              </a:ext>
            </a:extLst>
          </p:cNvPr>
          <p:cNvSpPr/>
          <p:nvPr/>
        </p:nvSpPr>
        <p:spPr>
          <a:xfrm>
            <a:off x="3994485" y="3249784"/>
            <a:ext cx="5582652" cy="676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EE9C8A-F552-4F5E-8BB4-8240D25E9681}"/>
              </a:ext>
            </a:extLst>
          </p:cNvPr>
          <p:cNvSpPr/>
          <p:nvPr/>
        </p:nvSpPr>
        <p:spPr>
          <a:xfrm>
            <a:off x="3261360" y="4087756"/>
            <a:ext cx="3524451" cy="9847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80AAF8-1A87-45A9-858C-93821592F789}"/>
              </a:ext>
            </a:extLst>
          </p:cNvPr>
          <p:cNvSpPr/>
          <p:nvPr/>
        </p:nvSpPr>
        <p:spPr>
          <a:xfrm>
            <a:off x="7457188" y="4145020"/>
            <a:ext cx="4020152" cy="1698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5ADA67-AE13-436F-848D-11931EE2EBB3}"/>
              </a:ext>
            </a:extLst>
          </p:cNvPr>
          <p:cNvSpPr/>
          <p:nvPr/>
        </p:nvSpPr>
        <p:spPr>
          <a:xfrm>
            <a:off x="5362876" y="1223577"/>
            <a:ext cx="5937183" cy="713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2963214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8093A2-55B8-4817-AA7A-0EE2F6848027}"/>
              </a:ext>
            </a:extLst>
          </p:cNvPr>
          <p:cNvSpPr txBox="1"/>
          <p:nvPr/>
        </p:nvSpPr>
        <p:spPr>
          <a:xfrm>
            <a:off x="1403684" y="144379"/>
            <a:ext cx="9384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u="sng" dirty="0">
                <a:solidFill>
                  <a:schemeClr val="accent1"/>
                </a:solidFill>
              </a:rPr>
              <a:t>Subtraction</a:t>
            </a:r>
            <a:endParaRPr lang="ga-IE" sz="4400" u="sng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FC1AD-B2CA-4EA5-8B7C-659734D7E761}"/>
              </a:ext>
            </a:extLst>
          </p:cNvPr>
          <p:cNvSpPr txBox="1"/>
          <p:nvPr/>
        </p:nvSpPr>
        <p:spPr>
          <a:xfrm>
            <a:off x="596766" y="992745"/>
            <a:ext cx="618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</a:pPr>
            <a:endParaRPr lang="ga-IE" sz="2400" dirty="0"/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670CDC57-A664-46E2-A2B6-013B0A9FD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131" y="144379"/>
            <a:ext cx="9796635" cy="550698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9AC64A3-4286-4DAD-9943-868B4D61D803}"/>
              </a:ext>
            </a:extLst>
          </p:cNvPr>
          <p:cNvSpPr/>
          <p:nvPr/>
        </p:nvSpPr>
        <p:spPr>
          <a:xfrm>
            <a:off x="1403684" y="3090912"/>
            <a:ext cx="9577137" cy="676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7728E2-348A-43E1-969F-D3FF8D7061D5}"/>
              </a:ext>
            </a:extLst>
          </p:cNvPr>
          <p:cNvSpPr/>
          <p:nvPr/>
        </p:nvSpPr>
        <p:spPr>
          <a:xfrm>
            <a:off x="1397880" y="3888345"/>
            <a:ext cx="7036994" cy="676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91C7FC-5697-4A48-93C7-1C97B1312588}"/>
              </a:ext>
            </a:extLst>
          </p:cNvPr>
          <p:cNvSpPr/>
          <p:nvPr/>
        </p:nvSpPr>
        <p:spPr>
          <a:xfrm>
            <a:off x="4070184" y="4629794"/>
            <a:ext cx="2116264" cy="912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FE407BE-E9B1-48B7-996C-DF7BEFBB703B}"/>
              </a:ext>
            </a:extLst>
          </p:cNvPr>
          <p:cNvSpPr/>
          <p:nvPr/>
        </p:nvSpPr>
        <p:spPr>
          <a:xfrm>
            <a:off x="7376742" y="4017083"/>
            <a:ext cx="3708023" cy="1634279"/>
          </a:xfrm>
          <a:custGeom>
            <a:avLst/>
            <a:gdLst>
              <a:gd name="connsiteX0" fmla="*/ 1391026 w 3708023"/>
              <a:gd name="connsiteY0" fmla="*/ 0 h 1634279"/>
              <a:gd name="connsiteX1" fmla="*/ 3708023 w 3708023"/>
              <a:gd name="connsiteY1" fmla="*/ 0 h 1634279"/>
              <a:gd name="connsiteX2" fmla="*/ 3708023 w 3708023"/>
              <a:gd name="connsiteY2" fmla="*/ 1634279 h 1634279"/>
              <a:gd name="connsiteX3" fmla="*/ 2116264 w 3708023"/>
              <a:gd name="connsiteY3" fmla="*/ 1634279 h 1634279"/>
              <a:gd name="connsiteX4" fmla="*/ 1391026 w 3708023"/>
              <a:gd name="connsiteY4" fmla="*/ 1634279 h 1634279"/>
              <a:gd name="connsiteX5" fmla="*/ 0 w 3708023"/>
              <a:gd name="connsiteY5" fmla="*/ 1634279 h 1634279"/>
              <a:gd name="connsiteX6" fmla="*/ 0 w 3708023"/>
              <a:gd name="connsiteY6" fmla="*/ 958103 h 1634279"/>
              <a:gd name="connsiteX7" fmla="*/ 1391026 w 3708023"/>
              <a:gd name="connsiteY7" fmla="*/ 958103 h 1634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8023" h="1634279">
                <a:moveTo>
                  <a:pt x="1391026" y="0"/>
                </a:moveTo>
                <a:lnTo>
                  <a:pt x="3708023" y="0"/>
                </a:lnTo>
                <a:lnTo>
                  <a:pt x="3708023" y="1634279"/>
                </a:lnTo>
                <a:lnTo>
                  <a:pt x="2116264" y="1634279"/>
                </a:lnTo>
                <a:lnTo>
                  <a:pt x="1391026" y="1634279"/>
                </a:lnTo>
                <a:lnTo>
                  <a:pt x="0" y="1634279"/>
                </a:lnTo>
                <a:lnTo>
                  <a:pt x="0" y="958103"/>
                </a:lnTo>
                <a:lnTo>
                  <a:pt x="1391026" y="958103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95801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8093A2-55B8-4817-AA7A-0EE2F6848027}"/>
              </a:ext>
            </a:extLst>
          </p:cNvPr>
          <p:cNvSpPr txBox="1"/>
          <p:nvPr/>
        </p:nvSpPr>
        <p:spPr>
          <a:xfrm>
            <a:off x="1403684" y="144379"/>
            <a:ext cx="9384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u="sng" dirty="0">
                <a:solidFill>
                  <a:schemeClr val="accent1"/>
                </a:solidFill>
              </a:rPr>
              <a:t>Multiplication</a:t>
            </a:r>
            <a:endParaRPr lang="ga-IE" sz="4400" u="sng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FC1AD-B2CA-4EA5-8B7C-659734D7E761}"/>
              </a:ext>
            </a:extLst>
          </p:cNvPr>
          <p:cNvSpPr txBox="1"/>
          <p:nvPr/>
        </p:nvSpPr>
        <p:spPr>
          <a:xfrm>
            <a:off x="596766" y="992745"/>
            <a:ext cx="6189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</a:pPr>
            <a:endParaRPr lang="ga-IE" sz="2400" dirty="0"/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822AC486-5E3C-4D39-9474-BD2F071EC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42" y="-27992"/>
            <a:ext cx="9682113" cy="544260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902F34D-775D-47E3-9746-55BACE3EC387}"/>
              </a:ext>
            </a:extLst>
          </p:cNvPr>
          <p:cNvSpPr/>
          <p:nvPr/>
        </p:nvSpPr>
        <p:spPr>
          <a:xfrm>
            <a:off x="1578543" y="2752825"/>
            <a:ext cx="9577137" cy="676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B7063-0554-4B59-9FD1-68DEBDB808E2}"/>
              </a:ext>
            </a:extLst>
          </p:cNvPr>
          <p:cNvSpPr/>
          <p:nvPr/>
        </p:nvSpPr>
        <p:spPr>
          <a:xfrm>
            <a:off x="1578542" y="3469458"/>
            <a:ext cx="9577137" cy="676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54B0E6-BD6B-4BD6-95B0-92B3C19D1D02}"/>
              </a:ext>
            </a:extLst>
          </p:cNvPr>
          <p:cNvSpPr/>
          <p:nvPr/>
        </p:nvSpPr>
        <p:spPr>
          <a:xfrm>
            <a:off x="5635690" y="4244266"/>
            <a:ext cx="1940767" cy="1023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FD72DF-5882-46AA-99BB-B1B0BB9BD803}"/>
              </a:ext>
            </a:extLst>
          </p:cNvPr>
          <p:cNvSpPr/>
          <p:nvPr/>
        </p:nvSpPr>
        <p:spPr>
          <a:xfrm>
            <a:off x="8862216" y="739217"/>
            <a:ext cx="2124220" cy="19341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ga-IE"/>
          </a:p>
        </p:txBody>
      </p:sp>
    </p:spTree>
    <p:extLst>
      <p:ext uri="{BB962C8B-B14F-4D97-AF65-F5344CB8AC3E}">
        <p14:creationId xmlns:p14="http://schemas.microsoft.com/office/powerpoint/2010/main" val="297924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52F3C2-CC18-4709-BB79-A603BC7E6881}"/>
              </a:ext>
            </a:extLst>
          </p:cNvPr>
          <p:cNvSpPr txBox="1"/>
          <p:nvPr/>
        </p:nvSpPr>
        <p:spPr>
          <a:xfrm>
            <a:off x="1427747" y="1157410"/>
            <a:ext cx="9336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Division by 2</a:t>
            </a:r>
            <a:endParaRPr lang="ga-IE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673E5-393B-4C4A-990A-585846833B2C}"/>
              </a:ext>
            </a:extLst>
          </p:cNvPr>
          <p:cNvSpPr txBox="1"/>
          <p:nvPr/>
        </p:nvSpPr>
        <p:spPr>
          <a:xfrm>
            <a:off x="2431938" y="2277391"/>
            <a:ext cx="1452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6 + 2i</a:t>
            </a:r>
            <a:endParaRPr lang="ga-IE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2A1C9-79EA-47A5-8B2D-084E5FD55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02" y="3152112"/>
            <a:ext cx="3801005" cy="228631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C2A3BE-FC4D-4EB8-A6D6-050857C8A7CF}"/>
                  </a:ext>
                </a:extLst>
              </p:cNvPr>
              <p:cNvSpPr txBox="1"/>
              <p:nvPr/>
            </p:nvSpPr>
            <p:spPr>
              <a:xfrm>
                <a:off x="7620976" y="2032131"/>
                <a:ext cx="2844893" cy="891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3600" b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1" i="0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GB" sz="3600" b="1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3600" b="1" i="0" smtClean="0">
                            <a:latin typeface="Cambria Math" panose="02040503050406030204" pitchFamily="18" charset="0"/>
                          </a:rPr>
                          <m:t>𝟐𝐢</m:t>
                        </m:r>
                      </m:num>
                      <m:den>
                        <m:r>
                          <a:rPr lang="en-GB" sz="36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GB" sz="3600" b="1" dirty="0"/>
                  <a:t> </a:t>
                </a:r>
                <a:r>
                  <a:rPr lang="en-GB" sz="3600" dirty="0"/>
                  <a:t>= 3 + </a:t>
                </a:r>
                <a:r>
                  <a:rPr lang="en-GB" sz="3600" dirty="0" err="1"/>
                  <a:t>i</a:t>
                </a:r>
                <a:endParaRPr lang="ga-IE" sz="36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C2A3BE-FC4D-4EB8-A6D6-050857C8A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976" y="2032131"/>
                <a:ext cx="2844893" cy="891591"/>
              </a:xfrm>
              <a:prstGeom prst="rect">
                <a:avLst/>
              </a:prstGeom>
              <a:blipFill>
                <a:blip r:embed="rId3"/>
                <a:stretch>
                  <a:fillRect b="-10884"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3AC6C8F-9E17-483A-8042-0DD75D21A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057" y="3152112"/>
            <a:ext cx="3781953" cy="219105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DABCF44-5272-4F46-8170-CE72B4B6CF12}"/>
                  </a:ext>
                </a:extLst>
              </p:cNvPr>
              <p:cNvSpPr/>
              <p:nvPr/>
            </p:nvSpPr>
            <p:spPr>
              <a:xfrm>
                <a:off x="5435145" y="2092725"/>
                <a:ext cx="1321707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ga-IE" sz="4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8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ga-IE" sz="48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DABCF44-5272-4F46-8170-CE72B4B6CF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45" y="2092725"/>
                <a:ext cx="1321707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894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52F3C2-CC18-4709-BB79-A603BC7E6881}"/>
              </a:ext>
            </a:extLst>
          </p:cNvPr>
          <p:cNvSpPr txBox="1"/>
          <p:nvPr/>
        </p:nvSpPr>
        <p:spPr>
          <a:xfrm>
            <a:off x="1427747" y="1157410"/>
            <a:ext cx="9336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Division by 5</a:t>
            </a:r>
            <a:endParaRPr lang="ga-IE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673E5-393B-4C4A-990A-585846833B2C}"/>
              </a:ext>
            </a:extLst>
          </p:cNvPr>
          <p:cNvSpPr txBox="1"/>
          <p:nvPr/>
        </p:nvSpPr>
        <p:spPr>
          <a:xfrm>
            <a:off x="2431938" y="2277391"/>
            <a:ext cx="1452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6 + 2i</a:t>
            </a:r>
            <a:endParaRPr lang="ga-IE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2A1C9-79EA-47A5-8B2D-084E5FD55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02" y="3152112"/>
            <a:ext cx="3801005" cy="228631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C2A3BE-FC4D-4EB8-A6D6-050857C8A7CF}"/>
                  </a:ext>
                </a:extLst>
              </p:cNvPr>
              <p:cNvSpPr txBox="1"/>
              <p:nvPr/>
            </p:nvSpPr>
            <p:spPr>
              <a:xfrm>
                <a:off x="7620976" y="2032131"/>
                <a:ext cx="2844893" cy="924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3600" b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1" i="0" smtClean="0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GB" sz="3600" b="1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3600" b="1" i="0" smtClean="0">
                            <a:latin typeface="Cambria Math" panose="02040503050406030204" pitchFamily="18" charset="0"/>
                          </a:rPr>
                          <m:t>𝟐𝐢</m:t>
                        </m:r>
                      </m:num>
                      <m:den>
                        <m:r>
                          <a:rPr lang="en-GB" sz="3600" b="1" i="0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3600" b="1" dirty="0"/>
                  <a:t> </a:t>
                </a:r>
                <a:r>
                  <a:rPr lang="en-GB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3600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36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600" dirty="0" err="1"/>
                  <a:t>i</a:t>
                </a:r>
                <a:endParaRPr lang="ga-IE" sz="36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C2A3BE-FC4D-4EB8-A6D6-050857C8A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976" y="2032131"/>
                <a:ext cx="2844893" cy="924805"/>
              </a:xfrm>
              <a:prstGeom prst="rect">
                <a:avLst/>
              </a:prstGeom>
              <a:blipFill>
                <a:blip r:embed="rId3"/>
                <a:stretch>
                  <a:fillRect b="-7237"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235640D6-C30F-433F-A8B1-E033A9975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976" y="3152112"/>
            <a:ext cx="3810532" cy="216247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525B5E-7EAE-407D-BE18-CD2E5953B5DC}"/>
                  </a:ext>
                </a:extLst>
              </p:cNvPr>
              <p:cNvSpPr txBox="1"/>
              <p:nvPr/>
            </p:nvSpPr>
            <p:spPr>
              <a:xfrm>
                <a:off x="5386125" y="2138891"/>
                <a:ext cx="1419748" cy="923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ga-IE" sz="60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60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ga-IE" sz="60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525B5E-7EAE-407D-BE18-CD2E5953B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125" y="2138891"/>
                <a:ext cx="1419748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2319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DEBEF-710B-4349-9928-A143DAE8F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000" y="1125361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n-GB" sz="3600" b="1" dirty="0"/>
              <a:t>DIVIDE BY ANOTHER COMPLEX NUMBER</a:t>
            </a:r>
            <a:endParaRPr lang="ga-IE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83592E-5EE7-485C-B698-388E2372C7C7}"/>
                  </a:ext>
                </a:extLst>
              </p:cNvPr>
              <p:cNvSpPr txBox="1"/>
              <p:nvPr/>
            </p:nvSpPr>
            <p:spPr>
              <a:xfrm>
                <a:off x="1148570" y="2370520"/>
                <a:ext cx="2268399" cy="1142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dirty="0" smtClean="0">
                              <a:latin typeface="Cambria Math" panose="02040503050406030204" pitchFamily="18" charset="0"/>
                            </a:rPr>
                            <m:t>6+2</m:t>
                          </m:r>
                          <m:r>
                            <a:rPr lang="en-GB" sz="3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GB" sz="3600" b="0" i="1" dirty="0" smtClean="0">
                              <a:latin typeface="Cambria Math" panose="02040503050406030204" pitchFamily="18" charset="0"/>
                            </a:rPr>
                            <m:t>5+</m:t>
                          </m:r>
                          <m:r>
                            <a:rPr lang="en-GB" sz="3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ga-IE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83592E-5EE7-485C-B698-388E2372C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570" y="2370520"/>
                <a:ext cx="2268399" cy="11423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F3CB8F8-2A2A-4753-832E-BE7B09000CB7}"/>
              </a:ext>
            </a:extLst>
          </p:cNvPr>
          <p:cNvCxnSpPr>
            <a:cxnSpLocks/>
          </p:cNvCxnSpPr>
          <p:nvPr/>
        </p:nvCxnSpPr>
        <p:spPr>
          <a:xfrm flipV="1">
            <a:off x="3224463" y="2174596"/>
            <a:ext cx="2229853" cy="109799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0DBB68-35AE-41A4-A05F-BF3E0F5D585D}"/>
                  </a:ext>
                </a:extLst>
              </p:cNvPr>
              <p:cNvSpPr txBox="1"/>
              <p:nvPr/>
            </p:nvSpPr>
            <p:spPr>
              <a:xfrm>
                <a:off x="5743074" y="1876926"/>
                <a:ext cx="5855368" cy="4809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5+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400" dirty="0"/>
                  <a:t> is a Complex Number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But we only know how to divide by a Real Number.</a:t>
                </a:r>
              </a:p>
              <a:p>
                <a:endParaRPr lang="en-GB" sz="2400" dirty="0"/>
              </a:p>
              <a:p>
                <a:r>
                  <a:rPr lang="en-GB" sz="2400" b="1" dirty="0"/>
                  <a:t>RECALL: </a:t>
                </a:r>
                <a:r>
                  <a:rPr lang="en-GB" sz="2400" dirty="0"/>
                  <a:t>Complex Number multiplied by its conjugate is a Real Number.</a:t>
                </a:r>
              </a:p>
              <a:p>
                <a:endParaRPr lang="en-GB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5+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=5−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4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5+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25−5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+1=26</m:t>
                      </m:r>
                    </m:oMath>
                  </m:oMathPara>
                </a14:m>
                <a:endParaRPr lang="en-GB" sz="2400" dirty="0"/>
              </a:p>
              <a:p>
                <a:endParaRPr lang="en-GB" sz="240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0DBB68-35AE-41A4-A05F-BF3E0F5D5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074" y="1876926"/>
                <a:ext cx="5855368" cy="4809586"/>
              </a:xfrm>
              <a:prstGeom prst="rect">
                <a:avLst/>
              </a:prstGeom>
              <a:blipFill>
                <a:blip r:embed="rId3"/>
                <a:stretch>
                  <a:fillRect l="-1561" t="-1014"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2859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DEBEF-710B-4349-9928-A143DAE8F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000" y="1125361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n-GB" sz="3600" b="1" dirty="0"/>
              <a:t>DIVIDE BY ANOTHER COMPLEX NUMBER</a:t>
            </a:r>
            <a:endParaRPr lang="ga-IE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83592E-5EE7-485C-B698-388E2372C7C7}"/>
                  </a:ext>
                </a:extLst>
              </p:cNvPr>
              <p:cNvSpPr txBox="1"/>
              <p:nvPr/>
            </p:nvSpPr>
            <p:spPr>
              <a:xfrm>
                <a:off x="1148570" y="2370520"/>
                <a:ext cx="2268399" cy="1142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dirty="0" smtClean="0">
                              <a:latin typeface="Cambria Math" panose="02040503050406030204" pitchFamily="18" charset="0"/>
                            </a:rPr>
                            <m:t>6+2</m:t>
                          </m:r>
                          <m:r>
                            <a:rPr lang="en-GB" sz="3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GB" sz="3600" b="0" i="1" dirty="0" smtClean="0">
                              <a:latin typeface="Cambria Math" panose="02040503050406030204" pitchFamily="18" charset="0"/>
                            </a:rPr>
                            <m:t>5+</m:t>
                          </m:r>
                          <m:r>
                            <a:rPr lang="en-GB" sz="3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ga-IE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83592E-5EE7-485C-B698-388E2372C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570" y="2370520"/>
                <a:ext cx="2268399" cy="11423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F3CB8F8-2A2A-4753-832E-BE7B09000CB7}"/>
              </a:ext>
            </a:extLst>
          </p:cNvPr>
          <p:cNvCxnSpPr>
            <a:cxnSpLocks/>
          </p:cNvCxnSpPr>
          <p:nvPr/>
        </p:nvCxnSpPr>
        <p:spPr>
          <a:xfrm>
            <a:off x="3178181" y="2723593"/>
            <a:ext cx="1971335" cy="2181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0DBB68-35AE-41A4-A05F-BF3E0F5D585D}"/>
                  </a:ext>
                </a:extLst>
              </p:cNvPr>
              <p:cNvSpPr txBox="1"/>
              <p:nvPr/>
            </p:nvSpPr>
            <p:spPr>
              <a:xfrm>
                <a:off x="5743074" y="1876926"/>
                <a:ext cx="5855368" cy="7747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We will have to multiply </a:t>
                </a:r>
                <a:r>
                  <a:rPr lang="en-GB" sz="2000" b="1" dirty="0"/>
                  <a:t>both</a:t>
                </a:r>
                <a:r>
                  <a:rPr lang="en-GB" sz="2000" dirty="0"/>
                  <a:t> the denominator and numerator by the conjugate.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6+2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5+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5−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  <a:p>
                <a:endParaRPr lang="en-GB" sz="20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30−6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+10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−10</m:t>
                          </m:r>
                          <m:sSup>
                            <m:sSupPr>
                              <m:ctrlP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  <a:p>
                <a:endParaRPr lang="en-GB" sz="20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−10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(−1)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26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  <a:p>
                <a:endParaRPr lang="en-GB" sz="20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26</m:t>
                          </m:r>
                        </m:den>
                      </m:f>
                      <m:r>
                        <a:rPr lang="en-GB" sz="20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ga-IE" sz="2000" dirty="0"/>
              </a:p>
              <a:p>
                <a:endParaRPr lang="ga-IE" sz="2000" dirty="0"/>
              </a:p>
              <a:p>
                <a:endParaRPr lang="ga-IE" sz="2000" dirty="0"/>
              </a:p>
              <a:p>
                <a:endParaRPr lang="ga-IE" sz="2000" dirty="0"/>
              </a:p>
              <a:p>
                <a:endParaRPr lang="ga-IE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0DBB68-35AE-41A4-A05F-BF3E0F5D5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074" y="1876926"/>
                <a:ext cx="5855368" cy="7747442"/>
              </a:xfrm>
              <a:prstGeom prst="rect">
                <a:avLst/>
              </a:prstGeom>
              <a:blipFill>
                <a:blip r:embed="rId3"/>
                <a:stretch>
                  <a:fillRect l="-1041" t="-472"/>
                </a:stretch>
              </a:blipFill>
            </p:spPr>
            <p:txBody>
              <a:bodyPr/>
              <a:lstStyle/>
              <a:p>
                <a:r>
                  <a:rPr lang="ga-I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D225E3-8AD8-4B72-B726-E080304A4158}"/>
              </a:ext>
            </a:extLst>
          </p:cNvPr>
          <p:cNvCxnSpPr>
            <a:cxnSpLocks/>
          </p:cNvCxnSpPr>
          <p:nvPr/>
        </p:nvCxnSpPr>
        <p:spPr>
          <a:xfrm flipV="1">
            <a:off x="3178180" y="2941702"/>
            <a:ext cx="1971336" cy="33088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01763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173</TotalTime>
  <Words>128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Cambria Math</vt:lpstr>
      <vt:lpstr>Gill Sans MT</vt:lpstr>
      <vt:lpstr>Gallery</vt:lpstr>
      <vt:lpstr>Operations: division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DIVIDE BY ANOTHER COMPLEX NUMBER</vt:lpstr>
      <vt:lpstr>DIVIDE BY ANOTHER COMPLEX NUMBER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Complex conjugate</dc:title>
  <dc:creator>Cian Lyons</dc:creator>
  <cp:lastModifiedBy>Cian Lyons</cp:lastModifiedBy>
  <cp:revision>14</cp:revision>
  <dcterms:created xsi:type="dcterms:W3CDTF">2020-04-22T18:30:43Z</dcterms:created>
  <dcterms:modified xsi:type="dcterms:W3CDTF">2020-04-23T13:17:33Z</dcterms:modified>
</cp:coreProperties>
</file>