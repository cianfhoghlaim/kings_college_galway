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2.xml" ContentType="application/vnd.openxmlformats-officedocument.presentationml.notesSlide+xml"/>
  <Override PartName="/ppt/tags/tag22.xml" ContentType="application/vnd.openxmlformats-officedocument.presentationml.tags+xml"/>
  <Override PartName="/ppt/notesSlides/notesSlide3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4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97" r:id="rId2"/>
    <p:sldId id="279" r:id="rId3"/>
    <p:sldId id="281" r:id="rId4"/>
    <p:sldId id="280" r:id="rId5"/>
    <p:sldId id="292" r:id="rId6"/>
    <p:sldId id="277" r:id="rId7"/>
    <p:sldId id="294" r:id="rId8"/>
    <p:sldId id="295" r:id="rId9"/>
    <p:sldId id="296" r:id="rId10"/>
    <p:sldId id="283" r:id="rId11"/>
    <p:sldId id="284" r:id="rId12"/>
    <p:sldId id="285" r:id="rId13"/>
    <p:sldId id="289" r:id="rId14"/>
    <p:sldId id="28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D490"/>
    <a:srgbClr val="E5D1F7"/>
    <a:srgbClr val="81E58B"/>
    <a:srgbClr val="DCC2F4"/>
    <a:srgbClr val="6AFC90"/>
    <a:srgbClr val="6FCF51"/>
    <a:srgbClr val="FFFFAB"/>
    <a:srgbClr val="66FF66"/>
    <a:srgbClr val="FFFF5D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49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1992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F030A-75ED-4BB7-9718-9A110C2A21A1}" type="datetimeFigureOut">
              <a:rPr lang="en-GB" smtClean="0"/>
              <a:pPr/>
              <a:t>22/01/2020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4D448-5E08-4323-96E0-1DBE422D60B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66748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CE6C6-53E1-4A2D-A875-249D2A404BDF}" type="datetimeFigureOut">
              <a:rPr lang="en-MY" smtClean="0"/>
              <a:pPr/>
              <a:t>22/1/2020</a:t>
            </a:fld>
            <a:endParaRPr lang="en-MY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26F21-490C-4168-B24C-9A2E9E2D60E1}" type="slidenum">
              <a:rPr lang="en-MY" smtClean="0"/>
              <a:pPr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544169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Stop watch: taken from - </a:t>
            </a:r>
            <a:r>
              <a:rPr lang="en-GB" altLang="en-US" dirty="0"/>
              <a:t>https://www.flickr.com/photos/133046299@N03/26065725796/in/photolist-FHkEas-owcyQq-x7CFfr-NEDYNn-vBvpcX-65m1aJ-BPkRi8-PmYqqh-ziYXty-D2Mg3V-2exsSB-AZDGsA-x5eKg9-Hx9qQg-GBx2m9-9RSt1J-Hub933-KxnKih-vVKasq-Hx9pwe-Hx9qki-KWkMs7-KeaLNj-x5JTnA-CK9UVZ-KMnzv1-c2LFqN-awKby9-dcY8Sx-Ub6a2m-VqtSuF-d8EYR5-vB7KDq-xVExkw-enDhSt-BTMt8K-rQVH5i-w9BQsg-5sBuSW-wNUiHq-4fsVw-xmRcGg-9n7U7e-JR4v8C-wNUwhy-AJegJa-31fb1T-JXjse1-jRrEbV-x5JTTA/ http</a:t>
            </a:r>
            <a:r>
              <a:rPr lang="en-US" altLang="en-US" dirty="0"/>
              <a:t>://creativecommons.org/licenses/publicdomain/</a:t>
            </a:r>
            <a:endParaRPr lang="en-GB" altLang="en-US" dirty="0"/>
          </a:p>
          <a:p>
            <a:endParaRPr lang="en-US" altLang="en-US" dirty="0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249F46-5A5B-4E7B-839C-888B047853B3}" type="slidenum">
              <a:rPr lang="en-GB" altLang="en-US" smtClean="0"/>
              <a:pPr/>
              <a:t>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975879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Clipart – hand holding brochure : taken from - </a:t>
            </a:r>
            <a:r>
              <a:rPr lang="en-GB" dirty="0"/>
              <a:t>https://openclipart.org/detail/742/hand-holding-brochure</a:t>
            </a:r>
            <a:r>
              <a:rPr lang="en-US" altLang="en-US" dirty="0"/>
              <a:t> http://creativecommons.org/licenses/publicdomain/</a:t>
            </a:r>
            <a:endParaRPr lang="en-GB" alt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26F21-490C-4168-B24C-9A2E9E2D60E1}" type="slidenum">
              <a:rPr lang="en-MY" smtClean="0"/>
              <a:pPr/>
              <a:t>5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019579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Clipart – Questions Clipart</a:t>
            </a:r>
            <a:r>
              <a:rPr lang="en-US" altLang="en-US" baseline="0" dirty="0"/>
              <a:t> #</a:t>
            </a:r>
            <a:r>
              <a:rPr lang="en-US" altLang="en-US" dirty="0"/>
              <a:t>29226: taken from </a:t>
            </a:r>
            <a:r>
              <a:rPr lang="en-GB" altLang="en-US" dirty="0"/>
              <a:t>- h</a:t>
            </a:r>
            <a:r>
              <a:rPr lang="en-GB" dirty="0"/>
              <a:t>ttp://clipartix.com/questions-clipart-image-29226/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26F21-490C-4168-B24C-9A2E9E2D60E1}" type="slidenum">
              <a:rPr lang="en-MY" smtClean="0"/>
              <a:pPr/>
              <a:t>6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87276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26F21-490C-4168-B24C-9A2E9E2D60E1}" type="slidenum">
              <a:rPr lang="en-MY" smtClean="0"/>
              <a:pPr/>
              <a:t>8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317817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Stop watch: taken from - </a:t>
            </a:r>
            <a:r>
              <a:rPr lang="en-GB" altLang="en-US" dirty="0"/>
              <a:t>https://www.flickr.com/photos/133046299@N03/26065725796/in/photolist-FHkEas-owcyQq-x7CFfr-NEDYNn-vBvpcX-65m1aJ-BPkRi8-PmYqqh-ziYXty-D2Mg3V-2exsSB-AZDGsA-x5eKg9-Hx9qQg-GBx2m9-9RSt1J-Hub933-KxnKih-vVKasq-Hx9pwe-Hx9qki-KWkMs7-KeaLNj-x5JTnA-CK9UVZ-KMnzv1-c2LFqN-awKby9-dcY8Sx-Ub6a2m-VqtSuF-d8EYR5-vB7KDq-xVExkw-enDhSt-BTMt8K-rQVH5i-w9BQsg-5sBuSW-wNUiHq-4fsVw-xmRcGg-9n7U7e-JR4v8C-wNUwhy-AJegJa-31fb1T-JXjse1-jRrEbV-x5JTTA/ http</a:t>
            </a:r>
            <a:r>
              <a:rPr lang="en-US" altLang="en-US" dirty="0"/>
              <a:t>://creativecommons.org/licenses/publicdomain/</a:t>
            </a:r>
            <a:endParaRPr lang="en-GB" altLang="en-US" dirty="0"/>
          </a:p>
          <a:p>
            <a:endParaRPr lang="en-US" alt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26F21-490C-4168-B24C-9A2E9E2D60E1}" type="slidenum">
              <a:rPr lang="en-MY" smtClean="0"/>
              <a:pPr/>
              <a:t>14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866422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C6BC-1584-4BEF-89F6-4570EFA8B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7DABA-08A5-4523-9D77-9E43F15D0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E05F2-FC3C-4FCA-802A-F909A9CCC8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59A38-1D67-4BCD-9DEF-7A91679DC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F0ED5-FBA3-43A7-AD22-63E3B4A96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939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52214-5147-45B0-93F7-A80664C9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07604-2AC3-48B3-812F-714D7C346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D75A8-8996-4FE1-ACF4-E78BA9410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87B56-74C0-4172-922A-29336E2F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CB2CE-8CD9-423D-B7F7-87574D0FC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477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8964-EAE4-455A-8C0B-04492E88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BA80A-8FE5-497C-BD17-14F32E5F9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51E78-2CC2-4346-96CC-4411E39F9A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A84AF-8799-4A35-9F32-F8F5459DB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241E1-0F1E-4586-A915-26CC5C1C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892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067B4-87E3-4ACF-8B69-09C024DD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D909C-A699-4F63-A103-E3E8AC6131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5E3A4-E60F-4B90-9A3C-40747C8AD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D2805-D487-4006-A5CD-D14200E2E5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A75E8-D463-4A7B-949A-290420087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EFABA-A365-4736-86D3-703BEFF0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270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D4721-9BA7-4534-8E99-882E1A2DB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099CC-436D-4F40-A3A7-C3D3AF243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FD5BA-1690-40B3-A51F-6857E9BEB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352D8-5C3C-4FE5-B71F-AB650CB50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B22AC-FF34-4A58-A2D0-5B65684BB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60F8C4-36FD-4848-9C81-23BECC0221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FDB9E3-D2FE-4B51-B4F4-3A5BE35C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DAE4F0-07F8-4844-8E1E-BCEE9214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820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20818-AC48-4F11-8573-0B6A93EE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5BF5F-A8DD-45B2-A5D6-8B5AD0F609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D7D04-B278-419C-92AD-B433E037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2879C-8EC2-490F-BD87-831BCA0B8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495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5FE21F-0944-4DB3-949B-F0B809502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B5F2CE-2776-4CC8-A701-8F917F308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C4645-2AAD-457B-A2C8-EF656456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692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3DD71-FC2C-4EAF-9678-CE7C55714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EAD57-F803-4AA3-8686-FA0A9715E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27833-F9B6-499B-A5DA-3ABC544D4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8E86C-FFC4-4AE5-8B3E-20778D7A63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C320A-38C6-4253-B0F9-E54E72B7E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D589C-30B0-45FF-ADB2-17312288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068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4857-BD7B-4C9F-AB67-4A85A613F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1F9107-1B9D-4910-AE02-4F3325002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17654-B332-472A-AA52-2DD7194BF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9AAAA-81F4-4610-A93F-ABBD8CE4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2841E-05BB-4C21-A0DD-56936427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F1A0F-A153-4A37-8CCF-D88EC121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846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F5D5-CF19-4C50-9086-0133B903D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4A09D-4037-4D26-A319-766449C2E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829DF-0540-4EE8-A063-16C83BC80D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FF314-C118-4479-B836-A00BA38CB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62BCB-0C03-4BC6-A181-0E465600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012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A3B690-2032-4137-99E8-0546C1F1A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20AD4-241B-4087-94B8-6E0B8E49A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942C2-4CD7-40DA-8CEC-F63E6EA488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576F6-40ED-490A-9C6A-CB9148413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37AFD-9D86-4312-A503-5F40EFBC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58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5778AA-C344-42DF-9F99-C70DEC58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3B34B-A3E6-48B9-B156-0C38BCFB8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AD867-3C5A-4DCD-BFDE-431AFA3885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CEFAB-86B4-4991-828D-C8CFCC171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11C83F-31D8-4C74-B22B-49DC22BA1B1E}"/>
              </a:ext>
            </a:extLst>
          </p:cNvPr>
          <p:cNvSpPr txBox="1"/>
          <p:nvPr userDrawn="1"/>
        </p:nvSpPr>
        <p:spPr>
          <a:xfrm>
            <a:off x="4114800" y="109420"/>
            <a:ext cx="4953000" cy="830997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u="sng" dirty="0"/>
              <a:t>Lesson Objectives</a:t>
            </a:r>
            <a:r>
              <a:rPr lang="en-US" sz="1600" b="1" u="none" dirty="0"/>
              <a:t>:  </a:t>
            </a:r>
            <a:r>
              <a:rPr lang="en-US" sz="1600" b="1" dirty="0">
                <a:solidFill>
                  <a:srgbClr val="FF0000"/>
                </a:solidFill>
              </a:rPr>
              <a:t>To know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what the sine rule; </a:t>
            </a:r>
            <a:r>
              <a:rPr lang="en-US" sz="1600" b="1" dirty="0">
                <a:solidFill>
                  <a:srgbClr val="FF9900"/>
                </a:solidFill>
              </a:rPr>
              <a:t>To understand </a:t>
            </a:r>
            <a:r>
              <a:rPr lang="en-US" sz="1600" dirty="0">
                <a:solidFill>
                  <a:schemeClr val="tx1"/>
                </a:solidFill>
              </a:rPr>
              <a:t>when to use the sine rule; </a:t>
            </a:r>
            <a:r>
              <a:rPr lang="en-US" sz="1600" b="1" dirty="0">
                <a:solidFill>
                  <a:srgbClr val="00B050"/>
                </a:solidFill>
              </a:rPr>
              <a:t>To be able to </a:t>
            </a:r>
            <a:r>
              <a:rPr lang="en-US" sz="1600" dirty="0">
                <a:solidFill>
                  <a:schemeClr val="tx1"/>
                </a:solidFill>
              </a:rPr>
              <a:t>use the sine rule to find a missing side or angle</a:t>
            </a:r>
            <a:endParaRPr lang="en-MY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01B814-74DC-42E1-B0F6-12C58DF9376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-7938"/>
            <a:ext cx="3329492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3600" b="1" dirty="0">
                <a:latin typeface="+mn-lt"/>
              </a:rPr>
              <a:t>Trig - Sine Rule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A5860D-FBE6-4F0F-BA3C-088B89E0ED44}"/>
              </a:ext>
            </a:extLst>
          </p:cNvPr>
          <p:cNvSpPr txBox="1"/>
          <p:nvPr userDrawn="1"/>
        </p:nvSpPr>
        <p:spPr>
          <a:xfrm>
            <a:off x="-304800" y="6626423"/>
            <a:ext cx="152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/>
              <a:t>©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F269F1-8C20-4DDB-9436-FD90FED7943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6489992"/>
            <a:ext cx="1176656" cy="36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37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3.JP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3" Type="http://schemas.openxmlformats.org/officeDocument/2006/relationships/tags" Target="../tags/tag5.xml"/><Relationship Id="rId21" Type="http://schemas.openxmlformats.org/officeDocument/2006/relationships/image" Target="../media/image4.JPG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8.JP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27.xml"/><Relationship Id="rId10" Type="http://schemas.openxmlformats.org/officeDocument/2006/relationships/tags" Target="../tags/tag32.xml"/><Relationship Id="rId4" Type="http://schemas.openxmlformats.org/officeDocument/2006/relationships/tags" Target="../tags/tag26.xml"/><Relationship Id="rId9" Type="http://schemas.openxmlformats.org/officeDocument/2006/relationships/tags" Target="../tags/tag3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35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10" Type="http://schemas.openxmlformats.org/officeDocument/2006/relationships/image" Target="../media/image10.png"/><Relationship Id="rId4" Type="http://schemas.openxmlformats.org/officeDocument/2006/relationships/tags" Target="../tags/tag36.xml"/><Relationship Id="rId9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41.xml"/><Relationship Id="rId7" Type="http://schemas.openxmlformats.org/officeDocument/2006/relationships/image" Target="../media/image11.JP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2" Type="http://schemas.openxmlformats.org/officeDocument/2006/relationships/tags" Target="../tags/tag44.xml"/><Relationship Id="rId16" Type="http://schemas.openxmlformats.org/officeDocument/2006/relationships/image" Target="../media/image12.wmf"/><Relationship Id="rId1" Type="http://schemas.openxmlformats.org/officeDocument/2006/relationships/vmlDrawing" Target="../drawings/vmlDrawing1.v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52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image" Target="../media/image14.JPG"/><Relationship Id="rId4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8.xml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0ADDF43-50C0-46C5-B040-07C9341F3D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231"/>
          <a:stretch/>
        </p:blipFill>
        <p:spPr>
          <a:xfrm>
            <a:off x="3479292" y="10"/>
            <a:ext cx="5664708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141342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>
            <p:custDataLst>
              <p:tags r:id="rId1"/>
            </p:custDataLst>
          </p:nvPr>
        </p:nvSpPr>
        <p:spPr>
          <a:xfrm>
            <a:off x="336933" y="3443797"/>
            <a:ext cx="1848968" cy="830997"/>
          </a:xfrm>
          <a:prstGeom prst="rect">
            <a:avLst/>
          </a:prstGeom>
          <a:solidFill>
            <a:srgbClr val="81E58B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AC = 9.38m </a:t>
            </a:r>
            <a:r>
              <a:rPr lang="en-GB" sz="2400" dirty="0"/>
              <a:t>(3.s.f.)</a:t>
            </a:r>
          </a:p>
        </p:txBody>
      </p:sp>
      <p:sp>
        <p:nvSpPr>
          <p:cNvPr id="11" name="TextBox 10"/>
          <p:cNvSpPr txBox="1"/>
          <p:nvPr>
            <p:custDataLst>
              <p:tags r:id="rId2"/>
            </p:custDataLst>
          </p:nvPr>
        </p:nvSpPr>
        <p:spPr>
          <a:xfrm>
            <a:off x="336933" y="4500582"/>
            <a:ext cx="1848968" cy="830997"/>
          </a:xfrm>
          <a:prstGeom prst="rect">
            <a:avLst/>
          </a:prstGeom>
          <a:solidFill>
            <a:srgbClr val="81E58B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&lt;ACB = 65.9° </a:t>
            </a:r>
            <a:r>
              <a:rPr lang="en-GB" sz="2400" dirty="0"/>
              <a:t>(3.s.f.)</a:t>
            </a:r>
          </a:p>
        </p:txBody>
      </p:sp>
    </p:spTree>
    <p:extLst>
      <p:ext uri="{BB962C8B-B14F-4D97-AF65-F5344CB8AC3E}">
        <p14:creationId xmlns:p14="http://schemas.microsoft.com/office/powerpoint/2010/main" val="327237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Bent 5"/>
          <p:cNvSpPr/>
          <p:nvPr>
            <p:custDataLst>
              <p:tags r:id="rId1"/>
            </p:custDataLst>
          </p:nvPr>
        </p:nvSpPr>
        <p:spPr>
          <a:xfrm rot="16200000" flipH="1">
            <a:off x="1980732" y="1719275"/>
            <a:ext cx="1362498" cy="1422788"/>
          </a:xfrm>
          <a:prstGeom prst="bentArrow">
            <a:avLst>
              <a:gd name="adj1" fmla="val 17133"/>
              <a:gd name="adj2" fmla="val 25000"/>
              <a:gd name="adj3" fmla="val 25000"/>
              <a:gd name="adj4" fmla="val 43750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Arrow: Bent 4"/>
          <p:cNvSpPr/>
          <p:nvPr>
            <p:custDataLst>
              <p:tags r:id="rId2"/>
            </p:custDataLst>
          </p:nvPr>
        </p:nvSpPr>
        <p:spPr>
          <a:xfrm rot="5400000">
            <a:off x="5759925" y="1685445"/>
            <a:ext cx="1338900" cy="1466850"/>
          </a:xfrm>
          <a:prstGeom prst="bentArrow">
            <a:avLst>
              <a:gd name="adj1" fmla="val 16398"/>
              <a:gd name="adj2" fmla="val 25000"/>
              <a:gd name="adj3" fmla="val 25000"/>
              <a:gd name="adj4" fmla="val 4375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/>
          <p:cNvSpPr/>
          <p:nvPr>
            <p:custDataLst>
              <p:tags r:id="rId3"/>
            </p:custDataLst>
          </p:nvPr>
        </p:nvSpPr>
        <p:spPr>
          <a:xfrm>
            <a:off x="3126107" y="1385709"/>
            <a:ext cx="2743200" cy="1023613"/>
          </a:xfrm>
          <a:prstGeom prst="roundRect">
            <a:avLst/>
          </a:prstGeom>
          <a:solidFill>
            <a:srgbClr val="FFFFA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Is it a </a:t>
            </a:r>
            <a:r>
              <a:rPr lang="en-GB" sz="2400" b="1" dirty="0">
                <a:solidFill>
                  <a:schemeClr val="tx1"/>
                </a:solidFill>
              </a:rPr>
              <a:t>right angled </a:t>
            </a:r>
            <a:r>
              <a:rPr lang="en-GB" sz="2400" dirty="0">
                <a:solidFill>
                  <a:schemeClr val="tx1"/>
                </a:solidFill>
              </a:rPr>
              <a:t>triangle?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298762" y="1524000"/>
            <a:ext cx="1333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YES</a:t>
            </a: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6358218" y="1529515"/>
            <a:ext cx="1333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NO</a:t>
            </a:r>
          </a:p>
        </p:txBody>
      </p:sp>
      <p:sp>
        <p:nvSpPr>
          <p:cNvPr id="13" name="Arrow: Bent 12"/>
          <p:cNvSpPr/>
          <p:nvPr>
            <p:custDataLst>
              <p:tags r:id="rId6"/>
            </p:custDataLst>
          </p:nvPr>
        </p:nvSpPr>
        <p:spPr>
          <a:xfrm rot="5400000">
            <a:off x="3111689" y="3548748"/>
            <a:ext cx="1064560" cy="918321"/>
          </a:xfrm>
          <a:prstGeom prst="bentArrow">
            <a:avLst>
              <a:gd name="adj1" fmla="val 21590"/>
              <a:gd name="adj2" fmla="val 25000"/>
              <a:gd name="adj3" fmla="val 25000"/>
              <a:gd name="adj4" fmla="val 4375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Arrow: Bent 11"/>
          <p:cNvSpPr/>
          <p:nvPr>
            <p:custDataLst>
              <p:tags r:id="rId7"/>
            </p:custDataLst>
          </p:nvPr>
        </p:nvSpPr>
        <p:spPr>
          <a:xfrm rot="16200000" flipH="1">
            <a:off x="519222" y="3767648"/>
            <a:ext cx="1338586" cy="853031"/>
          </a:xfrm>
          <a:prstGeom prst="bentArrow">
            <a:avLst>
              <a:gd name="adj1" fmla="val 21470"/>
              <a:gd name="adj2" fmla="val 25000"/>
              <a:gd name="adj3" fmla="val 25000"/>
              <a:gd name="adj4" fmla="val 43750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/>
          <p:cNvSpPr/>
          <p:nvPr>
            <p:custDataLst>
              <p:tags r:id="rId8"/>
            </p:custDataLst>
          </p:nvPr>
        </p:nvSpPr>
        <p:spPr>
          <a:xfrm>
            <a:off x="1241598" y="3160810"/>
            <a:ext cx="2131777" cy="961937"/>
          </a:xfrm>
          <a:prstGeom prst="roundRect">
            <a:avLst/>
          </a:prstGeom>
          <a:solidFill>
            <a:srgbClr val="F4E7A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Does it involve an </a:t>
            </a:r>
            <a:r>
              <a:rPr lang="en-GB" sz="2400" b="1" dirty="0">
                <a:solidFill>
                  <a:schemeClr val="tx1"/>
                </a:solidFill>
              </a:rPr>
              <a:t>angle</a:t>
            </a:r>
            <a:r>
              <a:rPr lang="en-GB" sz="24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4" name="Arrow: Bent 13"/>
          <p:cNvSpPr/>
          <p:nvPr>
            <p:custDataLst>
              <p:tags r:id="rId9"/>
            </p:custDataLst>
          </p:nvPr>
        </p:nvSpPr>
        <p:spPr>
          <a:xfrm rot="5400000">
            <a:off x="7410155" y="3669698"/>
            <a:ext cx="1189640" cy="990600"/>
          </a:xfrm>
          <a:prstGeom prst="bentArrow">
            <a:avLst>
              <a:gd name="adj1" fmla="val 18678"/>
              <a:gd name="adj2" fmla="val 25000"/>
              <a:gd name="adj3" fmla="val 25000"/>
              <a:gd name="adj4" fmla="val 4375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5" name="Arrow: Bent 14"/>
          <p:cNvSpPr/>
          <p:nvPr>
            <p:custDataLst>
              <p:tags r:id="rId10"/>
            </p:custDataLst>
          </p:nvPr>
        </p:nvSpPr>
        <p:spPr>
          <a:xfrm rot="16200000" flipH="1">
            <a:off x="4615304" y="4150656"/>
            <a:ext cx="2081732" cy="961464"/>
          </a:xfrm>
          <a:prstGeom prst="bentArrow">
            <a:avLst>
              <a:gd name="adj1" fmla="val 16532"/>
              <a:gd name="adj2" fmla="val 25000"/>
              <a:gd name="adj3" fmla="val 25000"/>
              <a:gd name="adj4" fmla="val 43750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/>
          <p:cNvSpPr/>
          <p:nvPr>
            <p:custDataLst>
              <p:tags r:id="rId11"/>
            </p:custDataLst>
          </p:nvPr>
        </p:nvSpPr>
        <p:spPr>
          <a:xfrm>
            <a:off x="5701348" y="3161229"/>
            <a:ext cx="2177304" cy="961098"/>
          </a:xfrm>
          <a:prstGeom prst="roundRect">
            <a:avLst/>
          </a:prstGeom>
          <a:solidFill>
            <a:srgbClr val="F4E7A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Does it involve </a:t>
            </a:r>
            <a:r>
              <a:rPr lang="en-GB" sz="2400" b="1" dirty="0">
                <a:solidFill>
                  <a:schemeClr val="tx1"/>
                </a:solidFill>
              </a:rPr>
              <a:t>2</a:t>
            </a:r>
            <a:r>
              <a:rPr lang="en-GB" sz="2400" dirty="0">
                <a:solidFill>
                  <a:schemeClr val="tx1"/>
                </a:solidFill>
              </a:rPr>
              <a:t> </a:t>
            </a:r>
            <a:r>
              <a:rPr lang="en-GB" sz="2400" b="1" dirty="0">
                <a:solidFill>
                  <a:schemeClr val="tx1"/>
                </a:solidFill>
              </a:rPr>
              <a:t>angles</a:t>
            </a:r>
            <a:r>
              <a:rPr lang="en-GB" sz="24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63300" y="3276603"/>
            <a:ext cx="1090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NO</a:t>
            </a:r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3636250" y="3641778"/>
            <a:ext cx="1333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YES</a:t>
            </a:r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4362450" y="3242384"/>
            <a:ext cx="1333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NO</a:t>
            </a:r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8023922" y="3352803"/>
            <a:ext cx="1056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YES</a:t>
            </a:r>
          </a:p>
        </p:txBody>
      </p:sp>
      <p:sp>
        <p:nvSpPr>
          <p:cNvPr id="22" name="TextBox 21"/>
          <p:cNvSpPr txBox="1"/>
          <p:nvPr>
            <p:custDataLst>
              <p:tags r:id="rId16"/>
            </p:custDataLst>
          </p:nvPr>
        </p:nvSpPr>
        <p:spPr>
          <a:xfrm>
            <a:off x="228600" y="4940693"/>
            <a:ext cx="2019300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Pythagoras</a:t>
            </a:r>
          </a:p>
        </p:txBody>
      </p:sp>
      <p:sp>
        <p:nvSpPr>
          <p:cNvPr id="23" name="TextBox 22"/>
          <p:cNvSpPr txBox="1"/>
          <p:nvPr>
            <p:custDataLst>
              <p:tags r:id="rId17"/>
            </p:custDataLst>
          </p:nvPr>
        </p:nvSpPr>
        <p:spPr>
          <a:xfrm>
            <a:off x="2497985" y="4668850"/>
            <a:ext cx="2158814" cy="892552"/>
          </a:xfrm>
          <a:prstGeom prst="rect">
            <a:avLst/>
          </a:prstGeom>
          <a:solidFill>
            <a:srgbClr val="46DA7B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“Basic” Trig:</a:t>
            </a:r>
          </a:p>
          <a:p>
            <a:pPr algn="ctr"/>
            <a:r>
              <a:rPr lang="en-GB" sz="2400" dirty="0"/>
              <a:t>(Soh/Cah/Toa)</a:t>
            </a:r>
          </a:p>
        </p:txBody>
      </p:sp>
      <p:sp>
        <p:nvSpPr>
          <p:cNvPr id="24" name="TextBox 23"/>
          <p:cNvSpPr txBox="1"/>
          <p:nvPr>
            <p:custDataLst>
              <p:tags r:id="rId18"/>
            </p:custDataLst>
          </p:nvPr>
        </p:nvSpPr>
        <p:spPr>
          <a:xfrm>
            <a:off x="4646520" y="5788389"/>
            <a:ext cx="2019300" cy="954107"/>
          </a:xfrm>
          <a:prstGeom prst="rect">
            <a:avLst/>
          </a:prstGeom>
          <a:solidFill>
            <a:srgbClr val="6AFC90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Trig:</a:t>
            </a:r>
          </a:p>
          <a:p>
            <a:pPr algn="ctr"/>
            <a:r>
              <a:rPr lang="en-GB" sz="2800" dirty="0"/>
              <a:t>Cosine Rule</a:t>
            </a:r>
          </a:p>
        </p:txBody>
      </p:sp>
      <p:sp>
        <p:nvSpPr>
          <p:cNvPr id="25" name="TextBox 24"/>
          <p:cNvSpPr txBox="1"/>
          <p:nvPr>
            <p:custDataLst>
              <p:tags r:id="rId19"/>
            </p:custDataLst>
          </p:nvPr>
        </p:nvSpPr>
        <p:spPr>
          <a:xfrm>
            <a:off x="7315200" y="4857550"/>
            <a:ext cx="1637740" cy="954107"/>
          </a:xfrm>
          <a:prstGeom prst="rect">
            <a:avLst/>
          </a:prstGeom>
          <a:solidFill>
            <a:srgbClr val="B9FFB9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Trig:</a:t>
            </a:r>
          </a:p>
          <a:p>
            <a:pPr algn="ctr"/>
            <a:r>
              <a:rPr lang="en-GB" sz="2800" dirty="0"/>
              <a:t>Sine Rule</a:t>
            </a:r>
          </a:p>
        </p:txBody>
      </p:sp>
    </p:spTree>
    <p:extLst>
      <p:ext uri="{BB962C8B-B14F-4D97-AF65-F5344CB8AC3E}">
        <p14:creationId xmlns:p14="http://schemas.microsoft.com/office/powerpoint/2010/main" val="121408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8" grpId="0"/>
      <p:bldP spid="9" grpId="0"/>
      <p:bldP spid="13" grpId="0" animBg="1"/>
      <p:bldP spid="12" grpId="0" animBg="1"/>
      <p:bldP spid="10" grpId="0" animBg="1"/>
      <p:bldP spid="14" grpId="0" animBg="1"/>
      <p:bldP spid="15" grpId="0" animBg="1"/>
      <p:bldP spid="11" grpId="0" animBg="1"/>
      <p:bldP spid="18" grpId="0"/>
      <p:bldP spid="19" grpId="0"/>
      <p:bldP spid="20" grpId="0"/>
      <p:bldP spid="21" grpId="0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73929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9949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4572000" y="5029200"/>
            <a:ext cx="3848100" cy="1569660"/>
          </a:xfrm>
          <a:prstGeom prst="rect">
            <a:avLst/>
          </a:prstGeom>
          <a:solidFill>
            <a:srgbClr val="81E58B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= When you have: </a:t>
            </a:r>
            <a:r>
              <a:rPr lang="en-GB" sz="3200" b="1" dirty="0">
                <a:solidFill>
                  <a:srgbClr val="0070C0"/>
                </a:solidFill>
              </a:rPr>
              <a:t>2 sides and 1 angle</a:t>
            </a:r>
            <a:r>
              <a:rPr lang="en-GB" sz="3200" b="1" dirty="0"/>
              <a:t> OR </a:t>
            </a:r>
            <a:r>
              <a:rPr lang="en-GB" sz="3200" b="1" dirty="0">
                <a:solidFill>
                  <a:srgbClr val="0070C0"/>
                </a:solidFill>
              </a:rPr>
              <a:t>1 side and 2 angles</a:t>
            </a:r>
            <a:endParaRPr lang="en-GB" sz="32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>
            <p:custDataLst>
              <p:tags r:id="rId1"/>
            </p:custDataLst>
          </p:nvPr>
        </p:nvSpPr>
        <p:spPr>
          <a:xfrm>
            <a:off x="2497931" y="3133985"/>
            <a:ext cx="762000" cy="6858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>
            <p:custDataLst>
              <p:tags r:id="rId2"/>
            </p:custDataLst>
          </p:nvPr>
        </p:nvSpPr>
        <p:spPr>
          <a:xfrm>
            <a:off x="3259931" y="2295785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>
            <p:custDataLst>
              <p:tags r:id="rId3"/>
            </p:custDataLst>
          </p:nvPr>
        </p:nvSpPr>
        <p:spPr>
          <a:xfrm>
            <a:off x="5372100" y="3598835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>
              <a:solidFill>
                <a:schemeClr val="tx1"/>
              </a:solidFill>
            </a:endParaRPr>
          </a:p>
        </p:txBody>
      </p:sp>
      <p:sp>
        <p:nvSpPr>
          <p:cNvPr id="28" name="Oval 27"/>
          <p:cNvSpPr/>
          <p:nvPr>
            <p:custDataLst>
              <p:tags r:id="rId4"/>
            </p:custDataLst>
          </p:nvPr>
        </p:nvSpPr>
        <p:spPr>
          <a:xfrm>
            <a:off x="5750988" y="2888101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>
            <p:custDataLst>
              <p:tags r:id="rId5"/>
            </p:custDataLst>
          </p:nvPr>
        </p:nvSpPr>
        <p:spPr>
          <a:xfrm>
            <a:off x="660591" y="4976154"/>
            <a:ext cx="1066800" cy="685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/>
          </a:p>
        </p:txBody>
      </p:sp>
      <p:sp>
        <p:nvSpPr>
          <p:cNvPr id="30" name="Oval 29"/>
          <p:cNvSpPr/>
          <p:nvPr>
            <p:custDataLst>
              <p:tags r:id="rId6"/>
            </p:custDataLst>
          </p:nvPr>
        </p:nvSpPr>
        <p:spPr>
          <a:xfrm>
            <a:off x="2037148" y="4899954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/>
          </a:p>
        </p:txBody>
      </p:sp>
      <p:sp>
        <p:nvSpPr>
          <p:cNvPr id="31" name="Oval 30"/>
          <p:cNvSpPr/>
          <p:nvPr>
            <p:custDataLst>
              <p:tags r:id="rId7"/>
            </p:custDataLst>
          </p:nvPr>
        </p:nvSpPr>
        <p:spPr>
          <a:xfrm>
            <a:off x="1908561" y="5531909"/>
            <a:ext cx="122555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/>
          </a:p>
        </p:txBody>
      </p:sp>
      <p:sp>
        <p:nvSpPr>
          <p:cNvPr id="32" name="Oval 31"/>
          <p:cNvSpPr/>
          <p:nvPr>
            <p:custDataLst>
              <p:tags r:id="rId8"/>
            </p:custDataLst>
          </p:nvPr>
        </p:nvSpPr>
        <p:spPr>
          <a:xfrm>
            <a:off x="685799" y="5513921"/>
            <a:ext cx="1016385" cy="762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/>
          </a:p>
        </p:txBody>
      </p:sp>
      <p:grpSp>
        <p:nvGrpSpPr>
          <p:cNvPr id="37" name="Group 36"/>
          <p:cNvGrpSpPr/>
          <p:nvPr>
            <p:custDataLst>
              <p:tags r:id="rId9"/>
            </p:custDataLst>
          </p:nvPr>
        </p:nvGrpSpPr>
        <p:grpSpPr>
          <a:xfrm>
            <a:off x="5029200" y="5051793"/>
            <a:ext cx="3429000" cy="1077218"/>
            <a:chOff x="4572000" y="5029200"/>
            <a:chExt cx="3429000" cy="1077218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0" name="TextBox 19"/>
            <p:cNvSpPr txBox="1"/>
            <p:nvPr/>
          </p:nvSpPr>
          <p:spPr>
            <a:xfrm>
              <a:off x="4572000" y="5029200"/>
              <a:ext cx="3429000" cy="1077218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3200" dirty="0"/>
                <a:t>  7.1                  12</a:t>
              </a:r>
            </a:p>
            <a:p>
              <a:r>
                <a:rPr lang="en-GB" sz="3200" dirty="0"/>
                <a:t> sin z°             sin75°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922169" y="5225997"/>
              <a:ext cx="669131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b="1" dirty="0"/>
                <a:t>=</a:t>
              </a:r>
              <a:endParaRPr lang="en-GB" b="1" dirty="0"/>
            </a:p>
          </p:txBody>
        </p:sp>
        <p:cxnSp>
          <p:nvCxnSpPr>
            <p:cNvPr id="35" name="Straight Connector 34"/>
            <p:cNvCxnSpPr/>
            <p:nvPr/>
          </p:nvCxnSpPr>
          <p:spPr>
            <a:xfrm>
              <a:off x="4695031" y="5581133"/>
              <a:ext cx="930275" cy="0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6781800" y="5581133"/>
              <a:ext cx="930275" cy="0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/>
          <p:cNvSpPr txBox="1"/>
          <p:nvPr>
            <p:custDataLst>
              <p:tags r:id="rId10"/>
            </p:custDataLst>
          </p:nvPr>
        </p:nvSpPr>
        <p:spPr>
          <a:xfrm>
            <a:off x="4300538" y="5248590"/>
            <a:ext cx="669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=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16244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>
            <p:custDataLst>
              <p:tags r:id="rId1"/>
            </p:custDataLst>
          </p:nvPr>
        </p:nvGrpSpPr>
        <p:grpSpPr>
          <a:xfrm>
            <a:off x="543665" y="3010327"/>
            <a:ext cx="4256935" cy="1077218"/>
            <a:chOff x="990601" y="3048000"/>
            <a:chExt cx="4487432" cy="1077218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7" name="Group 6"/>
            <p:cNvGrpSpPr/>
            <p:nvPr/>
          </p:nvGrpSpPr>
          <p:grpSpPr>
            <a:xfrm>
              <a:off x="990601" y="3048000"/>
              <a:ext cx="4487432" cy="1077218"/>
              <a:chOff x="4572001" y="5029200"/>
              <a:chExt cx="3106684" cy="1077218"/>
            </a:xfrm>
            <a:grpFill/>
          </p:grpSpPr>
          <p:sp>
            <p:nvSpPr>
              <p:cNvPr id="8" name="TextBox 7"/>
              <p:cNvSpPr txBox="1"/>
              <p:nvPr/>
            </p:nvSpPr>
            <p:spPr>
              <a:xfrm>
                <a:off x="4572001" y="5029200"/>
                <a:ext cx="3106684" cy="1077218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   7.1                    </a:t>
                </a:r>
              </a:p>
              <a:p>
                <a:r>
                  <a:rPr lang="en-GB" sz="3200" dirty="0"/>
                  <a:t>  sin z°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545869" y="5210551"/>
                <a:ext cx="669131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600" b="1" dirty="0"/>
                  <a:t>=</a:t>
                </a:r>
                <a:endParaRPr lang="en-GB" b="1" dirty="0"/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 flipV="1">
                <a:off x="4695031" y="5567809"/>
                <a:ext cx="676411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Rectangle 12"/>
            <p:cNvSpPr/>
            <p:nvPr/>
          </p:nvSpPr>
          <p:spPr>
            <a:xfrm>
              <a:off x="3430059" y="3260128"/>
              <a:ext cx="1915909" cy="584775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GB" sz="3200" dirty="0"/>
                <a:t>12.4233 …</a:t>
              </a:r>
            </a:p>
          </p:txBody>
        </p:sp>
      </p:grpSp>
      <p:sp>
        <p:nvSpPr>
          <p:cNvPr id="21" name="TextBox 20"/>
          <p:cNvSpPr txBox="1"/>
          <p:nvPr>
            <p:custDataLst>
              <p:tags r:id="rId2"/>
            </p:custDataLst>
          </p:nvPr>
        </p:nvSpPr>
        <p:spPr>
          <a:xfrm>
            <a:off x="5302813" y="6047178"/>
            <a:ext cx="3540992" cy="584775"/>
          </a:xfrm>
          <a:prstGeom prst="rect">
            <a:avLst/>
          </a:prstGeom>
          <a:solidFill>
            <a:srgbClr val="81E58B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z  = 34.9°</a:t>
            </a:r>
            <a:r>
              <a:rPr lang="en-GB" sz="3200" dirty="0"/>
              <a:t> (to 1.d.p)</a:t>
            </a:r>
          </a:p>
        </p:txBody>
      </p:sp>
      <p:sp>
        <p:nvSpPr>
          <p:cNvPr id="15" name="Left-Up Arrow 14"/>
          <p:cNvSpPr/>
          <p:nvPr>
            <p:custDataLst>
              <p:tags r:id="rId3"/>
            </p:custDataLst>
          </p:nvPr>
        </p:nvSpPr>
        <p:spPr>
          <a:xfrm rot="1300184">
            <a:off x="1749826" y="3344241"/>
            <a:ext cx="2019666" cy="1102888"/>
          </a:xfrm>
          <a:prstGeom prst="leftUpArrow">
            <a:avLst>
              <a:gd name="adj1" fmla="val 12625"/>
              <a:gd name="adj2" fmla="val 17575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8" name="Group 57"/>
          <p:cNvGrpSpPr/>
          <p:nvPr>
            <p:custDataLst>
              <p:tags r:id="rId4"/>
            </p:custDataLst>
          </p:nvPr>
        </p:nvGrpSpPr>
        <p:grpSpPr>
          <a:xfrm>
            <a:off x="681165" y="4744766"/>
            <a:ext cx="3684240" cy="1077218"/>
            <a:chOff x="990600" y="3048000"/>
            <a:chExt cx="4953000" cy="1077218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59" name="Group 58"/>
            <p:cNvGrpSpPr/>
            <p:nvPr/>
          </p:nvGrpSpPr>
          <p:grpSpPr>
            <a:xfrm>
              <a:off x="990600" y="3048000"/>
              <a:ext cx="4953000" cy="1077218"/>
              <a:chOff x="4572000" y="5029200"/>
              <a:chExt cx="3429000" cy="1077218"/>
            </a:xfrm>
            <a:grpFill/>
          </p:grpSpPr>
          <p:sp>
            <p:nvSpPr>
              <p:cNvPr id="61" name="TextBox 60"/>
              <p:cNvSpPr txBox="1"/>
              <p:nvPr/>
            </p:nvSpPr>
            <p:spPr>
              <a:xfrm>
                <a:off x="4572000" y="5029200"/>
                <a:ext cx="3429000" cy="1077218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     7.1                    </a:t>
                </a:r>
              </a:p>
              <a:p>
                <a:r>
                  <a:rPr lang="en-GB" sz="3200" dirty="0"/>
                  <a:t> 12.4233 …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5910678" y="5222523"/>
                <a:ext cx="669131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600" b="1" dirty="0"/>
                  <a:t> =</a:t>
                </a:r>
                <a:endParaRPr lang="en-GB" b="1" dirty="0"/>
              </a:p>
            </p:txBody>
          </p:sp>
          <p:cxnSp>
            <p:nvCxnSpPr>
              <p:cNvPr id="63" name="Straight Connector 62"/>
              <p:cNvCxnSpPr/>
              <p:nvPr/>
            </p:nvCxnSpPr>
            <p:spPr>
              <a:xfrm flipV="1">
                <a:off x="4695027" y="5566092"/>
                <a:ext cx="1095748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Rectangle 59"/>
            <p:cNvSpPr/>
            <p:nvPr/>
          </p:nvSpPr>
          <p:spPr>
            <a:xfrm>
              <a:off x="4050709" y="3272100"/>
              <a:ext cx="1050288" cy="584775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GB" sz="3200" dirty="0"/>
                <a:t>sin z°</a:t>
              </a:r>
            </a:p>
          </p:txBody>
        </p:sp>
      </p:grpSp>
      <p:grpSp>
        <p:nvGrpSpPr>
          <p:cNvPr id="19" name="Group 18"/>
          <p:cNvGrpSpPr/>
          <p:nvPr>
            <p:custDataLst>
              <p:tags r:id="rId5"/>
            </p:custDataLst>
          </p:nvPr>
        </p:nvGrpSpPr>
        <p:grpSpPr>
          <a:xfrm>
            <a:off x="4886983" y="4744766"/>
            <a:ext cx="3956822" cy="1077218"/>
            <a:chOff x="538978" y="5940651"/>
            <a:chExt cx="3956822" cy="1077218"/>
          </a:xfrm>
        </p:grpSpPr>
        <p:grpSp>
          <p:nvGrpSpPr>
            <p:cNvPr id="64" name="Group 63"/>
            <p:cNvGrpSpPr/>
            <p:nvPr/>
          </p:nvGrpSpPr>
          <p:grpSpPr>
            <a:xfrm>
              <a:off x="538978" y="5940651"/>
              <a:ext cx="3956822" cy="1077218"/>
              <a:chOff x="990600" y="3048000"/>
              <a:chExt cx="4953000" cy="1077218"/>
            </a:xfrm>
          </p:grpSpPr>
          <p:grpSp>
            <p:nvGrpSpPr>
              <p:cNvPr id="65" name="Group 64"/>
              <p:cNvGrpSpPr/>
              <p:nvPr/>
            </p:nvGrpSpPr>
            <p:grpSpPr>
              <a:xfrm>
                <a:off x="990600" y="3048000"/>
                <a:ext cx="4953000" cy="1077218"/>
                <a:chOff x="4572000" y="5029200"/>
                <a:chExt cx="3429000" cy="1077218"/>
              </a:xfrm>
            </p:grpSpPr>
            <p:sp>
              <p:nvSpPr>
                <p:cNvPr id="67" name="TextBox 66"/>
                <p:cNvSpPr txBox="1"/>
                <p:nvPr/>
              </p:nvSpPr>
              <p:spPr>
                <a:xfrm>
                  <a:off x="4572000" y="5029200"/>
                  <a:ext cx="3429000" cy="1077218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3200" dirty="0"/>
                    <a:t>  	             7.1                    </a:t>
                  </a:r>
                </a:p>
                <a:p>
                  <a:r>
                    <a:rPr lang="en-GB" sz="3200" dirty="0"/>
                    <a:t> 	          12.4233 …</a:t>
                  </a:r>
                </a:p>
              </p:txBody>
            </p:sp>
            <p:sp>
              <p:nvSpPr>
                <p:cNvPr id="68" name="TextBox 67"/>
                <p:cNvSpPr txBox="1"/>
                <p:nvPr/>
              </p:nvSpPr>
              <p:spPr>
                <a:xfrm>
                  <a:off x="4768422" y="5209945"/>
                  <a:ext cx="66913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3600" b="1" dirty="0"/>
                    <a:t> =</a:t>
                  </a:r>
                  <a:endParaRPr lang="en-GB" b="1" dirty="0"/>
                </a:p>
              </p:txBody>
            </p:sp>
            <p:cxnSp>
              <p:nvCxnSpPr>
                <p:cNvPr id="69" name="Straight Connector 68"/>
                <p:cNvCxnSpPr/>
                <p:nvPr/>
              </p:nvCxnSpPr>
              <p:spPr>
                <a:xfrm flipV="1">
                  <a:off x="6284083" y="5566092"/>
                  <a:ext cx="904735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Rectangle 65"/>
              <p:cNvSpPr/>
              <p:nvPr/>
            </p:nvSpPr>
            <p:spPr>
              <a:xfrm>
                <a:off x="1113631" y="3259524"/>
                <a:ext cx="48603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3200" dirty="0"/>
                  <a:t>z°</a:t>
                </a:r>
              </a:p>
            </p:txBody>
          </p:sp>
        </p:grpSp>
        <p:sp>
          <p:nvSpPr>
            <p:cNvPr id="70" name="Rectangle 69"/>
            <p:cNvSpPr/>
            <p:nvPr/>
          </p:nvSpPr>
          <p:spPr>
            <a:xfrm>
              <a:off x="1344945" y="6121396"/>
              <a:ext cx="87876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3200" dirty="0"/>
                <a:t>sin</a:t>
              </a:r>
              <a:r>
                <a:rPr lang="en-GB" sz="3200" baseline="30000" dirty="0"/>
                <a:t>-1</a:t>
              </a:r>
            </a:p>
          </p:txBody>
        </p:sp>
        <p:sp>
          <p:nvSpPr>
            <p:cNvPr id="17" name="Left Bracket 16"/>
            <p:cNvSpPr/>
            <p:nvPr/>
          </p:nvSpPr>
          <p:spPr>
            <a:xfrm>
              <a:off x="2286000" y="5999694"/>
              <a:ext cx="99706" cy="955697"/>
            </a:xfrm>
            <a:prstGeom prst="leftBracket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1" name="Left Bracket 70"/>
            <p:cNvSpPr/>
            <p:nvPr/>
          </p:nvSpPr>
          <p:spPr>
            <a:xfrm flipH="1">
              <a:off x="3938894" y="5999693"/>
              <a:ext cx="99706" cy="955697"/>
            </a:xfrm>
            <a:prstGeom prst="leftBracket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9D43295-E638-48C2-BB45-253052A74B6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846" y="2541458"/>
            <a:ext cx="1347206" cy="129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98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>
            <p:custDataLst>
              <p:tags r:id="rId1"/>
            </p:custDataLst>
          </p:nvPr>
        </p:nvGrpSpPr>
        <p:grpSpPr>
          <a:xfrm>
            <a:off x="543663" y="3633035"/>
            <a:ext cx="4028337" cy="1077218"/>
            <a:chOff x="990602" y="3048000"/>
            <a:chExt cx="4593803" cy="1077218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7" name="Group 6"/>
            <p:cNvGrpSpPr/>
            <p:nvPr/>
          </p:nvGrpSpPr>
          <p:grpSpPr>
            <a:xfrm>
              <a:off x="990602" y="3048000"/>
              <a:ext cx="4593803" cy="1077218"/>
              <a:chOff x="4572001" y="5029200"/>
              <a:chExt cx="3180325" cy="1077218"/>
            </a:xfrm>
            <a:grpFill/>
          </p:grpSpPr>
          <p:sp>
            <p:nvSpPr>
              <p:cNvPr id="8" name="TextBox 7"/>
              <p:cNvSpPr txBox="1"/>
              <p:nvPr/>
            </p:nvSpPr>
            <p:spPr>
              <a:xfrm>
                <a:off x="4572001" y="5029200"/>
                <a:ext cx="3180325" cy="1077218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  sin z°                    </a:t>
                </a:r>
              </a:p>
              <a:p>
                <a:r>
                  <a:rPr lang="en-GB" sz="3200" dirty="0"/>
                  <a:t>   7.1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545869" y="5210551"/>
                <a:ext cx="669131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600" b="1" dirty="0"/>
                  <a:t>=</a:t>
                </a:r>
                <a:endParaRPr lang="en-GB" b="1" dirty="0"/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 flipV="1">
                <a:off x="4695031" y="5567809"/>
                <a:ext cx="676411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Rectangle 12"/>
            <p:cNvSpPr/>
            <p:nvPr/>
          </p:nvSpPr>
          <p:spPr>
            <a:xfrm>
              <a:off x="3319186" y="3263444"/>
              <a:ext cx="1915908" cy="584775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GB" sz="3200" dirty="0"/>
                <a:t>0.08049 …</a:t>
              </a:r>
            </a:p>
          </p:txBody>
        </p:sp>
      </p:grpSp>
      <p:sp>
        <p:nvSpPr>
          <p:cNvPr id="21" name="TextBox 20"/>
          <p:cNvSpPr txBox="1"/>
          <p:nvPr>
            <p:custDataLst>
              <p:tags r:id="rId2"/>
            </p:custDataLst>
          </p:nvPr>
        </p:nvSpPr>
        <p:spPr>
          <a:xfrm>
            <a:off x="5375811" y="5860676"/>
            <a:ext cx="3446262" cy="584775"/>
          </a:xfrm>
          <a:prstGeom prst="rect">
            <a:avLst/>
          </a:prstGeom>
          <a:solidFill>
            <a:srgbClr val="81E58B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z  = 34.9°</a:t>
            </a:r>
            <a:r>
              <a:rPr lang="en-GB" sz="3200" dirty="0"/>
              <a:t> (to 1.d.p)</a:t>
            </a:r>
          </a:p>
        </p:txBody>
      </p:sp>
      <p:sp>
        <p:nvSpPr>
          <p:cNvPr id="67" name="TextBox 66"/>
          <p:cNvSpPr txBox="1"/>
          <p:nvPr>
            <p:custDataLst>
              <p:tags r:id="rId3"/>
            </p:custDataLst>
          </p:nvPr>
        </p:nvSpPr>
        <p:spPr>
          <a:xfrm>
            <a:off x="5159430" y="5051156"/>
            <a:ext cx="3684375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  z = sin</a:t>
            </a:r>
            <a:r>
              <a:rPr lang="en-GB" sz="2800" baseline="30000" dirty="0"/>
              <a:t>-1 </a:t>
            </a:r>
            <a:r>
              <a:rPr lang="en-GB" sz="2800" dirty="0"/>
              <a:t>(0.570849…)</a:t>
            </a:r>
          </a:p>
        </p:txBody>
      </p:sp>
      <p:grpSp>
        <p:nvGrpSpPr>
          <p:cNvPr id="2" name="Group 1"/>
          <p:cNvGrpSpPr/>
          <p:nvPr>
            <p:custDataLst>
              <p:tags r:id="rId4"/>
            </p:custDataLst>
          </p:nvPr>
        </p:nvGrpSpPr>
        <p:grpSpPr>
          <a:xfrm>
            <a:off x="552794" y="5042982"/>
            <a:ext cx="4019206" cy="1077218"/>
            <a:chOff x="552794" y="4720908"/>
            <a:chExt cx="4088844" cy="1077218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58" name="Group 57"/>
            <p:cNvGrpSpPr/>
            <p:nvPr/>
          </p:nvGrpSpPr>
          <p:grpSpPr>
            <a:xfrm>
              <a:off x="552794" y="4720908"/>
              <a:ext cx="4088844" cy="1077218"/>
              <a:chOff x="990600" y="3048000"/>
              <a:chExt cx="4953000" cy="1077218"/>
            </a:xfrm>
            <a:grpFill/>
          </p:grpSpPr>
          <p:grpSp>
            <p:nvGrpSpPr>
              <p:cNvPr id="59" name="Group 58"/>
              <p:cNvGrpSpPr/>
              <p:nvPr/>
            </p:nvGrpSpPr>
            <p:grpSpPr>
              <a:xfrm>
                <a:off x="990600" y="3048000"/>
                <a:ext cx="4953000" cy="1077218"/>
                <a:chOff x="4572000" y="5029200"/>
                <a:chExt cx="3429000" cy="1077218"/>
              </a:xfrm>
              <a:grpFill/>
            </p:grpSpPr>
            <p:sp>
              <p:nvSpPr>
                <p:cNvPr id="61" name="TextBox 60"/>
                <p:cNvSpPr txBox="1"/>
                <p:nvPr/>
              </p:nvSpPr>
              <p:spPr>
                <a:xfrm>
                  <a:off x="4572000" y="5029200"/>
                  <a:ext cx="3429000" cy="1077218"/>
                </a:xfrm>
                <a:prstGeom prst="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3200" dirty="0"/>
                    <a:t>    </a:t>
                  </a:r>
                </a:p>
                <a:p>
                  <a:r>
                    <a:rPr lang="en-GB" sz="3200" dirty="0"/>
                    <a:t>  </a:t>
                  </a:r>
                </a:p>
              </p:txBody>
            </p:sp>
            <p:sp>
              <p:nvSpPr>
                <p:cNvPr id="62" name="TextBox 61"/>
                <p:cNvSpPr txBox="1"/>
                <p:nvPr/>
              </p:nvSpPr>
              <p:spPr>
                <a:xfrm>
                  <a:off x="5374193" y="5222519"/>
                  <a:ext cx="669131" cy="646331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3600" b="1" dirty="0"/>
                    <a:t> =</a:t>
                  </a:r>
                  <a:endParaRPr lang="en-GB" b="1" dirty="0"/>
                </a:p>
              </p:txBody>
            </p:sp>
          </p:grpSp>
          <p:sp>
            <p:nvSpPr>
              <p:cNvPr id="60" name="Rectangle 59"/>
              <p:cNvSpPr/>
              <p:nvPr/>
            </p:nvSpPr>
            <p:spPr>
              <a:xfrm>
                <a:off x="1214240" y="3272098"/>
                <a:ext cx="1050288" cy="584775"/>
              </a:xfrm>
              <a:prstGeom prst="rect">
                <a:avLst/>
              </a:prstGeom>
              <a:grpFill/>
            </p:spPr>
            <p:txBody>
              <a:bodyPr wrap="none">
                <a:spAutoFit/>
              </a:bodyPr>
              <a:lstStyle/>
              <a:p>
                <a:r>
                  <a:rPr lang="en-GB" sz="3200" dirty="0"/>
                  <a:t>sin z°</a:t>
                </a:r>
              </a:p>
            </p:txBody>
          </p:sp>
        </p:grpSp>
        <p:sp>
          <p:nvSpPr>
            <p:cNvPr id="72" name="Rectangle 71"/>
            <p:cNvSpPr/>
            <p:nvPr/>
          </p:nvSpPr>
          <p:spPr>
            <a:xfrm>
              <a:off x="2072951" y="4945006"/>
              <a:ext cx="2491168" cy="58477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GB" sz="3200" dirty="0"/>
                <a:t>0.08049 x 7.1</a:t>
              </a:r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B098975B-A467-4B07-9ABD-942785E5C2A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156" y="5130745"/>
            <a:ext cx="1347206" cy="12978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EB9E4F-4694-4CBA-8297-E3E94AD3EA25}"/>
              </a:ext>
            </a:extLst>
          </p:cNvPr>
          <p:cNvSpPr/>
          <p:nvPr/>
        </p:nvSpPr>
        <p:spPr>
          <a:xfrm>
            <a:off x="228600" y="1143000"/>
            <a:ext cx="2357014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37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6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>
            <p:custDataLst>
              <p:tags r:id="rId2"/>
            </p:custDataLst>
          </p:nvPr>
        </p:nvSpPr>
        <p:spPr>
          <a:xfrm>
            <a:off x="2438400" y="3173705"/>
            <a:ext cx="762000" cy="685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>
            <p:custDataLst>
              <p:tags r:id="rId3"/>
            </p:custDataLst>
          </p:nvPr>
        </p:nvSpPr>
        <p:spPr>
          <a:xfrm>
            <a:off x="3200400" y="2335505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26" name="Object 12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591433469"/>
              </p:ext>
            </p:extLst>
          </p:nvPr>
        </p:nvGraphicFramePr>
        <p:xfrm>
          <a:off x="685800" y="5069311"/>
          <a:ext cx="3529012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6" name="Equation" r:id="rId15" imgW="1371600" imgH="393700" progId="Equation.3">
                  <p:embed/>
                </p:oleObj>
              </mc:Choice>
              <mc:Fallback>
                <p:oleObj name="Equation" r:id="rId15" imgW="1371600" imgH="393700" progId="Equation.3">
                  <p:embed/>
                  <p:pic>
                    <p:nvPicPr>
                      <p:cNvPr id="513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069311"/>
                        <a:ext cx="3529012" cy="1004887"/>
                      </a:xfrm>
                      <a:prstGeom prst="rect">
                        <a:avLst/>
                      </a:prstGeom>
                      <a:solidFill>
                        <a:srgbClr val="E5D1F7"/>
                      </a:solidFill>
                      <a:ln w="28575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Oval 26"/>
          <p:cNvSpPr/>
          <p:nvPr>
            <p:custDataLst>
              <p:tags r:id="rId5"/>
            </p:custDataLst>
          </p:nvPr>
        </p:nvSpPr>
        <p:spPr>
          <a:xfrm>
            <a:off x="5312569" y="3638555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>
              <a:solidFill>
                <a:schemeClr val="tx1"/>
              </a:solidFill>
            </a:endParaRPr>
          </a:p>
        </p:txBody>
      </p:sp>
      <p:sp>
        <p:nvSpPr>
          <p:cNvPr id="28" name="Oval 27"/>
          <p:cNvSpPr/>
          <p:nvPr>
            <p:custDataLst>
              <p:tags r:id="rId6"/>
            </p:custDataLst>
          </p:nvPr>
        </p:nvSpPr>
        <p:spPr>
          <a:xfrm>
            <a:off x="5610290" y="2845110"/>
            <a:ext cx="762000" cy="762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>
            <p:custDataLst>
              <p:tags r:id="rId7"/>
            </p:custDataLst>
          </p:nvPr>
        </p:nvSpPr>
        <p:spPr>
          <a:xfrm>
            <a:off x="616336" y="5570009"/>
            <a:ext cx="1066800" cy="685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/>
          </a:p>
        </p:txBody>
      </p:sp>
      <p:sp>
        <p:nvSpPr>
          <p:cNvPr id="30" name="Oval 29"/>
          <p:cNvSpPr/>
          <p:nvPr>
            <p:custDataLst>
              <p:tags r:id="rId8"/>
            </p:custDataLst>
          </p:nvPr>
        </p:nvSpPr>
        <p:spPr>
          <a:xfrm>
            <a:off x="2037148" y="4899954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/>
          </a:p>
        </p:txBody>
      </p:sp>
      <p:sp>
        <p:nvSpPr>
          <p:cNvPr id="31" name="Oval 30"/>
          <p:cNvSpPr/>
          <p:nvPr>
            <p:custDataLst>
              <p:tags r:id="rId9"/>
            </p:custDataLst>
          </p:nvPr>
        </p:nvSpPr>
        <p:spPr>
          <a:xfrm>
            <a:off x="1908561" y="5531909"/>
            <a:ext cx="1225550" cy="76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/>
          </a:p>
        </p:txBody>
      </p:sp>
      <p:sp>
        <p:nvSpPr>
          <p:cNvPr id="32" name="Oval 31"/>
          <p:cNvSpPr/>
          <p:nvPr>
            <p:custDataLst>
              <p:tags r:id="rId10"/>
            </p:custDataLst>
          </p:nvPr>
        </p:nvSpPr>
        <p:spPr>
          <a:xfrm>
            <a:off x="768736" y="4950142"/>
            <a:ext cx="762000" cy="762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000" b="1" dirty="0"/>
          </a:p>
        </p:txBody>
      </p:sp>
      <p:grpSp>
        <p:nvGrpSpPr>
          <p:cNvPr id="37" name="Group 36"/>
          <p:cNvGrpSpPr/>
          <p:nvPr>
            <p:custDataLst>
              <p:tags r:id="rId11"/>
            </p:custDataLst>
          </p:nvPr>
        </p:nvGrpSpPr>
        <p:grpSpPr>
          <a:xfrm>
            <a:off x="5029200" y="5051793"/>
            <a:ext cx="3429000" cy="1077218"/>
            <a:chOff x="4572000" y="5029200"/>
            <a:chExt cx="3429000" cy="1077218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0" name="TextBox 19"/>
            <p:cNvSpPr txBox="1"/>
            <p:nvPr/>
          </p:nvSpPr>
          <p:spPr>
            <a:xfrm>
              <a:off x="4572000" y="5029200"/>
              <a:ext cx="3429000" cy="1077218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/>
                <a:t>x                    10</a:t>
              </a:r>
            </a:p>
            <a:p>
              <a:pPr algn="ctr"/>
              <a:r>
                <a:rPr lang="en-GB" sz="3200" dirty="0"/>
                <a:t>sin40°            sin65°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922169" y="5225997"/>
              <a:ext cx="669131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b="1" dirty="0"/>
                <a:t>=</a:t>
              </a:r>
              <a:endParaRPr lang="en-GB" b="1" dirty="0"/>
            </a:p>
          </p:txBody>
        </p:sp>
        <p:cxnSp>
          <p:nvCxnSpPr>
            <p:cNvPr id="35" name="Straight Connector 34"/>
            <p:cNvCxnSpPr/>
            <p:nvPr/>
          </p:nvCxnSpPr>
          <p:spPr>
            <a:xfrm>
              <a:off x="4695031" y="5581133"/>
              <a:ext cx="930275" cy="0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6781800" y="5581133"/>
              <a:ext cx="930275" cy="0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/>
          <p:cNvSpPr txBox="1"/>
          <p:nvPr>
            <p:custDataLst>
              <p:tags r:id="rId12"/>
            </p:custDataLst>
          </p:nvPr>
        </p:nvSpPr>
        <p:spPr>
          <a:xfrm>
            <a:off x="4300538" y="5248590"/>
            <a:ext cx="669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=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7380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>
            <p:custDataLst>
              <p:tags r:id="rId1"/>
            </p:custDataLst>
          </p:nvPr>
        </p:nvGrpSpPr>
        <p:grpSpPr>
          <a:xfrm>
            <a:off x="610357" y="3124200"/>
            <a:ext cx="4434864" cy="1077218"/>
            <a:chOff x="990600" y="3048000"/>
            <a:chExt cx="4953000" cy="1077218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7" name="Group 6"/>
            <p:cNvGrpSpPr/>
            <p:nvPr/>
          </p:nvGrpSpPr>
          <p:grpSpPr>
            <a:xfrm>
              <a:off x="990600" y="3048000"/>
              <a:ext cx="4953000" cy="1077218"/>
              <a:chOff x="4572000" y="5029200"/>
              <a:chExt cx="3429000" cy="1077218"/>
            </a:xfrm>
            <a:grpFill/>
          </p:grpSpPr>
          <p:sp>
            <p:nvSpPr>
              <p:cNvPr id="8" name="TextBox 7"/>
              <p:cNvSpPr txBox="1"/>
              <p:nvPr/>
            </p:nvSpPr>
            <p:spPr>
              <a:xfrm>
                <a:off x="4572000" y="5029200"/>
                <a:ext cx="3429000" cy="1077218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     x                    </a:t>
                </a:r>
              </a:p>
              <a:p>
                <a:r>
                  <a:rPr lang="en-GB" sz="3200" dirty="0"/>
                  <a:t>  sin40°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709485" y="5210551"/>
                <a:ext cx="505516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600" b="1" dirty="0"/>
                  <a:t>=</a:t>
                </a:r>
                <a:endParaRPr lang="en-GB" b="1" dirty="0"/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 flipV="1">
                <a:off x="4695031" y="5567809"/>
                <a:ext cx="676411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Rectangle 12"/>
            <p:cNvSpPr/>
            <p:nvPr/>
          </p:nvSpPr>
          <p:spPr>
            <a:xfrm>
              <a:off x="3208320" y="3260128"/>
              <a:ext cx="2501387" cy="584775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GB" sz="3200" dirty="0"/>
                <a:t>11.033779…</a:t>
              </a:r>
            </a:p>
          </p:txBody>
        </p:sp>
      </p:grpSp>
      <p:sp>
        <p:nvSpPr>
          <p:cNvPr id="18" name="TextBox 17"/>
          <p:cNvSpPr txBox="1"/>
          <p:nvPr>
            <p:custDataLst>
              <p:tags r:id="rId2"/>
            </p:custDataLst>
          </p:nvPr>
        </p:nvSpPr>
        <p:spPr>
          <a:xfrm>
            <a:off x="604679" y="4507462"/>
            <a:ext cx="4434864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200" dirty="0"/>
              <a:t> x  = 11.033779…</a:t>
            </a:r>
            <a:r>
              <a:rPr lang="en-GB" sz="3200" dirty="0">
                <a:solidFill>
                  <a:srgbClr val="00B0F0"/>
                </a:solidFill>
              </a:rPr>
              <a:t> </a:t>
            </a:r>
            <a:r>
              <a:rPr lang="en-GB" sz="3200" b="1" dirty="0">
                <a:solidFill>
                  <a:srgbClr val="0070C0"/>
                </a:solidFill>
              </a:rPr>
              <a:t>x</a:t>
            </a:r>
            <a:r>
              <a:rPr lang="en-GB" sz="3200" dirty="0">
                <a:solidFill>
                  <a:srgbClr val="00B0F0"/>
                </a:solidFill>
              </a:rPr>
              <a:t> </a:t>
            </a:r>
            <a:r>
              <a:rPr lang="en-GB" sz="3200" dirty="0"/>
              <a:t>sin40°</a:t>
            </a:r>
          </a:p>
        </p:txBody>
      </p:sp>
      <p:sp>
        <p:nvSpPr>
          <p:cNvPr id="21" name="TextBox 20"/>
          <p:cNvSpPr txBox="1"/>
          <p:nvPr>
            <p:custDataLst>
              <p:tags r:id="rId3"/>
            </p:custDataLst>
          </p:nvPr>
        </p:nvSpPr>
        <p:spPr>
          <a:xfrm>
            <a:off x="604679" y="5562600"/>
            <a:ext cx="4434864" cy="584775"/>
          </a:xfrm>
          <a:prstGeom prst="rect">
            <a:avLst/>
          </a:prstGeom>
          <a:solidFill>
            <a:srgbClr val="81E58B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200" dirty="0"/>
              <a:t>     </a:t>
            </a:r>
            <a:r>
              <a:rPr lang="en-GB" sz="3200" b="1" dirty="0"/>
              <a:t>x  = 7.09 cm</a:t>
            </a:r>
            <a:r>
              <a:rPr lang="en-GB" sz="3200" dirty="0"/>
              <a:t> (to 3.s.f.)</a:t>
            </a:r>
          </a:p>
        </p:txBody>
      </p:sp>
    </p:spTree>
    <p:extLst>
      <p:ext uri="{BB962C8B-B14F-4D97-AF65-F5344CB8AC3E}">
        <p14:creationId xmlns:p14="http://schemas.microsoft.com/office/powerpoint/2010/main" val="83886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263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265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4454154" y="5576946"/>
            <a:ext cx="1432667" cy="830997"/>
          </a:xfrm>
          <a:prstGeom prst="rect">
            <a:avLst/>
          </a:prstGeom>
          <a:solidFill>
            <a:srgbClr val="6ED490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6.94cm </a:t>
            </a:r>
            <a:r>
              <a:rPr lang="en-GB" sz="2400" dirty="0"/>
              <a:t>(3.s.f.)</a:t>
            </a:r>
          </a:p>
        </p:txBody>
      </p:sp>
    </p:spTree>
    <p:extLst>
      <p:ext uri="{BB962C8B-B14F-4D97-AF65-F5344CB8AC3E}">
        <p14:creationId xmlns:p14="http://schemas.microsoft.com/office/powerpoint/2010/main" val="82930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344</Words>
  <Application>Microsoft Office PowerPoint</Application>
  <PresentationFormat>On-screen Show (4:3)</PresentationFormat>
  <Paragraphs>68</Paragraphs>
  <Slides>14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Cian Lyons</dc:creator>
  <cp:lastModifiedBy>Cian Lyons</cp:lastModifiedBy>
  <cp:revision>2</cp:revision>
  <dcterms:created xsi:type="dcterms:W3CDTF">2020-01-22T09:17:54Z</dcterms:created>
  <dcterms:modified xsi:type="dcterms:W3CDTF">2020-01-22T09:21:39Z</dcterms:modified>
</cp:coreProperties>
</file>