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334" r:id="rId2"/>
    <p:sldId id="333" r:id="rId3"/>
    <p:sldId id="335" r:id="rId4"/>
    <p:sldId id="332" r:id="rId5"/>
    <p:sldId id="325" r:id="rId6"/>
    <p:sldId id="329" r:id="rId7"/>
    <p:sldId id="336" r:id="rId8"/>
    <p:sldId id="337" r:id="rId9"/>
    <p:sldId id="338" r:id="rId10"/>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id="{66C9C7BF-DCB8-0B42-9E5A-A47210286444}">
          <p14:sldIdLst>
            <p14:sldId id="334"/>
            <p14:sldId id="333"/>
            <p14:sldId id="335"/>
            <p14:sldId id="332"/>
            <p14:sldId id="325"/>
            <p14:sldId id="329"/>
            <p14:sldId id="336"/>
            <p14:sldId id="337"/>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FFF"/>
    <a:srgbClr val="FF231A"/>
    <a:srgbClr val="FED2FF"/>
    <a:srgbClr val="9CFDEE"/>
    <a:srgbClr val="73FDD6"/>
    <a:srgbClr val="FECEFD"/>
    <a:srgbClr val="FEC0FD"/>
    <a:srgbClr val="FED9FD"/>
    <a:srgbClr val="FBF3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5763"/>
  </p:normalViewPr>
  <p:slideViewPr>
    <p:cSldViewPr snapToGrid="0" snapToObjects="1">
      <p:cViewPr varScale="1">
        <p:scale>
          <a:sx n="96" d="100"/>
          <a:sy n="96"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F61483-72D0-394C-AC95-0368E97CFE03}" type="datetimeFigureOut">
              <a:rPr lang="en-GB" smtClean="0"/>
              <a:t>09/03/2020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9377F-1BD6-9941-B405-1638211A94BD}" type="slidenum">
              <a:rPr lang="en-GB" smtClean="0"/>
              <a:t>‹#›</a:t>
            </a:fld>
            <a:endParaRPr lang="en-GB"/>
          </a:p>
        </p:txBody>
      </p:sp>
    </p:spTree>
    <p:extLst>
      <p:ext uri="{BB962C8B-B14F-4D97-AF65-F5344CB8AC3E}">
        <p14:creationId xmlns:p14="http://schemas.microsoft.com/office/powerpoint/2010/main" val="184852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5</a:t>
            </a:fld>
            <a:endParaRPr lang="en-GB"/>
          </a:p>
        </p:txBody>
      </p:sp>
    </p:spTree>
    <p:extLst>
      <p:ext uri="{BB962C8B-B14F-4D97-AF65-F5344CB8AC3E}">
        <p14:creationId xmlns:p14="http://schemas.microsoft.com/office/powerpoint/2010/main" val="3643181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6</a:t>
            </a:fld>
            <a:endParaRPr lang="en-GB"/>
          </a:p>
        </p:txBody>
      </p:sp>
    </p:spTree>
    <p:extLst>
      <p:ext uri="{BB962C8B-B14F-4D97-AF65-F5344CB8AC3E}">
        <p14:creationId xmlns:p14="http://schemas.microsoft.com/office/powerpoint/2010/main" val="3125522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P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0807F-CC69-D64A-8CA7-DE7A689C7297}"/>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CD0F4EBC-0EB9-5144-B113-E3C84F3D49F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320822" y="418107"/>
            <a:ext cx="2502359" cy="2908460"/>
          </a:xfrm>
          <a:prstGeom prst="rect">
            <a:avLst/>
          </a:prstGeom>
        </p:spPr>
      </p:pic>
      <p:sp>
        <p:nvSpPr>
          <p:cNvPr id="8" name="TextBox 7">
            <a:extLst>
              <a:ext uri="{FF2B5EF4-FFF2-40B4-BE49-F238E27FC236}">
                <a16:creationId xmlns:a16="http://schemas.microsoft.com/office/drawing/2014/main" id="{6C2C3470-A77D-3F4F-BA21-9D2139540AE8}"/>
              </a:ext>
            </a:extLst>
          </p:cNvPr>
          <p:cNvSpPr txBox="1"/>
          <p:nvPr userDrawn="1"/>
        </p:nvSpPr>
        <p:spPr>
          <a:xfrm>
            <a:off x="3020553" y="3386567"/>
            <a:ext cx="3102965" cy="1131720"/>
          </a:xfrm>
          <a:prstGeom prst="rect">
            <a:avLst/>
          </a:prstGeom>
          <a:noFill/>
        </p:spPr>
        <p:txBody>
          <a:bodyPr wrap="none" rtlCol="0">
            <a:spAutoFit/>
          </a:bodyPr>
          <a:lstStyle/>
          <a:p>
            <a:pPr algn="ctr"/>
            <a:r>
              <a:rPr lang="en-GB" sz="1351" spc="300" dirty="0"/>
              <a:t>Mathematics</a:t>
            </a:r>
          </a:p>
          <a:p>
            <a:pPr algn="ctr"/>
            <a:r>
              <a:rPr lang="en-GB" sz="1351" b="1" spc="300" dirty="0"/>
              <a:t>THE COSINE RULE</a:t>
            </a:r>
          </a:p>
          <a:p>
            <a:pPr algn="ctr"/>
            <a:r>
              <a:rPr lang="en-GB" sz="1351" b="1" spc="300" dirty="0"/>
              <a:t>TES: </a:t>
            </a:r>
            <a:r>
              <a:rPr lang="en-GB" sz="1351" spc="300" dirty="0"/>
              <a:t>cparkinson3</a:t>
            </a:r>
          </a:p>
          <a:p>
            <a:pPr algn="ctr"/>
            <a:endParaRPr lang="en-GB" sz="1351" spc="300" dirty="0"/>
          </a:p>
          <a:p>
            <a:pPr algn="ctr"/>
            <a:r>
              <a:rPr lang="en-GB" sz="1351" b="1" spc="300" dirty="0"/>
              <a:t>Last updated: 9</a:t>
            </a:r>
            <a:r>
              <a:rPr lang="en-GB" sz="1351" b="1" spc="300" baseline="30000" dirty="0"/>
              <a:t>th</a:t>
            </a:r>
            <a:r>
              <a:rPr lang="en-GB" sz="1351" b="1" spc="300" dirty="0"/>
              <a:t> May 2019</a:t>
            </a:r>
          </a:p>
        </p:txBody>
      </p:sp>
      <p:grpSp>
        <p:nvGrpSpPr>
          <p:cNvPr id="19" name="Group 18">
            <a:extLst>
              <a:ext uri="{FF2B5EF4-FFF2-40B4-BE49-F238E27FC236}">
                <a16:creationId xmlns:a16="http://schemas.microsoft.com/office/drawing/2014/main" id="{6E0BBCA1-B637-DA48-9AEB-73D453E7CEF3}"/>
              </a:ext>
            </a:extLst>
          </p:cNvPr>
          <p:cNvGrpSpPr/>
          <p:nvPr userDrawn="1"/>
        </p:nvGrpSpPr>
        <p:grpSpPr>
          <a:xfrm>
            <a:off x="-761023" y="0"/>
            <a:ext cx="677108" cy="3067219"/>
            <a:chOff x="-948661" y="62818"/>
            <a:chExt cx="901230" cy="4082469"/>
          </a:xfrm>
        </p:grpSpPr>
        <p:sp>
          <p:nvSpPr>
            <p:cNvPr id="10" name="Rectangle 9">
              <a:extLst>
                <a:ext uri="{FF2B5EF4-FFF2-40B4-BE49-F238E27FC236}">
                  <a16:creationId xmlns:a16="http://schemas.microsoft.com/office/drawing/2014/main" id="{6E55D352-BAB1-EF49-A53C-E90574CEB9A2}"/>
                </a:ext>
              </a:extLst>
            </p:cNvPr>
            <p:cNvSpPr/>
            <p:nvPr userDrawn="1"/>
          </p:nvSpPr>
          <p:spPr>
            <a:xfrm rot="16200000">
              <a:off x="-2539281" y="1653438"/>
              <a:ext cx="4082469" cy="901230"/>
            </a:xfrm>
            <a:prstGeom prst="rect">
              <a:avLst/>
            </a:prstGeom>
            <a:solidFill>
              <a:schemeClr val="bg1"/>
            </a:solidFill>
            <a:ln w="12700">
              <a:solidFill>
                <a:schemeClr val="tx1">
                  <a:lumMod val="75000"/>
                  <a:lumOff val="25000"/>
                </a:schemeClr>
              </a:solidFill>
            </a:ln>
          </p:spPr>
          <p:txBody>
            <a:bodyPr wrap="square">
              <a:spAutoFit/>
            </a:bodyPr>
            <a:lstStyle/>
            <a:p>
              <a:pPr algn="ctr"/>
              <a:r>
                <a:rPr lang="en-GB" sz="1200" dirty="0">
                  <a:latin typeface="Calibri" charset="0"/>
                  <a:ea typeface="Calibri" charset="0"/>
                  <a:cs typeface="Calibri" charset="0"/>
                </a:rPr>
                <a:t>The main colours used in this PowerPoint.</a:t>
              </a:r>
            </a:p>
            <a:p>
              <a:pPr algn="ctr"/>
              <a:endParaRPr lang="en-GB" sz="1400" dirty="0">
                <a:latin typeface="Calibri" charset="0"/>
                <a:ea typeface="Calibri" charset="0"/>
                <a:cs typeface="Calibri" charset="0"/>
              </a:endParaRPr>
            </a:p>
            <a:p>
              <a:pPr algn="ctr"/>
              <a:endParaRPr lang="en-GB" sz="1100" dirty="0"/>
            </a:p>
          </p:txBody>
        </p:sp>
        <p:sp>
          <p:nvSpPr>
            <p:cNvPr id="11" name="Rectangle 10">
              <a:extLst>
                <a:ext uri="{FF2B5EF4-FFF2-40B4-BE49-F238E27FC236}">
                  <a16:creationId xmlns:a16="http://schemas.microsoft.com/office/drawing/2014/main" id="{33B2B14E-DC1A-5E4C-928B-D4217526D917}"/>
                </a:ext>
              </a:extLst>
            </p:cNvPr>
            <p:cNvSpPr/>
            <p:nvPr userDrawn="1"/>
          </p:nvSpPr>
          <p:spPr>
            <a:xfrm>
              <a:off x="-558935" y="257838"/>
              <a:ext cx="374469" cy="374469"/>
            </a:xfrm>
            <a:prstGeom prst="rect">
              <a:avLst/>
            </a:prstGeom>
            <a:solidFill>
              <a:srgbClr val="FFFD9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BAC70C96-CE7C-C644-B399-67BE1A82A085}"/>
                </a:ext>
              </a:extLst>
            </p:cNvPr>
            <p:cNvSpPr/>
            <p:nvPr userDrawn="1"/>
          </p:nvSpPr>
          <p:spPr>
            <a:xfrm>
              <a:off x="-558935" y="731833"/>
              <a:ext cx="374469" cy="374469"/>
            </a:xfrm>
            <a:prstGeom prst="rect">
              <a:avLst/>
            </a:prstGeom>
            <a:solidFill>
              <a:srgbClr val="97E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Rectangle 12">
              <a:extLst>
                <a:ext uri="{FF2B5EF4-FFF2-40B4-BE49-F238E27FC236}">
                  <a16:creationId xmlns:a16="http://schemas.microsoft.com/office/drawing/2014/main" id="{8A999F51-BD50-C049-90A9-1B6231CB9857}"/>
                </a:ext>
              </a:extLst>
            </p:cNvPr>
            <p:cNvSpPr/>
            <p:nvPr userDrawn="1"/>
          </p:nvSpPr>
          <p:spPr>
            <a:xfrm>
              <a:off x="-558935" y="1205828"/>
              <a:ext cx="374469" cy="374469"/>
            </a:xfrm>
            <a:prstGeom prst="rect">
              <a:avLst/>
            </a:prstGeom>
            <a:solidFill>
              <a:srgbClr val="BEFCB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a:extLst>
                <a:ext uri="{FF2B5EF4-FFF2-40B4-BE49-F238E27FC236}">
                  <a16:creationId xmlns:a16="http://schemas.microsoft.com/office/drawing/2014/main" id="{6CC2D869-022F-E840-89BC-12DD971DC573}"/>
                </a:ext>
              </a:extLst>
            </p:cNvPr>
            <p:cNvSpPr/>
            <p:nvPr userDrawn="1"/>
          </p:nvSpPr>
          <p:spPr>
            <a:xfrm>
              <a:off x="-558935" y="1679823"/>
              <a:ext cx="374469" cy="374469"/>
            </a:xfrm>
            <a:prstGeom prst="rect">
              <a:avLst/>
            </a:prstGeom>
            <a:solidFill>
              <a:srgbClr val="FFE7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5" name="Rectangle 14">
              <a:extLst>
                <a:ext uri="{FF2B5EF4-FFF2-40B4-BE49-F238E27FC236}">
                  <a16:creationId xmlns:a16="http://schemas.microsoft.com/office/drawing/2014/main" id="{EE8AFE88-59C2-B045-B530-3C553F00279C}"/>
                </a:ext>
              </a:extLst>
            </p:cNvPr>
            <p:cNvSpPr/>
            <p:nvPr userDrawn="1"/>
          </p:nvSpPr>
          <p:spPr>
            <a:xfrm>
              <a:off x="-558935" y="2153818"/>
              <a:ext cx="374469" cy="374469"/>
            </a:xfrm>
            <a:prstGeom prst="rect">
              <a:avLst/>
            </a:prstGeom>
            <a:solidFill>
              <a:srgbClr val="FFDBD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6" name="Rectangle 15">
              <a:extLst>
                <a:ext uri="{FF2B5EF4-FFF2-40B4-BE49-F238E27FC236}">
                  <a16:creationId xmlns:a16="http://schemas.microsoft.com/office/drawing/2014/main" id="{2CD1061D-2441-E04D-9676-B653DF83E2F4}"/>
                </a:ext>
              </a:extLst>
            </p:cNvPr>
            <p:cNvSpPr/>
            <p:nvPr userDrawn="1"/>
          </p:nvSpPr>
          <p:spPr>
            <a:xfrm>
              <a:off x="-558935" y="2627813"/>
              <a:ext cx="374469" cy="374469"/>
            </a:xfrm>
            <a:prstGeom prst="rect">
              <a:avLst/>
            </a:prstGeom>
            <a:solidFill>
              <a:srgbClr val="FEB5BB"/>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7" name="Rectangle 16">
              <a:extLst>
                <a:ext uri="{FF2B5EF4-FFF2-40B4-BE49-F238E27FC236}">
                  <a16:creationId xmlns:a16="http://schemas.microsoft.com/office/drawing/2014/main" id="{C5FBBDF0-4A29-224B-929A-32C4CB949376}"/>
                </a:ext>
              </a:extLst>
            </p:cNvPr>
            <p:cNvSpPr/>
            <p:nvPr userDrawn="1"/>
          </p:nvSpPr>
          <p:spPr>
            <a:xfrm>
              <a:off x="-558935" y="3575802"/>
              <a:ext cx="374469" cy="374469"/>
            </a:xfrm>
            <a:prstGeom prst="rect">
              <a:avLst/>
            </a:prstGeom>
            <a:solidFill>
              <a:srgbClr val="D3B3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8" name="Rectangle 17">
              <a:extLst>
                <a:ext uri="{FF2B5EF4-FFF2-40B4-BE49-F238E27FC236}">
                  <a16:creationId xmlns:a16="http://schemas.microsoft.com/office/drawing/2014/main" id="{8D0DA461-5D30-5344-8AA2-02873BB7BFE1}"/>
                </a:ext>
              </a:extLst>
            </p:cNvPr>
            <p:cNvSpPr/>
            <p:nvPr userDrawn="1"/>
          </p:nvSpPr>
          <p:spPr>
            <a:xfrm>
              <a:off x="-558935" y="3101808"/>
              <a:ext cx="374469" cy="374469"/>
            </a:xfrm>
            <a:prstGeom prst="rect">
              <a:avLst/>
            </a:prstGeom>
            <a:solidFill>
              <a:srgbClr val="D9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grpSp>
    </p:spTree>
    <p:extLst>
      <p:ext uri="{BB962C8B-B14F-4D97-AF65-F5344CB8AC3E}">
        <p14:creationId xmlns:p14="http://schemas.microsoft.com/office/powerpoint/2010/main" val="12193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rols&amp;Layout">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53A38F-A006-2D4A-8143-E8B42B9BC24A}"/>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05EF21D-6DDF-A64B-A2DF-AE1F1279CCC8}"/>
              </a:ext>
            </a:extLst>
          </p:cNvPr>
          <p:cNvSpPr txBox="1"/>
          <p:nvPr userDrawn="1"/>
        </p:nvSpPr>
        <p:spPr>
          <a:xfrm>
            <a:off x="66356" y="578058"/>
            <a:ext cx="8264568" cy="553998"/>
          </a:xfrm>
          <a:prstGeom prst="rect">
            <a:avLst/>
          </a:prstGeom>
          <a:noFill/>
        </p:spPr>
        <p:txBody>
          <a:bodyPr wrap="square" rtlCol="0">
            <a:spAutoFit/>
          </a:bodyPr>
          <a:lstStyle/>
          <a:p>
            <a:pPr algn="l"/>
            <a:r>
              <a:rPr lang="en-GB" sz="1500" spc="300" dirty="0"/>
              <a:t>Some textboxes [controls] throughout this PowerPoint have been set up to ‘trigger’ animations when clicked. These are detailed below.</a:t>
            </a:r>
          </a:p>
        </p:txBody>
      </p:sp>
      <p:grpSp>
        <p:nvGrpSpPr>
          <p:cNvPr id="6" name="Group 5">
            <a:extLst>
              <a:ext uri="{FF2B5EF4-FFF2-40B4-BE49-F238E27FC236}">
                <a16:creationId xmlns:a16="http://schemas.microsoft.com/office/drawing/2014/main" id="{45924C19-4218-D940-974A-7AAAA82013D3}"/>
              </a:ext>
            </a:extLst>
          </p:cNvPr>
          <p:cNvGrpSpPr/>
          <p:nvPr userDrawn="1"/>
        </p:nvGrpSpPr>
        <p:grpSpPr>
          <a:xfrm>
            <a:off x="151963" y="1289098"/>
            <a:ext cx="8903805" cy="784830"/>
            <a:chOff x="1820342" y="1466572"/>
            <a:chExt cx="8903805" cy="784830"/>
          </a:xfrm>
        </p:grpSpPr>
        <p:grpSp>
          <p:nvGrpSpPr>
            <p:cNvPr id="2" name="Group 1">
              <a:extLst>
                <a:ext uri="{FF2B5EF4-FFF2-40B4-BE49-F238E27FC236}">
                  <a16:creationId xmlns:a16="http://schemas.microsoft.com/office/drawing/2014/main" id="{A3350D4A-F062-5044-BB59-334D9E4F30FE}"/>
                </a:ext>
              </a:extLst>
            </p:cNvPr>
            <p:cNvGrpSpPr/>
            <p:nvPr userDrawn="1"/>
          </p:nvGrpSpPr>
          <p:grpSpPr>
            <a:xfrm>
              <a:off x="1820342" y="1504138"/>
              <a:ext cx="2660074" cy="709699"/>
              <a:chOff x="1820342" y="1545283"/>
              <a:chExt cx="2660074" cy="709699"/>
            </a:xfrm>
          </p:grpSpPr>
          <p:sp>
            <p:nvSpPr>
              <p:cNvPr id="24" name="TextBox 4">
                <a:extLst>
                  <a:ext uri="{FF2B5EF4-FFF2-40B4-BE49-F238E27FC236}">
                    <a16:creationId xmlns:a16="http://schemas.microsoft.com/office/drawing/2014/main" id="{FA70328D-10AC-B54A-897C-F9AEA2E0874B}"/>
                  </a:ext>
                </a:extLst>
              </p:cNvPr>
              <p:cNvSpPr txBox="1">
                <a:spLocks/>
              </p:cNvSpPr>
              <p:nvPr userDrawn="1"/>
            </p:nvSpPr>
            <p:spPr bwMode="auto">
              <a:xfrm>
                <a:off x="1820342" y="1945382"/>
                <a:ext cx="266007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LEARNING OBJECTIVE</a:t>
                </a:r>
              </a:p>
            </p:txBody>
          </p:sp>
          <p:sp>
            <p:nvSpPr>
              <p:cNvPr id="25" name="TextBox 9">
                <a:extLst>
                  <a:ext uri="{FF2B5EF4-FFF2-40B4-BE49-F238E27FC236}">
                    <a16:creationId xmlns:a16="http://schemas.microsoft.com/office/drawing/2014/main" id="{3241E8D5-E77F-A448-9572-34FE3F91F72F}"/>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26" name="TextBox 3">
                <a:extLst>
                  <a:ext uri="{FF2B5EF4-FFF2-40B4-BE49-F238E27FC236}">
                    <a16:creationId xmlns:a16="http://schemas.microsoft.com/office/drawing/2014/main" id="{8D743310-9ADD-6D49-B1C8-CE5DBB93D6E0}"/>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5" name="Group 4">
              <a:extLst>
                <a:ext uri="{FF2B5EF4-FFF2-40B4-BE49-F238E27FC236}">
                  <a16:creationId xmlns:a16="http://schemas.microsoft.com/office/drawing/2014/main" id="{26C40E73-C315-864E-B58B-A4EC41A0690E}"/>
                </a:ext>
              </a:extLst>
            </p:cNvPr>
            <p:cNvGrpSpPr/>
            <p:nvPr userDrawn="1"/>
          </p:nvGrpSpPr>
          <p:grpSpPr>
            <a:xfrm>
              <a:off x="4628967" y="1466572"/>
              <a:ext cx="6095180" cy="784830"/>
              <a:chOff x="4628967" y="1462993"/>
              <a:chExt cx="6095180" cy="784830"/>
            </a:xfrm>
          </p:grpSpPr>
          <p:sp>
            <p:nvSpPr>
              <p:cNvPr id="23" name="TextBox 22">
                <a:extLst>
                  <a:ext uri="{FF2B5EF4-FFF2-40B4-BE49-F238E27FC236}">
                    <a16:creationId xmlns:a16="http://schemas.microsoft.com/office/drawing/2014/main" id="{E6EB34EC-1B19-414E-93B2-2D0301C311A9}"/>
                  </a:ext>
                </a:extLst>
              </p:cNvPr>
              <p:cNvSpPr txBox="1"/>
              <p:nvPr userDrawn="1"/>
            </p:nvSpPr>
            <p:spPr>
              <a:xfrm>
                <a:off x="4655598" y="1462993"/>
                <a:ext cx="6068549" cy="553998"/>
              </a:xfrm>
              <a:prstGeom prst="rect">
                <a:avLst/>
              </a:prstGeom>
              <a:noFill/>
            </p:spPr>
            <p:txBody>
              <a:bodyPr wrap="square" rtlCol="0">
                <a:spAutoFit/>
              </a:bodyPr>
              <a:lstStyle/>
              <a:p>
                <a:pPr algn="l"/>
                <a:r>
                  <a:rPr lang="en-GB" sz="1500" spc="300" dirty="0"/>
                  <a:t>The date, title and learning objective are displayed at the top of the slide in the format to the left.</a:t>
                </a:r>
              </a:p>
            </p:txBody>
          </p:sp>
          <p:cxnSp>
            <p:nvCxnSpPr>
              <p:cNvPr id="4" name="Straight Connector 3">
                <a:extLst>
                  <a:ext uri="{FF2B5EF4-FFF2-40B4-BE49-F238E27FC236}">
                    <a16:creationId xmlns:a16="http://schemas.microsoft.com/office/drawing/2014/main" id="{76C952C1-5B60-354D-8932-4CA13924694E}"/>
                  </a:ext>
                </a:extLst>
              </p:cNvPr>
              <p:cNvCxnSpPr>
                <a:cxnSpLocks/>
              </p:cNvCxnSpPr>
              <p:nvPr userDrawn="1"/>
            </p:nvCxnSpPr>
            <p:spPr>
              <a:xfrm>
                <a:off x="4628967"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68ADD22D-EA5E-B241-AFB5-D9C97504938B}"/>
              </a:ext>
            </a:extLst>
          </p:cNvPr>
          <p:cNvSpPr txBox="1"/>
          <p:nvPr userDrawn="1"/>
        </p:nvSpPr>
        <p:spPr>
          <a:xfrm>
            <a:off x="66356" y="75603"/>
            <a:ext cx="3920107" cy="584775"/>
          </a:xfrm>
          <a:prstGeom prst="rect">
            <a:avLst/>
          </a:prstGeom>
          <a:noFill/>
        </p:spPr>
        <p:txBody>
          <a:bodyPr wrap="square" rtlCol="0">
            <a:spAutoFit/>
          </a:bodyPr>
          <a:lstStyle/>
          <a:p>
            <a:pPr algn="l"/>
            <a:r>
              <a:rPr lang="en-GB" sz="3200" b="1" spc="300" dirty="0"/>
              <a:t>Controls &amp; layout</a:t>
            </a:r>
          </a:p>
        </p:txBody>
      </p:sp>
      <p:cxnSp>
        <p:nvCxnSpPr>
          <p:cNvPr id="37" name="Straight Connector 36">
            <a:extLst>
              <a:ext uri="{FF2B5EF4-FFF2-40B4-BE49-F238E27FC236}">
                <a16:creationId xmlns:a16="http://schemas.microsoft.com/office/drawing/2014/main" id="{B21CEB9F-8260-0A40-A91D-D64E181A1844}"/>
              </a:ext>
            </a:extLst>
          </p:cNvPr>
          <p:cNvCxnSpPr>
            <a:cxnSpLocks/>
          </p:cNvCxnSpPr>
          <p:nvPr userDrawn="1"/>
        </p:nvCxnSpPr>
        <p:spPr>
          <a:xfrm>
            <a:off x="66356" y="1171257"/>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5FB869-FA68-0348-A0B3-A6A7ED058E3D}"/>
              </a:ext>
            </a:extLst>
          </p:cNvPr>
          <p:cNvCxnSpPr>
            <a:cxnSpLocks/>
          </p:cNvCxnSpPr>
          <p:nvPr userDrawn="1"/>
        </p:nvCxnSpPr>
        <p:spPr>
          <a:xfrm>
            <a:off x="66356" y="2193049"/>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86D0D19-A691-2D42-A577-DC2C5D9B44C4}"/>
              </a:ext>
            </a:extLst>
          </p:cNvPr>
          <p:cNvGrpSpPr/>
          <p:nvPr userDrawn="1"/>
        </p:nvGrpSpPr>
        <p:grpSpPr>
          <a:xfrm>
            <a:off x="151963" y="2307486"/>
            <a:ext cx="8903805" cy="1708160"/>
            <a:chOff x="1820342" y="1466572"/>
            <a:chExt cx="8903805" cy="1708160"/>
          </a:xfrm>
        </p:grpSpPr>
        <p:grpSp>
          <p:nvGrpSpPr>
            <p:cNvPr id="29" name="Group 28">
              <a:extLst>
                <a:ext uri="{FF2B5EF4-FFF2-40B4-BE49-F238E27FC236}">
                  <a16:creationId xmlns:a16="http://schemas.microsoft.com/office/drawing/2014/main" id="{B1C10E65-2ACF-0348-8100-AF39CE803DD7}"/>
                </a:ext>
              </a:extLst>
            </p:cNvPr>
            <p:cNvGrpSpPr/>
            <p:nvPr userDrawn="1"/>
          </p:nvGrpSpPr>
          <p:grpSpPr>
            <a:xfrm>
              <a:off x="1820342" y="1504138"/>
              <a:ext cx="2660074" cy="709699"/>
              <a:chOff x="1820342" y="1545283"/>
              <a:chExt cx="2660074" cy="709699"/>
            </a:xfrm>
          </p:grpSpPr>
          <p:sp>
            <p:nvSpPr>
              <p:cNvPr id="33" name="TextBox 4">
                <a:extLst>
                  <a:ext uri="{FF2B5EF4-FFF2-40B4-BE49-F238E27FC236}">
                    <a16:creationId xmlns:a16="http://schemas.microsoft.com/office/drawing/2014/main" id="{92721DFE-88DE-D84A-9D2B-2B626493B5F9}"/>
                  </a:ext>
                </a:extLst>
              </p:cNvPr>
              <p:cNvSpPr txBox="1">
                <a:spLocks/>
              </p:cNvSpPr>
              <p:nvPr userDrawn="1"/>
            </p:nvSpPr>
            <p:spPr bwMode="auto">
              <a:xfrm>
                <a:off x="1820342" y="1945382"/>
                <a:ext cx="266007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KEY TERMS</a:t>
                </a:r>
              </a:p>
            </p:txBody>
          </p:sp>
          <p:sp>
            <p:nvSpPr>
              <p:cNvPr id="34" name="TextBox 9">
                <a:extLst>
                  <a:ext uri="{FF2B5EF4-FFF2-40B4-BE49-F238E27FC236}">
                    <a16:creationId xmlns:a16="http://schemas.microsoft.com/office/drawing/2014/main" id="{484E0F6D-BFC2-484B-B722-17638277FB12}"/>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35" name="TextBox 3">
                <a:extLst>
                  <a:ext uri="{FF2B5EF4-FFF2-40B4-BE49-F238E27FC236}">
                    <a16:creationId xmlns:a16="http://schemas.microsoft.com/office/drawing/2014/main" id="{32C3C2D2-F91D-7241-B45F-464BD4B284A4}"/>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30" name="Group 29">
              <a:extLst>
                <a:ext uri="{FF2B5EF4-FFF2-40B4-BE49-F238E27FC236}">
                  <a16:creationId xmlns:a16="http://schemas.microsoft.com/office/drawing/2014/main" id="{A7B047A2-CE3D-134E-8E59-58E7A29C6D8C}"/>
                </a:ext>
              </a:extLst>
            </p:cNvPr>
            <p:cNvGrpSpPr/>
            <p:nvPr userDrawn="1"/>
          </p:nvGrpSpPr>
          <p:grpSpPr>
            <a:xfrm>
              <a:off x="4628967" y="1466572"/>
              <a:ext cx="6095180" cy="1708160"/>
              <a:chOff x="4628967" y="1462993"/>
              <a:chExt cx="6095180" cy="1708160"/>
            </a:xfrm>
          </p:grpSpPr>
          <p:sp>
            <p:nvSpPr>
              <p:cNvPr id="31" name="TextBox 30">
                <a:extLst>
                  <a:ext uri="{FF2B5EF4-FFF2-40B4-BE49-F238E27FC236}">
                    <a16:creationId xmlns:a16="http://schemas.microsoft.com/office/drawing/2014/main" id="{67DE6CA1-D0E7-884C-9AFA-77EFD5EB6037}"/>
                  </a:ext>
                </a:extLst>
              </p:cNvPr>
              <p:cNvSpPr txBox="1"/>
              <p:nvPr userDrawn="1"/>
            </p:nvSpPr>
            <p:spPr>
              <a:xfrm>
                <a:off x="4655598" y="1462993"/>
                <a:ext cx="6068549" cy="170816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500" spc="300" dirty="0"/>
                  <a:t>Click on the key terms control to show/hide the lesson’s key terms. The key terms textbox will replace the learning objective when shown. The key terms control is displayed in the bottom right hand corner of the slide. </a:t>
                </a:r>
                <a:r>
                  <a:rPr lang="en-GB" sz="1500" b="1" spc="300" dirty="0"/>
                  <a:t>Note: </a:t>
                </a:r>
                <a:r>
                  <a:rPr lang="en-GB" sz="1500" spc="300" dirty="0"/>
                  <a:t>As you move onto the next slide the key terms textbox will be replaced by the learning objective textbox.</a:t>
                </a:r>
              </a:p>
            </p:txBody>
          </p:sp>
          <p:cxnSp>
            <p:nvCxnSpPr>
              <p:cNvPr id="32" name="Straight Connector 31">
                <a:extLst>
                  <a:ext uri="{FF2B5EF4-FFF2-40B4-BE49-F238E27FC236}">
                    <a16:creationId xmlns:a16="http://schemas.microsoft.com/office/drawing/2014/main" id="{0C4F4C72-B359-F148-B3E7-89A1E826ADB4}"/>
                  </a:ext>
                </a:extLst>
              </p:cNvPr>
              <p:cNvCxnSpPr>
                <a:cxnSpLocks/>
              </p:cNvCxnSpPr>
              <p:nvPr userDrawn="1"/>
            </p:nvCxnSpPr>
            <p:spPr>
              <a:xfrm>
                <a:off x="4628967" y="1462993"/>
                <a:ext cx="0" cy="17081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0" name="TextBox 39">
            <a:extLst>
              <a:ext uri="{FF2B5EF4-FFF2-40B4-BE49-F238E27FC236}">
                <a16:creationId xmlns:a16="http://schemas.microsoft.com/office/drawing/2014/main" id="{E94B164F-2AED-F544-8BBE-B48ABDE56ECA}"/>
              </a:ext>
            </a:extLst>
          </p:cNvPr>
          <p:cNvSpPr txBox="1"/>
          <p:nvPr userDrawn="1"/>
        </p:nvSpPr>
        <p:spPr>
          <a:xfrm>
            <a:off x="2127895" y="3773628"/>
            <a:ext cx="683860" cy="196551"/>
          </a:xfrm>
          <a:prstGeom prst="rect">
            <a:avLst/>
          </a:prstGeom>
          <a:solidFill>
            <a:schemeClr val="accent5">
              <a:lumMod val="60000"/>
              <a:lumOff val="40000"/>
            </a:schemeClr>
          </a:solidFill>
          <a:ln w="12700">
            <a:solidFill>
              <a:schemeClr val="tx1"/>
            </a:solidFill>
          </a:ln>
        </p:spPr>
        <p:txBody>
          <a:bodyPr wrap="none" rtlCol="0" anchor="ctr">
            <a:spAutoFit/>
          </a:bodyPr>
          <a:lstStyle/>
          <a:p>
            <a:pPr algn="ctr"/>
            <a:r>
              <a:rPr lang="en-GB" sz="1050" dirty="0"/>
              <a:t>KEY TERMS</a:t>
            </a:r>
          </a:p>
        </p:txBody>
      </p:sp>
      <p:cxnSp>
        <p:nvCxnSpPr>
          <p:cNvPr id="49" name="Straight Connector 48">
            <a:extLst>
              <a:ext uri="{FF2B5EF4-FFF2-40B4-BE49-F238E27FC236}">
                <a16:creationId xmlns:a16="http://schemas.microsoft.com/office/drawing/2014/main" id="{10DB2AF2-DE73-844E-B6FB-70B8E68C139D}"/>
              </a:ext>
            </a:extLst>
          </p:cNvPr>
          <p:cNvCxnSpPr>
            <a:cxnSpLocks/>
          </p:cNvCxnSpPr>
          <p:nvPr userDrawn="1"/>
        </p:nvCxnSpPr>
        <p:spPr>
          <a:xfrm>
            <a:off x="66356" y="4144943"/>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F0745E-FF13-B842-9A47-5DA624498451}"/>
              </a:ext>
            </a:extLst>
          </p:cNvPr>
          <p:cNvGrpSpPr/>
          <p:nvPr userDrawn="1"/>
        </p:nvGrpSpPr>
        <p:grpSpPr>
          <a:xfrm>
            <a:off x="151963" y="4270067"/>
            <a:ext cx="8903805" cy="784830"/>
            <a:chOff x="151963" y="4204754"/>
            <a:chExt cx="8903805" cy="784830"/>
          </a:xfrm>
        </p:grpSpPr>
        <p:grpSp>
          <p:nvGrpSpPr>
            <p:cNvPr id="43" name="Group 42">
              <a:extLst>
                <a:ext uri="{FF2B5EF4-FFF2-40B4-BE49-F238E27FC236}">
                  <a16:creationId xmlns:a16="http://schemas.microsoft.com/office/drawing/2014/main" id="{BF097B06-3F7C-4E42-9395-239B18628089}"/>
                </a:ext>
              </a:extLst>
            </p:cNvPr>
            <p:cNvGrpSpPr/>
            <p:nvPr userDrawn="1"/>
          </p:nvGrpSpPr>
          <p:grpSpPr>
            <a:xfrm>
              <a:off x="1041844" y="4204754"/>
              <a:ext cx="8013924" cy="784830"/>
              <a:chOff x="2923539" y="1462993"/>
              <a:chExt cx="7800608" cy="784830"/>
            </a:xfrm>
          </p:grpSpPr>
          <p:sp>
            <p:nvSpPr>
              <p:cNvPr id="44" name="TextBox 43">
                <a:extLst>
                  <a:ext uri="{FF2B5EF4-FFF2-40B4-BE49-F238E27FC236}">
                    <a16:creationId xmlns:a16="http://schemas.microsoft.com/office/drawing/2014/main" id="{B08AEA2E-8BC0-4D4F-A0BE-DBD8FE7C2D12}"/>
                  </a:ext>
                </a:extLst>
              </p:cNvPr>
              <p:cNvSpPr txBox="1"/>
              <p:nvPr userDrawn="1"/>
            </p:nvSpPr>
            <p:spPr>
              <a:xfrm>
                <a:off x="2955752" y="1462993"/>
                <a:ext cx="7768395" cy="784830"/>
              </a:xfrm>
              <a:prstGeom prst="rect">
                <a:avLst/>
              </a:prstGeom>
              <a:noFill/>
            </p:spPr>
            <p:txBody>
              <a:bodyPr wrap="square" rtlCol="0">
                <a:spAutoFit/>
              </a:bodyPr>
              <a:lstStyle/>
              <a:p>
                <a:pPr algn="l"/>
                <a:r>
                  <a:rPr lang="en-GB" sz="1500" spc="300" dirty="0"/>
                  <a:t>Click on the solution control to show/hide a solution to a question. These controls are often, but not always, rotated </a:t>
                </a:r>
                <a:r>
                  <a:rPr lang="en-GB" sz="1500" spc="300" dirty="0" err="1"/>
                  <a:t>90</a:t>
                </a:r>
                <a:r>
                  <a:rPr lang="en-GB" sz="1500" spc="300" baseline="30000" dirty="0" err="1"/>
                  <a:t>o</a:t>
                </a:r>
                <a:r>
                  <a:rPr lang="en-GB" sz="1500" spc="300" dirty="0"/>
                  <a:t> anti-clockwise to make greater use of space for questions.</a:t>
                </a:r>
              </a:p>
            </p:txBody>
          </p:sp>
          <p:cxnSp>
            <p:nvCxnSpPr>
              <p:cNvPr id="45" name="Straight Connector 44">
                <a:extLst>
                  <a:ext uri="{FF2B5EF4-FFF2-40B4-BE49-F238E27FC236}">
                    <a16:creationId xmlns:a16="http://schemas.microsoft.com/office/drawing/2014/main" id="{05EA8D9A-B0DC-BF48-9813-4893BBC57B97}"/>
                  </a:ext>
                </a:extLst>
              </p:cNvPr>
              <p:cNvCxnSpPr>
                <a:cxnSpLocks/>
              </p:cNvCxnSpPr>
              <p:nvPr userDrawn="1"/>
            </p:nvCxnSpPr>
            <p:spPr>
              <a:xfrm>
                <a:off x="2923539"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F6B2249C-CE64-CE4A-BD2A-DB21FB39A501}"/>
                </a:ext>
              </a:extLst>
            </p:cNvPr>
            <p:cNvSpPr txBox="1"/>
            <p:nvPr userDrawn="1"/>
          </p:nvSpPr>
          <p:spPr>
            <a:xfrm>
              <a:off x="151963" y="4253694"/>
              <a:ext cx="738343" cy="267766"/>
            </a:xfrm>
            <a:prstGeom prst="rect">
              <a:avLst/>
            </a:prstGeom>
            <a:solidFill>
              <a:schemeClr val="accent3"/>
            </a:solidFill>
            <a:ln w="12700">
              <a:solidFill>
                <a:schemeClr val="tx1"/>
              </a:solidFill>
            </a:ln>
          </p:spPr>
          <p:txBody>
            <a:bodyPr wrap="none" lIns="45720" tIns="18288" rIns="45720" bIns="18288" rtlCol="0">
              <a:spAutoFit/>
            </a:bodyPr>
            <a:lstStyle/>
            <a:p>
              <a:pPr algn="ctr"/>
              <a:r>
                <a:rPr lang="en-GB" sz="1500" dirty="0"/>
                <a:t>Solution</a:t>
              </a:r>
            </a:p>
          </p:txBody>
        </p:sp>
      </p:grpSp>
      <p:pic>
        <p:nvPicPr>
          <p:cNvPr id="39" name="Picture 38">
            <a:extLst>
              <a:ext uri="{FF2B5EF4-FFF2-40B4-BE49-F238E27FC236}">
                <a16:creationId xmlns:a16="http://schemas.microsoft.com/office/drawing/2014/main" id="{A1B53C23-9949-CE4C-BC8F-13541023545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243838" y="160321"/>
            <a:ext cx="724844" cy="842477"/>
          </a:xfrm>
          <a:prstGeom prst="rect">
            <a:avLst/>
          </a:prstGeom>
        </p:spPr>
      </p:pic>
    </p:spTree>
    <p:extLst>
      <p:ext uri="{BB962C8B-B14F-4D97-AF65-F5344CB8AC3E}">
        <p14:creationId xmlns:p14="http://schemas.microsoft.com/office/powerpoint/2010/main" val="243237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10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F2A8-91BD-4078-8D63-FBC2CD347E26}"/>
              </a:ext>
            </a:extLst>
          </p:cNvPr>
          <p:cNvSpPr>
            <a:spLocks noGrp="1"/>
          </p:cNvSpPr>
          <p:nvPr>
            <p:ph type="ctrTitle"/>
          </p:nvPr>
        </p:nvSpPr>
        <p:spPr>
          <a:xfrm>
            <a:off x="1143000" y="841772"/>
            <a:ext cx="6858000" cy="1790700"/>
          </a:xfrm>
        </p:spPr>
        <p:txBody>
          <a:bodyPr anchor="b"/>
          <a:lstStyle>
            <a:lvl1pPr algn="ctr">
              <a:defRPr sz="4500"/>
            </a:lvl1pPr>
          </a:lstStyle>
          <a:p>
            <a:r>
              <a:rPr lang="en-US" dirty="0"/>
              <a:t>Click to edit Master title style</a:t>
            </a:r>
            <a:endParaRPr lang="ga-IE" dirty="0"/>
          </a:p>
        </p:txBody>
      </p:sp>
      <p:sp>
        <p:nvSpPr>
          <p:cNvPr id="3" name="Subtitle 2">
            <a:extLst>
              <a:ext uri="{FF2B5EF4-FFF2-40B4-BE49-F238E27FC236}">
                <a16:creationId xmlns:a16="http://schemas.microsoft.com/office/drawing/2014/main" id="{56C3E93C-3A38-4138-B835-452B8D86B56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ga-IE"/>
          </a:p>
        </p:txBody>
      </p:sp>
      <p:sp>
        <p:nvSpPr>
          <p:cNvPr id="4" name="Date Placeholder 3">
            <a:extLst>
              <a:ext uri="{FF2B5EF4-FFF2-40B4-BE49-F238E27FC236}">
                <a16:creationId xmlns:a16="http://schemas.microsoft.com/office/drawing/2014/main" id="{536B8F19-0601-4407-80D1-74A22C213CF6}"/>
              </a:ext>
            </a:extLst>
          </p:cNvPr>
          <p:cNvSpPr>
            <a:spLocks noGrp="1"/>
          </p:cNvSpPr>
          <p:nvPr>
            <p:ph type="dt" sz="half" idx="10"/>
          </p:nvPr>
        </p:nvSpPr>
        <p:spPr/>
        <p:txBody>
          <a:bodyPr/>
          <a:lstStyle/>
          <a:p>
            <a:endParaRPr lang="ga-IE" dirty="0"/>
          </a:p>
        </p:txBody>
      </p:sp>
      <p:sp>
        <p:nvSpPr>
          <p:cNvPr id="5" name="Footer Placeholder 4">
            <a:extLst>
              <a:ext uri="{FF2B5EF4-FFF2-40B4-BE49-F238E27FC236}">
                <a16:creationId xmlns:a16="http://schemas.microsoft.com/office/drawing/2014/main" id="{493647AA-12E2-4C2C-B90D-56DD6812BCDD}"/>
              </a:ext>
            </a:extLst>
          </p:cNvPr>
          <p:cNvSpPr>
            <a:spLocks noGrp="1"/>
          </p:cNvSpPr>
          <p:nvPr>
            <p:ph type="ftr" sz="quarter" idx="11"/>
          </p:nvPr>
        </p:nvSpPr>
        <p:spPr/>
        <p:txBody>
          <a:bodyPr/>
          <a:lstStyle/>
          <a:p>
            <a:endParaRPr lang="ga-IE"/>
          </a:p>
        </p:txBody>
      </p:sp>
      <p:sp>
        <p:nvSpPr>
          <p:cNvPr id="6" name="Slide Number Placeholder 5">
            <a:extLst>
              <a:ext uri="{FF2B5EF4-FFF2-40B4-BE49-F238E27FC236}">
                <a16:creationId xmlns:a16="http://schemas.microsoft.com/office/drawing/2014/main" id="{AD975025-A33F-4900-8417-543EF302D41E}"/>
              </a:ext>
            </a:extLst>
          </p:cNvPr>
          <p:cNvSpPr>
            <a:spLocks noGrp="1"/>
          </p:cNvSpPr>
          <p:nvPr>
            <p:ph type="sldNum" sz="quarter" idx="12"/>
          </p:nvPr>
        </p:nvSpPr>
        <p:spPr/>
        <p:txBody>
          <a:bodyPr/>
          <a:lstStyle/>
          <a:p>
            <a:fld id="{7F55E205-F8BF-47F3-A4A0-89853268B6D4}" type="slidenum">
              <a:rPr lang="ga-IE" smtClean="0"/>
              <a:t>‹#›</a:t>
            </a:fld>
            <a:endParaRPr lang="ga-IE"/>
          </a:p>
        </p:txBody>
      </p:sp>
    </p:spTree>
    <p:extLst>
      <p:ext uri="{BB962C8B-B14F-4D97-AF65-F5344CB8AC3E}">
        <p14:creationId xmlns:p14="http://schemas.microsoft.com/office/powerpoint/2010/main" val="37980399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1D2E028-A820-384C-809A-72BE9005B3B2}"/>
              </a:ext>
            </a:extLst>
          </p:cNvPr>
          <p:cNvSpPr txBox="1">
            <a:spLocks/>
          </p:cNvSpPr>
          <p:nvPr userDrawn="1"/>
        </p:nvSpPr>
        <p:spPr bwMode="auto">
          <a:xfrm>
            <a:off x="76311" y="488434"/>
            <a:ext cx="8984564" cy="309600"/>
          </a:xfrm>
          <a:prstGeom prst="rect">
            <a:avLst/>
          </a:prstGeom>
          <a:solidFill>
            <a:schemeClr val="accent3"/>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dirty="0">
                <a:latin typeface="Calibri" charset="0"/>
                <a:ea typeface="Calibri" charset="0"/>
                <a:cs typeface="Calibri" charset="0"/>
              </a:rPr>
              <a:t>We are learning to:  </a:t>
            </a:r>
            <a:r>
              <a:rPr lang="en-GB" sz="1400" b="0" noProof="0" dirty="0">
                <a:latin typeface="Calibri" charset="0"/>
                <a:ea typeface="Calibri" charset="0"/>
                <a:cs typeface="Calibri" charset="0"/>
              </a:rPr>
              <a:t>Use the cosine rule to solve problems in triangles.</a:t>
            </a:r>
            <a:endParaRPr lang="en-US" sz="1400" b="0" dirty="0">
              <a:latin typeface="Calibri" charset="0"/>
              <a:ea typeface="Calibri" charset="0"/>
              <a:cs typeface="Calibri" charset="0"/>
            </a:endParaRPr>
          </a:p>
        </p:txBody>
      </p:sp>
      <p:sp>
        <p:nvSpPr>
          <p:cNvPr id="3" name="TextBox 9">
            <a:extLst>
              <a:ext uri="{FF2B5EF4-FFF2-40B4-BE49-F238E27FC236}">
                <a16:creationId xmlns:a16="http://schemas.microsoft.com/office/drawing/2014/main" id="{6B21F474-0336-AB40-BBFF-B5EB883AD2DC}"/>
              </a:ext>
            </a:extLst>
          </p:cNvPr>
          <p:cNvSpPr txBox="1">
            <a:spLocks/>
          </p:cNvSpPr>
          <p:nvPr userDrawn="1"/>
        </p:nvSpPr>
        <p:spPr bwMode="auto">
          <a:xfrm>
            <a:off x="76311" y="88335"/>
            <a:ext cx="2880000"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1CA1613-C89A-4644-A77A-4C72E9291592}" type="datetime2">
              <a:rPr lang="en-GB" sz="1400" b="1" smtClean="0">
                <a:latin typeface="Calibri" charset="0"/>
                <a:ea typeface="Calibri" charset="0"/>
                <a:cs typeface="Calibri" charset="0"/>
              </a:rPr>
              <a:t>Monday, 09 March 2020</a:t>
            </a:fld>
            <a:endParaRPr lang="en-US" sz="1400" b="1" dirty="0">
              <a:latin typeface="Calibri" charset="0"/>
              <a:ea typeface="Calibri" charset="0"/>
              <a:cs typeface="Calibri" charset="0"/>
            </a:endParaRPr>
          </a:p>
        </p:txBody>
      </p:sp>
      <p:sp>
        <p:nvSpPr>
          <p:cNvPr id="4" name="TextBox 3">
            <a:extLst>
              <a:ext uri="{FF2B5EF4-FFF2-40B4-BE49-F238E27FC236}">
                <a16:creationId xmlns:a16="http://schemas.microsoft.com/office/drawing/2014/main" id="{2D765288-31B0-7D46-ADA1-7D75CB44BB17}"/>
              </a:ext>
            </a:extLst>
          </p:cNvPr>
          <p:cNvSpPr txBox="1">
            <a:spLocks/>
          </p:cNvSpPr>
          <p:nvPr userDrawn="1"/>
        </p:nvSpPr>
        <p:spPr bwMode="auto">
          <a:xfrm>
            <a:off x="3059084" y="88335"/>
            <a:ext cx="6001789" cy="309600"/>
          </a:xfrm>
          <a:prstGeom prst="rect">
            <a:avLst/>
          </a:prstGeom>
          <a:solidFill>
            <a:schemeClr val="accent2"/>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noProof="0" dirty="0">
                <a:latin typeface="Calibri" charset="0"/>
                <a:ea typeface="Calibri" charset="0"/>
                <a:cs typeface="Calibri" charset="0"/>
              </a:rPr>
              <a:t>We are learning about: </a:t>
            </a:r>
            <a:r>
              <a:rPr lang="en-GB" sz="1400" b="0" spc="0" noProof="0" dirty="0">
                <a:latin typeface="Calibri" charset="0"/>
                <a:ea typeface="Calibri" charset="0"/>
                <a:cs typeface="Calibri" charset="0"/>
              </a:rPr>
              <a:t> Trigonometry, The Cosine rule</a:t>
            </a:r>
            <a:endParaRPr lang="en-GB" sz="1400" spc="0" noProof="0" dirty="0">
              <a:latin typeface="Calibri" charset="0"/>
              <a:ea typeface="Calibri" charset="0"/>
              <a:cs typeface="Calibri" charset="0"/>
            </a:endParaRPr>
          </a:p>
        </p:txBody>
      </p:sp>
      <p:cxnSp>
        <p:nvCxnSpPr>
          <p:cNvPr id="5" name="Straight Connector 4">
            <a:extLst>
              <a:ext uri="{FF2B5EF4-FFF2-40B4-BE49-F238E27FC236}">
                <a16:creationId xmlns:a16="http://schemas.microsoft.com/office/drawing/2014/main" id="{FA91A4BE-1372-D845-A343-3EB045B018EA}"/>
              </a:ext>
            </a:extLst>
          </p:cNvPr>
          <p:cNvCxnSpPr>
            <a:cxnSpLocks/>
          </p:cNvCxnSpPr>
          <p:nvPr userDrawn="1"/>
        </p:nvCxnSpPr>
        <p:spPr>
          <a:xfrm>
            <a:off x="0" y="891681"/>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D868C6-9926-0A4B-BBFA-CAFCA5221881}"/>
              </a:ext>
            </a:extLst>
          </p:cNvPr>
          <p:cNvSpPr txBox="1">
            <a:spLocks/>
          </p:cNvSpPr>
          <p:nvPr userDrawn="1"/>
        </p:nvSpPr>
        <p:spPr bwMode="auto">
          <a:xfrm>
            <a:off x="76311" y="488434"/>
            <a:ext cx="898456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GB" sz="1400" b="1" noProof="0" dirty="0">
                <a:latin typeface="Calibri" charset="0"/>
                <a:ea typeface="Calibri" charset="0"/>
                <a:cs typeface="Calibri" charset="0"/>
              </a:rPr>
              <a:t>Key terms:</a:t>
            </a:r>
            <a:r>
              <a:rPr lang="en-GB" sz="1400" b="0" baseline="0" noProof="0" dirty="0">
                <a:latin typeface="Calibri" charset="0"/>
                <a:ea typeface="Calibri" charset="0"/>
                <a:cs typeface="Calibri" charset="0"/>
              </a:rPr>
              <a:t> </a:t>
            </a:r>
            <a:r>
              <a:rPr lang="en-GB" sz="1400" b="0" noProof="0" dirty="0">
                <a:latin typeface="Calibri" charset="0"/>
                <a:ea typeface="Calibri" charset="0"/>
                <a:cs typeface="Calibri" charset="0"/>
              </a:rPr>
              <a:t> Adjacent, angle, cosine,</a:t>
            </a:r>
            <a:r>
              <a:rPr lang="en-GB" sz="1400" b="0" baseline="0" noProof="0" dirty="0">
                <a:latin typeface="Calibri" charset="0"/>
                <a:ea typeface="Calibri" charset="0"/>
                <a:cs typeface="Calibri" charset="0"/>
              </a:rPr>
              <a:t> degrees, length, opposite, side, sine, tangent</a:t>
            </a:r>
            <a:endParaRPr lang="en-GB" sz="1400" b="0" noProof="0" dirty="0">
              <a:latin typeface="Calibri" charset="0"/>
              <a:ea typeface="Calibri" charset="0"/>
              <a:cs typeface="Calibri" charset="0"/>
            </a:endParaRPr>
          </a:p>
        </p:txBody>
      </p:sp>
      <p:sp>
        <p:nvSpPr>
          <p:cNvPr id="7" name="TextBox 6">
            <a:extLst>
              <a:ext uri="{FF2B5EF4-FFF2-40B4-BE49-F238E27FC236}">
                <a16:creationId xmlns:a16="http://schemas.microsoft.com/office/drawing/2014/main" id="{DEF70ACC-FC36-3A47-AAFD-F601EE139B53}"/>
              </a:ext>
            </a:extLst>
          </p:cNvPr>
          <p:cNvSpPr txBox="1"/>
          <p:nvPr userDrawn="1"/>
        </p:nvSpPr>
        <p:spPr>
          <a:xfrm>
            <a:off x="8114810" y="4583884"/>
            <a:ext cx="974947" cy="300082"/>
          </a:xfrm>
          <a:prstGeom prst="rect">
            <a:avLst/>
          </a:prstGeom>
          <a:solidFill>
            <a:schemeClr val="accent5">
              <a:lumMod val="60000"/>
              <a:lumOff val="40000"/>
            </a:schemeClr>
          </a:solidFill>
          <a:ln w="12700">
            <a:solidFill>
              <a:schemeClr val="tx1"/>
            </a:solidFill>
          </a:ln>
        </p:spPr>
        <p:txBody>
          <a:bodyPr wrap="none" rtlCol="0">
            <a:spAutoFit/>
          </a:bodyPr>
          <a:lstStyle/>
          <a:p>
            <a:pPr algn="ctr"/>
            <a:r>
              <a:rPr lang="en-GB" dirty="0"/>
              <a:t>KEY TERMS</a:t>
            </a:r>
          </a:p>
        </p:txBody>
      </p:sp>
      <p:sp>
        <p:nvSpPr>
          <p:cNvPr id="8" name="TextBox 7">
            <a:extLst>
              <a:ext uri="{FF2B5EF4-FFF2-40B4-BE49-F238E27FC236}">
                <a16:creationId xmlns:a16="http://schemas.microsoft.com/office/drawing/2014/main" id="{E949F5F1-665A-C04E-A669-71FD4AEE79EA}"/>
              </a:ext>
            </a:extLst>
          </p:cNvPr>
          <p:cNvSpPr txBox="1"/>
          <p:nvPr userDrawn="1"/>
        </p:nvSpPr>
        <p:spPr>
          <a:xfrm>
            <a:off x="8114810" y="4583884"/>
            <a:ext cx="974947" cy="300082"/>
          </a:xfrm>
          <a:prstGeom prst="rect">
            <a:avLst/>
          </a:prstGeom>
          <a:solidFill>
            <a:schemeClr val="accent2"/>
          </a:solidFill>
          <a:ln w="12700">
            <a:solidFill>
              <a:schemeClr val="tx1"/>
            </a:solidFill>
          </a:ln>
        </p:spPr>
        <p:txBody>
          <a:bodyPr wrap="none" rtlCol="0">
            <a:spAutoFit/>
          </a:bodyPr>
          <a:lstStyle/>
          <a:p>
            <a:pPr algn="ctr"/>
            <a:r>
              <a:rPr lang="en-GB" dirty="0"/>
              <a:t>KEY TERMS</a:t>
            </a:r>
          </a:p>
        </p:txBody>
      </p:sp>
      <p:sp>
        <p:nvSpPr>
          <p:cNvPr id="10" name="Rectangle 9">
            <a:extLst>
              <a:ext uri="{FF2B5EF4-FFF2-40B4-BE49-F238E27FC236}">
                <a16:creationId xmlns:a16="http://schemas.microsoft.com/office/drawing/2014/main" id="{4E63769C-FE9E-9F46-BD65-E961F9D36AE5}"/>
              </a:ext>
            </a:extLst>
          </p:cNvPr>
          <p:cNvSpPr/>
          <p:nvPr userDrawn="1"/>
        </p:nvSpPr>
        <p:spPr>
          <a:xfrm>
            <a:off x="-2683" y="4516221"/>
            <a:ext cx="9146683" cy="646331"/>
          </a:xfrm>
          <a:prstGeom prst="rect">
            <a:avLst/>
          </a:prstGeom>
        </p:spPr>
        <p:txBody>
          <a:bodyPr wrap="square" anchor="b">
            <a:spAutoFit/>
          </a:bodyPr>
          <a:lstStyle/>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All learners will be able to identify when to use the sine rule or cosine rule when investigating triangles.</a:t>
            </a:r>
          </a:p>
          <a:p>
            <a:pPr marL="138110" marR="0" lvl="0" indent="-13811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solidFill>
                  <a:schemeClr val="bg1">
                    <a:lumMod val="50000"/>
                  </a:schemeClr>
                </a:solidFill>
                <a:latin typeface="Calibri" charset="0"/>
                <a:ea typeface="Calibri" charset="0"/>
                <a:cs typeface="Calibri" charset="0"/>
              </a:rPr>
              <a:t>Developing learners will be able to find the length of a missing side of a triangle using the cosine rule.</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Excelling learners will be able to solve unfamiliar word problems using the cosine rule.</a:t>
            </a:r>
          </a:p>
        </p:txBody>
      </p:sp>
      <p:cxnSp>
        <p:nvCxnSpPr>
          <p:cNvPr id="13" name="Straight Connector 12">
            <a:extLst>
              <a:ext uri="{FF2B5EF4-FFF2-40B4-BE49-F238E27FC236}">
                <a16:creationId xmlns:a16="http://schemas.microsoft.com/office/drawing/2014/main" id="{F8755F17-9300-5B4E-9FB7-AA7507610099}"/>
              </a:ext>
            </a:extLst>
          </p:cNvPr>
          <p:cNvCxnSpPr>
            <a:cxnSpLocks/>
          </p:cNvCxnSpPr>
          <p:nvPr userDrawn="1"/>
        </p:nvCxnSpPr>
        <p:spPr>
          <a:xfrm>
            <a:off x="0" y="4507299"/>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872915"/>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88" r:id="rId3"/>
    <p:sldLayoutId id="2147483690" r:id="rId4"/>
  </p:sldLayoutIdLs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9" presetClass="exit" presetSubtype="0" fill="hold" grpId="1" nodeType="withEffect">
                                  <p:stCondLst>
                                    <p:cond delay="0"/>
                                  </p:stCondLst>
                                  <p:childTnLst>
                                    <p:animEffect transition="out" filter="dissolv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9" presetClass="exit" presetSubtype="0" fill="hold" grpId="1" nodeType="withEffect">
                                  <p:stCondLst>
                                    <p:cond delay="0"/>
                                  </p:stCondLst>
                                  <p:childTnLst>
                                    <p:animEffect transition="out" filter="dissolv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6" grpId="21"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Lst>
  </p:timing>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7.png"/><Relationship Id="rId7" Type="http://schemas.openxmlformats.org/officeDocument/2006/relationships/image" Target="../media/image4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6.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49.png"/><Relationship Id="rId7" Type="http://schemas.openxmlformats.org/officeDocument/2006/relationships/image" Target="../media/image16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68.png"/><Relationship Id="rId11" Type="http://schemas.openxmlformats.org/officeDocument/2006/relationships/image" Target="../media/image51.png"/><Relationship Id="rId5" Type="http://schemas.openxmlformats.org/officeDocument/2006/relationships/image" Target="../media/image167.png"/><Relationship Id="rId10" Type="http://schemas.openxmlformats.org/officeDocument/2006/relationships/image" Target="../media/image50.png"/><Relationship Id="rId4" Type="http://schemas.openxmlformats.org/officeDocument/2006/relationships/image" Target="../media/image135.png"/><Relationship Id="rId9" Type="http://schemas.openxmlformats.org/officeDocument/2006/relationships/image" Target="../media/image171.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D28810-A672-4CDB-824B-766557FD481A}"/>
              </a:ext>
            </a:extLst>
          </p:cNvPr>
          <p:cNvPicPr>
            <a:picLocks noChangeAspect="1"/>
          </p:cNvPicPr>
          <p:nvPr/>
        </p:nvPicPr>
        <p:blipFill>
          <a:blip r:embed="rId2"/>
          <a:stretch>
            <a:fillRect/>
          </a:stretch>
        </p:blipFill>
        <p:spPr>
          <a:xfrm>
            <a:off x="957431" y="785308"/>
            <a:ext cx="7038599" cy="4184172"/>
          </a:xfrm>
          <a:prstGeom prst="rect">
            <a:avLst/>
          </a:prstGeom>
          <a:ln>
            <a:solidFill>
              <a:srgbClr val="FF0000"/>
            </a:solidFill>
          </a:ln>
        </p:spPr>
      </p:pic>
      <p:sp>
        <p:nvSpPr>
          <p:cNvPr id="4" name="TextBox 3">
            <a:extLst>
              <a:ext uri="{FF2B5EF4-FFF2-40B4-BE49-F238E27FC236}">
                <a16:creationId xmlns:a16="http://schemas.microsoft.com/office/drawing/2014/main" id="{7E1377F5-13E6-4555-BAFA-81814C2F7FA1}"/>
              </a:ext>
            </a:extLst>
          </p:cNvPr>
          <p:cNvSpPr txBox="1"/>
          <p:nvPr/>
        </p:nvSpPr>
        <p:spPr>
          <a:xfrm>
            <a:off x="957431" y="139849"/>
            <a:ext cx="7038599" cy="400110"/>
          </a:xfrm>
          <a:prstGeom prst="rect">
            <a:avLst/>
          </a:prstGeom>
          <a:noFill/>
        </p:spPr>
        <p:txBody>
          <a:bodyPr wrap="square" rtlCol="0">
            <a:spAutoFit/>
          </a:bodyPr>
          <a:lstStyle/>
          <a:p>
            <a:pPr algn="ctr"/>
            <a:r>
              <a:rPr lang="en-GB" sz="2000" b="1" u="sng" dirty="0"/>
              <a:t>How Trigonometry looks in the Leaving Cert Formula Book:</a:t>
            </a:r>
            <a:endParaRPr lang="ga-IE" sz="2000" b="1" u="sng" dirty="0"/>
          </a:p>
        </p:txBody>
      </p:sp>
    </p:spTree>
    <p:extLst>
      <p:ext uri="{BB962C8B-B14F-4D97-AF65-F5344CB8AC3E}">
        <p14:creationId xmlns:p14="http://schemas.microsoft.com/office/powerpoint/2010/main" val="1981625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B62B-DA81-42B0-BB58-71C42FE1BCD0}"/>
              </a:ext>
            </a:extLst>
          </p:cNvPr>
          <p:cNvSpPr>
            <a:spLocks noGrp="1"/>
          </p:cNvSpPr>
          <p:nvPr>
            <p:ph type="ctrTitle"/>
          </p:nvPr>
        </p:nvSpPr>
        <p:spPr/>
        <p:txBody>
          <a:bodyPr/>
          <a:lstStyle/>
          <a:p>
            <a:endParaRPr lang="ga-IE"/>
          </a:p>
        </p:txBody>
      </p:sp>
      <p:sp>
        <p:nvSpPr>
          <p:cNvPr id="3" name="Subtitle 2">
            <a:extLst>
              <a:ext uri="{FF2B5EF4-FFF2-40B4-BE49-F238E27FC236}">
                <a16:creationId xmlns:a16="http://schemas.microsoft.com/office/drawing/2014/main" id="{033EF44F-32DB-47A5-9D45-5775AEA208EC}"/>
              </a:ext>
            </a:extLst>
          </p:cNvPr>
          <p:cNvSpPr>
            <a:spLocks noGrp="1"/>
          </p:cNvSpPr>
          <p:nvPr>
            <p:ph type="subTitle" idx="1"/>
          </p:nvPr>
        </p:nvSpPr>
        <p:spPr/>
        <p:txBody>
          <a:bodyPr/>
          <a:lstStyle/>
          <a:p>
            <a:endParaRPr lang="ga-IE"/>
          </a:p>
        </p:txBody>
      </p:sp>
      <p:pic>
        <p:nvPicPr>
          <p:cNvPr id="4" name="Picture 3">
            <a:extLst>
              <a:ext uri="{FF2B5EF4-FFF2-40B4-BE49-F238E27FC236}">
                <a16:creationId xmlns:a16="http://schemas.microsoft.com/office/drawing/2014/main" id="{37CDA4F5-8A32-4C13-9EC1-FCC44294519A}"/>
              </a:ext>
            </a:extLst>
          </p:cNvPr>
          <p:cNvPicPr>
            <a:picLocks noChangeAspect="1"/>
          </p:cNvPicPr>
          <p:nvPr/>
        </p:nvPicPr>
        <p:blipFill>
          <a:blip r:embed="rId2"/>
          <a:stretch>
            <a:fillRect/>
          </a:stretch>
        </p:blipFill>
        <p:spPr>
          <a:xfrm>
            <a:off x="847228" y="-12810"/>
            <a:ext cx="7582397" cy="5080110"/>
          </a:xfrm>
          <a:prstGeom prst="rect">
            <a:avLst/>
          </a:prstGeom>
        </p:spPr>
      </p:pic>
    </p:spTree>
    <p:extLst>
      <p:ext uri="{BB962C8B-B14F-4D97-AF65-F5344CB8AC3E}">
        <p14:creationId xmlns:p14="http://schemas.microsoft.com/office/powerpoint/2010/main" val="721835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42F4400-CD85-4385-B540-0FCB3558E635}"/>
              </a:ext>
            </a:extLst>
          </p:cNvPr>
          <p:cNvPicPr>
            <a:picLocks noChangeAspect="1"/>
          </p:cNvPicPr>
          <p:nvPr/>
        </p:nvPicPr>
        <p:blipFill>
          <a:blip r:embed="rId2"/>
          <a:stretch>
            <a:fillRect/>
          </a:stretch>
        </p:blipFill>
        <p:spPr>
          <a:xfrm>
            <a:off x="117264" y="85667"/>
            <a:ext cx="4961632" cy="4972166"/>
          </a:xfrm>
          <a:prstGeom prst="rect">
            <a:avLst/>
          </a:prstGeom>
        </p:spPr>
      </p:pic>
      <p:cxnSp>
        <p:nvCxnSpPr>
          <p:cNvPr id="4" name="Straight Connector 3">
            <a:extLst>
              <a:ext uri="{FF2B5EF4-FFF2-40B4-BE49-F238E27FC236}">
                <a16:creationId xmlns:a16="http://schemas.microsoft.com/office/drawing/2014/main" id="{ED46372D-8DCE-4C65-B551-4FC7B6AB6999}"/>
              </a:ext>
            </a:extLst>
          </p:cNvPr>
          <p:cNvCxnSpPr/>
          <p:nvPr/>
        </p:nvCxnSpPr>
        <p:spPr>
          <a:xfrm flipV="1">
            <a:off x="1292087" y="2663687"/>
            <a:ext cx="2971800" cy="149087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3B48483-EB7F-4E01-9666-C2972C085408}"/>
              </a:ext>
            </a:extLst>
          </p:cNvPr>
          <p:cNvCxnSpPr/>
          <p:nvPr/>
        </p:nvCxnSpPr>
        <p:spPr>
          <a:xfrm flipH="1">
            <a:off x="1292087" y="288235"/>
            <a:ext cx="2266122" cy="386632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843FD51-5BF8-4F24-A787-90C93C08023F}"/>
              </a:ext>
            </a:extLst>
          </p:cNvPr>
          <p:cNvCxnSpPr/>
          <p:nvPr/>
        </p:nvCxnSpPr>
        <p:spPr>
          <a:xfrm>
            <a:off x="3558209" y="288235"/>
            <a:ext cx="705678" cy="237545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0C0DB7B-65DC-47CE-BA1B-AC24C5C03A8C}"/>
              </a:ext>
            </a:extLst>
          </p:cNvPr>
          <p:cNvSpPr txBox="1"/>
          <p:nvPr/>
        </p:nvSpPr>
        <p:spPr>
          <a:xfrm>
            <a:off x="5231950" y="159026"/>
            <a:ext cx="4226136" cy="3077766"/>
          </a:xfrm>
          <a:prstGeom prst="rect">
            <a:avLst/>
          </a:prstGeom>
          <a:noFill/>
        </p:spPr>
        <p:txBody>
          <a:bodyPr wrap="square" rtlCol="0">
            <a:spAutoFit/>
          </a:bodyPr>
          <a:lstStyle/>
          <a:p>
            <a:r>
              <a:rPr lang="en-GB" sz="2000" b="1" u="sng" dirty="0"/>
              <a:t>Finding the width of Loch an </a:t>
            </a:r>
            <a:r>
              <a:rPr lang="en-GB" sz="2000" b="1" u="sng" dirty="0" err="1"/>
              <a:t>tSáile</a:t>
            </a:r>
            <a:endParaRPr lang="en-GB" sz="2000" b="1" u="sng" dirty="0"/>
          </a:p>
          <a:p>
            <a:endParaRPr lang="en-GB" sz="2000" b="1" u="sng" dirty="0"/>
          </a:p>
          <a:p>
            <a:r>
              <a:rPr lang="en-GB" sz="1400" dirty="0"/>
              <a:t>We know that:</a:t>
            </a:r>
          </a:p>
          <a:p>
            <a:endParaRPr lang="en-GB" sz="1400" dirty="0"/>
          </a:p>
          <a:p>
            <a:pPr marL="285750" indent="-285750">
              <a:buFont typeface="Arial" panose="020B0604020202020204" pitchFamily="34" charset="0"/>
              <a:buChar char="•"/>
            </a:pPr>
            <a:r>
              <a:rPr lang="en-GB" sz="1400" dirty="0"/>
              <a:t>The distance from GCC to </a:t>
            </a:r>
            <a:r>
              <a:rPr lang="en-GB" sz="1400" dirty="0" err="1"/>
              <a:t>Renmore</a:t>
            </a:r>
            <a:r>
              <a:rPr lang="en-GB" sz="1400" dirty="0"/>
              <a:t> Playground</a:t>
            </a:r>
          </a:p>
          <a:p>
            <a:r>
              <a:rPr lang="en-GB" sz="1400" dirty="0"/>
              <a:t>is 702 metres.</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a:t>The distance from GCC to the Radisson Hotel is </a:t>
            </a:r>
          </a:p>
          <a:p>
            <a:r>
              <a:rPr lang="en-GB" sz="1400" dirty="0"/>
              <a:t>1.3 kilometres.</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a:t>How can we find the width of Loch an </a:t>
            </a:r>
            <a:r>
              <a:rPr lang="en-GB" sz="1400" dirty="0" err="1"/>
              <a:t>tSáile</a:t>
            </a:r>
            <a:r>
              <a:rPr lang="en-GB" sz="1400" dirty="0"/>
              <a:t>?</a:t>
            </a:r>
          </a:p>
          <a:p>
            <a:endParaRPr lang="en-GB" sz="1400" dirty="0"/>
          </a:p>
          <a:p>
            <a:r>
              <a:rPr lang="en-GB" sz="1400" i="1" dirty="0"/>
              <a:t>Do we have enough information?</a:t>
            </a:r>
            <a:endParaRPr lang="en-GB" sz="2000" i="1" dirty="0"/>
          </a:p>
        </p:txBody>
      </p:sp>
      <p:sp>
        <p:nvSpPr>
          <p:cNvPr id="10" name="TextBox 9">
            <a:extLst>
              <a:ext uri="{FF2B5EF4-FFF2-40B4-BE49-F238E27FC236}">
                <a16:creationId xmlns:a16="http://schemas.microsoft.com/office/drawing/2014/main" id="{4B8B1B18-265A-4765-9183-9D20A279E6B7}"/>
              </a:ext>
            </a:extLst>
          </p:cNvPr>
          <p:cNvSpPr txBox="1"/>
          <p:nvPr/>
        </p:nvSpPr>
        <p:spPr>
          <a:xfrm>
            <a:off x="5365750" y="3511550"/>
            <a:ext cx="3556000" cy="507831"/>
          </a:xfrm>
          <a:prstGeom prst="rect">
            <a:avLst/>
          </a:prstGeom>
          <a:noFill/>
        </p:spPr>
        <p:txBody>
          <a:bodyPr wrap="square" rtlCol="0">
            <a:spAutoFit/>
          </a:bodyPr>
          <a:lstStyle/>
          <a:p>
            <a:r>
              <a:rPr lang="en-GB" dirty="0"/>
              <a:t>Using a clinometer at Galway Community College a student found the angle to be 47⁰</a:t>
            </a:r>
            <a:endParaRPr lang="ga-IE" dirty="0"/>
          </a:p>
        </p:txBody>
      </p:sp>
    </p:spTree>
    <p:extLst>
      <p:ext uri="{BB962C8B-B14F-4D97-AF65-F5344CB8AC3E}">
        <p14:creationId xmlns:p14="http://schemas.microsoft.com/office/powerpoint/2010/main" val="77365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descr="A close up of text on a white background&#10;&#10;Description automatically generated">
            <a:extLst>
              <a:ext uri="{FF2B5EF4-FFF2-40B4-BE49-F238E27FC236}">
                <a16:creationId xmlns:a16="http://schemas.microsoft.com/office/drawing/2014/main" id="{04502600-753A-4BA5-9A24-C7B3427067A3}"/>
              </a:ext>
            </a:extLst>
          </p:cNvPr>
          <p:cNvPicPr>
            <a:picLocks noChangeAspect="1"/>
          </p:cNvPicPr>
          <p:nvPr/>
        </p:nvPicPr>
        <p:blipFill>
          <a:blip r:embed="rId2"/>
          <a:stretch>
            <a:fillRect/>
          </a:stretch>
        </p:blipFill>
        <p:spPr>
          <a:xfrm>
            <a:off x="1095457" y="0"/>
            <a:ext cx="6953085" cy="5143500"/>
          </a:xfrm>
          <a:prstGeom prst="rect">
            <a:avLst/>
          </a:prstGeom>
          <a:solidFill>
            <a:schemeClr val="bg1"/>
          </a:solidFill>
        </p:spPr>
      </p:pic>
    </p:spTree>
    <p:extLst>
      <p:ext uri="{BB962C8B-B14F-4D97-AF65-F5344CB8AC3E}">
        <p14:creationId xmlns:p14="http://schemas.microsoft.com/office/powerpoint/2010/main" val="2812233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76">
            <a:extLst>
              <a:ext uri="{FF2B5EF4-FFF2-40B4-BE49-F238E27FC236}">
                <a16:creationId xmlns:a16="http://schemas.microsoft.com/office/drawing/2014/main" id="{3CF15A8F-06FA-544B-B2D9-D3916D0DE06E}"/>
              </a:ext>
            </a:extLst>
          </p:cNvPr>
          <p:cNvSpPr txBox="1"/>
          <p:nvPr/>
        </p:nvSpPr>
        <p:spPr>
          <a:xfrm>
            <a:off x="45916" y="958109"/>
            <a:ext cx="513302" cy="246221"/>
          </a:xfrm>
          <a:prstGeom prst="rect">
            <a:avLst/>
          </a:prstGeom>
          <a:noFill/>
          <a:ln>
            <a:noFill/>
          </a:ln>
        </p:spPr>
        <p:txBody>
          <a:bodyPr wrap="square" lIns="36000" tIns="0" rIns="0" bIns="0" rtlCol="0">
            <a:spAutoFit/>
          </a:bodyPr>
          <a:lstStyle/>
          <a:p>
            <a:r>
              <a:rPr lang="en-GB" sz="1600" b="1" dirty="0"/>
              <a:t>Q1</a:t>
            </a: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732A6857-3BE5-9643-9CDA-C45302754EA2}"/>
                  </a:ext>
                </a:extLst>
              </p:cNvPr>
              <p:cNvSpPr txBox="1"/>
              <p:nvPr/>
            </p:nvSpPr>
            <p:spPr>
              <a:xfrm>
                <a:off x="422571" y="958109"/>
                <a:ext cx="7709058" cy="246221"/>
              </a:xfrm>
              <a:prstGeom prst="rect">
                <a:avLst/>
              </a:prstGeom>
              <a:noFill/>
            </p:spPr>
            <p:txBody>
              <a:bodyPr wrap="square" lIns="36000" tIns="0" rIns="0" bIns="0" rtlCol="0">
                <a:spAutoFit/>
              </a:bodyPr>
              <a:lstStyle/>
              <a:p>
                <a:pPr fontAlgn="base">
                  <a:spcBef>
                    <a:spcPct val="0"/>
                  </a:spcBef>
                  <a:spcAft>
                    <a:spcPts val="800"/>
                  </a:spcAft>
                </a:pPr>
                <a:r>
                  <a:rPr lang="en-GB" sz="1600" dirty="0">
                    <a:solidFill>
                      <a:srgbClr val="000000"/>
                    </a:solidFill>
                  </a:rPr>
                  <a:t>Work out the missing side, </a:t>
                </a:r>
                <a14:m>
                  <m:oMath xmlns:m="http://schemas.openxmlformats.org/officeDocument/2006/math">
                    <m:r>
                      <a:rPr lang="en-GB" sz="1600" b="0" i="1" smtClean="0">
                        <a:solidFill>
                          <a:srgbClr val="000000"/>
                        </a:solidFill>
                        <a:latin typeface="Cambria Math" panose="02040503050406030204" pitchFamily="18" charset="0"/>
                      </a:rPr>
                      <m:t>𝑥</m:t>
                    </m:r>
                  </m:oMath>
                </a14:m>
                <a:r>
                  <a:rPr lang="en-GB" sz="1600" dirty="0">
                    <a:solidFill>
                      <a:srgbClr val="000000"/>
                    </a:solidFill>
                  </a:rPr>
                  <a:t>, of each of the following triangles to one decimal place.</a:t>
                </a:r>
              </a:p>
            </p:txBody>
          </p:sp>
        </mc:Choice>
        <mc:Fallback xmlns="">
          <p:sp>
            <p:nvSpPr>
              <p:cNvPr id="78" name="TextBox 77">
                <a:extLst>
                  <a:ext uri="{FF2B5EF4-FFF2-40B4-BE49-F238E27FC236}">
                    <a16:creationId xmlns:a16="http://schemas.microsoft.com/office/drawing/2014/main" id="{732A6857-3BE5-9643-9CDA-C45302754EA2}"/>
                  </a:ext>
                </a:extLst>
              </p:cNvPr>
              <p:cNvSpPr txBox="1">
                <a:spLocks noRot="1" noChangeAspect="1" noMove="1" noResize="1" noEditPoints="1" noAdjustHandles="1" noChangeArrowheads="1" noChangeShapeType="1" noTextEdit="1"/>
              </p:cNvSpPr>
              <p:nvPr/>
            </p:nvSpPr>
            <p:spPr>
              <a:xfrm>
                <a:off x="422571" y="958109"/>
                <a:ext cx="7709058" cy="246221"/>
              </a:xfrm>
              <a:prstGeom prst="rect">
                <a:avLst/>
              </a:prstGeom>
              <a:blipFill>
                <a:blip r:embed="rId3"/>
                <a:stretch>
                  <a:fillRect l="-987" t="-19048" b="-42857"/>
                </a:stretch>
              </a:blipFill>
            </p:spPr>
            <p:txBody>
              <a:bodyPr/>
              <a:lstStyle/>
              <a:p>
                <a:r>
                  <a:rPr lang="en-GB">
                    <a:noFill/>
                  </a:rPr>
                  <a:t> </a:t>
                </a:r>
              </a:p>
            </p:txBody>
          </p:sp>
        </mc:Fallback>
      </mc:AlternateContent>
      <p:cxnSp>
        <p:nvCxnSpPr>
          <p:cNvPr id="76" name="Straight Connector 75">
            <a:extLst>
              <a:ext uri="{FF2B5EF4-FFF2-40B4-BE49-F238E27FC236}">
                <a16:creationId xmlns:a16="http://schemas.microsoft.com/office/drawing/2014/main" id="{CA612778-DCBB-114E-8213-956F8AEA12DE}"/>
              </a:ext>
            </a:extLst>
          </p:cNvPr>
          <p:cNvCxnSpPr>
            <a:cxnSpLocks/>
          </p:cNvCxnSpPr>
          <p:nvPr/>
        </p:nvCxnSpPr>
        <p:spPr>
          <a:xfrm flipH="1">
            <a:off x="0" y="2896834"/>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96660DD-2369-F742-B3B7-498A77F343B2}"/>
              </a:ext>
            </a:extLst>
          </p:cNvPr>
          <p:cNvCxnSpPr>
            <a:cxnSpLocks/>
          </p:cNvCxnSpPr>
          <p:nvPr/>
        </p:nvCxnSpPr>
        <p:spPr>
          <a:xfrm flipH="1">
            <a:off x="0" y="1285786"/>
            <a:ext cx="914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B8D311C9-7BC6-054F-B8F6-EFEB5BE5CAEC}"/>
              </a:ext>
            </a:extLst>
          </p:cNvPr>
          <p:cNvSpPr txBox="1"/>
          <p:nvPr/>
        </p:nvSpPr>
        <p:spPr>
          <a:xfrm>
            <a:off x="11769" y="1320792"/>
            <a:ext cx="513302" cy="246221"/>
          </a:xfrm>
          <a:prstGeom prst="rect">
            <a:avLst/>
          </a:prstGeom>
          <a:noFill/>
        </p:spPr>
        <p:txBody>
          <a:bodyPr wrap="square" lIns="36000" tIns="0" rIns="0" bIns="0" rtlCol="0">
            <a:spAutoFit/>
          </a:bodyPr>
          <a:lstStyle/>
          <a:p>
            <a:r>
              <a:rPr lang="en-GB" sz="1600" b="1" dirty="0"/>
              <a:t>[a]</a:t>
            </a:r>
          </a:p>
        </p:txBody>
      </p:sp>
      <p:sp>
        <p:nvSpPr>
          <p:cNvPr id="104" name="TextBox 103">
            <a:extLst>
              <a:ext uri="{FF2B5EF4-FFF2-40B4-BE49-F238E27FC236}">
                <a16:creationId xmlns:a16="http://schemas.microsoft.com/office/drawing/2014/main" id="{E7BFF9AB-5B91-5F45-9092-4B684DD89F06}"/>
              </a:ext>
            </a:extLst>
          </p:cNvPr>
          <p:cNvSpPr txBox="1"/>
          <p:nvPr/>
        </p:nvSpPr>
        <p:spPr>
          <a:xfrm>
            <a:off x="2301836" y="1320792"/>
            <a:ext cx="513302" cy="246221"/>
          </a:xfrm>
          <a:prstGeom prst="rect">
            <a:avLst/>
          </a:prstGeom>
          <a:noFill/>
        </p:spPr>
        <p:txBody>
          <a:bodyPr wrap="square" lIns="36000" tIns="0" rIns="0" bIns="0" rtlCol="0">
            <a:spAutoFit/>
          </a:bodyPr>
          <a:lstStyle/>
          <a:p>
            <a:r>
              <a:rPr lang="en-GB" sz="1600" b="1" dirty="0"/>
              <a:t>[b]</a:t>
            </a:r>
          </a:p>
        </p:txBody>
      </p:sp>
      <p:sp>
        <p:nvSpPr>
          <p:cNvPr id="105" name="TextBox 104">
            <a:extLst>
              <a:ext uri="{FF2B5EF4-FFF2-40B4-BE49-F238E27FC236}">
                <a16:creationId xmlns:a16="http://schemas.microsoft.com/office/drawing/2014/main" id="{52650C7A-5805-024B-BC2E-EF2328F39ECA}"/>
              </a:ext>
            </a:extLst>
          </p:cNvPr>
          <p:cNvSpPr txBox="1"/>
          <p:nvPr/>
        </p:nvSpPr>
        <p:spPr>
          <a:xfrm>
            <a:off x="4591914" y="1320792"/>
            <a:ext cx="513302" cy="246221"/>
          </a:xfrm>
          <a:prstGeom prst="rect">
            <a:avLst/>
          </a:prstGeom>
          <a:noFill/>
        </p:spPr>
        <p:txBody>
          <a:bodyPr wrap="square" lIns="36000" tIns="0" rIns="0" bIns="0" rtlCol="0">
            <a:spAutoFit/>
          </a:bodyPr>
          <a:lstStyle/>
          <a:p>
            <a:r>
              <a:rPr lang="en-GB" sz="1600" b="1" dirty="0"/>
              <a:t>[c]</a:t>
            </a:r>
          </a:p>
        </p:txBody>
      </p:sp>
      <p:sp>
        <p:nvSpPr>
          <p:cNvPr id="124" name="TextBox 123">
            <a:extLst>
              <a:ext uri="{FF2B5EF4-FFF2-40B4-BE49-F238E27FC236}">
                <a16:creationId xmlns:a16="http://schemas.microsoft.com/office/drawing/2014/main" id="{B4B9E36B-7E07-6841-A40D-687B27745EE0}"/>
              </a:ext>
            </a:extLst>
          </p:cNvPr>
          <p:cNvSpPr txBox="1"/>
          <p:nvPr/>
        </p:nvSpPr>
        <p:spPr>
          <a:xfrm>
            <a:off x="11769" y="2927429"/>
            <a:ext cx="513302" cy="246221"/>
          </a:xfrm>
          <a:prstGeom prst="rect">
            <a:avLst/>
          </a:prstGeom>
          <a:noFill/>
        </p:spPr>
        <p:txBody>
          <a:bodyPr wrap="square" lIns="36000" tIns="0" rIns="0" bIns="0" rtlCol="0">
            <a:spAutoFit/>
          </a:bodyPr>
          <a:lstStyle/>
          <a:p>
            <a:r>
              <a:rPr lang="en-GB" sz="1600" b="1" dirty="0"/>
              <a:t>[e]</a:t>
            </a:r>
          </a:p>
        </p:txBody>
      </p:sp>
      <p:sp>
        <p:nvSpPr>
          <p:cNvPr id="129" name="TextBox 128">
            <a:extLst>
              <a:ext uri="{FF2B5EF4-FFF2-40B4-BE49-F238E27FC236}">
                <a16:creationId xmlns:a16="http://schemas.microsoft.com/office/drawing/2014/main" id="{F57C59FF-4514-9941-B9FD-F6F5FB65AD0A}"/>
              </a:ext>
            </a:extLst>
          </p:cNvPr>
          <p:cNvSpPr txBox="1"/>
          <p:nvPr/>
        </p:nvSpPr>
        <p:spPr>
          <a:xfrm>
            <a:off x="2301836" y="2927429"/>
            <a:ext cx="513302" cy="246221"/>
          </a:xfrm>
          <a:prstGeom prst="rect">
            <a:avLst/>
          </a:prstGeom>
          <a:noFill/>
        </p:spPr>
        <p:txBody>
          <a:bodyPr wrap="square" lIns="36000" tIns="0" rIns="0" bIns="0" rtlCol="0">
            <a:spAutoFit/>
          </a:bodyPr>
          <a:lstStyle/>
          <a:p>
            <a:r>
              <a:rPr lang="en-GB" sz="1600" b="1" dirty="0"/>
              <a:t>[f]</a:t>
            </a:r>
          </a:p>
        </p:txBody>
      </p:sp>
      <p:sp>
        <p:nvSpPr>
          <p:cNvPr id="130" name="TextBox 129">
            <a:extLst>
              <a:ext uri="{FF2B5EF4-FFF2-40B4-BE49-F238E27FC236}">
                <a16:creationId xmlns:a16="http://schemas.microsoft.com/office/drawing/2014/main" id="{59310E66-9678-EF4D-AA3C-43328B3174AF}"/>
              </a:ext>
            </a:extLst>
          </p:cNvPr>
          <p:cNvSpPr txBox="1"/>
          <p:nvPr/>
        </p:nvSpPr>
        <p:spPr>
          <a:xfrm>
            <a:off x="4591914" y="2927429"/>
            <a:ext cx="513302" cy="246221"/>
          </a:xfrm>
          <a:prstGeom prst="rect">
            <a:avLst/>
          </a:prstGeom>
          <a:noFill/>
        </p:spPr>
        <p:txBody>
          <a:bodyPr wrap="square" lIns="36000" tIns="0" rIns="0" bIns="0" rtlCol="0">
            <a:spAutoFit/>
          </a:bodyPr>
          <a:lstStyle/>
          <a:p>
            <a:r>
              <a:rPr lang="en-GB" sz="1600" b="1" dirty="0"/>
              <a:t>[g]</a:t>
            </a:r>
          </a:p>
        </p:txBody>
      </p:sp>
      <p:sp>
        <p:nvSpPr>
          <p:cNvPr id="142" name="TextBox 141">
            <a:extLst>
              <a:ext uri="{FF2B5EF4-FFF2-40B4-BE49-F238E27FC236}">
                <a16:creationId xmlns:a16="http://schemas.microsoft.com/office/drawing/2014/main" id="{3E087DD5-0057-8C47-9C51-1B62D62773E2}"/>
              </a:ext>
            </a:extLst>
          </p:cNvPr>
          <p:cNvSpPr txBox="1"/>
          <p:nvPr/>
        </p:nvSpPr>
        <p:spPr>
          <a:xfrm>
            <a:off x="2638338" y="1324586"/>
            <a:ext cx="628646" cy="251817"/>
          </a:xfrm>
          <a:prstGeom prst="rect">
            <a:avLst/>
          </a:prstGeom>
          <a:solidFill>
            <a:schemeClr val="accent3"/>
          </a:solidFill>
          <a:ln>
            <a:noFill/>
          </a:ln>
        </p:spPr>
        <p:txBody>
          <a:bodyPr wrap="square" lIns="0" tIns="0" rIns="0" bIns="0" rtlCol="0" anchor="ctr">
            <a:spAutoFit/>
          </a:bodyPr>
          <a:lstStyle/>
          <a:p>
            <a:pPr algn="ctr"/>
            <a:r>
              <a:rPr lang="en-GB" sz="1800" b="1" dirty="0"/>
              <a:t>8.7yd</a:t>
            </a:r>
            <a:endParaRPr lang="en-GB" sz="1800" b="1" baseline="30000" dirty="0"/>
          </a:p>
        </p:txBody>
      </p:sp>
      <p:sp>
        <p:nvSpPr>
          <p:cNvPr id="143" name="TextBox 142">
            <a:extLst>
              <a:ext uri="{FF2B5EF4-FFF2-40B4-BE49-F238E27FC236}">
                <a16:creationId xmlns:a16="http://schemas.microsoft.com/office/drawing/2014/main" id="{5F8973A3-0B43-9448-812D-9775A6B7DF9D}"/>
              </a:ext>
            </a:extLst>
          </p:cNvPr>
          <p:cNvSpPr txBox="1"/>
          <p:nvPr/>
        </p:nvSpPr>
        <p:spPr>
          <a:xfrm>
            <a:off x="342345" y="1336032"/>
            <a:ext cx="674797" cy="228925"/>
          </a:xfrm>
          <a:prstGeom prst="rect">
            <a:avLst/>
          </a:prstGeom>
          <a:solidFill>
            <a:schemeClr val="accent3"/>
          </a:solidFill>
          <a:ln>
            <a:noFill/>
          </a:ln>
        </p:spPr>
        <p:txBody>
          <a:bodyPr wrap="square" lIns="0" tIns="0" rIns="0" bIns="0" rtlCol="0" anchor="ctr">
            <a:spAutoFit/>
          </a:bodyPr>
          <a:lstStyle/>
          <a:p>
            <a:pPr algn="ctr"/>
            <a:r>
              <a:rPr lang="en-GB" sz="1800" b="1" dirty="0"/>
              <a:t>7.4cm</a:t>
            </a:r>
            <a:endParaRPr lang="en-GB" sz="1800" b="1" baseline="30000" dirty="0"/>
          </a:p>
        </p:txBody>
      </p:sp>
      <p:sp>
        <p:nvSpPr>
          <p:cNvPr id="152" name="TextBox 151">
            <a:extLst>
              <a:ext uri="{FF2B5EF4-FFF2-40B4-BE49-F238E27FC236}">
                <a16:creationId xmlns:a16="http://schemas.microsoft.com/office/drawing/2014/main" id="{64771A22-E4F2-A148-85BE-5C7E76AF4591}"/>
              </a:ext>
            </a:extLst>
          </p:cNvPr>
          <p:cNvSpPr txBox="1"/>
          <p:nvPr/>
        </p:nvSpPr>
        <p:spPr>
          <a:xfrm>
            <a:off x="4885733" y="1336032"/>
            <a:ext cx="698322" cy="228925"/>
          </a:xfrm>
          <a:prstGeom prst="rect">
            <a:avLst/>
          </a:prstGeom>
          <a:solidFill>
            <a:schemeClr val="accent3"/>
          </a:solidFill>
          <a:ln>
            <a:noFill/>
          </a:ln>
        </p:spPr>
        <p:txBody>
          <a:bodyPr wrap="square" lIns="0" tIns="0" rIns="0" bIns="0" rtlCol="0" anchor="ctr">
            <a:spAutoFit/>
          </a:bodyPr>
          <a:lstStyle/>
          <a:p>
            <a:pPr algn="ctr"/>
            <a:r>
              <a:rPr lang="en-GB" sz="1800" b="1" dirty="0"/>
              <a:t>34.5in</a:t>
            </a:r>
            <a:endParaRPr lang="en-GB" sz="1800" b="1" baseline="30000" dirty="0"/>
          </a:p>
        </p:txBody>
      </p:sp>
      <p:sp>
        <p:nvSpPr>
          <p:cNvPr id="153" name="TextBox 152">
            <a:extLst>
              <a:ext uri="{FF2B5EF4-FFF2-40B4-BE49-F238E27FC236}">
                <a16:creationId xmlns:a16="http://schemas.microsoft.com/office/drawing/2014/main" id="{4C11A173-97AE-284E-8D0C-749929C72127}"/>
              </a:ext>
            </a:extLst>
          </p:cNvPr>
          <p:cNvSpPr txBox="1"/>
          <p:nvPr/>
        </p:nvSpPr>
        <p:spPr>
          <a:xfrm>
            <a:off x="2591843" y="2946392"/>
            <a:ext cx="692895" cy="228925"/>
          </a:xfrm>
          <a:prstGeom prst="rect">
            <a:avLst/>
          </a:prstGeom>
          <a:solidFill>
            <a:schemeClr val="accent3"/>
          </a:solidFill>
          <a:ln>
            <a:noFill/>
          </a:ln>
        </p:spPr>
        <p:txBody>
          <a:bodyPr wrap="square" lIns="0" tIns="0" rIns="0" bIns="0" rtlCol="0" anchor="ctr">
            <a:spAutoFit/>
          </a:bodyPr>
          <a:lstStyle/>
          <a:p>
            <a:pPr algn="ctr"/>
            <a:r>
              <a:rPr lang="en-GB" sz="1800" b="1" dirty="0"/>
              <a:t>6.3km</a:t>
            </a:r>
            <a:endParaRPr lang="en-GB" sz="1800" b="1" baseline="30000" dirty="0"/>
          </a:p>
        </p:txBody>
      </p:sp>
      <p:sp>
        <p:nvSpPr>
          <p:cNvPr id="154" name="TextBox 153">
            <a:extLst>
              <a:ext uri="{FF2B5EF4-FFF2-40B4-BE49-F238E27FC236}">
                <a16:creationId xmlns:a16="http://schemas.microsoft.com/office/drawing/2014/main" id="{E12610A2-C0E3-0B45-8568-0984413C2BDC}"/>
              </a:ext>
            </a:extLst>
          </p:cNvPr>
          <p:cNvSpPr txBox="1"/>
          <p:nvPr/>
        </p:nvSpPr>
        <p:spPr>
          <a:xfrm>
            <a:off x="334596" y="2946392"/>
            <a:ext cx="731195" cy="228925"/>
          </a:xfrm>
          <a:prstGeom prst="rect">
            <a:avLst/>
          </a:prstGeom>
          <a:solidFill>
            <a:schemeClr val="accent3"/>
          </a:solidFill>
          <a:ln>
            <a:noFill/>
          </a:ln>
        </p:spPr>
        <p:txBody>
          <a:bodyPr wrap="square" lIns="0" tIns="0" rIns="0" bIns="0" rtlCol="0" anchor="ctr">
            <a:spAutoFit/>
          </a:bodyPr>
          <a:lstStyle/>
          <a:p>
            <a:pPr algn="ctr"/>
            <a:r>
              <a:rPr lang="en-GB" sz="1800" b="1" dirty="0"/>
              <a:t>21.7m</a:t>
            </a:r>
            <a:endParaRPr lang="en-GB" sz="1800" b="1" baseline="30000" dirty="0"/>
          </a:p>
        </p:txBody>
      </p:sp>
      <p:sp>
        <p:nvSpPr>
          <p:cNvPr id="155" name="TextBox 154">
            <a:extLst>
              <a:ext uri="{FF2B5EF4-FFF2-40B4-BE49-F238E27FC236}">
                <a16:creationId xmlns:a16="http://schemas.microsoft.com/office/drawing/2014/main" id="{281265F4-378F-1445-83AB-2B126F706866}"/>
              </a:ext>
            </a:extLst>
          </p:cNvPr>
          <p:cNvSpPr txBox="1"/>
          <p:nvPr/>
        </p:nvSpPr>
        <p:spPr>
          <a:xfrm>
            <a:off x="4908980" y="2934946"/>
            <a:ext cx="763851" cy="251817"/>
          </a:xfrm>
          <a:prstGeom prst="rect">
            <a:avLst/>
          </a:prstGeom>
          <a:solidFill>
            <a:schemeClr val="accent3"/>
          </a:solidFill>
          <a:ln>
            <a:noFill/>
          </a:ln>
        </p:spPr>
        <p:txBody>
          <a:bodyPr wrap="square" lIns="0" tIns="0" rIns="0" bIns="0" rtlCol="0" anchor="ctr">
            <a:spAutoFit/>
          </a:bodyPr>
          <a:lstStyle/>
          <a:p>
            <a:pPr algn="ctr"/>
            <a:r>
              <a:rPr lang="en-GB" sz="1800" b="1" dirty="0"/>
              <a:t>5.9mm</a:t>
            </a:r>
            <a:endParaRPr lang="en-GB" sz="1800" b="1" baseline="30000" dirty="0"/>
          </a:p>
        </p:txBody>
      </p:sp>
      <p:cxnSp>
        <p:nvCxnSpPr>
          <p:cNvPr id="74" name="Straight Connector 73">
            <a:extLst>
              <a:ext uri="{FF2B5EF4-FFF2-40B4-BE49-F238E27FC236}">
                <a16:creationId xmlns:a16="http://schemas.microsoft.com/office/drawing/2014/main" id="{F40F3F22-58C1-E74C-9CBD-E5037A77C2D6}"/>
              </a:ext>
            </a:extLst>
          </p:cNvPr>
          <p:cNvCxnSpPr>
            <a:cxnSpLocks/>
          </p:cNvCxnSpPr>
          <p:nvPr/>
        </p:nvCxnSpPr>
        <p:spPr>
          <a:xfrm>
            <a:off x="2286000" y="1290918"/>
            <a:ext cx="0" cy="3216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2E443BA-EACD-7A48-BC53-7E367F827B8B}"/>
              </a:ext>
            </a:extLst>
          </p:cNvPr>
          <p:cNvCxnSpPr>
            <a:cxnSpLocks/>
          </p:cNvCxnSpPr>
          <p:nvPr/>
        </p:nvCxnSpPr>
        <p:spPr>
          <a:xfrm>
            <a:off x="6858000" y="1290918"/>
            <a:ext cx="0" cy="3216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22BD6932-A2BC-494C-9E25-FBB452D5B436}"/>
              </a:ext>
            </a:extLst>
          </p:cNvPr>
          <p:cNvCxnSpPr>
            <a:cxnSpLocks/>
          </p:cNvCxnSpPr>
          <p:nvPr/>
        </p:nvCxnSpPr>
        <p:spPr>
          <a:xfrm>
            <a:off x="4572000" y="1290918"/>
            <a:ext cx="0" cy="3216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8AC1E2A0-69D3-8747-9F92-A0A59972A42F}"/>
              </a:ext>
            </a:extLst>
          </p:cNvPr>
          <p:cNvSpPr txBox="1"/>
          <p:nvPr/>
        </p:nvSpPr>
        <p:spPr>
          <a:xfrm>
            <a:off x="6877914" y="1320792"/>
            <a:ext cx="513302" cy="246221"/>
          </a:xfrm>
          <a:prstGeom prst="rect">
            <a:avLst/>
          </a:prstGeom>
          <a:noFill/>
        </p:spPr>
        <p:txBody>
          <a:bodyPr wrap="square" lIns="36000" tIns="0" rIns="0" bIns="0" rtlCol="0">
            <a:spAutoFit/>
          </a:bodyPr>
          <a:lstStyle/>
          <a:p>
            <a:r>
              <a:rPr lang="en-GB" sz="1600" b="1" dirty="0"/>
              <a:t>[d]</a:t>
            </a:r>
          </a:p>
        </p:txBody>
      </p:sp>
      <p:sp>
        <p:nvSpPr>
          <p:cNvPr id="158" name="TextBox 157">
            <a:extLst>
              <a:ext uri="{FF2B5EF4-FFF2-40B4-BE49-F238E27FC236}">
                <a16:creationId xmlns:a16="http://schemas.microsoft.com/office/drawing/2014/main" id="{024CC4D4-1C16-7049-9003-645628015BAD}"/>
              </a:ext>
            </a:extLst>
          </p:cNvPr>
          <p:cNvSpPr txBox="1"/>
          <p:nvPr/>
        </p:nvSpPr>
        <p:spPr>
          <a:xfrm>
            <a:off x="6877914" y="2927429"/>
            <a:ext cx="513302" cy="246221"/>
          </a:xfrm>
          <a:prstGeom prst="rect">
            <a:avLst/>
          </a:prstGeom>
          <a:noFill/>
        </p:spPr>
        <p:txBody>
          <a:bodyPr wrap="square" lIns="36000" tIns="0" rIns="0" bIns="0" rtlCol="0">
            <a:spAutoFit/>
          </a:bodyPr>
          <a:lstStyle/>
          <a:p>
            <a:r>
              <a:rPr lang="en-GB" sz="1600" b="1" dirty="0"/>
              <a:t>[h]</a:t>
            </a:r>
          </a:p>
        </p:txBody>
      </p:sp>
      <p:sp>
        <p:nvSpPr>
          <p:cNvPr id="159" name="TextBox 158">
            <a:extLst>
              <a:ext uri="{FF2B5EF4-FFF2-40B4-BE49-F238E27FC236}">
                <a16:creationId xmlns:a16="http://schemas.microsoft.com/office/drawing/2014/main" id="{055C23BC-881A-8C44-B639-689645ACCA1D}"/>
              </a:ext>
            </a:extLst>
          </p:cNvPr>
          <p:cNvSpPr txBox="1"/>
          <p:nvPr/>
        </p:nvSpPr>
        <p:spPr>
          <a:xfrm>
            <a:off x="7202728" y="1336032"/>
            <a:ext cx="547478" cy="228925"/>
          </a:xfrm>
          <a:prstGeom prst="rect">
            <a:avLst/>
          </a:prstGeom>
          <a:solidFill>
            <a:schemeClr val="accent3"/>
          </a:solidFill>
          <a:ln>
            <a:noFill/>
          </a:ln>
        </p:spPr>
        <p:txBody>
          <a:bodyPr wrap="square" lIns="0" tIns="0" rIns="0" bIns="0" rtlCol="0" anchor="ctr">
            <a:spAutoFit/>
          </a:bodyPr>
          <a:lstStyle/>
          <a:p>
            <a:pPr algn="ctr"/>
            <a:r>
              <a:rPr lang="en-GB" sz="1800" b="1" dirty="0"/>
              <a:t>5.4ft</a:t>
            </a:r>
            <a:endParaRPr lang="en-GB" sz="1800" b="1" baseline="30000" dirty="0"/>
          </a:p>
        </p:txBody>
      </p:sp>
      <p:sp>
        <p:nvSpPr>
          <p:cNvPr id="160" name="TextBox 159">
            <a:extLst>
              <a:ext uri="{FF2B5EF4-FFF2-40B4-BE49-F238E27FC236}">
                <a16:creationId xmlns:a16="http://schemas.microsoft.com/office/drawing/2014/main" id="{F5EF4E1D-1BF2-E04C-BE4F-4E93CC0755CF}"/>
              </a:ext>
            </a:extLst>
          </p:cNvPr>
          <p:cNvSpPr txBox="1"/>
          <p:nvPr/>
        </p:nvSpPr>
        <p:spPr>
          <a:xfrm>
            <a:off x="7202729" y="2946392"/>
            <a:ext cx="813808" cy="228925"/>
          </a:xfrm>
          <a:prstGeom prst="rect">
            <a:avLst/>
          </a:prstGeom>
          <a:solidFill>
            <a:schemeClr val="accent3"/>
          </a:solidFill>
          <a:ln>
            <a:noFill/>
          </a:ln>
        </p:spPr>
        <p:txBody>
          <a:bodyPr wrap="square" lIns="0" tIns="0" rIns="0" bIns="0" rtlCol="0" anchor="ctr">
            <a:spAutoFit/>
          </a:bodyPr>
          <a:lstStyle/>
          <a:p>
            <a:pPr algn="ctr"/>
            <a:r>
              <a:rPr lang="en-GB" sz="1800" b="1" dirty="0"/>
              <a:t>10.6cm</a:t>
            </a:r>
            <a:endParaRPr lang="en-GB" sz="1800" b="1" baseline="30000" dirty="0"/>
          </a:p>
        </p:txBody>
      </p:sp>
      <p:grpSp>
        <p:nvGrpSpPr>
          <p:cNvPr id="194" name="Group 193">
            <a:extLst>
              <a:ext uri="{FF2B5EF4-FFF2-40B4-BE49-F238E27FC236}">
                <a16:creationId xmlns:a16="http://schemas.microsoft.com/office/drawing/2014/main" id="{CB6B09A5-54AE-7247-9078-D3079C2BF2C2}"/>
              </a:ext>
            </a:extLst>
          </p:cNvPr>
          <p:cNvGrpSpPr/>
          <p:nvPr/>
        </p:nvGrpSpPr>
        <p:grpSpPr>
          <a:xfrm>
            <a:off x="481672" y="1712522"/>
            <a:ext cx="1686013" cy="1089655"/>
            <a:chOff x="6493887" y="1387038"/>
            <a:chExt cx="2715343" cy="1450330"/>
          </a:xfrm>
        </p:grpSpPr>
        <p:grpSp>
          <p:nvGrpSpPr>
            <p:cNvPr id="199" name="Group 198">
              <a:extLst>
                <a:ext uri="{FF2B5EF4-FFF2-40B4-BE49-F238E27FC236}">
                  <a16:creationId xmlns:a16="http://schemas.microsoft.com/office/drawing/2014/main" id="{62CEA72D-041B-A44D-8522-2C60E6F1547F}"/>
                </a:ext>
              </a:extLst>
            </p:cNvPr>
            <p:cNvGrpSpPr/>
            <p:nvPr/>
          </p:nvGrpSpPr>
          <p:grpSpPr>
            <a:xfrm>
              <a:off x="6534645" y="1387038"/>
              <a:ext cx="2674585" cy="1450330"/>
              <a:chOff x="6604182" y="1415186"/>
              <a:chExt cx="2674585" cy="1450330"/>
            </a:xfrm>
          </p:grpSpPr>
          <p:sp>
            <p:nvSpPr>
              <p:cNvPr id="203" name="Triangle 202">
                <a:extLst>
                  <a:ext uri="{FF2B5EF4-FFF2-40B4-BE49-F238E27FC236}">
                    <a16:creationId xmlns:a16="http://schemas.microsoft.com/office/drawing/2014/main" id="{4E108CB4-E743-3546-94CF-D5DBC155BE1B}"/>
                  </a:ext>
                </a:extLst>
              </p:cNvPr>
              <p:cNvSpPr/>
              <p:nvPr/>
            </p:nvSpPr>
            <p:spPr>
              <a:xfrm>
                <a:off x="6604182" y="1415186"/>
                <a:ext cx="2266474" cy="1106716"/>
              </a:xfrm>
              <a:prstGeom prst="triangle">
                <a:avLst>
                  <a:gd name="adj" fmla="val 20607"/>
                </a:avLst>
              </a:pr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204" name="Arc 203">
                <a:extLst>
                  <a:ext uri="{FF2B5EF4-FFF2-40B4-BE49-F238E27FC236}">
                    <a16:creationId xmlns:a16="http://schemas.microsoft.com/office/drawing/2014/main" id="{14A5AAF5-A268-5842-8F99-92B77F388C55}"/>
                  </a:ext>
                </a:extLst>
              </p:cNvPr>
              <p:cNvSpPr>
                <a:spLocks noChangeAspect="1"/>
              </p:cNvSpPr>
              <p:nvPr/>
            </p:nvSpPr>
            <p:spPr>
              <a:xfrm>
                <a:off x="8443878" y="2174803"/>
                <a:ext cx="834889" cy="690713"/>
              </a:xfrm>
              <a:prstGeom prst="arc">
                <a:avLst>
                  <a:gd name="adj1" fmla="val 10809643"/>
                  <a:gd name="adj2" fmla="val 13002702"/>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196" name="Text Box 30">
              <a:extLst>
                <a:ext uri="{FF2B5EF4-FFF2-40B4-BE49-F238E27FC236}">
                  <a16:creationId xmlns:a16="http://schemas.microsoft.com/office/drawing/2014/main" id="{ED88CF6B-8672-9D4D-ADE8-BC2757EDA953}"/>
                </a:ext>
              </a:extLst>
            </p:cNvPr>
            <p:cNvSpPr txBox="1">
              <a:spLocks noChangeArrowheads="1"/>
            </p:cNvSpPr>
            <p:nvPr/>
          </p:nvSpPr>
          <p:spPr bwMode="auto">
            <a:xfrm>
              <a:off x="7921937" y="2184803"/>
              <a:ext cx="42339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37</a:t>
              </a:r>
              <a:r>
                <a:rPr lang="en-GB" altLang="en-US" sz="1500" baseline="30000" dirty="0">
                  <a:latin typeface="Calibri" panose="020F0502020204030204" pitchFamily="34" charset="0"/>
                  <a:cs typeface="Calibri" panose="020F0502020204030204" pitchFamily="34" charset="0"/>
                </a:rPr>
                <a:t>o</a:t>
              </a:r>
            </a:p>
          </p:txBody>
        </p:sp>
        <p:sp>
          <p:nvSpPr>
            <p:cNvPr id="197" name="Text Box 30">
              <a:extLst>
                <a:ext uri="{FF2B5EF4-FFF2-40B4-BE49-F238E27FC236}">
                  <a16:creationId xmlns:a16="http://schemas.microsoft.com/office/drawing/2014/main" id="{F3939828-F6D5-E543-8D03-20AEE837B8F1}"/>
                </a:ext>
              </a:extLst>
            </p:cNvPr>
            <p:cNvSpPr txBox="1">
              <a:spLocks noChangeArrowheads="1"/>
            </p:cNvSpPr>
            <p:nvPr/>
          </p:nvSpPr>
          <p:spPr bwMode="auto">
            <a:xfrm>
              <a:off x="7921936" y="1662629"/>
              <a:ext cx="694464"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11cm</a:t>
              </a:r>
              <a:endParaRPr lang="en-GB" altLang="en-US" sz="1500" baseline="30000" dirty="0">
                <a:latin typeface="Calibri" panose="020F0502020204030204" pitchFamily="34" charset="0"/>
                <a:cs typeface="Calibri" panose="020F0502020204030204" pitchFamily="34" charset="0"/>
              </a:endParaRPr>
            </a:p>
          </p:txBody>
        </p:sp>
        <p:sp>
          <p:nvSpPr>
            <p:cNvPr id="198" name="Text Box 30">
              <a:extLst>
                <a:ext uri="{FF2B5EF4-FFF2-40B4-BE49-F238E27FC236}">
                  <a16:creationId xmlns:a16="http://schemas.microsoft.com/office/drawing/2014/main" id="{B46F6757-4FE3-A844-8CD4-4DCA26E94774}"/>
                </a:ext>
              </a:extLst>
            </p:cNvPr>
            <p:cNvSpPr txBox="1">
              <a:spLocks noChangeArrowheads="1"/>
            </p:cNvSpPr>
            <p:nvPr/>
          </p:nvSpPr>
          <p:spPr bwMode="auto">
            <a:xfrm>
              <a:off x="7320650" y="2503758"/>
              <a:ext cx="694464"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12cm</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1" name="Text Box 30">
                  <a:extLst>
                    <a:ext uri="{FF2B5EF4-FFF2-40B4-BE49-F238E27FC236}">
                      <a16:creationId xmlns:a16="http://schemas.microsoft.com/office/drawing/2014/main" id="{1B2FD238-6F1D-D243-BF40-A1253CB58D79}"/>
                    </a:ext>
                  </a:extLst>
                </p:cNvPr>
                <p:cNvSpPr txBox="1">
                  <a:spLocks noChangeArrowheads="1"/>
                </p:cNvSpPr>
                <p:nvPr/>
              </p:nvSpPr>
              <p:spPr bwMode="auto">
                <a:xfrm>
                  <a:off x="6493887" y="1745544"/>
                  <a:ext cx="221094" cy="3001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 xmlns:m="http://schemas.openxmlformats.org/officeDocument/2006/math">
                      <m:r>
                        <a:rPr lang="en-GB" altLang="en-US" sz="1500" b="0" i="1" dirty="0" smtClean="0">
                          <a:latin typeface="Cambria Math" panose="02040503050406030204" pitchFamily="18" charset="0"/>
                          <a:cs typeface="Calibri" panose="020F0502020204030204" pitchFamily="34" charset="0"/>
                        </a:rPr>
                        <m:t>𝑥</m:t>
                      </m:r>
                    </m:oMath>
                  </a14:m>
                  <a:r>
                    <a:rPr lang="en-GB" altLang="en-US" sz="1500" baseline="30000" dirty="0">
                      <a:latin typeface="Calibri" panose="020F0502020204030204" pitchFamily="34" charset="0"/>
                      <a:cs typeface="Calibri" panose="020F0502020204030204" pitchFamily="34" charset="0"/>
                    </a:rPr>
                    <a:t> </a:t>
                  </a:r>
                </a:p>
              </p:txBody>
            </p:sp>
          </mc:Choice>
          <mc:Fallback xmlns="">
            <p:sp>
              <p:nvSpPr>
                <p:cNvPr id="81" name="Text Box 30">
                  <a:extLst>
                    <a:ext uri="{FF2B5EF4-FFF2-40B4-BE49-F238E27FC236}">
                      <a16:creationId xmlns:a16="http://schemas.microsoft.com/office/drawing/2014/main" id="{1B2FD238-6F1D-D243-BF40-A1253CB58D79}"/>
                    </a:ext>
                  </a:extLst>
                </p:cNvPr>
                <p:cNvSpPr txBox="1">
                  <a:spLocks noRot="1" noChangeAspect="1" noMove="1" noResize="1" noEditPoints="1" noAdjustHandles="1" noChangeArrowheads="1" noChangeShapeType="1" noTextEdit="1"/>
                </p:cNvSpPr>
                <p:nvPr/>
              </p:nvSpPr>
              <p:spPr bwMode="auto">
                <a:xfrm>
                  <a:off x="6493887" y="1745544"/>
                  <a:ext cx="221094" cy="300155"/>
                </a:xfrm>
                <a:prstGeom prst="rect">
                  <a:avLst/>
                </a:prstGeom>
                <a:blipFill>
                  <a:blip r:embed="rId4"/>
                  <a:stretch>
                    <a:fillRect l="-25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grpSp>
        <p:nvGrpSpPr>
          <p:cNvPr id="206" name="Group 205">
            <a:extLst>
              <a:ext uri="{FF2B5EF4-FFF2-40B4-BE49-F238E27FC236}">
                <a16:creationId xmlns:a16="http://schemas.microsoft.com/office/drawing/2014/main" id="{5898580E-189F-BE4C-98E5-A49A09EB8824}"/>
              </a:ext>
            </a:extLst>
          </p:cNvPr>
          <p:cNvGrpSpPr/>
          <p:nvPr/>
        </p:nvGrpSpPr>
        <p:grpSpPr>
          <a:xfrm>
            <a:off x="2708056" y="1566472"/>
            <a:ext cx="1448063" cy="1213848"/>
            <a:chOff x="6468996" y="1155731"/>
            <a:chExt cx="2332123" cy="1615629"/>
          </a:xfrm>
        </p:grpSpPr>
        <p:grpSp>
          <p:nvGrpSpPr>
            <p:cNvPr id="207" name="Group 206">
              <a:extLst>
                <a:ext uri="{FF2B5EF4-FFF2-40B4-BE49-F238E27FC236}">
                  <a16:creationId xmlns:a16="http://schemas.microsoft.com/office/drawing/2014/main" id="{FF36557A-7EA0-314B-96D4-54D164E6484D}"/>
                </a:ext>
              </a:extLst>
            </p:cNvPr>
            <p:cNvGrpSpPr/>
            <p:nvPr/>
          </p:nvGrpSpPr>
          <p:grpSpPr>
            <a:xfrm>
              <a:off x="6534645" y="1155731"/>
              <a:ext cx="2266474" cy="1338023"/>
              <a:chOff x="6604182" y="1183879"/>
              <a:chExt cx="2266474" cy="1338023"/>
            </a:xfrm>
          </p:grpSpPr>
          <p:sp>
            <p:nvSpPr>
              <p:cNvPr id="211" name="Triangle 210">
                <a:extLst>
                  <a:ext uri="{FF2B5EF4-FFF2-40B4-BE49-F238E27FC236}">
                    <a16:creationId xmlns:a16="http://schemas.microsoft.com/office/drawing/2014/main" id="{181525A1-F1A1-8E40-A983-8CE1987A2565}"/>
                  </a:ext>
                </a:extLst>
              </p:cNvPr>
              <p:cNvSpPr/>
              <p:nvPr/>
            </p:nvSpPr>
            <p:spPr>
              <a:xfrm>
                <a:off x="6604182" y="1415186"/>
                <a:ext cx="2266474" cy="1106716"/>
              </a:xfrm>
              <a:prstGeom prst="triangle">
                <a:avLst>
                  <a:gd name="adj" fmla="val 40851"/>
                </a:avLst>
              </a:pr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212" name="Arc 211">
                <a:extLst>
                  <a:ext uri="{FF2B5EF4-FFF2-40B4-BE49-F238E27FC236}">
                    <a16:creationId xmlns:a16="http://schemas.microsoft.com/office/drawing/2014/main" id="{E8FFDB70-C977-4447-8DB6-A177CD6F1A6C}"/>
                  </a:ext>
                </a:extLst>
              </p:cNvPr>
              <p:cNvSpPr>
                <a:spLocks noChangeAspect="1"/>
              </p:cNvSpPr>
              <p:nvPr/>
            </p:nvSpPr>
            <p:spPr>
              <a:xfrm>
                <a:off x="7236820" y="1183879"/>
                <a:ext cx="570242" cy="471765"/>
              </a:xfrm>
              <a:prstGeom prst="arc">
                <a:avLst>
                  <a:gd name="adj1" fmla="val 2704884"/>
                  <a:gd name="adj2" fmla="val 743885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208" name="Text Box 30">
              <a:extLst>
                <a:ext uri="{FF2B5EF4-FFF2-40B4-BE49-F238E27FC236}">
                  <a16:creationId xmlns:a16="http://schemas.microsoft.com/office/drawing/2014/main" id="{AB3AD2A6-A787-E040-BE47-B884F3328B26}"/>
                </a:ext>
              </a:extLst>
            </p:cNvPr>
            <p:cNvSpPr txBox="1">
              <a:spLocks noChangeArrowheads="1"/>
            </p:cNvSpPr>
            <p:nvPr/>
          </p:nvSpPr>
          <p:spPr bwMode="auto">
            <a:xfrm>
              <a:off x="7324634" y="1624007"/>
              <a:ext cx="42339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80</a:t>
              </a:r>
              <a:r>
                <a:rPr lang="en-GB" altLang="en-US" sz="1500" baseline="30000" dirty="0">
                  <a:latin typeface="Calibri" panose="020F0502020204030204" pitchFamily="34" charset="0"/>
                  <a:cs typeface="Calibri" panose="020F0502020204030204" pitchFamily="34" charset="0"/>
                </a:rPr>
                <a:t>o</a:t>
              </a:r>
            </a:p>
          </p:txBody>
        </p:sp>
        <p:sp>
          <p:nvSpPr>
            <p:cNvPr id="209" name="Text Box 30">
              <a:extLst>
                <a:ext uri="{FF2B5EF4-FFF2-40B4-BE49-F238E27FC236}">
                  <a16:creationId xmlns:a16="http://schemas.microsoft.com/office/drawing/2014/main" id="{C5D25D21-1C28-2C43-B158-32708E228D35}"/>
                </a:ext>
              </a:extLst>
            </p:cNvPr>
            <p:cNvSpPr txBox="1">
              <a:spLocks noChangeArrowheads="1"/>
            </p:cNvSpPr>
            <p:nvPr/>
          </p:nvSpPr>
          <p:spPr bwMode="auto">
            <a:xfrm>
              <a:off x="8210114" y="1699236"/>
              <a:ext cx="45592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8yd</a:t>
              </a:r>
              <a:endParaRPr lang="en-GB" altLang="en-US" sz="1500" baseline="30000" dirty="0">
                <a:latin typeface="Calibri" panose="020F0502020204030204" pitchFamily="34" charset="0"/>
                <a:cs typeface="Calibri" panose="020F0502020204030204" pitchFamily="34" charset="0"/>
              </a:endParaRPr>
            </a:p>
          </p:txBody>
        </p:sp>
        <p:sp>
          <p:nvSpPr>
            <p:cNvPr id="210" name="Text Box 30">
              <a:extLst>
                <a:ext uri="{FF2B5EF4-FFF2-40B4-BE49-F238E27FC236}">
                  <a16:creationId xmlns:a16="http://schemas.microsoft.com/office/drawing/2014/main" id="{BED5FBBB-6DA1-4D48-ABB1-F7E290EB7C60}"/>
                </a:ext>
              </a:extLst>
            </p:cNvPr>
            <p:cNvSpPr txBox="1">
              <a:spLocks noChangeArrowheads="1"/>
            </p:cNvSpPr>
            <p:nvPr/>
          </p:nvSpPr>
          <p:spPr bwMode="auto">
            <a:xfrm>
              <a:off x="6468996" y="1701782"/>
              <a:ext cx="455922"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5yd</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3" name="Text Box 30">
                  <a:extLst>
                    <a:ext uri="{FF2B5EF4-FFF2-40B4-BE49-F238E27FC236}">
                      <a16:creationId xmlns:a16="http://schemas.microsoft.com/office/drawing/2014/main" id="{EAB6D641-C127-FD45-86F9-2A71D21D4A6B}"/>
                    </a:ext>
                  </a:extLst>
                </p:cNvPr>
                <p:cNvSpPr txBox="1">
                  <a:spLocks noChangeArrowheads="1"/>
                </p:cNvSpPr>
                <p:nvPr/>
              </p:nvSpPr>
              <p:spPr bwMode="auto">
                <a:xfrm>
                  <a:off x="7557335" y="2471205"/>
                  <a:ext cx="221093" cy="3001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14:m>
                    <m:oMathPara xmlns:m="http://schemas.openxmlformats.org/officeDocument/2006/math">
                      <m:oMathParaPr>
                        <m:jc m:val="centerGroup"/>
                      </m:oMathParaPr>
                      <m:oMath xmlns:m="http://schemas.openxmlformats.org/officeDocument/2006/math">
                        <m:r>
                          <a:rPr lang="en-GB" altLang="en-US" sz="1500" b="0" i="1" dirty="0" smtClean="0">
                            <a:latin typeface="Cambria Math" panose="02040503050406030204" pitchFamily="18" charset="0"/>
                            <a:cs typeface="Calibri" panose="020F0502020204030204" pitchFamily="34" charset="0"/>
                          </a:rPr>
                          <m:t>𝑥</m:t>
                        </m:r>
                      </m:oMath>
                    </m:oMathPara>
                  </a14:m>
                  <a:endParaRPr lang="en-GB" altLang="en-US" sz="1500" baseline="30000" dirty="0">
                    <a:latin typeface="Calibri" panose="020F0502020204030204" pitchFamily="34" charset="0"/>
                    <a:cs typeface="Calibri" panose="020F0502020204030204" pitchFamily="34" charset="0"/>
                  </a:endParaRPr>
                </a:p>
              </p:txBody>
            </p:sp>
          </mc:Choice>
          <mc:Fallback xmlns="">
            <p:sp>
              <p:nvSpPr>
                <p:cNvPr id="83" name="Text Box 30">
                  <a:extLst>
                    <a:ext uri="{FF2B5EF4-FFF2-40B4-BE49-F238E27FC236}">
                      <a16:creationId xmlns:a16="http://schemas.microsoft.com/office/drawing/2014/main" id="{EAB6D641-C127-FD45-86F9-2A71D21D4A6B}"/>
                    </a:ext>
                  </a:extLst>
                </p:cNvPr>
                <p:cNvSpPr txBox="1">
                  <a:spLocks noRot="1" noChangeAspect="1" noMove="1" noResize="1" noEditPoints="1" noAdjustHandles="1" noChangeArrowheads="1" noChangeShapeType="1" noTextEdit="1"/>
                </p:cNvSpPr>
                <p:nvPr/>
              </p:nvSpPr>
              <p:spPr bwMode="auto">
                <a:xfrm>
                  <a:off x="7557335" y="2471205"/>
                  <a:ext cx="221093" cy="300155"/>
                </a:xfrm>
                <a:prstGeom prst="rect">
                  <a:avLst/>
                </a:prstGeom>
                <a:blipFill>
                  <a:blip r:embed="rId5"/>
                  <a:stretch>
                    <a:fillRect l="-8333" r="-166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grpSp>
        <p:nvGrpSpPr>
          <p:cNvPr id="213" name="Group 212">
            <a:extLst>
              <a:ext uri="{FF2B5EF4-FFF2-40B4-BE49-F238E27FC236}">
                <a16:creationId xmlns:a16="http://schemas.microsoft.com/office/drawing/2014/main" id="{E47DBDF3-04B1-D740-907B-227CF2A25A54}"/>
              </a:ext>
            </a:extLst>
          </p:cNvPr>
          <p:cNvGrpSpPr/>
          <p:nvPr/>
        </p:nvGrpSpPr>
        <p:grpSpPr>
          <a:xfrm>
            <a:off x="4755830" y="1735234"/>
            <a:ext cx="1959674" cy="1061482"/>
            <a:chOff x="5645039" y="1380352"/>
            <a:chExt cx="3156079" cy="1412830"/>
          </a:xfrm>
        </p:grpSpPr>
        <p:grpSp>
          <p:nvGrpSpPr>
            <p:cNvPr id="214" name="Group 213">
              <a:extLst>
                <a:ext uri="{FF2B5EF4-FFF2-40B4-BE49-F238E27FC236}">
                  <a16:creationId xmlns:a16="http://schemas.microsoft.com/office/drawing/2014/main" id="{A3750015-9248-674B-B026-328E7884538B}"/>
                </a:ext>
              </a:extLst>
            </p:cNvPr>
            <p:cNvGrpSpPr/>
            <p:nvPr/>
          </p:nvGrpSpPr>
          <p:grpSpPr>
            <a:xfrm>
              <a:off x="5943964" y="1380352"/>
              <a:ext cx="2857154" cy="1327140"/>
              <a:chOff x="6013501" y="1408500"/>
              <a:chExt cx="2857154" cy="1327140"/>
            </a:xfrm>
          </p:grpSpPr>
          <p:sp>
            <p:nvSpPr>
              <p:cNvPr id="218" name="Triangle 217">
                <a:extLst>
                  <a:ext uri="{FF2B5EF4-FFF2-40B4-BE49-F238E27FC236}">
                    <a16:creationId xmlns:a16="http://schemas.microsoft.com/office/drawing/2014/main" id="{49C4A1C3-40F1-0744-9FA4-0E6BDBC6854F}"/>
                  </a:ext>
                </a:extLst>
              </p:cNvPr>
              <p:cNvSpPr/>
              <p:nvPr/>
            </p:nvSpPr>
            <p:spPr>
              <a:xfrm>
                <a:off x="6013501" y="1408500"/>
                <a:ext cx="2857154" cy="1113402"/>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Lst>
                <a:ahLst/>
                <a:cxnLst>
                  <a:cxn ang="0">
                    <a:pos x="connsiteX0" y="connsiteY0"/>
                  </a:cxn>
                  <a:cxn ang="0">
                    <a:pos x="connsiteX1" y="connsiteY1"/>
                  </a:cxn>
                  <a:cxn ang="0">
                    <a:pos x="connsiteX2" y="connsiteY2"/>
                  </a:cxn>
                  <a:cxn ang="0">
                    <a:pos x="connsiteX3" y="connsiteY3"/>
                  </a:cxn>
                </a:cxnLst>
                <a:rect l="l" t="t" r="r" b="b"/>
                <a:pathLst>
                  <a:path w="1774065" h="836517">
                    <a:moveTo>
                      <a:pt x="366765" y="836517"/>
                    </a:moveTo>
                    <a:lnTo>
                      <a:pt x="0" y="0"/>
                    </a:lnTo>
                    <a:lnTo>
                      <a:pt x="1774065" y="836517"/>
                    </a:lnTo>
                    <a:lnTo>
                      <a:pt x="366765" y="836517"/>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219" name="Arc 218">
                <a:extLst>
                  <a:ext uri="{FF2B5EF4-FFF2-40B4-BE49-F238E27FC236}">
                    <a16:creationId xmlns:a16="http://schemas.microsoft.com/office/drawing/2014/main" id="{D7112E53-62AE-5749-AD7B-AB28383508B4}"/>
                  </a:ext>
                </a:extLst>
              </p:cNvPr>
              <p:cNvSpPr>
                <a:spLocks noChangeAspect="1"/>
              </p:cNvSpPr>
              <p:nvPr/>
            </p:nvSpPr>
            <p:spPr>
              <a:xfrm>
                <a:off x="6345632" y="2306762"/>
                <a:ext cx="518401" cy="428878"/>
              </a:xfrm>
              <a:prstGeom prst="arc">
                <a:avLst>
                  <a:gd name="adj1" fmla="val 14877398"/>
                  <a:gd name="adj2" fmla="val 21435888"/>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215" name="Text Box 30">
              <a:extLst>
                <a:ext uri="{FF2B5EF4-FFF2-40B4-BE49-F238E27FC236}">
                  <a16:creationId xmlns:a16="http://schemas.microsoft.com/office/drawing/2014/main" id="{5EA9E993-2B3F-C74D-B0A5-49D30FFE8D47}"/>
                </a:ext>
              </a:extLst>
            </p:cNvPr>
            <p:cNvSpPr txBox="1">
              <a:spLocks noChangeArrowheads="1"/>
            </p:cNvSpPr>
            <p:nvPr/>
          </p:nvSpPr>
          <p:spPr bwMode="auto">
            <a:xfrm>
              <a:off x="6733548" y="2061749"/>
              <a:ext cx="580873"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114</a:t>
              </a:r>
              <a:r>
                <a:rPr lang="en-GB" altLang="en-US" sz="1500" baseline="30000" dirty="0">
                  <a:latin typeface="Calibri" panose="020F0502020204030204" pitchFamily="34" charset="0"/>
                  <a:cs typeface="Calibri" panose="020F0502020204030204" pitchFamily="34" charset="0"/>
                </a:rPr>
                <a:t>o</a:t>
              </a:r>
            </a:p>
          </p:txBody>
        </p:sp>
        <p:sp>
          <p:nvSpPr>
            <p:cNvPr id="216" name="Text Box 30">
              <a:extLst>
                <a:ext uri="{FF2B5EF4-FFF2-40B4-BE49-F238E27FC236}">
                  <a16:creationId xmlns:a16="http://schemas.microsoft.com/office/drawing/2014/main" id="{9685AC16-978B-4143-9F7E-F9C33991B0E0}"/>
                </a:ext>
              </a:extLst>
            </p:cNvPr>
            <p:cNvSpPr txBox="1">
              <a:spLocks noChangeArrowheads="1"/>
            </p:cNvSpPr>
            <p:nvPr/>
          </p:nvSpPr>
          <p:spPr bwMode="auto">
            <a:xfrm>
              <a:off x="7372540" y="2485945"/>
              <a:ext cx="549893"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23in</a:t>
              </a:r>
              <a:endParaRPr lang="en-GB" altLang="en-US" sz="1500" baseline="30000" dirty="0">
                <a:latin typeface="Calibri" panose="020F0502020204030204" pitchFamily="34" charset="0"/>
                <a:cs typeface="Calibri" panose="020F0502020204030204" pitchFamily="34" charset="0"/>
              </a:endParaRPr>
            </a:p>
          </p:txBody>
        </p:sp>
        <p:sp>
          <p:nvSpPr>
            <p:cNvPr id="217" name="Text Box 30">
              <a:extLst>
                <a:ext uri="{FF2B5EF4-FFF2-40B4-BE49-F238E27FC236}">
                  <a16:creationId xmlns:a16="http://schemas.microsoft.com/office/drawing/2014/main" id="{198AFD66-2ABE-5346-A58B-2E96A87689C5}"/>
                </a:ext>
              </a:extLst>
            </p:cNvPr>
            <p:cNvSpPr txBox="1">
              <a:spLocks noChangeArrowheads="1"/>
            </p:cNvSpPr>
            <p:nvPr/>
          </p:nvSpPr>
          <p:spPr bwMode="auto">
            <a:xfrm>
              <a:off x="5645039" y="1874283"/>
              <a:ext cx="549893"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18in</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4" name="Text Box 30">
                  <a:extLst>
                    <a:ext uri="{FF2B5EF4-FFF2-40B4-BE49-F238E27FC236}">
                      <a16:creationId xmlns:a16="http://schemas.microsoft.com/office/drawing/2014/main" id="{934A1171-C94D-544F-8CEF-37E1555FF2AC}"/>
                    </a:ext>
                  </a:extLst>
                </p:cNvPr>
                <p:cNvSpPr txBox="1">
                  <a:spLocks noChangeArrowheads="1"/>
                </p:cNvSpPr>
                <p:nvPr/>
              </p:nvSpPr>
              <p:spPr bwMode="auto">
                <a:xfrm>
                  <a:off x="7366028" y="1640437"/>
                  <a:ext cx="299810" cy="3001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square" lIns="0" tIns="0" rIns="0" bIns="0" anchor="ctr" anchorCtr="0">
                  <a:spAutoFit/>
                </a:bodyPr>
                <a:lstStyle/>
                <a:p>
                  <a:pPr eaLnBrk="0" hangingPunct="0"/>
                  <a14:m>
                    <m:oMathPara xmlns:m="http://schemas.openxmlformats.org/officeDocument/2006/math">
                      <m:oMathParaPr>
                        <m:jc m:val="centerGroup"/>
                      </m:oMathParaPr>
                      <m:oMath xmlns:m="http://schemas.openxmlformats.org/officeDocument/2006/math">
                        <m:r>
                          <a:rPr lang="en-GB" altLang="en-US" sz="1500" b="0" i="1" dirty="0" smtClean="0">
                            <a:latin typeface="Cambria Math" panose="02040503050406030204" pitchFamily="18" charset="0"/>
                            <a:cs typeface="Calibri" panose="020F0502020204030204" pitchFamily="34" charset="0"/>
                          </a:rPr>
                          <m:t>𝑥</m:t>
                        </m:r>
                      </m:oMath>
                    </m:oMathPara>
                  </a14:m>
                  <a:endParaRPr lang="en-GB" altLang="en-US" sz="1500" baseline="30000" dirty="0">
                    <a:latin typeface="Calibri" panose="020F0502020204030204" pitchFamily="34" charset="0"/>
                    <a:cs typeface="Calibri" panose="020F0502020204030204" pitchFamily="34" charset="0"/>
                  </a:endParaRPr>
                </a:p>
              </p:txBody>
            </p:sp>
          </mc:Choice>
          <mc:Fallback xmlns="">
            <p:sp>
              <p:nvSpPr>
                <p:cNvPr id="84" name="Text Box 30">
                  <a:extLst>
                    <a:ext uri="{FF2B5EF4-FFF2-40B4-BE49-F238E27FC236}">
                      <a16:creationId xmlns:a16="http://schemas.microsoft.com/office/drawing/2014/main" id="{934A1171-C94D-544F-8CEF-37E1555FF2AC}"/>
                    </a:ext>
                  </a:extLst>
                </p:cNvPr>
                <p:cNvSpPr txBox="1">
                  <a:spLocks noRot="1" noChangeAspect="1" noMove="1" noResize="1" noEditPoints="1" noAdjustHandles="1" noChangeArrowheads="1" noChangeShapeType="1" noTextEdit="1"/>
                </p:cNvSpPr>
                <p:nvPr/>
              </p:nvSpPr>
              <p:spPr bwMode="auto">
                <a:xfrm>
                  <a:off x="7366028" y="1640437"/>
                  <a:ext cx="299810" cy="300155"/>
                </a:xfrm>
                <a:prstGeom prst="rect">
                  <a:avLst/>
                </a:prstGeom>
                <a:blipFill>
                  <a:blip r:embed="rId6"/>
                  <a:stretch>
                    <a:fillRect l="-66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grpSp>
        <p:nvGrpSpPr>
          <p:cNvPr id="220" name="Group 219">
            <a:extLst>
              <a:ext uri="{FF2B5EF4-FFF2-40B4-BE49-F238E27FC236}">
                <a16:creationId xmlns:a16="http://schemas.microsoft.com/office/drawing/2014/main" id="{0D907A9E-929B-4A48-A84C-B28A755543F7}"/>
              </a:ext>
            </a:extLst>
          </p:cNvPr>
          <p:cNvGrpSpPr/>
          <p:nvPr/>
        </p:nvGrpSpPr>
        <p:grpSpPr>
          <a:xfrm>
            <a:off x="7259581" y="1629218"/>
            <a:ext cx="1642533" cy="1177890"/>
            <a:chOff x="6155799" y="1239244"/>
            <a:chExt cx="2645319" cy="1567769"/>
          </a:xfrm>
        </p:grpSpPr>
        <p:grpSp>
          <p:nvGrpSpPr>
            <p:cNvPr id="221" name="Group 220">
              <a:extLst>
                <a:ext uri="{FF2B5EF4-FFF2-40B4-BE49-F238E27FC236}">
                  <a16:creationId xmlns:a16="http://schemas.microsoft.com/office/drawing/2014/main" id="{DF89467C-E6D4-EE40-A889-578D310651C4}"/>
                </a:ext>
              </a:extLst>
            </p:cNvPr>
            <p:cNvGrpSpPr/>
            <p:nvPr/>
          </p:nvGrpSpPr>
          <p:grpSpPr>
            <a:xfrm>
              <a:off x="6155799" y="1239244"/>
              <a:ext cx="2645319" cy="1567769"/>
              <a:chOff x="6225336" y="1267392"/>
              <a:chExt cx="2645319" cy="1567769"/>
            </a:xfrm>
          </p:grpSpPr>
          <p:sp>
            <p:nvSpPr>
              <p:cNvPr id="225" name="Triangle 217">
                <a:extLst>
                  <a:ext uri="{FF2B5EF4-FFF2-40B4-BE49-F238E27FC236}">
                    <a16:creationId xmlns:a16="http://schemas.microsoft.com/office/drawing/2014/main" id="{A72A20F7-69C3-A640-BFBA-D9289DCD8544}"/>
                  </a:ext>
                </a:extLst>
              </p:cNvPr>
              <p:cNvSpPr/>
              <p:nvPr/>
            </p:nvSpPr>
            <p:spPr>
              <a:xfrm>
                <a:off x="6604180" y="1267392"/>
                <a:ext cx="2266475" cy="1254509"/>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Lst>
                <a:ahLst/>
                <a:cxnLst>
                  <a:cxn ang="0">
                    <a:pos x="connsiteX0" y="connsiteY0"/>
                  </a:cxn>
                  <a:cxn ang="0">
                    <a:pos x="connsiteX1" y="connsiteY1"/>
                  </a:cxn>
                  <a:cxn ang="0">
                    <a:pos x="connsiteX2" y="connsiteY2"/>
                  </a:cxn>
                  <a:cxn ang="0">
                    <a:pos x="connsiteX3" y="connsiteY3"/>
                  </a:cxn>
                </a:cxnLst>
                <a:rect l="l" t="t" r="r" b="b"/>
                <a:pathLst>
                  <a:path w="1407300" h="942534">
                    <a:moveTo>
                      <a:pt x="0" y="942534"/>
                    </a:moveTo>
                    <a:lnTo>
                      <a:pt x="980538" y="0"/>
                    </a:lnTo>
                    <a:lnTo>
                      <a:pt x="1407300" y="942534"/>
                    </a:lnTo>
                    <a:lnTo>
                      <a:pt x="0" y="942534"/>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226" name="Arc 225">
                <a:extLst>
                  <a:ext uri="{FF2B5EF4-FFF2-40B4-BE49-F238E27FC236}">
                    <a16:creationId xmlns:a16="http://schemas.microsoft.com/office/drawing/2014/main" id="{DBBF94E7-4F7C-D143-8FA9-072BD50B628C}"/>
                  </a:ext>
                </a:extLst>
              </p:cNvPr>
              <p:cNvSpPr>
                <a:spLocks noChangeAspect="1"/>
              </p:cNvSpPr>
              <p:nvPr/>
            </p:nvSpPr>
            <p:spPr>
              <a:xfrm>
                <a:off x="6225336" y="2207240"/>
                <a:ext cx="758993" cy="627921"/>
              </a:xfrm>
              <a:prstGeom prst="arc">
                <a:avLst>
                  <a:gd name="adj1" fmla="val 18974266"/>
                  <a:gd name="adj2" fmla="val 5215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222" name="Text Box 30">
              <a:extLst>
                <a:ext uri="{FF2B5EF4-FFF2-40B4-BE49-F238E27FC236}">
                  <a16:creationId xmlns:a16="http://schemas.microsoft.com/office/drawing/2014/main" id="{063321B5-981C-EB45-AA6F-C89A6199CC45}"/>
                </a:ext>
              </a:extLst>
            </p:cNvPr>
            <p:cNvSpPr txBox="1">
              <a:spLocks noChangeArrowheads="1"/>
            </p:cNvSpPr>
            <p:nvPr/>
          </p:nvSpPr>
          <p:spPr bwMode="auto">
            <a:xfrm>
              <a:off x="6954336" y="2170202"/>
              <a:ext cx="423391"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44</a:t>
              </a:r>
              <a:r>
                <a:rPr lang="en-GB" altLang="en-US" sz="1500" baseline="30000" dirty="0">
                  <a:latin typeface="Calibri" panose="020F0502020204030204" pitchFamily="34" charset="0"/>
                  <a:cs typeface="Calibri" panose="020F0502020204030204" pitchFamily="34" charset="0"/>
                </a:rPr>
                <a:t>o</a:t>
              </a:r>
            </a:p>
          </p:txBody>
        </p:sp>
        <p:sp>
          <p:nvSpPr>
            <p:cNvPr id="223" name="Text Box 30">
              <a:extLst>
                <a:ext uri="{FF2B5EF4-FFF2-40B4-BE49-F238E27FC236}">
                  <a16:creationId xmlns:a16="http://schemas.microsoft.com/office/drawing/2014/main" id="{609B7764-F291-DB4B-B97B-3BD5E64D5B60}"/>
                </a:ext>
              </a:extLst>
            </p:cNvPr>
            <p:cNvSpPr txBox="1">
              <a:spLocks noChangeArrowheads="1"/>
            </p:cNvSpPr>
            <p:nvPr/>
          </p:nvSpPr>
          <p:spPr bwMode="auto">
            <a:xfrm>
              <a:off x="7320647" y="2498622"/>
              <a:ext cx="591200"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7.6ft</a:t>
              </a:r>
              <a:endParaRPr lang="en-GB" altLang="en-US" sz="1500" baseline="30000" dirty="0">
                <a:latin typeface="Calibri" panose="020F0502020204030204" pitchFamily="34" charset="0"/>
                <a:cs typeface="Calibri" panose="020F0502020204030204" pitchFamily="34" charset="0"/>
              </a:endParaRPr>
            </a:p>
          </p:txBody>
        </p:sp>
        <p:sp>
          <p:nvSpPr>
            <p:cNvPr id="224" name="Text Box 30">
              <a:extLst>
                <a:ext uri="{FF2B5EF4-FFF2-40B4-BE49-F238E27FC236}">
                  <a16:creationId xmlns:a16="http://schemas.microsoft.com/office/drawing/2014/main" id="{A5BBDD8C-2E52-FE4C-9922-4269473C83C6}"/>
                </a:ext>
              </a:extLst>
            </p:cNvPr>
            <p:cNvSpPr txBox="1">
              <a:spLocks noChangeArrowheads="1"/>
            </p:cNvSpPr>
            <p:nvPr/>
          </p:nvSpPr>
          <p:spPr bwMode="auto">
            <a:xfrm>
              <a:off x="6696391" y="1585536"/>
              <a:ext cx="591200"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6.8ft</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5" name="Text Box 30">
                  <a:extLst>
                    <a:ext uri="{FF2B5EF4-FFF2-40B4-BE49-F238E27FC236}">
                      <a16:creationId xmlns:a16="http://schemas.microsoft.com/office/drawing/2014/main" id="{4D43515F-7910-4248-9950-121149190781}"/>
                    </a:ext>
                  </a:extLst>
                </p:cNvPr>
                <p:cNvSpPr txBox="1">
                  <a:spLocks noChangeArrowheads="1"/>
                </p:cNvSpPr>
                <p:nvPr/>
              </p:nvSpPr>
              <p:spPr bwMode="auto">
                <a:xfrm>
                  <a:off x="8535245" y="1667194"/>
                  <a:ext cx="221094" cy="30015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14:m>
                    <m:oMathPara xmlns:m="http://schemas.openxmlformats.org/officeDocument/2006/math">
                      <m:oMathParaPr>
                        <m:jc m:val="centerGroup"/>
                      </m:oMathParaPr>
                      <m:oMath xmlns:m="http://schemas.openxmlformats.org/officeDocument/2006/math">
                        <m:r>
                          <a:rPr lang="en-GB" altLang="en-US" sz="1500" i="1" dirty="0" smtClean="0">
                            <a:latin typeface="Cambria Math" panose="02040503050406030204" pitchFamily="18" charset="0"/>
                            <a:cs typeface="Calibri" panose="020F0502020204030204" pitchFamily="34" charset="0"/>
                          </a:rPr>
                          <m:t>𝑥</m:t>
                        </m:r>
                      </m:oMath>
                    </m:oMathPara>
                  </a14:m>
                  <a:endParaRPr lang="en-GB" altLang="en-US" sz="1500" baseline="30000" dirty="0">
                    <a:latin typeface="Calibri" panose="020F0502020204030204" pitchFamily="34" charset="0"/>
                    <a:cs typeface="Calibri" panose="020F0502020204030204" pitchFamily="34" charset="0"/>
                  </a:endParaRPr>
                </a:p>
              </p:txBody>
            </p:sp>
          </mc:Choice>
          <mc:Fallback xmlns="">
            <p:sp>
              <p:nvSpPr>
                <p:cNvPr id="85" name="Text Box 30">
                  <a:extLst>
                    <a:ext uri="{FF2B5EF4-FFF2-40B4-BE49-F238E27FC236}">
                      <a16:creationId xmlns:a16="http://schemas.microsoft.com/office/drawing/2014/main" id="{4D43515F-7910-4248-9950-121149190781}"/>
                    </a:ext>
                  </a:extLst>
                </p:cNvPr>
                <p:cNvSpPr txBox="1">
                  <a:spLocks noRot="1" noChangeAspect="1" noMove="1" noResize="1" noEditPoints="1" noAdjustHandles="1" noChangeArrowheads="1" noChangeShapeType="1" noTextEdit="1"/>
                </p:cNvSpPr>
                <p:nvPr/>
              </p:nvSpPr>
              <p:spPr bwMode="auto">
                <a:xfrm>
                  <a:off x="8535245" y="1667194"/>
                  <a:ext cx="221094" cy="300155"/>
                </a:xfrm>
                <a:prstGeom prst="rect">
                  <a:avLst/>
                </a:prstGeom>
                <a:blipFill>
                  <a:blip r:embed="rId7"/>
                  <a:stretch>
                    <a:fillRect l="-16667" r="-833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grpSp>
        <p:nvGrpSpPr>
          <p:cNvPr id="227" name="Group 226">
            <a:extLst>
              <a:ext uri="{FF2B5EF4-FFF2-40B4-BE49-F238E27FC236}">
                <a16:creationId xmlns:a16="http://schemas.microsoft.com/office/drawing/2014/main" id="{225C536F-8834-6D49-8DD7-7FA7CBD1492C}"/>
              </a:ext>
            </a:extLst>
          </p:cNvPr>
          <p:cNvGrpSpPr/>
          <p:nvPr/>
        </p:nvGrpSpPr>
        <p:grpSpPr>
          <a:xfrm>
            <a:off x="302567" y="3223146"/>
            <a:ext cx="1680491" cy="1081546"/>
            <a:chOff x="6453521" y="1311443"/>
            <a:chExt cx="2706452" cy="1439534"/>
          </a:xfrm>
        </p:grpSpPr>
        <p:grpSp>
          <p:nvGrpSpPr>
            <p:cNvPr id="228" name="Group 227">
              <a:extLst>
                <a:ext uri="{FF2B5EF4-FFF2-40B4-BE49-F238E27FC236}">
                  <a16:creationId xmlns:a16="http://schemas.microsoft.com/office/drawing/2014/main" id="{882EA251-4DBB-324D-9462-820DEB6D3F8C}"/>
                </a:ext>
              </a:extLst>
            </p:cNvPr>
            <p:cNvGrpSpPr/>
            <p:nvPr/>
          </p:nvGrpSpPr>
          <p:grpSpPr>
            <a:xfrm>
              <a:off x="6453521" y="1311443"/>
              <a:ext cx="2203176" cy="1439534"/>
              <a:chOff x="6523058" y="1339591"/>
              <a:chExt cx="2203176" cy="1439534"/>
            </a:xfrm>
          </p:grpSpPr>
          <p:sp>
            <p:nvSpPr>
              <p:cNvPr id="232" name="Triangle 217">
                <a:extLst>
                  <a:ext uri="{FF2B5EF4-FFF2-40B4-BE49-F238E27FC236}">
                    <a16:creationId xmlns:a16="http://schemas.microsoft.com/office/drawing/2014/main" id="{FD44C834-2340-CF46-88B9-25B55ABA93AA}"/>
                  </a:ext>
                </a:extLst>
              </p:cNvPr>
              <p:cNvSpPr/>
              <p:nvPr/>
            </p:nvSpPr>
            <p:spPr>
              <a:xfrm>
                <a:off x="6523058" y="1339591"/>
                <a:ext cx="2203176" cy="1228726"/>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Lst>
                <a:ahLst/>
                <a:cxnLst>
                  <a:cxn ang="0">
                    <a:pos x="connsiteX0" y="connsiteY0"/>
                  </a:cxn>
                  <a:cxn ang="0">
                    <a:pos x="connsiteX1" y="connsiteY1"/>
                  </a:cxn>
                  <a:cxn ang="0">
                    <a:pos x="connsiteX2" y="connsiteY2"/>
                  </a:cxn>
                  <a:cxn ang="0">
                    <a:pos x="connsiteX3" y="connsiteY3"/>
                  </a:cxn>
                </a:cxnLst>
                <a:rect l="l" t="t" r="r" b="b"/>
                <a:pathLst>
                  <a:path w="1367996" h="923162">
                    <a:moveTo>
                      <a:pt x="0" y="717809"/>
                    </a:moveTo>
                    <a:lnTo>
                      <a:pt x="1367996" y="0"/>
                    </a:lnTo>
                    <a:lnTo>
                      <a:pt x="919104" y="923162"/>
                    </a:lnTo>
                    <a:lnTo>
                      <a:pt x="0" y="717809"/>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233" name="Arc 232">
                <a:extLst>
                  <a:ext uri="{FF2B5EF4-FFF2-40B4-BE49-F238E27FC236}">
                    <a16:creationId xmlns:a16="http://schemas.microsoft.com/office/drawing/2014/main" id="{62BB41F8-4919-E243-B9F3-3696726A3985}"/>
                  </a:ext>
                </a:extLst>
              </p:cNvPr>
              <p:cNvSpPr>
                <a:spLocks noChangeAspect="1"/>
              </p:cNvSpPr>
              <p:nvPr/>
            </p:nvSpPr>
            <p:spPr>
              <a:xfrm>
                <a:off x="7740233" y="2350247"/>
                <a:ext cx="518401" cy="428878"/>
              </a:xfrm>
              <a:prstGeom prst="arc">
                <a:avLst>
                  <a:gd name="adj1" fmla="val 11551335"/>
                  <a:gd name="adj2" fmla="val 1775539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229" name="Text Box 30">
              <a:extLst>
                <a:ext uri="{FF2B5EF4-FFF2-40B4-BE49-F238E27FC236}">
                  <a16:creationId xmlns:a16="http://schemas.microsoft.com/office/drawing/2014/main" id="{DC9EE55F-E046-7A49-8173-8CAB3683CB30}"/>
                </a:ext>
              </a:extLst>
            </p:cNvPr>
            <p:cNvSpPr txBox="1">
              <a:spLocks noChangeArrowheads="1"/>
            </p:cNvSpPr>
            <p:nvPr/>
          </p:nvSpPr>
          <p:spPr bwMode="auto">
            <a:xfrm>
              <a:off x="7441802" y="2046642"/>
              <a:ext cx="580873"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104</a:t>
              </a:r>
              <a:r>
                <a:rPr lang="en-GB" altLang="en-US" sz="1500" baseline="30000" dirty="0">
                  <a:latin typeface="Calibri" panose="020F0502020204030204" pitchFamily="34" charset="0"/>
                  <a:cs typeface="Calibri" panose="020F0502020204030204" pitchFamily="34" charset="0"/>
                </a:rPr>
                <a:t>o</a:t>
              </a:r>
            </a:p>
          </p:txBody>
        </p:sp>
        <p:sp>
          <p:nvSpPr>
            <p:cNvPr id="230" name="Text Box 30">
              <a:extLst>
                <a:ext uri="{FF2B5EF4-FFF2-40B4-BE49-F238E27FC236}">
                  <a16:creationId xmlns:a16="http://schemas.microsoft.com/office/drawing/2014/main" id="{7AF5D6FF-8174-D841-83C4-C8A2E2A7F39C}"/>
                </a:ext>
              </a:extLst>
            </p:cNvPr>
            <p:cNvSpPr txBox="1">
              <a:spLocks noChangeArrowheads="1"/>
            </p:cNvSpPr>
            <p:nvPr/>
          </p:nvSpPr>
          <p:spPr bwMode="auto">
            <a:xfrm>
              <a:off x="8362241" y="1865747"/>
              <a:ext cx="797732"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r>
                <a:rPr lang="en-GB" altLang="en-US" sz="1500" dirty="0">
                  <a:latin typeface="Calibri" panose="020F0502020204030204" pitchFamily="34" charset="0"/>
                  <a:cs typeface="Calibri" panose="020F0502020204030204" pitchFamily="34" charset="0"/>
                </a:rPr>
                <a:t>15.2m</a:t>
              </a:r>
              <a:endParaRPr lang="en-GB" altLang="en-US" sz="1500" baseline="30000" dirty="0">
                <a:latin typeface="Calibri" panose="020F0502020204030204" pitchFamily="34" charset="0"/>
                <a:cs typeface="Calibri" panose="020F0502020204030204" pitchFamily="34" charset="0"/>
              </a:endParaRPr>
            </a:p>
          </p:txBody>
        </p:sp>
        <p:sp>
          <p:nvSpPr>
            <p:cNvPr id="231" name="Text Box 30">
              <a:extLst>
                <a:ext uri="{FF2B5EF4-FFF2-40B4-BE49-F238E27FC236}">
                  <a16:creationId xmlns:a16="http://schemas.microsoft.com/office/drawing/2014/main" id="{85FE7E10-7C0C-CE4C-B01A-3959B31AD1EF}"/>
                </a:ext>
              </a:extLst>
            </p:cNvPr>
            <p:cNvSpPr txBox="1">
              <a:spLocks noChangeArrowheads="1"/>
            </p:cNvSpPr>
            <p:nvPr/>
          </p:nvSpPr>
          <p:spPr bwMode="auto">
            <a:xfrm>
              <a:off x="6644070" y="2410511"/>
              <a:ext cx="797732" cy="3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12.3m</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6" name="Text Box 30">
                  <a:extLst>
                    <a:ext uri="{FF2B5EF4-FFF2-40B4-BE49-F238E27FC236}">
                      <a16:creationId xmlns:a16="http://schemas.microsoft.com/office/drawing/2014/main" id="{AB5FD5D5-9189-3645-A679-10D9CFA2A37C}"/>
                    </a:ext>
                  </a:extLst>
                </p:cNvPr>
                <p:cNvSpPr txBox="1">
                  <a:spLocks noChangeArrowheads="1"/>
                </p:cNvSpPr>
                <p:nvPr/>
              </p:nvSpPr>
              <p:spPr bwMode="auto">
                <a:xfrm>
                  <a:off x="7309913" y="1525889"/>
                  <a:ext cx="221094" cy="30015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eaLnBrk="0" hangingPunct="0"/>
                  <a14:m>
                    <m:oMathPara xmlns:m="http://schemas.openxmlformats.org/officeDocument/2006/math">
                      <m:oMathParaPr>
                        <m:jc m:val="centerGroup"/>
                      </m:oMathParaPr>
                      <m:oMath xmlns:m="http://schemas.openxmlformats.org/officeDocument/2006/math">
                        <m:r>
                          <a:rPr lang="en-GB" altLang="en-US" sz="1500" i="1" dirty="0" smtClean="0">
                            <a:latin typeface="Cambria Math" panose="02040503050406030204" pitchFamily="18" charset="0"/>
                            <a:cs typeface="Calibri" panose="020F0502020204030204" pitchFamily="34" charset="0"/>
                          </a:rPr>
                          <m:t>𝑥</m:t>
                        </m:r>
                      </m:oMath>
                    </m:oMathPara>
                  </a14:m>
                  <a:endParaRPr lang="en-GB" altLang="en-US" sz="1500" baseline="30000" dirty="0">
                    <a:latin typeface="Calibri" panose="020F0502020204030204" pitchFamily="34" charset="0"/>
                    <a:cs typeface="Calibri" panose="020F0502020204030204" pitchFamily="34" charset="0"/>
                  </a:endParaRPr>
                </a:p>
              </p:txBody>
            </p:sp>
          </mc:Choice>
          <mc:Fallback xmlns="">
            <p:sp>
              <p:nvSpPr>
                <p:cNvPr id="86" name="Text Box 30">
                  <a:extLst>
                    <a:ext uri="{FF2B5EF4-FFF2-40B4-BE49-F238E27FC236}">
                      <a16:creationId xmlns:a16="http://schemas.microsoft.com/office/drawing/2014/main" id="{AB5FD5D5-9189-3645-A679-10D9CFA2A37C}"/>
                    </a:ext>
                  </a:extLst>
                </p:cNvPr>
                <p:cNvSpPr txBox="1">
                  <a:spLocks noRot="1" noChangeAspect="1" noMove="1" noResize="1" noEditPoints="1" noAdjustHandles="1" noChangeArrowheads="1" noChangeShapeType="1" noTextEdit="1"/>
                </p:cNvSpPr>
                <p:nvPr/>
              </p:nvSpPr>
              <p:spPr bwMode="auto">
                <a:xfrm>
                  <a:off x="7309913" y="1525889"/>
                  <a:ext cx="221094" cy="300154"/>
                </a:xfrm>
                <a:prstGeom prst="rect">
                  <a:avLst/>
                </a:prstGeom>
                <a:blipFill>
                  <a:blip r:embed="rId8"/>
                  <a:stretch>
                    <a:fillRect l="-25000" r="-833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grpSp>
        <p:nvGrpSpPr>
          <p:cNvPr id="234" name="Group 233">
            <a:extLst>
              <a:ext uri="{FF2B5EF4-FFF2-40B4-BE49-F238E27FC236}">
                <a16:creationId xmlns:a16="http://schemas.microsoft.com/office/drawing/2014/main" id="{64349C4D-BD12-874B-A451-FC6CD139F9F3}"/>
              </a:ext>
            </a:extLst>
          </p:cNvPr>
          <p:cNvGrpSpPr/>
          <p:nvPr/>
        </p:nvGrpSpPr>
        <p:grpSpPr>
          <a:xfrm>
            <a:off x="2596612" y="2974690"/>
            <a:ext cx="2066554" cy="1256021"/>
            <a:chOff x="6369199" y="1012972"/>
            <a:chExt cx="3025645" cy="1519779"/>
          </a:xfrm>
        </p:grpSpPr>
        <p:grpSp>
          <p:nvGrpSpPr>
            <p:cNvPr id="235" name="Group 234">
              <a:extLst>
                <a:ext uri="{FF2B5EF4-FFF2-40B4-BE49-F238E27FC236}">
                  <a16:creationId xmlns:a16="http://schemas.microsoft.com/office/drawing/2014/main" id="{C84AE109-FE27-8342-9CC2-5B24B1FC469A}"/>
                </a:ext>
              </a:extLst>
            </p:cNvPr>
            <p:cNvGrpSpPr/>
            <p:nvPr/>
          </p:nvGrpSpPr>
          <p:grpSpPr>
            <a:xfrm>
              <a:off x="6453521" y="1012972"/>
              <a:ext cx="2941323" cy="1519779"/>
              <a:chOff x="6523058" y="1041120"/>
              <a:chExt cx="2941323" cy="1519779"/>
            </a:xfrm>
          </p:grpSpPr>
          <p:sp>
            <p:nvSpPr>
              <p:cNvPr id="239" name="Triangle 217">
                <a:extLst>
                  <a:ext uri="{FF2B5EF4-FFF2-40B4-BE49-F238E27FC236}">
                    <a16:creationId xmlns:a16="http://schemas.microsoft.com/office/drawing/2014/main" id="{39F33AA1-FC77-5C4E-9B32-60F92265690C}"/>
                  </a:ext>
                </a:extLst>
              </p:cNvPr>
              <p:cNvSpPr/>
              <p:nvPr/>
            </p:nvSpPr>
            <p:spPr>
              <a:xfrm>
                <a:off x="6523058" y="1492688"/>
                <a:ext cx="2392271" cy="1068211"/>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 name="connsiteX0" fmla="*/ 0 w 919104"/>
                  <a:gd name="connsiteY0" fmla="*/ 494405 h 699758"/>
                  <a:gd name="connsiteX1" fmla="*/ 178238 w 919104"/>
                  <a:gd name="connsiteY1" fmla="*/ 0 h 699758"/>
                  <a:gd name="connsiteX2" fmla="*/ 919104 w 919104"/>
                  <a:gd name="connsiteY2" fmla="*/ 699758 h 699758"/>
                  <a:gd name="connsiteX3" fmla="*/ 0 w 919104"/>
                  <a:gd name="connsiteY3" fmla="*/ 494405 h 699758"/>
                  <a:gd name="connsiteX0" fmla="*/ 0 w 1485407"/>
                  <a:gd name="connsiteY0" fmla="*/ 688265 h 688265"/>
                  <a:gd name="connsiteX1" fmla="*/ 178238 w 1485407"/>
                  <a:gd name="connsiteY1" fmla="*/ 193860 h 688265"/>
                  <a:gd name="connsiteX2" fmla="*/ 1485407 w 1485407"/>
                  <a:gd name="connsiteY2" fmla="*/ 0 h 688265"/>
                  <a:gd name="connsiteX3" fmla="*/ 0 w 1485407"/>
                  <a:gd name="connsiteY3" fmla="*/ 688265 h 688265"/>
                  <a:gd name="connsiteX0" fmla="*/ 0 w 1485407"/>
                  <a:gd name="connsiteY0" fmla="*/ 802565 h 802565"/>
                  <a:gd name="connsiteX1" fmla="*/ 178238 w 1485407"/>
                  <a:gd name="connsiteY1" fmla="*/ 193860 h 802565"/>
                  <a:gd name="connsiteX2" fmla="*/ 1485407 w 1485407"/>
                  <a:gd name="connsiteY2" fmla="*/ 0 h 802565"/>
                  <a:gd name="connsiteX3" fmla="*/ 0 w 1485407"/>
                  <a:gd name="connsiteY3" fmla="*/ 802565 h 802565"/>
                </a:gdLst>
                <a:ahLst/>
                <a:cxnLst>
                  <a:cxn ang="0">
                    <a:pos x="connsiteX0" y="connsiteY0"/>
                  </a:cxn>
                  <a:cxn ang="0">
                    <a:pos x="connsiteX1" y="connsiteY1"/>
                  </a:cxn>
                  <a:cxn ang="0">
                    <a:pos x="connsiteX2" y="connsiteY2"/>
                  </a:cxn>
                  <a:cxn ang="0">
                    <a:pos x="connsiteX3" y="connsiteY3"/>
                  </a:cxn>
                </a:cxnLst>
                <a:rect l="l" t="t" r="r" b="b"/>
                <a:pathLst>
                  <a:path w="1485407" h="802565">
                    <a:moveTo>
                      <a:pt x="0" y="802565"/>
                    </a:moveTo>
                    <a:lnTo>
                      <a:pt x="178238" y="193860"/>
                    </a:lnTo>
                    <a:lnTo>
                      <a:pt x="1485407" y="0"/>
                    </a:lnTo>
                    <a:lnTo>
                      <a:pt x="0" y="802565"/>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240" name="Arc 239">
                <a:extLst>
                  <a:ext uri="{FF2B5EF4-FFF2-40B4-BE49-F238E27FC236}">
                    <a16:creationId xmlns:a16="http://schemas.microsoft.com/office/drawing/2014/main" id="{4E4C2363-DE52-324B-ABA5-76340C9E69D9}"/>
                  </a:ext>
                </a:extLst>
              </p:cNvPr>
              <p:cNvSpPr>
                <a:spLocks noChangeAspect="1"/>
              </p:cNvSpPr>
              <p:nvPr/>
            </p:nvSpPr>
            <p:spPr>
              <a:xfrm>
                <a:off x="8353141" y="1041120"/>
                <a:ext cx="1111240" cy="919337"/>
              </a:xfrm>
              <a:prstGeom prst="arc">
                <a:avLst>
                  <a:gd name="adj1" fmla="val 9210374"/>
                  <a:gd name="adj2" fmla="val 1034215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236" name="Text Box 30">
              <a:extLst>
                <a:ext uri="{FF2B5EF4-FFF2-40B4-BE49-F238E27FC236}">
                  <a16:creationId xmlns:a16="http://schemas.microsoft.com/office/drawing/2014/main" id="{C5BF2903-4452-B54F-8657-F4F26F8EF1CC}"/>
                </a:ext>
              </a:extLst>
            </p:cNvPr>
            <p:cNvSpPr txBox="1">
              <a:spLocks noChangeArrowheads="1"/>
            </p:cNvSpPr>
            <p:nvPr/>
          </p:nvSpPr>
          <p:spPr bwMode="auto">
            <a:xfrm>
              <a:off x="7789424" y="1563349"/>
              <a:ext cx="384901"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20</a:t>
              </a:r>
              <a:r>
                <a:rPr lang="en-GB" altLang="en-US" sz="1500" baseline="30000" dirty="0">
                  <a:latin typeface="Calibri" panose="020F0502020204030204" pitchFamily="34" charset="0"/>
                  <a:cs typeface="Calibri" panose="020F0502020204030204" pitchFamily="34" charset="0"/>
                </a:rPr>
                <a:t>o</a:t>
              </a:r>
            </a:p>
          </p:txBody>
        </p:sp>
        <p:sp>
          <p:nvSpPr>
            <p:cNvPr id="237" name="Text Box 30">
              <a:extLst>
                <a:ext uri="{FF2B5EF4-FFF2-40B4-BE49-F238E27FC236}">
                  <a16:creationId xmlns:a16="http://schemas.microsoft.com/office/drawing/2014/main" id="{592B216A-B759-494C-A992-A7AD141C9F43}"/>
                </a:ext>
              </a:extLst>
            </p:cNvPr>
            <p:cNvSpPr txBox="1">
              <a:spLocks noChangeArrowheads="1"/>
            </p:cNvSpPr>
            <p:nvPr/>
          </p:nvSpPr>
          <p:spPr bwMode="auto">
            <a:xfrm>
              <a:off x="7123703" y="1324887"/>
              <a:ext cx="711129"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9.2km</a:t>
              </a:r>
              <a:endParaRPr lang="en-GB" altLang="en-US" sz="1500" baseline="30000" dirty="0">
                <a:latin typeface="Calibri" panose="020F0502020204030204" pitchFamily="34" charset="0"/>
                <a:cs typeface="Calibri" panose="020F0502020204030204" pitchFamily="34" charset="0"/>
              </a:endParaRPr>
            </a:p>
          </p:txBody>
        </p:sp>
        <p:sp>
          <p:nvSpPr>
            <p:cNvPr id="238" name="Text Box 30">
              <a:extLst>
                <a:ext uri="{FF2B5EF4-FFF2-40B4-BE49-F238E27FC236}">
                  <a16:creationId xmlns:a16="http://schemas.microsoft.com/office/drawing/2014/main" id="{800C057A-E913-BA48-9569-564D952D43C0}"/>
                </a:ext>
              </a:extLst>
            </p:cNvPr>
            <p:cNvSpPr txBox="1">
              <a:spLocks noChangeArrowheads="1"/>
            </p:cNvSpPr>
            <p:nvPr/>
          </p:nvSpPr>
          <p:spPr bwMode="auto">
            <a:xfrm>
              <a:off x="7525587" y="2055033"/>
              <a:ext cx="854294"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14.1km</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7" name="Text Box 30">
                  <a:extLst>
                    <a:ext uri="{FF2B5EF4-FFF2-40B4-BE49-F238E27FC236}">
                      <a16:creationId xmlns:a16="http://schemas.microsoft.com/office/drawing/2014/main" id="{22E1788D-7A76-A542-8BA6-BD675C4FBDD7}"/>
                    </a:ext>
                  </a:extLst>
                </p:cNvPr>
                <p:cNvSpPr txBox="1">
                  <a:spLocks noChangeArrowheads="1"/>
                </p:cNvSpPr>
                <p:nvPr/>
              </p:nvSpPr>
              <p:spPr bwMode="auto">
                <a:xfrm>
                  <a:off x="6369199" y="1930881"/>
                  <a:ext cx="200995" cy="2728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Para xmlns:m="http://schemas.openxmlformats.org/officeDocument/2006/math">
                      <m:oMathParaPr>
                        <m:jc m:val="centerGroup"/>
                      </m:oMathParaPr>
                      <m:oMath xmlns:m="http://schemas.openxmlformats.org/officeDocument/2006/math">
                        <m:r>
                          <a:rPr lang="en-GB" altLang="en-US" sz="1500" i="1" dirty="0" smtClean="0">
                            <a:latin typeface="Cambria Math" panose="02040503050406030204" pitchFamily="18" charset="0"/>
                            <a:cs typeface="Calibri" panose="020F0502020204030204" pitchFamily="34" charset="0"/>
                          </a:rPr>
                          <m:t>𝑥</m:t>
                        </m:r>
                      </m:oMath>
                    </m:oMathPara>
                  </a14:m>
                  <a:endParaRPr lang="en-GB" altLang="en-US" sz="1500" baseline="30000" dirty="0">
                    <a:latin typeface="Calibri" panose="020F0502020204030204" pitchFamily="34" charset="0"/>
                    <a:cs typeface="Calibri" panose="020F0502020204030204" pitchFamily="34" charset="0"/>
                  </a:endParaRPr>
                </a:p>
              </p:txBody>
            </p:sp>
          </mc:Choice>
          <mc:Fallback xmlns="">
            <p:sp>
              <p:nvSpPr>
                <p:cNvPr id="87" name="Text Box 30">
                  <a:extLst>
                    <a:ext uri="{FF2B5EF4-FFF2-40B4-BE49-F238E27FC236}">
                      <a16:creationId xmlns:a16="http://schemas.microsoft.com/office/drawing/2014/main" id="{22E1788D-7A76-A542-8BA6-BD675C4FBDD7}"/>
                    </a:ext>
                  </a:extLst>
                </p:cNvPr>
                <p:cNvSpPr txBox="1">
                  <a:spLocks noRot="1" noChangeAspect="1" noMove="1" noResize="1" noEditPoints="1" noAdjustHandles="1" noChangeArrowheads="1" noChangeShapeType="1" noTextEdit="1"/>
                </p:cNvSpPr>
                <p:nvPr/>
              </p:nvSpPr>
              <p:spPr bwMode="auto">
                <a:xfrm>
                  <a:off x="6369199" y="1930881"/>
                  <a:ext cx="200995" cy="272867"/>
                </a:xfrm>
                <a:prstGeom prst="rect">
                  <a:avLst/>
                </a:prstGeom>
                <a:blipFill>
                  <a:blip r:embed="rId9"/>
                  <a:stretch>
                    <a:fillRect l="-36364" r="-909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grpSp>
        <p:nvGrpSpPr>
          <p:cNvPr id="241" name="Group 240">
            <a:extLst>
              <a:ext uri="{FF2B5EF4-FFF2-40B4-BE49-F238E27FC236}">
                <a16:creationId xmlns:a16="http://schemas.microsoft.com/office/drawing/2014/main" id="{E4460DBC-32E7-F64A-AB12-43FD650AEC30}"/>
              </a:ext>
            </a:extLst>
          </p:cNvPr>
          <p:cNvGrpSpPr/>
          <p:nvPr/>
        </p:nvGrpSpPr>
        <p:grpSpPr>
          <a:xfrm>
            <a:off x="4840152" y="3301394"/>
            <a:ext cx="1559197" cy="941824"/>
            <a:chOff x="6090188" y="1408284"/>
            <a:chExt cx="2282822" cy="1139602"/>
          </a:xfrm>
        </p:grpSpPr>
        <p:grpSp>
          <p:nvGrpSpPr>
            <p:cNvPr id="242" name="Group 241">
              <a:extLst>
                <a:ext uri="{FF2B5EF4-FFF2-40B4-BE49-F238E27FC236}">
                  <a16:creationId xmlns:a16="http://schemas.microsoft.com/office/drawing/2014/main" id="{5914E1EB-C03C-2445-B34D-E21B7D1E7797}"/>
                </a:ext>
              </a:extLst>
            </p:cNvPr>
            <p:cNvGrpSpPr/>
            <p:nvPr/>
          </p:nvGrpSpPr>
          <p:grpSpPr>
            <a:xfrm>
              <a:off x="6090188" y="1574943"/>
              <a:ext cx="2282822" cy="972943"/>
              <a:chOff x="6159725" y="1603091"/>
              <a:chExt cx="2282822" cy="972943"/>
            </a:xfrm>
          </p:grpSpPr>
          <p:sp>
            <p:nvSpPr>
              <p:cNvPr id="246" name="Triangle 217">
                <a:extLst>
                  <a:ext uri="{FF2B5EF4-FFF2-40B4-BE49-F238E27FC236}">
                    <a16:creationId xmlns:a16="http://schemas.microsoft.com/office/drawing/2014/main" id="{1B5BBC55-9201-164E-95EB-0104C8993CED}"/>
                  </a:ext>
                </a:extLst>
              </p:cNvPr>
              <p:cNvSpPr/>
              <p:nvPr/>
            </p:nvSpPr>
            <p:spPr>
              <a:xfrm>
                <a:off x="6436461" y="1603091"/>
                <a:ext cx="2006086" cy="972943"/>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 name="connsiteX0" fmla="*/ 0 w 919104"/>
                  <a:gd name="connsiteY0" fmla="*/ 494405 h 699758"/>
                  <a:gd name="connsiteX1" fmla="*/ 178238 w 919104"/>
                  <a:gd name="connsiteY1" fmla="*/ 0 h 699758"/>
                  <a:gd name="connsiteX2" fmla="*/ 919104 w 919104"/>
                  <a:gd name="connsiteY2" fmla="*/ 699758 h 699758"/>
                  <a:gd name="connsiteX3" fmla="*/ 0 w 919104"/>
                  <a:gd name="connsiteY3" fmla="*/ 494405 h 699758"/>
                  <a:gd name="connsiteX0" fmla="*/ 0 w 1485407"/>
                  <a:gd name="connsiteY0" fmla="*/ 688265 h 688265"/>
                  <a:gd name="connsiteX1" fmla="*/ 178238 w 1485407"/>
                  <a:gd name="connsiteY1" fmla="*/ 193860 h 688265"/>
                  <a:gd name="connsiteX2" fmla="*/ 1485407 w 1485407"/>
                  <a:gd name="connsiteY2" fmla="*/ 0 h 688265"/>
                  <a:gd name="connsiteX3" fmla="*/ 0 w 1485407"/>
                  <a:gd name="connsiteY3" fmla="*/ 688265 h 688265"/>
                  <a:gd name="connsiteX0" fmla="*/ 0 w 1485407"/>
                  <a:gd name="connsiteY0" fmla="*/ 802565 h 802565"/>
                  <a:gd name="connsiteX1" fmla="*/ 178238 w 1485407"/>
                  <a:gd name="connsiteY1" fmla="*/ 193860 h 802565"/>
                  <a:gd name="connsiteX2" fmla="*/ 1485407 w 1485407"/>
                  <a:gd name="connsiteY2" fmla="*/ 0 h 802565"/>
                  <a:gd name="connsiteX3" fmla="*/ 0 w 1485407"/>
                  <a:gd name="connsiteY3" fmla="*/ 802565 h 802565"/>
                  <a:gd name="connsiteX0" fmla="*/ 0 w 1411872"/>
                  <a:gd name="connsiteY0" fmla="*/ 608705 h 608705"/>
                  <a:gd name="connsiteX1" fmla="*/ 178238 w 1411872"/>
                  <a:gd name="connsiteY1" fmla="*/ 0 h 608705"/>
                  <a:gd name="connsiteX2" fmla="*/ 1411872 w 1411872"/>
                  <a:gd name="connsiteY2" fmla="*/ 451973 h 608705"/>
                  <a:gd name="connsiteX3" fmla="*/ 0 w 1411872"/>
                  <a:gd name="connsiteY3" fmla="*/ 608705 h 608705"/>
                  <a:gd name="connsiteX0" fmla="*/ 0 w 1411872"/>
                  <a:gd name="connsiteY0" fmla="*/ 156732 h 577524"/>
                  <a:gd name="connsiteX1" fmla="*/ 1067058 w 1411872"/>
                  <a:gd name="connsiteY1" fmla="*/ 577524 h 577524"/>
                  <a:gd name="connsiteX2" fmla="*/ 1411872 w 1411872"/>
                  <a:gd name="connsiteY2" fmla="*/ 0 h 577524"/>
                  <a:gd name="connsiteX3" fmla="*/ 0 w 1411872"/>
                  <a:gd name="connsiteY3" fmla="*/ 156732 h 577524"/>
                  <a:gd name="connsiteX0" fmla="*/ 0 w 1408675"/>
                  <a:gd name="connsiteY0" fmla="*/ 38436 h 577524"/>
                  <a:gd name="connsiteX1" fmla="*/ 1063861 w 1408675"/>
                  <a:gd name="connsiteY1" fmla="*/ 577524 h 577524"/>
                  <a:gd name="connsiteX2" fmla="*/ 1408675 w 1408675"/>
                  <a:gd name="connsiteY2" fmla="*/ 0 h 577524"/>
                  <a:gd name="connsiteX3" fmla="*/ 0 w 1408675"/>
                  <a:gd name="connsiteY3" fmla="*/ 38436 h 577524"/>
                  <a:gd name="connsiteX0" fmla="*/ 0 w 1245618"/>
                  <a:gd name="connsiteY0" fmla="*/ 182309 h 721397"/>
                  <a:gd name="connsiteX1" fmla="*/ 1063861 w 1245618"/>
                  <a:gd name="connsiteY1" fmla="*/ 721397 h 721397"/>
                  <a:gd name="connsiteX2" fmla="*/ 1245618 w 1245618"/>
                  <a:gd name="connsiteY2" fmla="*/ 0 h 721397"/>
                  <a:gd name="connsiteX3" fmla="*/ 0 w 1245618"/>
                  <a:gd name="connsiteY3" fmla="*/ 182309 h 721397"/>
                  <a:gd name="connsiteX0" fmla="*/ 0 w 1245618"/>
                  <a:gd name="connsiteY0" fmla="*/ 182309 h 730988"/>
                  <a:gd name="connsiteX1" fmla="*/ 501155 w 1245618"/>
                  <a:gd name="connsiteY1" fmla="*/ 730988 h 730988"/>
                  <a:gd name="connsiteX2" fmla="*/ 1245618 w 1245618"/>
                  <a:gd name="connsiteY2" fmla="*/ 0 h 730988"/>
                  <a:gd name="connsiteX3" fmla="*/ 0 w 1245618"/>
                  <a:gd name="connsiteY3" fmla="*/ 182309 h 730988"/>
                </a:gdLst>
                <a:ahLst/>
                <a:cxnLst>
                  <a:cxn ang="0">
                    <a:pos x="connsiteX0" y="connsiteY0"/>
                  </a:cxn>
                  <a:cxn ang="0">
                    <a:pos x="connsiteX1" y="connsiteY1"/>
                  </a:cxn>
                  <a:cxn ang="0">
                    <a:pos x="connsiteX2" y="connsiteY2"/>
                  </a:cxn>
                  <a:cxn ang="0">
                    <a:pos x="connsiteX3" y="connsiteY3"/>
                  </a:cxn>
                </a:cxnLst>
                <a:rect l="l" t="t" r="r" b="b"/>
                <a:pathLst>
                  <a:path w="1245618" h="730988">
                    <a:moveTo>
                      <a:pt x="0" y="182309"/>
                    </a:moveTo>
                    <a:lnTo>
                      <a:pt x="501155" y="730988"/>
                    </a:lnTo>
                    <a:lnTo>
                      <a:pt x="1245618" y="0"/>
                    </a:lnTo>
                    <a:lnTo>
                      <a:pt x="0" y="182309"/>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dirty="0">
                  <a:solidFill>
                    <a:schemeClr val="tx1"/>
                  </a:solidFill>
                  <a:latin typeface="Calibri" panose="020F0502020204030204" pitchFamily="34" charset="0"/>
                  <a:cs typeface="Calibri" panose="020F0502020204030204" pitchFamily="34" charset="0"/>
                </a:endParaRPr>
              </a:p>
            </p:txBody>
          </p:sp>
          <p:sp>
            <p:nvSpPr>
              <p:cNvPr id="247" name="Arc 246">
                <a:extLst>
                  <a:ext uri="{FF2B5EF4-FFF2-40B4-BE49-F238E27FC236}">
                    <a16:creationId xmlns:a16="http://schemas.microsoft.com/office/drawing/2014/main" id="{FEF6B2FB-AAAB-B348-ADDF-06F14444D5F9}"/>
                  </a:ext>
                </a:extLst>
              </p:cNvPr>
              <p:cNvSpPr>
                <a:spLocks noChangeAspect="1"/>
              </p:cNvSpPr>
              <p:nvPr/>
            </p:nvSpPr>
            <p:spPr>
              <a:xfrm>
                <a:off x="6159725" y="1631427"/>
                <a:ext cx="570243" cy="471766"/>
              </a:xfrm>
              <a:prstGeom prst="arc">
                <a:avLst>
                  <a:gd name="adj1" fmla="val 20920925"/>
                  <a:gd name="adj2" fmla="val 268169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243" name="Text Box 30">
              <a:extLst>
                <a:ext uri="{FF2B5EF4-FFF2-40B4-BE49-F238E27FC236}">
                  <a16:creationId xmlns:a16="http://schemas.microsoft.com/office/drawing/2014/main" id="{0244623D-F7F2-C644-A52C-9B1DEFE9D7BB}"/>
                </a:ext>
              </a:extLst>
            </p:cNvPr>
            <p:cNvSpPr txBox="1">
              <a:spLocks noChangeArrowheads="1"/>
            </p:cNvSpPr>
            <p:nvPr/>
          </p:nvSpPr>
          <p:spPr bwMode="auto">
            <a:xfrm>
              <a:off x="6701963" y="1800235"/>
              <a:ext cx="384900" cy="279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55</a:t>
              </a:r>
              <a:r>
                <a:rPr lang="en-GB" altLang="en-US" sz="1500" baseline="30000" dirty="0">
                  <a:latin typeface="Calibri" panose="020F0502020204030204" pitchFamily="34" charset="0"/>
                  <a:cs typeface="Calibri" panose="020F0502020204030204" pitchFamily="34" charset="0"/>
                </a:rPr>
                <a:t>o</a:t>
              </a:r>
            </a:p>
          </p:txBody>
        </p:sp>
        <p:sp>
          <p:nvSpPr>
            <p:cNvPr id="244" name="Text Box 30">
              <a:extLst>
                <a:ext uri="{FF2B5EF4-FFF2-40B4-BE49-F238E27FC236}">
                  <a16:creationId xmlns:a16="http://schemas.microsoft.com/office/drawing/2014/main" id="{EFFFB1A7-2789-DF48-A453-4577B545E11C}"/>
                </a:ext>
              </a:extLst>
            </p:cNvPr>
            <p:cNvSpPr txBox="1">
              <a:spLocks noChangeArrowheads="1"/>
            </p:cNvSpPr>
            <p:nvPr/>
          </p:nvSpPr>
          <p:spPr bwMode="auto">
            <a:xfrm>
              <a:off x="6884359" y="1408284"/>
              <a:ext cx="807355" cy="279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7.2mm</a:t>
              </a:r>
              <a:endParaRPr lang="en-GB" altLang="en-US" sz="1500" baseline="30000" dirty="0">
                <a:latin typeface="Calibri" panose="020F0502020204030204" pitchFamily="34" charset="0"/>
                <a:cs typeface="Calibri" panose="020F0502020204030204" pitchFamily="34" charset="0"/>
              </a:endParaRPr>
            </a:p>
          </p:txBody>
        </p:sp>
        <p:sp>
          <p:nvSpPr>
            <p:cNvPr id="245" name="Text Box 30">
              <a:extLst>
                <a:ext uri="{FF2B5EF4-FFF2-40B4-BE49-F238E27FC236}">
                  <a16:creationId xmlns:a16="http://schemas.microsoft.com/office/drawing/2014/main" id="{09B29114-7ED1-F444-9F0D-C575A30D53FE}"/>
                </a:ext>
              </a:extLst>
            </p:cNvPr>
            <p:cNvSpPr txBox="1">
              <a:spLocks noChangeArrowheads="1"/>
            </p:cNvSpPr>
            <p:nvPr/>
          </p:nvSpPr>
          <p:spPr bwMode="auto">
            <a:xfrm>
              <a:off x="6187784" y="2143287"/>
              <a:ext cx="593781" cy="279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4mm</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8" name="Text Box 30">
                  <a:extLst>
                    <a:ext uri="{FF2B5EF4-FFF2-40B4-BE49-F238E27FC236}">
                      <a16:creationId xmlns:a16="http://schemas.microsoft.com/office/drawing/2014/main" id="{F5842BAC-B5B9-1F4D-874E-2840EC517DEE}"/>
                    </a:ext>
                  </a:extLst>
                </p:cNvPr>
                <p:cNvSpPr txBox="1">
                  <a:spLocks noChangeArrowheads="1"/>
                </p:cNvSpPr>
                <p:nvPr/>
              </p:nvSpPr>
              <p:spPr bwMode="auto">
                <a:xfrm>
                  <a:off x="7787138" y="2018519"/>
                  <a:ext cx="200995" cy="2728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Para xmlns:m="http://schemas.openxmlformats.org/officeDocument/2006/math">
                      <m:oMathParaPr>
                        <m:jc m:val="centerGroup"/>
                      </m:oMathParaPr>
                      <m:oMath xmlns:m="http://schemas.openxmlformats.org/officeDocument/2006/math">
                        <m:r>
                          <a:rPr lang="en-GB" altLang="en-US" sz="1500" i="1" dirty="0" smtClean="0">
                            <a:latin typeface="Cambria Math" panose="02040503050406030204" pitchFamily="18" charset="0"/>
                            <a:cs typeface="Calibri" panose="020F0502020204030204" pitchFamily="34" charset="0"/>
                          </a:rPr>
                          <m:t>𝑥</m:t>
                        </m:r>
                      </m:oMath>
                    </m:oMathPara>
                  </a14:m>
                  <a:endParaRPr lang="en-GB" altLang="en-US" sz="1500" baseline="30000" dirty="0">
                    <a:latin typeface="Calibri" panose="020F0502020204030204" pitchFamily="34" charset="0"/>
                    <a:cs typeface="Calibri" panose="020F0502020204030204" pitchFamily="34" charset="0"/>
                  </a:endParaRPr>
                </a:p>
              </p:txBody>
            </p:sp>
          </mc:Choice>
          <mc:Fallback xmlns="">
            <p:sp>
              <p:nvSpPr>
                <p:cNvPr id="88" name="Text Box 30">
                  <a:extLst>
                    <a:ext uri="{FF2B5EF4-FFF2-40B4-BE49-F238E27FC236}">
                      <a16:creationId xmlns:a16="http://schemas.microsoft.com/office/drawing/2014/main" id="{F5842BAC-B5B9-1F4D-874E-2840EC517DEE}"/>
                    </a:ext>
                  </a:extLst>
                </p:cNvPr>
                <p:cNvSpPr txBox="1">
                  <a:spLocks noRot="1" noChangeAspect="1" noMove="1" noResize="1" noEditPoints="1" noAdjustHandles="1" noChangeArrowheads="1" noChangeShapeType="1" noTextEdit="1"/>
                </p:cNvSpPr>
                <p:nvPr/>
              </p:nvSpPr>
              <p:spPr bwMode="auto">
                <a:xfrm>
                  <a:off x="7787138" y="2018519"/>
                  <a:ext cx="200995" cy="272867"/>
                </a:xfrm>
                <a:prstGeom prst="rect">
                  <a:avLst/>
                </a:prstGeom>
                <a:blipFill>
                  <a:blip r:embed="rId10"/>
                  <a:stretch>
                    <a:fillRect l="-25000" r="-833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grpSp>
        <p:nvGrpSpPr>
          <p:cNvPr id="248" name="Group 247">
            <a:extLst>
              <a:ext uri="{FF2B5EF4-FFF2-40B4-BE49-F238E27FC236}">
                <a16:creationId xmlns:a16="http://schemas.microsoft.com/office/drawing/2014/main" id="{4EF134CF-E592-8D42-92F3-FEEBDBD88F1E}"/>
              </a:ext>
            </a:extLst>
          </p:cNvPr>
          <p:cNvGrpSpPr/>
          <p:nvPr/>
        </p:nvGrpSpPr>
        <p:grpSpPr>
          <a:xfrm>
            <a:off x="7202728" y="3304054"/>
            <a:ext cx="1792918" cy="1225594"/>
            <a:chOff x="6148084" y="1396559"/>
            <a:chExt cx="2625009" cy="1482965"/>
          </a:xfrm>
        </p:grpSpPr>
        <p:grpSp>
          <p:nvGrpSpPr>
            <p:cNvPr id="249" name="Group 248">
              <a:extLst>
                <a:ext uri="{FF2B5EF4-FFF2-40B4-BE49-F238E27FC236}">
                  <a16:creationId xmlns:a16="http://schemas.microsoft.com/office/drawing/2014/main" id="{D228069D-4D1C-234D-B8D8-5292E57E4ABB}"/>
                </a:ext>
              </a:extLst>
            </p:cNvPr>
            <p:cNvGrpSpPr/>
            <p:nvPr/>
          </p:nvGrpSpPr>
          <p:grpSpPr>
            <a:xfrm>
              <a:off x="6148084" y="1399403"/>
              <a:ext cx="2625009" cy="1480121"/>
              <a:chOff x="6217621" y="1427551"/>
              <a:chExt cx="2625009" cy="1480121"/>
            </a:xfrm>
          </p:grpSpPr>
          <p:sp>
            <p:nvSpPr>
              <p:cNvPr id="253" name="Triangle 217">
                <a:extLst>
                  <a:ext uri="{FF2B5EF4-FFF2-40B4-BE49-F238E27FC236}">
                    <a16:creationId xmlns:a16="http://schemas.microsoft.com/office/drawing/2014/main" id="{CCA7BC27-A2ED-D74A-BA0D-4A2020FC60FE}"/>
                  </a:ext>
                </a:extLst>
              </p:cNvPr>
              <p:cNvSpPr/>
              <p:nvPr/>
            </p:nvSpPr>
            <p:spPr>
              <a:xfrm>
                <a:off x="6217621" y="1427551"/>
                <a:ext cx="2216696" cy="1132523"/>
              </a:xfrm>
              <a:custGeom>
                <a:avLst/>
                <a:gdLst>
                  <a:gd name="connsiteX0" fmla="*/ 0 w 1407300"/>
                  <a:gd name="connsiteY0" fmla="*/ 831493 h 831493"/>
                  <a:gd name="connsiteX1" fmla="*/ 0 w 1407300"/>
                  <a:gd name="connsiteY1" fmla="*/ 0 h 831493"/>
                  <a:gd name="connsiteX2" fmla="*/ 1407300 w 1407300"/>
                  <a:gd name="connsiteY2" fmla="*/ 831493 h 831493"/>
                  <a:gd name="connsiteX3" fmla="*/ 0 w 1407300"/>
                  <a:gd name="connsiteY3" fmla="*/ 831493 h 831493"/>
                  <a:gd name="connsiteX0" fmla="*/ 366765 w 1774065"/>
                  <a:gd name="connsiteY0" fmla="*/ 836517 h 836517"/>
                  <a:gd name="connsiteX1" fmla="*/ 0 w 1774065"/>
                  <a:gd name="connsiteY1" fmla="*/ 0 h 836517"/>
                  <a:gd name="connsiteX2" fmla="*/ 1774065 w 1774065"/>
                  <a:gd name="connsiteY2" fmla="*/ 836517 h 836517"/>
                  <a:gd name="connsiteX3" fmla="*/ 366765 w 1774065"/>
                  <a:gd name="connsiteY3" fmla="*/ 836517 h 836517"/>
                  <a:gd name="connsiteX0" fmla="*/ 0 w 1407300"/>
                  <a:gd name="connsiteY0" fmla="*/ 898360 h 898360"/>
                  <a:gd name="connsiteX1" fmla="*/ 892190 w 1407300"/>
                  <a:gd name="connsiteY1" fmla="*/ 0 h 898360"/>
                  <a:gd name="connsiteX2" fmla="*/ 1407300 w 1407300"/>
                  <a:gd name="connsiteY2" fmla="*/ 898360 h 898360"/>
                  <a:gd name="connsiteX3" fmla="*/ 0 w 1407300"/>
                  <a:gd name="connsiteY3" fmla="*/ 898360 h 898360"/>
                  <a:gd name="connsiteX0" fmla="*/ 0 w 1407300"/>
                  <a:gd name="connsiteY0" fmla="*/ 942534 h 942534"/>
                  <a:gd name="connsiteX1" fmla="*/ 980538 w 1407300"/>
                  <a:gd name="connsiteY1" fmla="*/ 0 h 942534"/>
                  <a:gd name="connsiteX2" fmla="*/ 1407300 w 1407300"/>
                  <a:gd name="connsiteY2" fmla="*/ 942534 h 942534"/>
                  <a:gd name="connsiteX3" fmla="*/ 0 w 1407300"/>
                  <a:gd name="connsiteY3" fmla="*/ 942534 h 942534"/>
                  <a:gd name="connsiteX0" fmla="*/ 0 w 1120582"/>
                  <a:gd name="connsiteY0" fmla="*/ 942534 h 1000653"/>
                  <a:gd name="connsiteX1" fmla="*/ 980538 w 1120582"/>
                  <a:gd name="connsiteY1" fmla="*/ 0 h 1000653"/>
                  <a:gd name="connsiteX2" fmla="*/ 1120582 w 1120582"/>
                  <a:gd name="connsiteY2" fmla="*/ 1000653 h 1000653"/>
                  <a:gd name="connsiteX3" fmla="*/ 0 w 1120582"/>
                  <a:gd name="connsiteY3" fmla="*/ 942534 h 1000653"/>
                  <a:gd name="connsiteX0" fmla="*/ 0 w 1317626"/>
                  <a:gd name="connsiteY0" fmla="*/ 888290 h 946409"/>
                  <a:gd name="connsiteX1" fmla="*/ 1317626 w 1317626"/>
                  <a:gd name="connsiteY1" fmla="*/ 0 h 946409"/>
                  <a:gd name="connsiteX2" fmla="*/ 1120582 w 1317626"/>
                  <a:gd name="connsiteY2" fmla="*/ 946409 h 946409"/>
                  <a:gd name="connsiteX3" fmla="*/ 0 w 1317626"/>
                  <a:gd name="connsiteY3" fmla="*/ 888290 h 946409"/>
                  <a:gd name="connsiteX0" fmla="*/ 0 w 1367996"/>
                  <a:gd name="connsiteY0" fmla="*/ 717809 h 946409"/>
                  <a:gd name="connsiteX1" fmla="*/ 1367996 w 1367996"/>
                  <a:gd name="connsiteY1" fmla="*/ 0 h 946409"/>
                  <a:gd name="connsiteX2" fmla="*/ 1170952 w 1367996"/>
                  <a:gd name="connsiteY2" fmla="*/ 946409 h 946409"/>
                  <a:gd name="connsiteX3" fmla="*/ 0 w 1367996"/>
                  <a:gd name="connsiteY3" fmla="*/ 717809 h 946409"/>
                  <a:gd name="connsiteX0" fmla="*/ 0 w 1367996"/>
                  <a:gd name="connsiteY0" fmla="*/ 717809 h 923162"/>
                  <a:gd name="connsiteX1" fmla="*/ 1367996 w 1367996"/>
                  <a:gd name="connsiteY1" fmla="*/ 0 h 923162"/>
                  <a:gd name="connsiteX2" fmla="*/ 919104 w 1367996"/>
                  <a:gd name="connsiteY2" fmla="*/ 923162 h 923162"/>
                  <a:gd name="connsiteX3" fmla="*/ 0 w 1367996"/>
                  <a:gd name="connsiteY3" fmla="*/ 717809 h 923162"/>
                  <a:gd name="connsiteX0" fmla="*/ 0 w 919104"/>
                  <a:gd name="connsiteY0" fmla="*/ 494405 h 699758"/>
                  <a:gd name="connsiteX1" fmla="*/ 178238 w 919104"/>
                  <a:gd name="connsiteY1" fmla="*/ 0 h 699758"/>
                  <a:gd name="connsiteX2" fmla="*/ 919104 w 919104"/>
                  <a:gd name="connsiteY2" fmla="*/ 699758 h 699758"/>
                  <a:gd name="connsiteX3" fmla="*/ 0 w 919104"/>
                  <a:gd name="connsiteY3" fmla="*/ 494405 h 699758"/>
                  <a:gd name="connsiteX0" fmla="*/ 0 w 1485407"/>
                  <a:gd name="connsiteY0" fmla="*/ 688265 h 688265"/>
                  <a:gd name="connsiteX1" fmla="*/ 178238 w 1485407"/>
                  <a:gd name="connsiteY1" fmla="*/ 193860 h 688265"/>
                  <a:gd name="connsiteX2" fmla="*/ 1485407 w 1485407"/>
                  <a:gd name="connsiteY2" fmla="*/ 0 h 688265"/>
                  <a:gd name="connsiteX3" fmla="*/ 0 w 1485407"/>
                  <a:gd name="connsiteY3" fmla="*/ 688265 h 688265"/>
                  <a:gd name="connsiteX0" fmla="*/ 0 w 1485407"/>
                  <a:gd name="connsiteY0" fmla="*/ 802565 h 802565"/>
                  <a:gd name="connsiteX1" fmla="*/ 178238 w 1485407"/>
                  <a:gd name="connsiteY1" fmla="*/ 193860 h 802565"/>
                  <a:gd name="connsiteX2" fmla="*/ 1485407 w 1485407"/>
                  <a:gd name="connsiteY2" fmla="*/ 0 h 802565"/>
                  <a:gd name="connsiteX3" fmla="*/ 0 w 1485407"/>
                  <a:gd name="connsiteY3" fmla="*/ 802565 h 802565"/>
                  <a:gd name="connsiteX0" fmla="*/ 0 w 1411872"/>
                  <a:gd name="connsiteY0" fmla="*/ 608705 h 608705"/>
                  <a:gd name="connsiteX1" fmla="*/ 178238 w 1411872"/>
                  <a:gd name="connsiteY1" fmla="*/ 0 h 608705"/>
                  <a:gd name="connsiteX2" fmla="*/ 1411872 w 1411872"/>
                  <a:gd name="connsiteY2" fmla="*/ 451973 h 608705"/>
                  <a:gd name="connsiteX3" fmla="*/ 0 w 1411872"/>
                  <a:gd name="connsiteY3" fmla="*/ 608705 h 608705"/>
                  <a:gd name="connsiteX0" fmla="*/ 0 w 1411872"/>
                  <a:gd name="connsiteY0" fmla="*/ 156732 h 577524"/>
                  <a:gd name="connsiteX1" fmla="*/ 1067058 w 1411872"/>
                  <a:gd name="connsiteY1" fmla="*/ 577524 h 577524"/>
                  <a:gd name="connsiteX2" fmla="*/ 1411872 w 1411872"/>
                  <a:gd name="connsiteY2" fmla="*/ 0 h 577524"/>
                  <a:gd name="connsiteX3" fmla="*/ 0 w 1411872"/>
                  <a:gd name="connsiteY3" fmla="*/ 156732 h 577524"/>
                  <a:gd name="connsiteX0" fmla="*/ 0 w 1408675"/>
                  <a:gd name="connsiteY0" fmla="*/ 38436 h 577524"/>
                  <a:gd name="connsiteX1" fmla="*/ 1063861 w 1408675"/>
                  <a:gd name="connsiteY1" fmla="*/ 577524 h 577524"/>
                  <a:gd name="connsiteX2" fmla="*/ 1408675 w 1408675"/>
                  <a:gd name="connsiteY2" fmla="*/ 0 h 577524"/>
                  <a:gd name="connsiteX3" fmla="*/ 0 w 1408675"/>
                  <a:gd name="connsiteY3" fmla="*/ 38436 h 577524"/>
                  <a:gd name="connsiteX0" fmla="*/ 0 w 1245618"/>
                  <a:gd name="connsiteY0" fmla="*/ 182309 h 721397"/>
                  <a:gd name="connsiteX1" fmla="*/ 1063861 w 1245618"/>
                  <a:gd name="connsiteY1" fmla="*/ 721397 h 721397"/>
                  <a:gd name="connsiteX2" fmla="*/ 1245618 w 1245618"/>
                  <a:gd name="connsiteY2" fmla="*/ 0 h 721397"/>
                  <a:gd name="connsiteX3" fmla="*/ 0 w 1245618"/>
                  <a:gd name="connsiteY3" fmla="*/ 182309 h 721397"/>
                  <a:gd name="connsiteX0" fmla="*/ 0 w 1245618"/>
                  <a:gd name="connsiteY0" fmla="*/ 182309 h 730988"/>
                  <a:gd name="connsiteX1" fmla="*/ 501155 w 1245618"/>
                  <a:gd name="connsiteY1" fmla="*/ 730988 h 730988"/>
                  <a:gd name="connsiteX2" fmla="*/ 1245618 w 1245618"/>
                  <a:gd name="connsiteY2" fmla="*/ 0 h 730988"/>
                  <a:gd name="connsiteX3" fmla="*/ 0 w 1245618"/>
                  <a:gd name="connsiteY3" fmla="*/ 182309 h 730988"/>
                  <a:gd name="connsiteX0" fmla="*/ 0 w 1245618"/>
                  <a:gd name="connsiteY0" fmla="*/ 182309 h 651058"/>
                  <a:gd name="connsiteX1" fmla="*/ 1168570 w 1245618"/>
                  <a:gd name="connsiteY1" fmla="*/ 651058 h 651058"/>
                  <a:gd name="connsiteX2" fmla="*/ 1245618 w 1245618"/>
                  <a:gd name="connsiteY2" fmla="*/ 0 h 651058"/>
                  <a:gd name="connsiteX3" fmla="*/ 0 w 1245618"/>
                  <a:gd name="connsiteY3" fmla="*/ 182309 h 651058"/>
                  <a:gd name="connsiteX0" fmla="*/ 0 w 1149703"/>
                  <a:gd name="connsiteY0" fmla="*/ 410110 h 651058"/>
                  <a:gd name="connsiteX1" fmla="*/ 1072655 w 1149703"/>
                  <a:gd name="connsiteY1" fmla="*/ 651058 h 651058"/>
                  <a:gd name="connsiteX2" fmla="*/ 1149703 w 1149703"/>
                  <a:gd name="connsiteY2" fmla="*/ 0 h 651058"/>
                  <a:gd name="connsiteX3" fmla="*/ 0 w 1149703"/>
                  <a:gd name="connsiteY3" fmla="*/ 410110 h 651058"/>
                  <a:gd name="connsiteX0" fmla="*/ 0 w 1072655"/>
                  <a:gd name="connsiteY0" fmla="*/ 506026 h 746974"/>
                  <a:gd name="connsiteX1" fmla="*/ 1072655 w 1072655"/>
                  <a:gd name="connsiteY1" fmla="*/ 746974 h 746974"/>
                  <a:gd name="connsiteX2" fmla="*/ 298449 w 1072655"/>
                  <a:gd name="connsiteY2" fmla="*/ 0 h 746974"/>
                  <a:gd name="connsiteX3" fmla="*/ 0 w 1072655"/>
                  <a:gd name="connsiteY3" fmla="*/ 506026 h 746974"/>
                  <a:gd name="connsiteX0" fmla="*/ 0 w 1212533"/>
                  <a:gd name="connsiteY0" fmla="*/ 861714 h 861714"/>
                  <a:gd name="connsiteX1" fmla="*/ 1212533 w 1212533"/>
                  <a:gd name="connsiteY1" fmla="*/ 746974 h 861714"/>
                  <a:gd name="connsiteX2" fmla="*/ 438327 w 1212533"/>
                  <a:gd name="connsiteY2" fmla="*/ 0 h 861714"/>
                  <a:gd name="connsiteX3" fmla="*/ 0 w 1212533"/>
                  <a:gd name="connsiteY3" fmla="*/ 861714 h 861714"/>
                  <a:gd name="connsiteX0" fmla="*/ 0 w 1284470"/>
                  <a:gd name="connsiteY0" fmla="*/ 861714 h 861714"/>
                  <a:gd name="connsiteX1" fmla="*/ 1284470 w 1284470"/>
                  <a:gd name="connsiteY1" fmla="*/ 814915 h 861714"/>
                  <a:gd name="connsiteX2" fmla="*/ 438327 w 1284470"/>
                  <a:gd name="connsiteY2" fmla="*/ 0 h 861714"/>
                  <a:gd name="connsiteX3" fmla="*/ 0 w 1284470"/>
                  <a:gd name="connsiteY3" fmla="*/ 861714 h 861714"/>
                  <a:gd name="connsiteX0" fmla="*/ 0 w 1376390"/>
                  <a:gd name="connsiteY0" fmla="*/ 354160 h 814915"/>
                  <a:gd name="connsiteX1" fmla="*/ 1376390 w 1376390"/>
                  <a:gd name="connsiteY1" fmla="*/ 814915 h 814915"/>
                  <a:gd name="connsiteX2" fmla="*/ 530247 w 1376390"/>
                  <a:gd name="connsiteY2" fmla="*/ 0 h 814915"/>
                  <a:gd name="connsiteX3" fmla="*/ 0 w 1376390"/>
                  <a:gd name="connsiteY3" fmla="*/ 354160 h 814915"/>
                  <a:gd name="connsiteX0" fmla="*/ 0 w 1376390"/>
                  <a:gd name="connsiteY0" fmla="*/ 390128 h 850883"/>
                  <a:gd name="connsiteX1" fmla="*/ 1376390 w 1376390"/>
                  <a:gd name="connsiteY1" fmla="*/ 850883 h 850883"/>
                  <a:gd name="connsiteX2" fmla="*/ 694103 w 1376390"/>
                  <a:gd name="connsiteY2" fmla="*/ 0 h 850883"/>
                  <a:gd name="connsiteX3" fmla="*/ 0 w 1376390"/>
                  <a:gd name="connsiteY3" fmla="*/ 390128 h 850883"/>
                </a:gdLst>
                <a:ahLst/>
                <a:cxnLst>
                  <a:cxn ang="0">
                    <a:pos x="connsiteX0" y="connsiteY0"/>
                  </a:cxn>
                  <a:cxn ang="0">
                    <a:pos x="connsiteX1" y="connsiteY1"/>
                  </a:cxn>
                  <a:cxn ang="0">
                    <a:pos x="connsiteX2" y="connsiteY2"/>
                  </a:cxn>
                  <a:cxn ang="0">
                    <a:pos x="connsiteX3" y="connsiteY3"/>
                  </a:cxn>
                </a:cxnLst>
                <a:rect l="l" t="t" r="r" b="b"/>
                <a:pathLst>
                  <a:path w="1376390" h="850883">
                    <a:moveTo>
                      <a:pt x="0" y="390128"/>
                    </a:moveTo>
                    <a:lnTo>
                      <a:pt x="1376390" y="850883"/>
                    </a:lnTo>
                    <a:lnTo>
                      <a:pt x="694103" y="0"/>
                    </a:lnTo>
                    <a:lnTo>
                      <a:pt x="0" y="390128"/>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dirty="0">
                  <a:solidFill>
                    <a:schemeClr val="tx1"/>
                  </a:solidFill>
                  <a:latin typeface="Calibri" panose="020F0502020204030204" pitchFamily="34" charset="0"/>
                  <a:cs typeface="Calibri" panose="020F0502020204030204" pitchFamily="34" charset="0"/>
                </a:endParaRPr>
              </a:p>
            </p:txBody>
          </p:sp>
          <p:sp>
            <p:nvSpPr>
              <p:cNvPr id="254" name="Arc 253">
                <a:extLst>
                  <a:ext uri="{FF2B5EF4-FFF2-40B4-BE49-F238E27FC236}">
                    <a16:creationId xmlns:a16="http://schemas.microsoft.com/office/drawing/2014/main" id="{D54083BF-30C0-A745-A438-0F03C121384C}"/>
                  </a:ext>
                </a:extLst>
              </p:cNvPr>
              <p:cNvSpPr>
                <a:spLocks noChangeAspect="1"/>
              </p:cNvSpPr>
              <p:nvPr/>
            </p:nvSpPr>
            <p:spPr>
              <a:xfrm>
                <a:off x="8007738" y="2216957"/>
                <a:ext cx="834892" cy="690715"/>
              </a:xfrm>
              <a:prstGeom prst="arc">
                <a:avLst>
                  <a:gd name="adj1" fmla="val 12029581"/>
                  <a:gd name="adj2" fmla="val 1388650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250" name="Text Box 30">
              <a:extLst>
                <a:ext uri="{FF2B5EF4-FFF2-40B4-BE49-F238E27FC236}">
                  <a16:creationId xmlns:a16="http://schemas.microsoft.com/office/drawing/2014/main" id="{F99B5B4A-C1D0-5946-A8AE-6445DD7EB34C}"/>
                </a:ext>
              </a:extLst>
            </p:cNvPr>
            <p:cNvSpPr txBox="1">
              <a:spLocks noChangeArrowheads="1"/>
            </p:cNvSpPr>
            <p:nvPr/>
          </p:nvSpPr>
          <p:spPr bwMode="auto">
            <a:xfrm>
              <a:off x="7563622" y="2066165"/>
              <a:ext cx="384900"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32</a:t>
              </a:r>
              <a:r>
                <a:rPr lang="en-GB" altLang="en-US" sz="1500" baseline="30000" dirty="0">
                  <a:latin typeface="Calibri" panose="020F0502020204030204" pitchFamily="34" charset="0"/>
                  <a:cs typeface="Calibri" panose="020F0502020204030204" pitchFamily="34" charset="0"/>
                </a:rPr>
                <a:t>o</a:t>
              </a:r>
            </a:p>
          </p:txBody>
        </p:sp>
        <p:sp>
          <p:nvSpPr>
            <p:cNvPr id="251" name="Text Box 30">
              <a:extLst>
                <a:ext uri="{FF2B5EF4-FFF2-40B4-BE49-F238E27FC236}">
                  <a16:creationId xmlns:a16="http://schemas.microsoft.com/office/drawing/2014/main" id="{F80FC6B6-673A-1840-A5F7-975C898B9F60}"/>
                </a:ext>
              </a:extLst>
            </p:cNvPr>
            <p:cNvSpPr txBox="1">
              <a:spLocks noChangeArrowheads="1"/>
            </p:cNvSpPr>
            <p:nvPr/>
          </p:nvSpPr>
          <p:spPr bwMode="auto">
            <a:xfrm>
              <a:off x="7838102" y="1713384"/>
              <a:ext cx="844905"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16.5cm</a:t>
              </a:r>
              <a:endParaRPr lang="en-GB" altLang="en-US" sz="1500" baseline="30000" dirty="0">
                <a:latin typeface="Calibri" panose="020F0502020204030204" pitchFamily="34" charset="0"/>
                <a:cs typeface="Calibri" panose="020F0502020204030204" pitchFamily="34" charset="0"/>
              </a:endParaRPr>
            </a:p>
          </p:txBody>
        </p:sp>
        <p:sp>
          <p:nvSpPr>
            <p:cNvPr id="252" name="Text Box 30">
              <a:extLst>
                <a:ext uri="{FF2B5EF4-FFF2-40B4-BE49-F238E27FC236}">
                  <a16:creationId xmlns:a16="http://schemas.microsoft.com/office/drawing/2014/main" id="{E289F881-2D26-334F-B8C0-34F11DE2F6BA}"/>
                </a:ext>
              </a:extLst>
            </p:cNvPr>
            <p:cNvSpPr txBox="1">
              <a:spLocks noChangeArrowheads="1"/>
            </p:cNvSpPr>
            <p:nvPr/>
          </p:nvSpPr>
          <p:spPr bwMode="auto">
            <a:xfrm>
              <a:off x="6621699" y="2183716"/>
              <a:ext cx="631331" cy="27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20cm</a:t>
              </a:r>
              <a:endParaRPr lang="en-GB" altLang="en-US" sz="1500"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9" name="Text Box 30">
                  <a:extLst>
                    <a:ext uri="{FF2B5EF4-FFF2-40B4-BE49-F238E27FC236}">
                      <a16:creationId xmlns:a16="http://schemas.microsoft.com/office/drawing/2014/main" id="{81FAF529-12BF-954C-98D5-1B3E099E5FDE}"/>
                    </a:ext>
                  </a:extLst>
                </p:cNvPr>
                <p:cNvSpPr txBox="1">
                  <a:spLocks noChangeArrowheads="1"/>
                </p:cNvSpPr>
                <p:nvPr/>
              </p:nvSpPr>
              <p:spPr bwMode="auto">
                <a:xfrm>
                  <a:off x="6550303" y="1396559"/>
                  <a:ext cx="200994" cy="27286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14:m>
                    <m:oMathPara xmlns:m="http://schemas.openxmlformats.org/officeDocument/2006/math">
                      <m:oMathParaPr>
                        <m:jc m:val="centerGroup"/>
                      </m:oMathParaPr>
                      <m:oMath xmlns:m="http://schemas.openxmlformats.org/officeDocument/2006/math">
                        <m:r>
                          <a:rPr lang="en-GB" altLang="en-US" sz="1500" i="1" dirty="0" smtClean="0">
                            <a:latin typeface="Cambria Math" panose="02040503050406030204" pitchFamily="18" charset="0"/>
                            <a:cs typeface="Calibri" panose="020F0502020204030204" pitchFamily="34" charset="0"/>
                          </a:rPr>
                          <m:t>𝑥</m:t>
                        </m:r>
                      </m:oMath>
                    </m:oMathPara>
                  </a14:m>
                  <a:endParaRPr lang="en-GB" altLang="en-US" sz="1500" baseline="30000" dirty="0">
                    <a:latin typeface="Calibri" panose="020F0502020204030204" pitchFamily="34" charset="0"/>
                    <a:cs typeface="Calibri" panose="020F0502020204030204" pitchFamily="34" charset="0"/>
                  </a:endParaRPr>
                </a:p>
              </p:txBody>
            </p:sp>
          </mc:Choice>
          <mc:Fallback xmlns="">
            <p:sp>
              <p:nvSpPr>
                <p:cNvPr id="89" name="Text Box 30">
                  <a:extLst>
                    <a:ext uri="{FF2B5EF4-FFF2-40B4-BE49-F238E27FC236}">
                      <a16:creationId xmlns:a16="http://schemas.microsoft.com/office/drawing/2014/main" id="{81FAF529-12BF-954C-98D5-1B3E099E5FDE}"/>
                    </a:ext>
                  </a:extLst>
                </p:cNvPr>
                <p:cNvSpPr txBox="1">
                  <a:spLocks noRot="1" noChangeAspect="1" noMove="1" noResize="1" noEditPoints="1" noAdjustHandles="1" noChangeArrowheads="1" noChangeShapeType="1" noTextEdit="1"/>
                </p:cNvSpPr>
                <p:nvPr/>
              </p:nvSpPr>
              <p:spPr bwMode="auto">
                <a:xfrm>
                  <a:off x="6550303" y="1396559"/>
                  <a:ext cx="200994" cy="272868"/>
                </a:xfrm>
                <a:prstGeom prst="rect">
                  <a:avLst/>
                </a:prstGeom>
                <a:blipFill>
                  <a:blip r:embed="rId11"/>
                  <a:stretch>
                    <a:fillRect l="-25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en-GB">
                      <a:noFill/>
                    </a:rPr>
                    <a:t> </a:t>
                  </a:r>
                </a:p>
              </p:txBody>
            </p:sp>
          </mc:Fallback>
        </mc:AlternateContent>
      </p:grpSp>
    </p:spTree>
    <p:extLst>
      <p:ext uri="{BB962C8B-B14F-4D97-AF65-F5344CB8AC3E}">
        <p14:creationId xmlns:p14="http://schemas.microsoft.com/office/powerpoint/2010/main" val="247544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dissolve">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dissolve">
                                      <p:cBhvr>
                                        <p:cTn id="12" dur="500"/>
                                        <p:tgtEl>
                                          <p:spTgt spid="14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dissolve">
                                      <p:cBhvr>
                                        <p:cTn id="17" dur="500"/>
                                        <p:tgtEl>
                                          <p:spTgt spid="15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9"/>
                                        </p:tgtEl>
                                        <p:attrNameLst>
                                          <p:attrName>style.visibility</p:attrName>
                                        </p:attrNameLst>
                                      </p:cBhvr>
                                      <p:to>
                                        <p:strVal val="visible"/>
                                      </p:to>
                                    </p:set>
                                    <p:animEffect transition="in" filter="dissolve">
                                      <p:cBhvr>
                                        <p:cTn id="22" dur="500"/>
                                        <p:tgtEl>
                                          <p:spTgt spid="15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4"/>
                                        </p:tgtEl>
                                        <p:attrNameLst>
                                          <p:attrName>style.visibility</p:attrName>
                                        </p:attrNameLst>
                                      </p:cBhvr>
                                      <p:to>
                                        <p:strVal val="visible"/>
                                      </p:to>
                                    </p:set>
                                    <p:animEffect transition="in" filter="dissolve">
                                      <p:cBhvr>
                                        <p:cTn id="27" dur="500"/>
                                        <p:tgtEl>
                                          <p:spTgt spid="15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3"/>
                                        </p:tgtEl>
                                        <p:attrNameLst>
                                          <p:attrName>style.visibility</p:attrName>
                                        </p:attrNameLst>
                                      </p:cBhvr>
                                      <p:to>
                                        <p:strVal val="visible"/>
                                      </p:to>
                                    </p:set>
                                    <p:animEffect transition="in" filter="dissolve">
                                      <p:cBhvr>
                                        <p:cTn id="32" dur="500"/>
                                        <p:tgtEl>
                                          <p:spTgt spid="153"/>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5"/>
                                        </p:tgtEl>
                                        <p:attrNameLst>
                                          <p:attrName>style.visibility</p:attrName>
                                        </p:attrNameLst>
                                      </p:cBhvr>
                                      <p:to>
                                        <p:strVal val="visible"/>
                                      </p:to>
                                    </p:set>
                                    <p:animEffect transition="in" filter="dissolve">
                                      <p:cBhvr>
                                        <p:cTn id="37" dur="500"/>
                                        <p:tgtEl>
                                          <p:spTgt spid="15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0"/>
                                        </p:tgtEl>
                                        <p:attrNameLst>
                                          <p:attrName>style.visibility</p:attrName>
                                        </p:attrNameLst>
                                      </p:cBhvr>
                                      <p:to>
                                        <p:strVal val="visible"/>
                                      </p:to>
                                    </p:set>
                                    <p:animEffect transition="in" filter="dissolve">
                                      <p:cBhvr>
                                        <p:cTn id="42"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3" grpId="0" animBg="1"/>
      <p:bldP spid="152" grpId="0" animBg="1"/>
      <p:bldP spid="153" grpId="0" animBg="1"/>
      <p:bldP spid="154" grpId="0" animBg="1"/>
      <p:bldP spid="155" grpId="0" animBg="1"/>
      <p:bldP spid="159" grpId="0" animBg="1"/>
      <p:bldP spid="1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Box 164">
            <a:extLst>
              <a:ext uri="{FF2B5EF4-FFF2-40B4-BE49-F238E27FC236}">
                <a16:creationId xmlns:a16="http://schemas.microsoft.com/office/drawing/2014/main" id="{9960D2FF-554B-5E44-816D-736372CD2329}"/>
              </a:ext>
            </a:extLst>
          </p:cNvPr>
          <p:cNvSpPr txBox="1"/>
          <p:nvPr/>
        </p:nvSpPr>
        <p:spPr>
          <a:xfrm>
            <a:off x="45916" y="958109"/>
            <a:ext cx="513302" cy="246221"/>
          </a:xfrm>
          <a:prstGeom prst="rect">
            <a:avLst/>
          </a:prstGeom>
          <a:noFill/>
          <a:ln>
            <a:noFill/>
          </a:ln>
        </p:spPr>
        <p:txBody>
          <a:bodyPr wrap="square" lIns="36000" tIns="0" rIns="0" bIns="0" rtlCol="0">
            <a:spAutoFit/>
          </a:bodyPr>
          <a:lstStyle/>
          <a:p>
            <a:r>
              <a:rPr lang="en-GB" sz="1600" b="1" dirty="0"/>
              <a:t>Q2</a:t>
            </a:r>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5B29E57D-9EB8-FC4D-B9AC-100EA08D095C}"/>
                  </a:ext>
                </a:extLst>
              </p:cNvPr>
              <p:cNvSpPr txBox="1"/>
              <p:nvPr/>
            </p:nvSpPr>
            <p:spPr>
              <a:xfrm>
                <a:off x="422569" y="958109"/>
                <a:ext cx="3643593" cy="984885"/>
              </a:xfrm>
              <a:prstGeom prst="rect">
                <a:avLst/>
              </a:prstGeom>
              <a:noFill/>
            </p:spPr>
            <p:txBody>
              <a:bodyPr wrap="square" lIns="36000" tIns="0" rIns="0" bIns="0" rtlCol="0">
                <a:spAutoFit/>
              </a:bodyPr>
              <a:lstStyle/>
              <a:p>
                <a:pPr fontAlgn="base">
                  <a:spcBef>
                    <a:spcPct val="0"/>
                  </a:spcBef>
                  <a:spcAft>
                    <a:spcPct val="0"/>
                  </a:spcAft>
                </a:pPr>
                <a:r>
                  <a:rPr lang="en-GB" sz="1600" dirty="0">
                    <a:solidFill>
                      <a:srgbClr val="000000"/>
                    </a:solidFill>
                  </a:rPr>
                  <a:t>A ship sails from port </a:t>
                </a:r>
                <a14:m>
                  <m:oMath xmlns:m="http://schemas.openxmlformats.org/officeDocument/2006/math">
                    <m:r>
                      <a:rPr lang="en-GB" sz="1600" i="1">
                        <a:solidFill>
                          <a:srgbClr val="000000"/>
                        </a:solidFill>
                        <a:latin typeface="Cambria Math" charset="0"/>
                      </a:rPr>
                      <m:t>𝐴</m:t>
                    </m:r>
                  </m:oMath>
                </a14:m>
                <a:r>
                  <a:rPr lang="en-GB" sz="1600" dirty="0">
                    <a:solidFill>
                      <a:srgbClr val="000000"/>
                    </a:solidFill>
                  </a:rPr>
                  <a:t> on a bearing of 060</a:t>
                </a:r>
                <a:r>
                  <a:rPr lang="en-GB" sz="1600" baseline="30000" dirty="0">
                    <a:solidFill>
                      <a:srgbClr val="000000"/>
                    </a:solidFill>
                  </a:rPr>
                  <a:t>o</a:t>
                </a:r>
                <a:r>
                  <a:rPr lang="en-GB" sz="1600" dirty="0">
                    <a:solidFill>
                      <a:srgbClr val="000000"/>
                    </a:solidFill>
                  </a:rPr>
                  <a:t> for 100 miles and then on a bearing of 140</a:t>
                </a:r>
                <a:r>
                  <a:rPr lang="en-GB" sz="1600" baseline="30000" dirty="0">
                    <a:solidFill>
                      <a:srgbClr val="000000"/>
                    </a:solidFill>
                  </a:rPr>
                  <a:t>o</a:t>
                </a:r>
                <a:r>
                  <a:rPr lang="en-GB" sz="1600" dirty="0">
                    <a:solidFill>
                      <a:srgbClr val="000000"/>
                    </a:solidFill>
                  </a:rPr>
                  <a:t> for 145 miles. Calculate the distance of the ship from port </a:t>
                </a:r>
                <a14:m>
                  <m:oMath xmlns:m="http://schemas.openxmlformats.org/officeDocument/2006/math">
                    <m:r>
                      <a:rPr lang="en-GB" sz="1600" i="1">
                        <a:solidFill>
                          <a:srgbClr val="000000"/>
                        </a:solidFill>
                        <a:latin typeface="Cambria Math" charset="0"/>
                      </a:rPr>
                      <m:t>𝐴</m:t>
                    </m:r>
                  </m:oMath>
                </a14:m>
                <a:r>
                  <a:rPr lang="en-GB" sz="1600" dirty="0">
                    <a:solidFill>
                      <a:srgbClr val="000000"/>
                    </a:solidFill>
                  </a:rPr>
                  <a:t> to the nearest mile.</a:t>
                </a:r>
              </a:p>
            </p:txBody>
          </p:sp>
        </mc:Choice>
        <mc:Fallback xmlns="">
          <p:sp>
            <p:nvSpPr>
              <p:cNvPr id="166" name="TextBox 165">
                <a:extLst>
                  <a:ext uri="{FF2B5EF4-FFF2-40B4-BE49-F238E27FC236}">
                    <a16:creationId xmlns:a16="http://schemas.microsoft.com/office/drawing/2014/main" id="{5B29E57D-9EB8-FC4D-B9AC-100EA08D095C}"/>
                  </a:ext>
                </a:extLst>
              </p:cNvPr>
              <p:cNvSpPr txBox="1">
                <a:spLocks noRot="1" noChangeAspect="1" noMove="1" noResize="1" noEditPoints="1" noAdjustHandles="1" noChangeArrowheads="1" noChangeShapeType="1" noTextEdit="1"/>
              </p:cNvSpPr>
              <p:nvPr/>
            </p:nvSpPr>
            <p:spPr>
              <a:xfrm>
                <a:off x="422569" y="958109"/>
                <a:ext cx="3643593" cy="984885"/>
              </a:xfrm>
              <a:prstGeom prst="rect">
                <a:avLst/>
              </a:prstGeom>
              <a:blipFill>
                <a:blip r:embed="rId3"/>
                <a:stretch>
                  <a:fillRect l="-2083" t="-5063" r="-3472" b="-11392"/>
                </a:stretch>
              </a:blipFill>
            </p:spPr>
            <p:txBody>
              <a:bodyPr/>
              <a:lstStyle/>
              <a:p>
                <a:r>
                  <a:rPr lang="en-GB">
                    <a:noFill/>
                  </a:rPr>
                  <a:t> </a:t>
                </a:r>
              </a:p>
            </p:txBody>
          </p:sp>
        </mc:Fallback>
      </mc:AlternateContent>
      <p:sp>
        <p:nvSpPr>
          <p:cNvPr id="168" name="Rectangle 167">
            <a:extLst>
              <a:ext uri="{FF2B5EF4-FFF2-40B4-BE49-F238E27FC236}">
                <a16:creationId xmlns:a16="http://schemas.microsoft.com/office/drawing/2014/main" id="{DF9E5E5C-1EDC-664A-BF7E-7C319E6621C1}"/>
              </a:ext>
            </a:extLst>
          </p:cNvPr>
          <p:cNvSpPr/>
          <p:nvPr/>
        </p:nvSpPr>
        <p:spPr>
          <a:xfrm rot="16200000">
            <a:off x="-137870" y="1444782"/>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40" name="Group 39">
            <a:extLst>
              <a:ext uri="{FF2B5EF4-FFF2-40B4-BE49-F238E27FC236}">
                <a16:creationId xmlns:a16="http://schemas.microsoft.com/office/drawing/2014/main" id="{87B9016E-4768-F14D-974B-C3F07233DCC7}"/>
              </a:ext>
            </a:extLst>
          </p:cNvPr>
          <p:cNvGrpSpPr/>
          <p:nvPr/>
        </p:nvGrpSpPr>
        <p:grpSpPr>
          <a:xfrm>
            <a:off x="992948" y="1942994"/>
            <a:ext cx="1965773" cy="2582511"/>
            <a:chOff x="2201584" y="1220552"/>
            <a:chExt cx="3165897" cy="4159159"/>
          </a:xfrm>
        </p:grpSpPr>
        <p:cxnSp>
          <p:nvCxnSpPr>
            <p:cNvPr id="41" name="Straight Arrow Connector 40">
              <a:extLst>
                <a:ext uri="{FF2B5EF4-FFF2-40B4-BE49-F238E27FC236}">
                  <a16:creationId xmlns:a16="http://schemas.microsoft.com/office/drawing/2014/main" id="{08B99760-C4D9-8846-B23F-E13E8D1831A8}"/>
                </a:ext>
              </a:extLst>
            </p:cNvPr>
            <p:cNvCxnSpPr/>
            <p:nvPr/>
          </p:nvCxnSpPr>
          <p:spPr>
            <a:xfrm flipV="1">
              <a:off x="2522483" y="2427891"/>
              <a:ext cx="0" cy="2133599"/>
            </a:xfrm>
            <a:prstGeom prst="straightConnector1">
              <a:avLst/>
            </a:prstGeom>
            <a:ln w="28575"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6727E69-CA07-284C-8CB4-DCCB03A7AA0A}"/>
                </a:ext>
              </a:extLst>
            </p:cNvPr>
            <p:cNvCxnSpPr/>
            <p:nvPr/>
          </p:nvCxnSpPr>
          <p:spPr>
            <a:xfrm flipV="1">
              <a:off x="4370233" y="1361091"/>
              <a:ext cx="0" cy="2133599"/>
            </a:xfrm>
            <a:prstGeom prst="straightConnector1">
              <a:avLst/>
            </a:prstGeom>
            <a:ln w="28575"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9BBB07C-E044-BA4B-BAC5-DD4EDFE7A54B}"/>
                </a:ext>
              </a:extLst>
            </p:cNvPr>
            <p:cNvCxnSpPr/>
            <p:nvPr/>
          </p:nvCxnSpPr>
          <p:spPr>
            <a:xfrm rot="3600000" flipV="1">
              <a:off x="3446357" y="2961290"/>
              <a:ext cx="0" cy="2133599"/>
            </a:xfrm>
            <a:prstGeom prst="straightConnector1">
              <a:avLst/>
            </a:prstGeom>
            <a:ln w="28575" cap="rnd">
              <a:solidFill>
                <a:schemeClr val="tx1"/>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F69E6EC-8014-D64D-A73C-7F1E1182BB82}"/>
                </a:ext>
              </a:extLst>
            </p:cNvPr>
            <p:cNvCxnSpPr/>
            <p:nvPr/>
          </p:nvCxnSpPr>
          <p:spPr>
            <a:xfrm rot="8400000" flipV="1">
              <a:off x="5064172" y="3246112"/>
              <a:ext cx="0" cy="2133599"/>
            </a:xfrm>
            <a:prstGeom prst="straightConnector1">
              <a:avLst/>
            </a:prstGeom>
            <a:ln w="28575" cap="rnd">
              <a:solidFill>
                <a:schemeClr val="tx1"/>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D8D7A0F5-5488-A44C-9E2E-AC900AF72EA9}"/>
                </a:ext>
              </a:extLst>
            </p:cNvPr>
            <p:cNvSpPr/>
            <p:nvPr/>
          </p:nvSpPr>
          <p:spPr>
            <a:xfrm>
              <a:off x="2201584" y="4244085"/>
              <a:ext cx="637904" cy="637904"/>
            </a:xfrm>
            <a:prstGeom prst="arc">
              <a:avLst>
                <a:gd name="adj1" fmla="val 16239594"/>
                <a:gd name="adj2" fmla="val 19826588"/>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6" name="Arc 45">
              <a:extLst>
                <a:ext uri="{FF2B5EF4-FFF2-40B4-BE49-F238E27FC236}">
                  <a16:creationId xmlns:a16="http://schemas.microsoft.com/office/drawing/2014/main" id="{1043D678-EC3B-3D44-A800-43CAB40D07FA}"/>
                </a:ext>
              </a:extLst>
            </p:cNvPr>
            <p:cNvSpPr/>
            <p:nvPr/>
          </p:nvSpPr>
          <p:spPr>
            <a:xfrm>
              <a:off x="4052126" y="3184961"/>
              <a:ext cx="637904" cy="637904"/>
            </a:xfrm>
            <a:prstGeom prst="arc">
              <a:avLst>
                <a:gd name="adj1" fmla="val 16268369"/>
                <a:gd name="adj2" fmla="val 291046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02B1F9BE-0CB1-0242-96DB-FA16EB4177E1}"/>
                    </a:ext>
                  </a:extLst>
                </p:cNvPr>
                <p:cNvSpPr/>
                <p:nvPr/>
              </p:nvSpPr>
              <p:spPr>
                <a:xfrm>
                  <a:off x="2523464" y="3943580"/>
                  <a:ext cx="6067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b="0" i="1" smtClean="0">
                                <a:solidFill>
                                  <a:srgbClr val="000000"/>
                                </a:solidFill>
                                <a:latin typeface="Cambria Math" panose="02040503050406030204" pitchFamily="18" charset="0"/>
                              </a:rPr>
                            </m:ctrlPr>
                          </m:sSupPr>
                          <m:e>
                            <m:r>
                              <a:rPr lang="en-GB" b="0" i="1" smtClean="0">
                                <a:solidFill>
                                  <a:srgbClr val="000000"/>
                                </a:solidFill>
                                <a:latin typeface="Cambria Math" charset="0"/>
                              </a:rPr>
                              <m:t>60</m:t>
                            </m:r>
                          </m:e>
                          <m:sup>
                            <m:r>
                              <m:rPr>
                                <m:sty m:val="p"/>
                              </m:rPr>
                              <a:rPr lang="en-GB" b="0" i="0" smtClean="0">
                                <a:solidFill>
                                  <a:srgbClr val="000000"/>
                                </a:solidFill>
                                <a:latin typeface="Cambria Math" charset="0"/>
                              </a:rPr>
                              <m:t>o</m:t>
                            </m:r>
                          </m:sup>
                        </m:sSup>
                      </m:oMath>
                    </m:oMathPara>
                  </a14:m>
                  <a:endParaRPr lang="en-GB" dirty="0"/>
                </a:p>
              </p:txBody>
            </p:sp>
          </mc:Choice>
          <mc:Fallback xmlns="">
            <p:sp>
              <p:nvSpPr>
                <p:cNvPr id="10" name="Rectangle 9"/>
                <p:cNvSpPr>
                  <a:spLocks noRot="1" noChangeAspect="1" noMove="1" noResize="1" noEditPoints="1" noAdjustHandles="1" noChangeArrowheads="1" noChangeShapeType="1" noTextEdit="1"/>
                </p:cNvSpPr>
                <p:nvPr/>
              </p:nvSpPr>
              <p:spPr>
                <a:xfrm>
                  <a:off x="2523464" y="3943580"/>
                  <a:ext cx="606705" cy="369332"/>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2F96C25D-FF9A-F349-A644-F5957CEF6828}"/>
                    </a:ext>
                  </a:extLst>
                </p:cNvPr>
                <p:cNvSpPr/>
                <p:nvPr/>
              </p:nvSpPr>
              <p:spPr>
                <a:xfrm>
                  <a:off x="4345540" y="1220552"/>
                  <a:ext cx="4115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b="0" i="1" smtClean="0">
                            <a:solidFill>
                              <a:srgbClr val="000000"/>
                            </a:solidFill>
                            <a:latin typeface="Cambria Math" charset="0"/>
                          </a:rPr>
                          <m:t>𝑁</m:t>
                        </m:r>
                      </m:oMath>
                    </m:oMathPara>
                  </a14:m>
                  <a:endParaRPr lang="en-GB" dirty="0"/>
                </a:p>
              </p:txBody>
            </p:sp>
          </mc:Choice>
          <mc:Fallback xmlns="">
            <p:sp>
              <p:nvSpPr>
                <p:cNvPr id="58" name="Rectangle 57"/>
                <p:cNvSpPr>
                  <a:spLocks noRot="1" noChangeAspect="1" noMove="1" noResize="1" noEditPoints="1" noAdjustHandles="1" noChangeArrowheads="1" noChangeShapeType="1" noTextEdit="1"/>
                </p:cNvSpPr>
                <p:nvPr/>
              </p:nvSpPr>
              <p:spPr>
                <a:xfrm>
                  <a:off x="4345540" y="1220552"/>
                  <a:ext cx="411523" cy="369332"/>
                </a:xfrm>
                <a:prstGeom prst="rect">
                  <a:avLst/>
                </a:prstGeom>
                <a:blipFill rotWithShape="0">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BEB44D92-3DD0-214C-8BFD-29F9A3BCE132}"/>
                    </a:ext>
                  </a:extLst>
                </p:cNvPr>
                <p:cNvSpPr/>
                <p:nvPr/>
              </p:nvSpPr>
              <p:spPr>
                <a:xfrm>
                  <a:off x="4634652" y="3197267"/>
                  <a:ext cx="7328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b="0" i="1" smtClean="0">
                                <a:solidFill>
                                  <a:srgbClr val="000000"/>
                                </a:solidFill>
                                <a:latin typeface="Cambria Math" panose="02040503050406030204" pitchFamily="18" charset="0"/>
                              </a:rPr>
                            </m:ctrlPr>
                          </m:sSupPr>
                          <m:e>
                            <m:r>
                              <a:rPr lang="en-GB" b="0" i="1" smtClean="0">
                                <a:solidFill>
                                  <a:srgbClr val="000000"/>
                                </a:solidFill>
                                <a:latin typeface="Cambria Math" charset="0"/>
                              </a:rPr>
                              <m:t>140</m:t>
                            </m:r>
                          </m:e>
                          <m:sup>
                            <m:r>
                              <m:rPr>
                                <m:sty m:val="p"/>
                              </m:rPr>
                              <a:rPr lang="en-GB" b="0" i="0" smtClean="0">
                                <a:solidFill>
                                  <a:srgbClr val="000000"/>
                                </a:solidFill>
                                <a:latin typeface="Cambria Math" charset="0"/>
                              </a:rPr>
                              <m:t>o</m:t>
                            </m:r>
                          </m:sup>
                        </m:sSup>
                      </m:oMath>
                    </m:oMathPara>
                  </a14:m>
                  <a:endParaRPr lang="en-GB" dirty="0"/>
                </a:p>
              </p:txBody>
            </p:sp>
          </mc:Choice>
          <mc:Fallback xmlns="">
            <p:sp>
              <p:nvSpPr>
                <p:cNvPr id="60" name="Rectangle 59"/>
                <p:cNvSpPr>
                  <a:spLocks noRot="1" noChangeAspect="1" noMove="1" noResize="1" noEditPoints="1" noAdjustHandles="1" noChangeArrowheads="1" noChangeShapeType="1" noTextEdit="1"/>
                </p:cNvSpPr>
                <p:nvPr/>
              </p:nvSpPr>
              <p:spPr>
                <a:xfrm>
                  <a:off x="4634652" y="3197267"/>
                  <a:ext cx="732829" cy="369332"/>
                </a:xfrm>
                <a:prstGeom prst="rect">
                  <a:avLst/>
                </a:prstGeom>
                <a:blipFill rotWithShape="0">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01889304-04D7-3849-A426-DCD67F6EED42}"/>
                    </a:ext>
                  </a:extLst>
                </p:cNvPr>
                <p:cNvSpPr/>
                <p:nvPr/>
              </p:nvSpPr>
              <p:spPr>
                <a:xfrm rot="19800000">
                  <a:off x="2921269" y="3983805"/>
                  <a:ext cx="1170513" cy="369332"/>
                </a:xfrm>
                <a:prstGeom prst="rect">
                  <a:avLst/>
                </a:prstGeom>
              </p:spPr>
              <p:txBody>
                <a:bodyPr wrap="none">
                  <a:spAutoFit/>
                </a:bodyPr>
                <a:lstStyle/>
                <a:p>
                  <a14:m>
                    <m:oMath xmlns:m="http://schemas.openxmlformats.org/officeDocument/2006/math">
                      <m:r>
                        <a:rPr lang="en-GB" i="1">
                          <a:solidFill>
                            <a:srgbClr val="000000"/>
                          </a:solidFill>
                          <a:latin typeface="Cambria Math" charset="0"/>
                        </a:rPr>
                        <m:t>100</m:t>
                      </m:r>
                    </m:oMath>
                  </a14:m>
                  <a:r>
                    <a:rPr lang="en-GB" dirty="0">
                      <a:solidFill>
                        <a:srgbClr val="000000"/>
                      </a:solidFill>
                    </a:rPr>
                    <a:t> miles </a:t>
                  </a:r>
                  <a:endParaRPr lang="en-GB" dirty="0"/>
                </a:p>
              </p:txBody>
            </p:sp>
          </mc:Choice>
          <mc:Fallback xmlns="">
            <p:sp>
              <p:nvSpPr>
                <p:cNvPr id="11" name="Rectangle 10"/>
                <p:cNvSpPr>
                  <a:spLocks noRot="1" noChangeAspect="1" noMove="1" noResize="1" noEditPoints="1" noAdjustHandles="1" noChangeArrowheads="1" noChangeShapeType="1" noTextEdit="1"/>
                </p:cNvSpPr>
                <p:nvPr/>
              </p:nvSpPr>
              <p:spPr>
                <a:xfrm rot="19800000">
                  <a:off x="2921269" y="3983805"/>
                  <a:ext cx="1170513" cy="369332"/>
                </a:xfrm>
                <a:prstGeom prst="rect">
                  <a:avLst/>
                </a:prstGeom>
                <a:blipFill rotWithShape="0">
                  <a:blip r:embed="rId7"/>
                  <a:stretch>
                    <a:fillRect t="-5333" r="-710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83B1C386-375D-3840-BD57-FDF06AD47CD1}"/>
                    </a:ext>
                  </a:extLst>
                </p:cNvPr>
                <p:cNvSpPr/>
                <p:nvPr/>
              </p:nvSpPr>
              <p:spPr>
                <a:xfrm rot="3000000">
                  <a:off x="4411445" y="4278869"/>
                  <a:ext cx="1170513" cy="369332"/>
                </a:xfrm>
                <a:prstGeom prst="rect">
                  <a:avLst/>
                </a:prstGeom>
              </p:spPr>
              <p:txBody>
                <a:bodyPr wrap="none">
                  <a:spAutoFit/>
                </a:bodyPr>
                <a:lstStyle/>
                <a:p>
                  <a14:m>
                    <m:oMath xmlns:m="http://schemas.openxmlformats.org/officeDocument/2006/math">
                      <m:r>
                        <a:rPr lang="en-GB" i="1" smtClean="0">
                          <a:solidFill>
                            <a:srgbClr val="000000"/>
                          </a:solidFill>
                          <a:latin typeface="Cambria Math" charset="0"/>
                        </a:rPr>
                        <m:t>1</m:t>
                      </m:r>
                      <m:r>
                        <a:rPr lang="en-GB" b="0" i="1" smtClean="0">
                          <a:solidFill>
                            <a:srgbClr val="000000"/>
                          </a:solidFill>
                          <a:latin typeface="Cambria Math" charset="0"/>
                        </a:rPr>
                        <m:t>45</m:t>
                      </m:r>
                    </m:oMath>
                  </a14:m>
                  <a:r>
                    <a:rPr lang="en-GB" dirty="0">
                      <a:solidFill>
                        <a:srgbClr val="000000"/>
                      </a:solidFill>
                    </a:rPr>
                    <a:t> miles </a:t>
                  </a:r>
                  <a:endParaRPr lang="en-GB" dirty="0"/>
                </a:p>
              </p:txBody>
            </p:sp>
          </mc:Choice>
          <mc:Fallback xmlns="">
            <p:sp>
              <p:nvSpPr>
                <p:cNvPr id="62" name="Rectangle 61"/>
                <p:cNvSpPr>
                  <a:spLocks noRot="1" noChangeAspect="1" noMove="1" noResize="1" noEditPoints="1" noAdjustHandles="1" noChangeArrowheads="1" noChangeShapeType="1" noTextEdit="1"/>
                </p:cNvSpPr>
                <p:nvPr/>
              </p:nvSpPr>
              <p:spPr>
                <a:xfrm rot="3000000">
                  <a:off x="4411445" y="4278869"/>
                  <a:ext cx="1170513" cy="369332"/>
                </a:xfrm>
                <a:prstGeom prst="rect">
                  <a:avLst/>
                </a:prstGeom>
                <a:blipFill rotWithShape="0">
                  <a:blip r:embed="rId8"/>
                  <a:stretch>
                    <a:fillRect r="-5263" b="-80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2DBCA873-BB50-A448-B5E9-5FEBF39D190B}"/>
                    </a:ext>
                  </a:extLst>
                </p:cNvPr>
                <p:cNvSpPr/>
                <p:nvPr/>
              </p:nvSpPr>
              <p:spPr>
                <a:xfrm>
                  <a:off x="2501500" y="2310212"/>
                  <a:ext cx="4115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b="0" i="1" smtClean="0">
                            <a:solidFill>
                              <a:srgbClr val="000000"/>
                            </a:solidFill>
                            <a:latin typeface="Cambria Math" charset="0"/>
                          </a:rPr>
                          <m:t>𝑁</m:t>
                        </m:r>
                      </m:oMath>
                    </m:oMathPara>
                  </a14:m>
                  <a:endParaRPr lang="en-GB" dirty="0"/>
                </a:p>
              </p:txBody>
            </p:sp>
          </mc:Choice>
          <mc:Fallback xmlns="">
            <p:sp>
              <p:nvSpPr>
                <p:cNvPr id="63" name="Rectangle 62"/>
                <p:cNvSpPr>
                  <a:spLocks noRot="1" noChangeAspect="1" noMove="1" noResize="1" noEditPoints="1" noAdjustHandles="1" noChangeArrowheads="1" noChangeShapeType="1" noTextEdit="1"/>
                </p:cNvSpPr>
                <p:nvPr/>
              </p:nvSpPr>
              <p:spPr>
                <a:xfrm>
                  <a:off x="2501500" y="2310212"/>
                  <a:ext cx="411523" cy="369332"/>
                </a:xfrm>
                <a:prstGeom prst="rect">
                  <a:avLst/>
                </a:prstGeom>
                <a:blipFill rotWithShape="0">
                  <a:blip r:embed="rId9"/>
                  <a:stretch>
                    <a:fillRect/>
                  </a:stretch>
                </a:blipFill>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91C540C5-14EA-0845-AF67-4EA471BB62EA}"/>
              </a:ext>
            </a:extLst>
          </p:cNvPr>
          <p:cNvGrpSpPr/>
          <p:nvPr/>
        </p:nvGrpSpPr>
        <p:grpSpPr>
          <a:xfrm>
            <a:off x="1211326" y="4035628"/>
            <a:ext cx="1956000" cy="343159"/>
            <a:chOff x="3361174" y="4577024"/>
            <a:chExt cx="3150158" cy="552660"/>
          </a:xfrm>
        </p:grpSpPr>
        <p:cxnSp>
          <p:nvCxnSpPr>
            <p:cNvPr id="54" name="Straight Arrow Connector 53">
              <a:extLst>
                <a:ext uri="{FF2B5EF4-FFF2-40B4-BE49-F238E27FC236}">
                  <a16:creationId xmlns:a16="http://schemas.microsoft.com/office/drawing/2014/main" id="{500D5383-4B47-C94B-8DEE-8FF4FECF5939}"/>
                </a:ext>
              </a:extLst>
            </p:cNvPr>
            <p:cNvCxnSpPr/>
            <p:nvPr/>
          </p:nvCxnSpPr>
          <p:spPr>
            <a:xfrm>
              <a:off x="3361174" y="4577024"/>
              <a:ext cx="3150158" cy="552660"/>
            </a:xfrm>
            <a:prstGeom prst="straightConnector1">
              <a:avLst/>
            </a:prstGeom>
            <a:ln w="28575" cap="rnd">
              <a:solidFill>
                <a:srgbClr val="C00000"/>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ounded Rectangle 54">
                  <a:extLst>
                    <a:ext uri="{FF2B5EF4-FFF2-40B4-BE49-F238E27FC236}">
                      <a16:creationId xmlns:a16="http://schemas.microsoft.com/office/drawing/2014/main" id="{4CF915BD-9F56-394D-A619-0ABF04D9E08E}"/>
                    </a:ext>
                  </a:extLst>
                </p:cNvPr>
                <p:cNvSpPr/>
                <p:nvPr/>
              </p:nvSpPr>
              <p:spPr>
                <a:xfrm>
                  <a:off x="4279872" y="4669384"/>
                  <a:ext cx="1242929" cy="354411"/>
                </a:xfrm>
                <a:prstGeom prst="roundRect">
                  <a:avLst>
                    <a:gd name="adj" fmla="val 10419"/>
                  </a:avLst>
                </a:prstGeom>
                <a:solidFill>
                  <a:srgbClr val="FFFD9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GB" b="0" i="1" smtClean="0">
                          <a:solidFill>
                            <a:schemeClr val="tx1"/>
                          </a:solidFill>
                          <a:latin typeface="Cambria Math" charset="0"/>
                        </a:rPr>
                        <m:t>190</m:t>
                      </m:r>
                    </m:oMath>
                  </a14:m>
                  <a:r>
                    <a:rPr lang="en-GB" dirty="0">
                      <a:solidFill>
                        <a:schemeClr val="tx1"/>
                      </a:solidFill>
                    </a:rPr>
                    <a:t> miles</a:t>
                  </a:r>
                </a:p>
              </p:txBody>
            </p:sp>
          </mc:Choice>
          <mc:Fallback xmlns="">
            <p:sp>
              <p:nvSpPr>
                <p:cNvPr id="55" name="Rounded Rectangle 54">
                  <a:extLst>
                    <a:ext uri="{FF2B5EF4-FFF2-40B4-BE49-F238E27FC236}">
                      <a16:creationId xmlns:a16="http://schemas.microsoft.com/office/drawing/2014/main" id="{4CF915BD-9F56-394D-A619-0ABF04D9E08E}"/>
                    </a:ext>
                  </a:extLst>
                </p:cNvPr>
                <p:cNvSpPr>
                  <a:spLocks noRot="1" noChangeAspect="1" noMove="1" noResize="1" noEditPoints="1" noAdjustHandles="1" noChangeArrowheads="1" noChangeShapeType="1" noTextEdit="1"/>
                </p:cNvSpPr>
                <p:nvPr/>
              </p:nvSpPr>
              <p:spPr>
                <a:xfrm>
                  <a:off x="4279872" y="4669384"/>
                  <a:ext cx="1242929" cy="354411"/>
                </a:xfrm>
                <a:prstGeom prst="roundRect">
                  <a:avLst>
                    <a:gd name="adj" fmla="val 10419"/>
                  </a:avLst>
                </a:prstGeom>
                <a:blipFill>
                  <a:blip r:embed="rId10"/>
                  <a:stretch>
                    <a:fillRect t="-9524" r="-6250" b="-33333"/>
                  </a:stretch>
                </a:blipFill>
                <a:ln w="19050">
                  <a:solidFill>
                    <a:srgbClr val="C00000"/>
                  </a:solidFill>
                </a:ln>
              </p:spPr>
              <p:txBody>
                <a:bodyPr/>
                <a:lstStyle/>
                <a:p>
                  <a:r>
                    <a:rPr lang="en-GB">
                      <a:noFill/>
                    </a:rPr>
                    <a:t> </a:t>
                  </a:r>
                </a:p>
              </p:txBody>
            </p:sp>
          </mc:Fallback>
        </mc:AlternateContent>
      </p:grpSp>
      <p:cxnSp>
        <p:nvCxnSpPr>
          <p:cNvPr id="56" name="Straight Connector 55">
            <a:extLst>
              <a:ext uri="{FF2B5EF4-FFF2-40B4-BE49-F238E27FC236}">
                <a16:creationId xmlns:a16="http://schemas.microsoft.com/office/drawing/2014/main" id="{E98DF59C-DB44-0C46-BBE8-9FA3BC17AC8B}"/>
              </a:ext>
            </a:extLst>
          </p:cNvPr>
          <p:cNvCxnSpPr>
            <a:cxnSpLocks/>
          </p:cNvCxnSpPr>
          <p:nvPr/>
        </p:nvCxnSpPr>
        <p:spPr>
          <a:xfrm flipV="1">
            <a:off x="4572000" y="893893"/>
            <a:ext cx="0" cy="36151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5E1B5A8-26E3-354C-8146-141EC8EF0371}"/>
              </a:ext>
            </a:extLst>
          </p:cNvPr>
          <p:cNvSpPr txBox="1"/>
          <p:nvPr/>
        </p:nvSpPr>
        <p:spPr>
          <a:xfrm>
            <a:off x="4635671" y="958109"/>
            <a:ext cx="513302" cy="246221"/>
          </a:xfrm>
          <a:prstGeom prst="rect">
            <a:avLst/>
          </a:prstGeom>
          <a:noFill/>
          <a:ln>
            <a:noFill/>
          </a:ln>
        </p:spPr>
        <p:txBody>
          <a:bodyPr wrap="square" lIns="36000" tIns="0" rIns="0" bIns="0" rtlCol="0">
            <a:spAutoFit/>
          </a:bodyPr>
          <a:lstStyle/>
          <a:p>
            <a:r>
              <a:rPr lang="en-GB" sz="1600" b="1" dirty="0"/>
              <a:t>Q3</a:t>
            </a:r>
          </a:p>
        </p:txBody>
      </p:sp>
      <p:sp>
        <p:nvSpPr>
          <p:cNvPr id="58" name="TextBox 57">
            <a:extLst>
              <a:ext uri="{FF2B5EF4-FFF2-40B4-BE49-F238E27FC236}">
                <a16:creationId xmlns:a16="http://schemas.microsoft.com/office/drawing/2014/main" id="{1143ABDC-280B-214D-BCD2-F5CE7B2DF74C}"/>
              </a:ext>
            </a:extLst>
          </p:cNvPr>
          <p:cNvSpPr txBox="1"/>
          <p:nvPr/>
        </p:nvSpPr>
        <p:spPr>
          <a:xfrm>
            <a:off x="5012324" y="958109"/>
            <a:ext cx="3767692" cy="246221"/>
          </a:xfrm>
          <a:prstGeom prst="rect">
            <a:avLst/>
          </a:prstGeom>
          <a:noFill/>
        </p:spPr>
        <p:txBody>
          <a:bodyPr wrap="square" lIns="36000" tIns="0" rIns="0" bIns="0" rtlCol="0">
            <a:spAutoFit/>
          </a:bodyPr>
          <a:lstStyle/>
          <a:p>
            <a:pPr fontAlgn="base">
              <a:spcBef>
                <a:spcPct val="0"/>
              </a:spcBef>
              <a:spcAft>
                <a:spcPct val="0"/>
              </a:spcAft>
            </a:pPr>
            <a:r>
              <a:rPr lang="en-GB" sz="1600" dirty="0">
                <a:solidFill>
                  <a:srgbClr val="000000"/>
                </a:solidFill>
              </a:rPr>
              <a:t>Find the perimeter of the following triangle.</a:t>
            </a:r>
          </a:p>
        </p:txBody>
      </p:sp>
      <p:sp>
        <p:nvSpPr>
          <p:cNvPr id="59" name="Rectangle 58">
            <a:extLst>
              <a:ext uri="{FF2B5EF4-FFF2-40B4-BE49-F238E27FC236}">
                <a16:creationId xmlns:a16="http://schemas.microsoft.com/office/drawing/2014/main" id="{26A53F0D-3BAE-BE4A-B6D8-60CB35CA4FF7}"/>
              </a:ext>
            </a:extLst>
          </p:cNvPr>
          <p:cNvSpPr/>
          <p:nvPr/>
        </p:nvSpPr>
        <p:spPr>
          <a:xfrm rot="16200000">
            <a:off x="4451885" y="1444782"/>
            <a:ext cx="683202"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60" name="Group 59">
            <a:extLst>
              <a:ext uri="{FF2B5EF4-FFF2-40B4-BE49-F238E27FC236}">
                <a16:creationId xmlns:a16="http://schemas.microsoft.com/office/drawing/2014/main" id="{FD5F13D7-F25F-FE49-B68A-74892DD53550}"/>
              </a:ext>
            </a:extLst>
          </p:cNvPr>
          <p:cNvGrpSpPr/>
          <p:nvPr/>
        </p:nvGrpSpPr>
        <p:grpSpPr>
          <a:xfrm rot="18647351">
            <a:off x="5727409" y="872120"/>
            <a:ext cx="2154164" cy="2071167"/>
            <a:chOff x="6534645" y="1155731"/>
            <a:chExt cx="2369584" cy="1882876"/>
          </a:xfrm>
        </p:grpSpPr>
        <p:grpSp>
          <p:nvGrpSpPr>
            <p:cNvPr id="61" name="Group 60">
              <a:extLst>
                <a:ext uri="{FF2B5EF4-FFF2-40B4-BE49-F238E27FC236}">
                  <a16:creationId xmlns:a16="http://schemas.microsoft.com/office/drawing/2014/main" id="{BE9E08C6-0B62-AA42-B81A-5997F0DBCD8C}"/>
                </a:ext>
              </a:extLst>
            </p:cNvPr>
            <p:cNvGrpSpPr/>
            <p:nvPr/>
          </p:nvGrpSpPr>
          <p:grpSpPr>
            <a:xfrm>
              <a:off x="6534645" y="1155731"/>
              <a:ext cx="2369584" cy="1882876"/>
              <a:chOff x="6604182" y="1183879"/>
              <a:chExt cx="2369584" cy="1882876"/>
            </a:xfrm>
          </p:grpSpPr>
          <p:sp>
            <p:nvSpPr>
              <p:cNvPr id="66" name="Triangle 65">
                <a:extLst>
                  <a:ext uri="{FF2B5EF4-FFF2-40B4-BE49-F238E27FC236}">
                    <a16:creationId xmlns:a16="http://schemas.microsoft.com/office/drawing/2014/main" id="{2D930C5C-BD05-1543-BEC1-BEAFA9B823DF}"/>
                  </a:ext>
                </a:extLst>
              </p:cNvPr>
              <p:cNvSpPr/>
              <p:nvPr/>
            </p:nvSpPr>
            <p:spPr>
              <a:xfrm>
                <a:off x="6604182" y="1415185"/>
                <a:ext cx="2369584" cy="1651570"/>
              </a:xfrm>
              <a:custGeom>
                <a:avLst/>
                <a:gdLst>
                  <a:gd name="connsiteX0" fmla="*/ 0 w 2060428"/>
                  <a:gd name="connsiteY0" fmla="*/ 1217390 h 1217390"/>
                  <a:gd name="connsiteX1" fmla="*/ 841705 w 2060428"/>
                  <a:gd name="connsiteY1" fmla="*/ 0 h 1217390"/>
                  <a:gd name="connsiteX2" fmla="*/ 2060428 w 2060428"/>
                  <a:gd name="connsiteY2" fmla="*/ 1217390 h 1217390"/>
                  <a:gd name="connsiteX3" fmla="*/ 0 w 2060428"/>
                  <a:gd name="connsiteY3" fmla="*/ 1217390 h 1217390"/>
                  <a:gd name="connsiteX0" fmla="*/ 0 w 2154164"/>
                  <a:gd name="connsiteY0" fmla="*/ 1217390 h 1816730"/>
                  <a:gd name="connsiteX1" fmla="*/ 841705 w 2154164"/>
                  <a:gd name="connsiteY1" fmla="*/ 0 h 1816730"/>
                  <a:gd name="connsiteX2" fmla="*/ 2154164 w 2154164"/>
                  <a:gd name="connsiteY2" fmla="*/ 1816730 h 1816730"/>
                  <a:gd name="connsiteX3" fmla="*/ 0 w 2154164"/>
                  <a:gd name="connsiteY3" fmla="*/ 1217390 h 1816730"/>
                </a:gdLst>
                <a:ahLst/>
                <a:cxnLst>
                  <a:cxn ang="0">
                    <a:pos x="connsiteX0" y="connsiteY0"/>
                  </a:cxn>
                  <a:cxn ang="0">
                    <a:pos x="connsiteX1" y="connsiteY1"/>
                  </a:cxn>
                  <a:cxn ang="0">
                    <a:pos x="connsiteX2" y="connsiteY2"/>
                  </a:cxn>
                  <a:cxn ang="0">
                    <a:pos x="connsiteX3" y="connsiteY3"/>
                  </a:cxn>
                </a:cxnLst>
                <a:rect l="l" t="t" r="r" b="b"/>
                <a:pathLst>
                  <a:path w="2154164" h="1816730">
                    <a:moveTo>
                      <a:pt x="0" y="1217390"/>
                    </a:moveTo>
                    <a:lnTo>
                      <a:pt x="841705" y="0"/>
                    </a:lnTo>
                    <a:lnTo>
                      <a:pt x="2154164" y="1816730"/>
                    </a:lnTo>
                    <a:lnTo>
                      <a:pt x="0" y="1217390"/>
                    </a:lnTo>
                    <a:close/>
                  </a:path>
                </a:pathLst>
              </a:custGeom>
              <a:noFill/>
              <a:ln w="19050" cmpd="sng">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nchor="ctr" anchorCtr="0"/>
              <a:lstStyle/>
              <a:p>
                <a:pPr algn="ctr"/>
                <a:endParaRPr lang="en-GB" sz="1500">
                  <a:solidFill>
                    <a:schemeClr val="tx1"/>
                  </a:solidFill>
                  <a:latin typeface="Calibri" panose="020F0502020204030204" pitchFamily="34" charset="0"/>
                  <a:cs typeface="Calibri" panose="020F0502020204030204" pitchFamily="34" charset="0"/>
                </a:endParaRPr>
              </a:p>
            </p:txBody>
          </p:sp>
          <p:sp>
            <p:nvSpPr>
              <p:cNvPr id="67" name="Arc 66">
                <a:extLst>
                  <a:ext uri="{FF2B5EF4-FFF2-40B4-BE49-F238E27FC236}">
                    <a16:creationId xmlns:a16="http://schemas.microsoft.com/office/drawing/2014/main" id="{9CEF7E06-C94E-C04D-98DA-93596C4B7444}"/>
                  </a:ext>
                </a:extLst>
              </p:cNvPr>
              <p:cNvSpPr>
                <a:spLocks noChangeAspect="1"/>
              </p:cNvSpPr>
              <p:nvPr/>
            </p:nvSpPr>
            <p:spPr>
              <a:xfrm>
                <a:off x="7236820" y="1183879"/>
                <a:ext cx="570242" cy="471765"/>
              </a:xfrm>
              <a:prstGeom prst="arc">
                <a:avLst>
                  <a:gd name="adj1" fmla="val 3214198"/>
                  <a:gd name="adj2" fmla="val 743885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pPr algn="ctr"/>
                <a:endParaRPr lang="en-GB" sz="1500">
                  <a:latin typeface="Calibri" panose="020F0502020204030204" pitchFamily="34" charset="0"/>
                  <a:cs typeface="Calibri" panose="020F0502020204030204" pitchFamily="34" charset="0"/>
                </a:endParaRPr>
              </a:p>
            </p:txBody>
          </p:sp>
        </p:grpSp>
        <p:sp>
          <p:nvSpPr>
            <p:cNvPr id="62" name="Text Box 30">
              <a:extLst>
                <a:ext uri="{FF2B5EF4-FFF2-40B4-BE49-F238E27FC236}">
                  <a16:creationId xmlns:a16="http://schemas.microsoft.com/office/drawing/2014/main" id="{9972ADC7-5689-D94C-B2B7-3254F6E41F67}"/>
                </a:ext>
              </a:extLst>
            </p:cNvPr>
            <p:cNvSpPr txBox="1">
              <a:spLocks noChangeArrowheads="1"/>
            </p:cNvSpPr>
            <p:nvPr/>
          </p:nvSpPr>
          <p:spPr bwMode="auto">
            <a:xfrm rot="2952649">
              <a:off x="7381454" y="1662928"/>
              <a:ext cx="23899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71</a:t>
              </a:r>
              <a:r>
                <a:rPr lang="en-GB" altLang="en-US" sz="1500" baseline="30000" dirty="0">
                  <a:latin typeface="Calibri" panose="020F0502020204030204" pitchFamily="34" charset="0"/>
                  <a:cs typeface="Calibri" panose="020F0502020204030204" pitchFamily="34" charset="0"/>
                </a:rPr>
                <a:t>o</a:t>
              </a:r>
            </a:p>
          </p:txBody>
        </p:sp>
        <p:sp>
          <p:nvSpPr>
            <p:cNvPr id="63" name="Text Box 30">
              <a:extLst>
                <a:ext uri="{FF2B5EF4-FFF2-40B4-BE49-F238E27FC236}">
                  <a16:creationId xmlns:a16="http://schemas.microsoft.com/office/drawing/2014/main" id="{8383F796-44BB-5C41-8459-6E8FAE092510}"/>
                </a:ext>
              </a:extLst>
            </p:cNvPr>
            <p:cNvSpPr txBox="1">
              <a:spLocks noChangeArrowheads="1"/>
            </p:cNvSpPr>
            <p:nvPr/>
          </p:nvSpPr>
          <p:spPr bwMode="auto">
            <a:xfrm rot="2952649">
              <a:off x="8134113" y="2003740"/>
              <a:ext cx="317687"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ctr" eaLnBrk="0" hangingPunct="0"/>
              <a:r>
                <a:rPr lang="en-GB" altLang="en-US" sz="1500" dirty="0">
                  <a:latin typeface="Calibri" panose="020F0502020204030204" pitchFamily="34" charset="0"/>
                  <a:cs typeface="Calibri" panose="020F0502020204030204" pitchFamily="34" charset="0"/>
                </a:rPr>
                <a:t>24m</a:t>
              </a:r>
              <a:endParaRPr lang="en-GB" altLang="en-US" sz="1500" baseline="30000" dirty="0">
                <a:latin typeface="Calibri" panose="020F0502020204030204" pitchFamily="34" charset="0"/>
                <a:cs typeface="Calibri" panose="020F0502020204030204" pitchFamily="34" charset="0"/>
              </a:endParaRPr>
            </a:p>
          </p:txBody>
        </p:sp>
        <p:sp>
          <p:nvSpPr>
            <p:cNvPr id="64" name="Text Box 30">
              <a:extLst>
                <a:ext uri="{FF2B5EF4-FFF2-40B4-BE49-F238E27FC236}">
                  <a16:creationId xmlns:a16="http://schemas.microsoft.com/office/drawing/2014/main" id="{36A9B667-F96E-754F-BA20-9E8DBAD81A4F}"/>
                </a:ext>
              </a:extLst>
            </p:cNvPr>
            <p:cNvSpPr txBox="1">
              <a:spLocks noChangeArrowheads="1"/>
            </p:cNvSpPr>
            <p:nvPr/>
          </p:nvSpPr>
          <p:spPr bwMode="auto">
            <a:xfrm rot="2952649">
              <a:off x="6496774" y="1645951"/>
              <a:ext cx="450297"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nchor="ctr" anchorCtr="0">
              <a:spAutoFit/>
            </a:bodyPr>
            <a:lstStyle/>
            <a:p>
              <a:pPr algn="r" eaLnBrk="0" hangingPunct="0"/>
              <a:r>
                <a:rPr lang="en-GB" altLang="en-US" sz="1500" dirty="0">
                  <a:latin typeface="Calibri" panose="020F0502020204030204" pitchFamily="34" charset="0"/>
                  <a:cs typeface="Calibri" panose="020F0502020204030204" pitchFamily="34" charset="0"/>
                </a:rPr>
                <a:t>18.5m</a:t>
              </a:r>
              <a:endParaRPr lang="en-GB" altLang="en-US" sz="1500" baseline="30000" dirty="0">
                <a:latin typeface="Calibri" panose="020F0502020204030204" pitchFamily="34" charset="0"/>
                <a:cs typeface="Calibri" panose="020F0502020204030204" pitchFamily="34" charset="0"/>
              </a:endParaRPr>
            </a:p>
          </p:txBody>
        </p:sp>
      </p:grpSp>
      <p:sp>
        <p:nvSpPr>
          <p:cNvPr id="70" name="Text Box 30">
            <a:extLst>
              <a:ext uri="{FF2B5EF4-FFF2-40B4-BE49-F238E27FC236}">
                <a16:creationId xmlns:a16="http://schemas.microsoft.com/office/drawing/2014/main" id="{DA843AC5-4681-3C49-ABF2-7DA4BE3C312D}"/>
              </a:ext>
            </a:extLst>
          </p:cNvPr>
          <p:cNvSpPr txBox="1">
            <a:spLocks noChangeArrowheads="1"/>
          </p:cNvSpPr>
          <p:nvPr/>
        </p:nvSpPr>
        <p:spPr bwMode="auto">
          <a:xfrm>
            <a:off x="7416441" y="2409741"/>
            <a:ext cx="551913" cy="209847"/>
          </a:xfrm>
          <a:prstGeom prst="rect">
            <a:avLst/>
          </a:prstGeom>
          <a:solidFill>
            <a:schemeClr val="accent3"/>
          </a:solidFill>
          <a:ln>
            <a:noFill/>
          </a:ln>
          <a:effectLst/>
        </p:spPr>
        <p:txBody>
          <a:bodyPr wrap="none" lIns="0" tIns="0" rIns="0" bIns="0" anchor="ctr" anchorCtr="0">
            <a:spAutoFit/>
          </a:bodyPr>
          <a:lstStyle/>
          <a:p>
            <a:pPr algn="ctr" eaLnBrk="0" hangingPunct="0"/>
            <a:r>
              <a:rPr lang="en-GB" altLang="en-US" sz="1500" b="1" dirty="0">
                <a:latin typeface="Calibri" panose="020F0502020204030204" pitchFamily="34" charset="0"/>
                <a:cs typeface="Calibri" panose="020F0502020204030204" pitchFamily="34" charset="0"/>
              </a:rPr>
              <a:t>25.1m</a:t>
            </a:r>
            <a:endParaRPr lang="en-GB" altLang="en-US" sz="1500" b="1" baseline="300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72" name="Text Box 30">
                <a:extLst>
                  <a:ext uri="{FF2B5EF4-FFF2-40B4-BE49-F238E27FC236}">
                    <a16:creationId xmlns:a16="http://schemas.microsoft.com/office/drawing/2014/main" id="{C64335EC-B3A1-3646-B7CF-4E0BAF098583}"/>
                  </a:ext>
                </a:extLst>
              </p:cNvPr>
              <p:cNvSpPr txBox="1">
                <a:spLocks noChangeArrowheads="1"/>
              </p:cNvSpPr>
              <p:nvPr/>
            </p:nvSpPr>
            <p:spPr bwMode="auto">
              <a:xfrm>
                <a:off x="6196602" y="3075399"/>
                <a:ext cx="1603382" cy="230832"/>
              </a:xfrm>
              <a:prstGeom prst="rect">
                <a:avLst/>
              </a:prstGeom>
              <a:solidFill>
                <a:schemeClr val="accent3"/>
              </a:solidFill>
              <a:ln>
                <a:noFill/>
              </a:ln>
              <a:effectLst/>
            </p:spPr>
            <p:txBody>
              <a:bodyPr wrap="square" lIns="0" tIns="0" rIns="0" bIns="0" anchor="ctr" anchorCtr="0">
                <a:spAutoFit/>
              </a:bodyPr>
              <a:lstStyle/>
              <a:p>
                <a:pPr algn="ctr" eaLnBrk="0" hangingPunct="0"/>
                <a:r>
                  <a:rPr lang="en-GB" altLang="en-US" sz="1500" b="1" dirty="0">
                    <a:latin typeface="Calibri" panose="020F0502020204030204" pitchFamily="34" charset="0"/>
                    <a:cs typeface="Calibri" panose="020F0502020204030204" pitchFamily="34" charset="0"/>
                  </a:rPr>
                  <a:t>Perimeter </a:t>
                </a:r>
                <a14:m>
                  <m:oMath xmlns:m="http://schemas.openxmlformats.org/officeDocument/2006/math">
                    <m:r>
                      <a:rPr lang="en-GB" altLang="en-US" sz="1500" b="1" i="1" smtClean="0">
                        <a:latin typeface="Cambria Math" panose="02040503050406030204" pitchFamily="18" charset="0"/>
                        <a:cs typeface="Calibri" panose="020F0502020204030204" pitchFamily="34" charset="0"/>
                      </a:rPr>
                      <m:t>=</m:t>
                    </m:r>
                  </m:oMath>
                </a14:m>
                <a:r>
                  <a:rPr lang="en-GB" altLang="en-US" sz="1500" b="1" dirty="0">
                    <a:latin typeface="Calibri" panose="020F0502020204030204" pitchFamily="34" charset="0"/>
                    <a:cs typeface="Calibri" panose="020F0502020204030204" pitchFamily="34" charset="0"/>
                  </a:rPr>
                  <a:t> 67.6m</a:t>
                </a:r>
              </a:p>
            </p:txBody>
          </p:sp>
        </mc:Choice>
        <mc:Fallback xmlns="">
          <p:sp>
            <p:nvSpPr>
              <p:cNvPr id="72" name="Text Box 30">
                <a:extLst>
                  <a:ext uri="{FF2B5EF4-FFF2-40B4-BE49-F238E27FC236}">
                    <a16:creationId xmlns:a16="http://schemas.microsoft.com/office/drawing/2014/main" id="{C64335EC-B3A1-3646-B7CF-4E0BAF098583}"/>
                  </a:ext>
                </a:extLst>
              </p:cNvPr>
              <p:cNvSpPr txBox="1">
                <a:spLocks noRot="1" noChangeAspect="1" noMove="1" noResize="1" noEditPoints="1" noAdjustHandles="1" noChangeArrowheads="1" noChangeShapeType="1" noTextEdit="1"/>
              </p:cNvSpPr>
              <p:nvPr/>
            </p:nvSpPr>
            <p:spPr bwMode="auto">
              <a:xfrm>
                <a:off x="6196602" y="3075399"/>
                <a:ext cx="1603382" cy="230832"/>
              </a:xfrm>
              <a:prstGeom prst="rect">
                <a:avLst/>
              </a:prstGeom>
              <a:blipFill>
                <a:blip r:embed="rId11"/>
                <a:stretch>
                  <a:fillRect l="-3937" t="-21053" r="-3937" b="-47368"/>
                </a:stretch>
              </a:blipFill>
              <a:ln>
                <a:noFill/>
              </a:ln>
              <a:effectLst/>
              <a:extLst/>
            </p:spPr>
            <p:txBody>
              <a:bodyPr/>
              <a:lstStyle/>
              <a:p>
                <a:r>
                  <a:rPr lang="en-GB">
                    <a:noFill/>
                  </a:rPr>
                  <a:t> </a:t>
                </a:r>
              </a:p>
            </p:txBody>
          </p:sp>
        </mc:Fallback>
      </mc:AlternateContent>
    </p:spTree>
    <p:extLst>
      <p:ext uri="{BB962C8B-B14F-4D97-AF65-F5344CB8AC3E}">
        <p14:creationId xmlns:p14="http://schemas.microsoft.com/office/powerpoint/2010/main" val="334964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dissolve">
                                      <p:cBhvr>
                                        <p:cTn id="12" dur="500"/>
                                        <p:tgtEl>
                                          <p:spTgt spid="7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dissolve">
                                      <p:cBhvr>
                                        <p:cTn id="1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958E6A-0E48-4A23-B471-8470A7B048EB}"/>
              </a:ext>
            </a:extLst>
          </p:cNvPr>
          <p:cNvPicPr>
            <a:picLocks noChangeAspect="1"/>
          </p:cNvPicPr>
          <p:nvPr/>
        </p:nvPicPr>
        <p:blipFill>
          <a:blip r:embed="rId2"/>
          <a:stretch>
            <a:fillRect/>
          </a:stretch>
        </p:blipFill>
        <p:spPr>
          <a:xfrm>
            <a:off x="1595022" y="1975433"/>
            <a:ext cx="5953956" cy="2524477"/>
          </a:xfrm>
          <a:prstGeom prst="rect">
            <a:avLst/>
          </a:prstGeom>
          <a:ln>
            <a:solidFill>
              <a:srgbClr val="FF0000"/>
            </a:solidFill>
          </a:ln>
        </p:spPr>
      </p:pic>
      <p:sp>
        <p:nvSpPr>
          <p:cNvPr id="3" name="TextBox 2">
            <a:extLst>
              <a:ext uri="{FF2B5EF4-FFF2-40B4-BE49-F238E27FC236}">
                <a16:creationId xmlns:a16="http://schemas.microsoft.com/office/drawing/2014/main" id="{158754A5-86E7-4D6A-96AC-88101D0E7292}"/>
              </a:ext>
            </a:extLst>
          </p:cNvPr>
          <p:cNvSpPr txBox="1"/>
          <p:nvPr/>
        </p:nvSpPr>
        <p:spPr>
          <a:xfrm>
            <a:off x="1595022" y="1053548"/>
            <a:ext cx="5953956" cy="954107"/>
          </a:xfrm>
          <a:prstGeom prst="rect">
            <a:avLst/>
          </a:prstGeom>
          <a:noFill/>
        </p:spPr>
        <p:txBody>
          <a:bodyPr wrap="square" rtlCol="0">
            <a:spAutoFit/>
          </a:bodyPr>
          <a:lstStyle/>
          <a:p>
            <a:pPr algn="ctr"/>
            <a:r>
              <a:rPr lang="en-GB" sz="2000" b="1" u="sng" dirty="0">
                <a:solidFill>
                  <a:srgbClr val="FF0000"/>
                </a:solidFill>
              </a:rPr>
              <a:t>Activity in pairs:</a:t>
            </a:r>
          </a:p>
          <a:p>
            <a:r>
              <a:rPr lang="en-GB" sz="1800" dirty="0"/>
              <a:t>Match up the cards to find the right formula (red) and answer (yellow) for each triangle (blue).</a:t>
            </a:r>
            <a:endParaRPr lang="ga-IE" sz="1800" dirty="0"/>
          </a:p>
        </p:txBody>
      </p:sp>
    </p:spTree>
    <p:extLst>
      <p:ext uri="{BB962C8B-B14F-4D97-AF65-F5344CB8AC3E}">
        <p14:creationId xmlns:p14="http://schemas.microsoft.com/office/powerpoint/2010/main" val="4148487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8BD204-6299-47D2-BD72-B1E92D82C1AB}"/>
              </a:ext>
            </a:extLst>
          </p:cNvPr>
          <p:cNvPicPr>
            <a:picLocks noChangeAspect="1"/>
          </p:cNvPicPr>
          <p:nvPr/>
        </p:nvPicPr>
        <p:blipFill>
          <a:blip r:embed="rId2"/>
          <a:stretch>
            <a:fillRect/>
          </a:stretch>
        </p:blipFill>
        <p:spPr>
          <a:xfrm>
            <a:off x="233807" y="214206"/>
            <a:ext cx="2534004" cy="4496427"/>
          </a:xfrm>
          <a:prstGeom prst="rect">
            <a:avLst/>
          </a:prstGeom>
          <a:ln>
            <a:solidFill>
              <a:srgbClr val="FF0000"/>
            </a:solidFill>
          </a:ln>
        </p:spPr>
      </p:pic>
      <p:pic>
        <p:nvPicPr>
          <p:cNvPr id="3" name="Picture 2">
            <a:extLst>
              <a:ext uri="{FF2B5EF4-FFF2-40B4-BE49-F238E27FC236}">
                <a16:creationId xmlns:a16="http://schemas.microsoft.com/office/drawing/2014/main" id="{079D6579-88FC-4ADA-AE9F-B63AC888955A}"/>
              </a:ext>
            </a:extLst>
          </p:cNvPr>
          <p:cNvPicPr>
            <a:picLocks noChangeAspect="1"/>
          </p:cNvPicPr>
          <p:nvPr/>
        </p:nvPicPr>
        <p:blipFill>
          <a:blip r:embed="rId3"/>
          <a:stretch>
            <a:fillRect/>
          </a:stretch>
        </p:blipFill>
        <p:spPr>
          <a:xfrm>
            <a:off x="3010062" y="214206"/>
            <a:ext cx="2873903" cy="4639322"/>
          </a:xfrm>
          <a:prstGeom prst="rect">
            <a:avLst/>
          </a:prstGeom>
          <a:ln>
            <a:solidFill>
              <a:srgbClr val="FF0000"/>
            </a:solidFill>
          </a:ln>
        </p:spPr>
      </p:pic>
      <p:pic>
        <p:nvPicPr>
          <p:cNvPr id="4" name="Picture 3">
            <a:extLst>
              <a:ext uri="{FF2B5EF4-FFF2-40B4-BE49-F238E27FC236}">
                <a16:creationId xmlns:a16="http://schemas.microsoft.com/office/drawing/2014/main" id="{468A1EC1-D2B3-4BB8-9C9D-8211A6B18D2D}"/>
              </a:ext>
            </a:extLst>
          </p:cNvPr>
          <p:cNvPicPr>
            <a:picLocks noChangeAspect="1"/>
          </p:cNvPicPr>
          <p:nvPr/>
        </p:nvPicPr>
        <p:blipFill>
          <a:blip r:embed="rId4"/>
          <a:stretch>
            <a:fillRect/>
          </a:stretch>
        </p:blipFill>
        <p:spPr>
          <a:xfrm>
            <a:off x="6034291" y="214206"/>
            <a:ext cx="2924583" cy="4810796"/>
          </a:xfrm>
          <a:prstGeom prst="rect">
            <a:avLst/>
          </a:prstGeom>
          <a:ln>
            <a:solidFill>
              <a:srgbClr val="FF0000"/>
            </a:solidFill>
          </a:ln>
        </p:spPr>
      </p:pic>
      <p:sp>
        <p:nvSpPr>
          <p:cNvPr id="5" name="Rectangle 4">
            <a:extLst>
              <a:ext uri="{FF2B5EF4-FFF2-40B4-BE49-F238E27FC236}">
                <a16:creationId xmlns:a16="http://schemas.microsoft.com/office/drawing/2014/main" id="{0FFD820A-7EA7-4A2B-8FE2-4DAB084A5B77}"/>
              </a:ext>
            </a:extLst>
          </p:cNvPr>
          <p:cNvSpPr/>
          <p:nvPr/>
        </p:nvSpPr>
        <p:spPr>
          <a:xfrm>
            <a:off x="185126" y="2305878"/>
            <a:ext cx="2582685" cy="11231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6" name="Rectangle 5">
            <a:extLst>
              <a:ext uri="{FF2B5EF4-FFF2-40B4-BE49-F238E27FC236}">
                <a16:creationId xmlns:a16="http://schemas.microsoft.com/office/drawing/2014/main" id="{8EA99837-A0B7-49E6-829C-2A1244E8A98B}"/>
              </a:ext>
            </a:extLst>
          </p:cNvPr>
          <p:cNvSpPr/>
          <p:nvPr/>
        </p:nvSpPr>
        <p:spPr>
          <a:xfrm>
            <a:off x="185126" y="3429000"/>
            <a:ext cx="2674610" cy="15107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7" name="Rectangle 6">
            <a:extLst>
              <a:ext uri="{FF2B5EF4-FFF2-40B4-BE49-F238E27FC236}">
                <a16:creationId xmlns:a16="http://schemas.microsoft.com/office/drawing/2014/main" id="{22415517-7E4C-4DE2-8DC1-DFC653255BAE}"/>
              </a:ext>
            </a:extLst>
          </p:cNvPr>
          <p:cNvSpPr/>
          <p:nvPr/>
        </p:nvSpPr>
        <p:spPr>
          <a:xfrm>
            <a:off x="2859736" y="2305878"/>
            <a:ext cx="3082630" cy="15107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8" name="Rectangle 7">
            <a:extLst>
              <a:ext uri="{FF2B5EF4-FFF2-40B4-BE49-F238E27FC236}">
                <a16:creationId xmlns:a16="http://schemas.microsoft.com/office/drawing/2014/main" id="{62DD7273-94D4-4F2E-8B0B-294A9E335A79}"/>
              </a:ext>
            </a:extLst>
          </p:cNvPr>
          <p:cNvSpPr/>
          <p:nvPr/>
        </p:nvSpPr>
        <p:spPr>
          <a:xfrm>
            <a:off x="2816492" y="3816626"/>
            <a:ext cx="3125874" cy="12083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9" name="Rectangle 8">
            <a:extLst>
              <a:ext uri="{FF2B5EF4-FFF2-40B4-BE49-F238E27FC236}">
                <a16:creationId xmlns:a16="http://schemas.microsoft.com/office/drawing/2014/main" id="{572E0E67-7AB7-4622-888E-0EEAF80BCD13}"/>
              </a:ext>
            </a:extLst>
          </p:cNvPr>
          <p:cNvSpPr/>
          <p:nvPr/>
        </p:nvSpPr>
        <p:spPr>
          <a:xfrm>
            <a:off x="6000766" y="2445026"/>
            <a:ext cx="3143233" cy="12622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10" name="Rectangle 9">
            <a:extLst>
              <a:ext uri="{FF2B5EF4-FFF2-40B4-BE49-F238E27FC236}">
                <a16:creationId xmlns:a16="http://schemas.microsoft.com/office/drawing/2014/main" id="{225D1137-B95B-403F-B640-E32E629D7C26}"/>
              </a:ext>
            </a:extLst>
          </p:cNvPr>
          <p:cNvSpPr/>
          <p:nvPr/>
        </p:nvSpPr>
        <p:spPr>
          <a:xfrm>
            <a:off x="5883965" y="3707296"/>
            <a:ext cx="3260035" cy="14362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Tree>
    <p:extLst>
      <p:ext uri="{BB962C8B-B14F-4D97-AF65-F5344CB8AC3E}">
        <p14:creationId xmlns:p14="http://schemas.microsoft.com/office/powerpoint/2010/main" val="54410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926700-829A-46C5-9B3A-F5C7644279F4}"/>
              </a:ext>
            </a:extLst>
          </p:cNvPr>
          <p:cNvPicPr>
            <a:picLocks noChangeAspect="1"/>
          </p:cNvPicPr>
          <p:nvPr/>
        </p:nvPicPr>
        <p:blipFill>
          <a:blip r:embed="rId2"/>
          <a:stretch>
            <a:fillRect/>
          </a:stretch>
        </p:blipFill>
        <p:spPr>
          <a:xfrm>
            <a:off x="402074" y="285431"/>
            <a:ext cx="3648584" cy="4572638"/>
          </a:xfrm>
          <a:prstGeom prst="rect">
            <a:avLst/>
          </a:prstGeom>
          <a:ln>
            <a:solidFill>
              <a:srgbClr val="FF0000"/>
            </a:solidFill>
          </a:ln>
        </p:spPr>
      </p:pic>
      <p:pic>
        <p:nvPicPr>
          <p:cNvPr id="3" name="Picture 2">
            <a:extLst>
              <a:ext uri="{FF2B5EF4-FFF2-40B4-BE49-F238E27FC236}">
                <a16:creationId xmlns:a16="http://schemas.microsoft.com/office/drawing/2014/main" id="{55E34358-F08E-44D8-90A1-7C3D3DA3C474}"/>
              </a:ext>
            </a:extLst>
          </p:cNvPr>
          <p:cNvPicPr>
            <a:picLocks noChangeAspect="1"/>
          </p:cNvPicPr>
          <p:nvPr/>
        </p:nvPicPr>
        <p:blipFill>
          <a:blip r:embed="rId3"/>
          <a:stretch>
            <a:fillRect/>
          </a:stretch>
        </p:blipFill>
        <p:spPr>
          <a:xfrm>
            <a:off x="5376879" y="285431"/>
            <a:ext cx="2743583" cy="4505954"/>
          </a:xfrm>
          <a:prstGeom prst="rect">
            <a:avLst/>
          </a:prstGeom>
          <a:ln>
            <a:solidFill>
              <a:srgbClr val="FF0000"/>
            </a:solidFill>
          </a:ln>
        </p:spPr>
      </p:pic>
      <p:sp>
        <p:nvSpPr>
          <p:cNvPr id="4" name="Rectangle 3">
            <a:extLst>
              <a:ext uri="{FF2B5EF4-FFF2-40B4-BE49-F238E27FC236}">
                <a16:creationId xmlns:a16="http://schemas.microsoft.com/office/drawing/2014/main" id="{9A4A32A4-BAA5-4167-85DB-6789ED7EEDB5}"/>
              </a:ext>
            </a:extLst>
          </p:cNvPr>
          <p:cNvSpPr/>
          <p:nvPr/>
        </p:nvSpPr>
        <p:spPr>
          <a:xfrm>
            <a:off x="119270" y="2355574"/>
            <a:ext cx="4621695" cy="13119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5" name="Rectangle 4">
            <a:extLst>
              <a:ext uri="{FF2B5EF4-FFF2-40B4-BE49-F238E27FC236}">
                <a16:creationId xmlns:a16="http://schemas.microsoft.com/office/drawing/2014/main" id="{E9ED2628-5201-48F9-A127-73A1C1935D9A}"/>
              </a:ext>
            </a:extLst>
          </p:cNvPr>
          <p:cNvSpPr/>
          <p:nvPr/>
        </p:nvSpPr>
        <p:spPr>
          <a:xfrm>
            <a:off x="0" y="3667539"/>
            <a:ext cx="5088835" cy="14759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6" name="Rectangle 5">
            <a:extLst>
              <a:ext uri="{FF2B5EF4-FFF2-40B4-BE49-F238E27FC236}">
                <a16:creationId xmlns:a16="http://schemas.microsoft.com/office/drawing/2014/main" id="{EA8E366D-C137-44E5-931A-942A46D5E1C0}"/>
              </a:ext>
            </a:extLst>
          </p:cNvPr>
          <p:cNvSpPr/>
          <p:nvPr/>
        </p:nvSpPr>
        <p:spPr>
          <a:xfrm>
            <a:off x="5143039" y="2425148"/>
            <a:ext cx="3404613" cy="11131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
        <p:nvSpPr>
          <p:cNvPr id="7" name="Rectangle 6">
            <a:extLst>
              <a:ext uri="{FF2B5EF4-FFF2-40B4-BE49-F238E27FC236}">
                <a16:creationId xmlns:a16="http://schemas.microsoft.com/office/drawing/2014/main" id="{4BBFFC26-D8A9-4E31-A95B-411E65156711}"/>
              </a:ext>
            </a:extLst>
          </p:cNvPr>
          <p:cNvSpPr/>
          <p:nvPr/>
        </p:nvSpPr>
        <p:spPr>
          <a:xfrm>
            <a:off x="4860235" y="3538330"/>
            <a:ext cx="3881691" cy="14759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ga-IE"/>
          </a:p>
        </p:txBody>
      </p:sp>
    </p:spTree>
    <p:extLst>
      <p:ext uri="{BB962C8B-B14F-4D97-AF65-F5344CB8AC3E}">
        <p14:creationId xmlns:p14="http://schemas.microsoft.com/office/powerpoint/2010/main" val="380723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theme/theme1.xml><?xml version="1.0" encoding="utf-8"?>
<a:theme xmlns:a="http://schemas.openxmlformats.org/drawingml/2006/main" name="Office Theme">
  <a:themeElements>
    <a:clrScheme name="CP3">
      <a:dk1>
        <a:srgbClr val="000000"/>
      </a:dk1>
      <a:lt1>
        <a:srgbClr val="FFFFFF"/>
      </a:lt1>
      <a:dk2>
        <a:srgbClr val="000000"/>
      </a:dk2>
      <a:lt2>
        <a:srgbClr val="FEFFFF"/>
      </a:lt2>
      <a:accent1>
        <a:srgbClr val="75D5FF"/>
      </a:accent1>
      <a:accent2>
        <a:srgbClr val="72FA78"/>
      </a:accent2>
      <a:accent3>
        <a:srgbClr val="FEFC78"/>
      </a:accent3>
      <a:accent4>
        <a:srgbClr val="FFD478"/>
      </a:accent4>
      <a:accent5>
        <a:srgbClr val="FF7D78"/>
      </a:accent5>
      <a:accent6>
        <a:srgbClr val="D783FF"/>
      </a:accent6>
      <a:hlink>
        <a:srgbClr val="0096FF"/>
      </a:hlink>
      <a:folHlink>
        <a:srgbClr val="FF26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 Factorising to double brackets.potx" id="{2ABD0240-5869-D742-8569-1FD3318009AF}" vid="{BA2D123A-C9E9-3043-B567-4DED4C6E3B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8124</TotalTime>
  <Words>258</Words>
  <Application>Microsoft Office PowerPoint</Application>
  <PresentationFormat>On-screen Show (16:9)</PresentationFormat>
  <Paragraphs>87</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CP3</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Cosine Rule</dc:title>
  <dc:subject>Mathematics</dc:subject>
  <dc:creator>CP3</dc:creator>
  <cp:keywords/>
  <dc:description/>
  <cp:lastModifiedBy>Cian Lyons</cp:lastModifiedBy>
  <cp:revision>1487</cp:revision>
  <dcterms:created xsi:type="dcterms:W3CDTF">2018-09-23T11:32:36Z</dcterms:created>
  <dcterms:modified xsi:type="dcterms:W3CDTF">2020-03-09T23:32:38Z</dcterms:modified>
  <cp:category/>
</cp:coreProperties>
</file>