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5"/>
  </p:notesMasterIdLst>
  <p:handoutMasterIdLst>
    <p:handoutMasterId r:id="rId16"/>
  </p:handoutMasterIdLst>
  <p:sldIdLst>
    <p:sldId id="280" r:id="rId4"/>
    <p:sldId id="277" r:id="rId5"/>
    <p:sldId id="299" r:id="rId6"/>
    <p:sldId id="297" r:id="rId7"/>
    <p:sldId id="298" r:id="rId8"/>
    <p:sldId id="293" r:id="rId9"/>
    <p:sldId id="294" r:id="rId10"/>
    <p:sldId id="295" r:id="rId11"/>
    <p:sldId id="296" r:id="rId12"/>
    <p:sldId id="285" r:id="rId13"/>
    <p:sldId id="28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ED490"/>
    <a:srgbClr val="E5D1F7"/>
    <a:srgbClr val="81E58B"/>
    <a:srgbClr val="DCC2F4"/>
    <a:srgbClr val="6AFC90"/>
    <a:srgbClr val="6FCF51"/>
    <a:srgbClr val="FFFFAB"/>
    <a:srgbClr val="66FF66"/>
    <a:srgbClr val="FFFF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6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F030A-75ED-4BB7-9718-9A110C2A21A1}" type="datetimeFigureOut">
              <a:rPr lang="en-GB" smtClean="0"/>
              <a:pPr/>
              <a:t>25/04/2020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4D448-5E08-4323-96E0-1DBE422D60B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674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CE6C6-53E1-4A2D-A875-249D2A404BDF}" type="datetimeFigureOut">
              <a:rPr lang="en-MY" smtClean="0"/>
              <a:pPr/>
              <a:t>25/4/2020</a:t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6F21-490C-4168-B24C-9A2E9E2D60E1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4416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Questions Clipart</a:t>
            </a:r>
            <a:r>
              <a:rPr lang="en-US" altLang="en-US" baseline="0" dirty="0"/>
              <a:t> #</a:t>
            </a:r>
            <a:r>
              <a:rPr lang="en-US" altLang="en-US" dirty="0"/>
              <a:t>29226: taken from </a:t>
            </a:r>
            <a:r>
              <a:rPr lang="en-GB" altLang="en-US" dirty="0"/>
              <a:t>- h</a:t>
            </a:r>
            <a:r>
              <a:rPr lang="en-GB" dirty="0"/>
              <a:t>ttp://clipartix.com/questions-clipart-image-29226/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7276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hand holding brochure : taken from - </a:t>
            </a:r>
            <a:r>
              <a:rPr lang="en-GB" dirty="0"/>
              <a:t>https://openclipart.org/detail/742/hand-holding-brochure</a:t>
            </a:r>
            <a:r>
              <a:rPr lang="en-US" altLang="en-US" dirty="0"/>
              <a:t> http://creativecommons.org/licenses/publicdomain/</a:t>
            </a:r>
            <a:endParaRPr lang="en-GB" alt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26F21-490C-4168-B24C-9A2E9E2D60E1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MY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579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Clipart - Light Bulb on : taken from - https://openclipart.org/detail/116581/light-bulb-onhttp://creativecommons.org/licenses/publicdomain/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6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063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8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1781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6BC-1584-4BEF-89F6-4570EFA8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DABA-08A5-4523-9D77-9E43F15D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05F2-FC3C-4FCA-802A-F909A9CC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9A38-1D67-4BCD-9DEF-7A91679D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0ED5-FBA3-43A7-AD22-63E3B4A9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3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2214-5147-45B0-93F7-A80664C9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604-2AC3-48B3-812F-714D7C34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75A8-8996-4FE1-ACF4-E78BA941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7B56-74C0-4172-922A-29336E2F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B2CE-8CD9-423D-B7F7-87574D0F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7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8964-EAE4-455A-8C0B-04492E88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BA80A-8FE5-497C-BD17-14F32E5F9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1E78-2CC2-4346-96CC-4411E39F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84AF-8799-4A35-9F32-F8F5459D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241E1-0F1E-4586-A915-26CC5C1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89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67B4-87E3-4ACF-8B69-09C024DD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909C-A699-4F63-A103-E3E8AC61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E3A4-E60F-4B90-9A3C-40747C8A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D2805-D487-4006-A5CD-D14200E2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A75E8-D463-4A7B-949A-29042008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EFABA-A365-4736-86D3-703BEFF0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7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4721-9BA7-4534-8E99-882E1A2D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099CC-436D-4F40-A3A7-C3D3AF24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FD5BA-1690-40B3-A51F-6857E9BEB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352D8-5C3C-4FE5-B71F-AB650CB50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B22AC-FF34-4A58-A2D0-5B65684BB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0F8C4-36FD-4848-9C81-23BECC02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DB9E3-D2FE-4B51-B4F4-3A5BE35C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AE4F0-07F8-4844-8E1E-BCEE92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2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0818-AC48-4F11-8573-0B6A93EE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5BF5F-A8DD-45B2-A5D6-8B5AD0F6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D7D04-B278-419C-92AD-B433E037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879C-8EC2-490F-BD87-831BCA0B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FE21F-0944-4DB3-949B-F0B80950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5F2CE-2776-4CC8-A701-8F917F30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4645-2AAD-457B-A2C8-EF656456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9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D71-FC2C-4EAF-9678-CE7C5571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AD57-F803-4AA3-8686-FA0A9715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27833-F9B6-499B-A5DA-3ABC544D4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8E86C-FFC4-4AE5-8B3E-20778D7A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C320A-38C6-4253-B0F9-E54E72B7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589C-30B0-45FF-ADB2-17312288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6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857-BD7B-4C9F-AB67-4A85A613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F9107-1B9D-4910-AE02-4F3325002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17654-B332-472A-AA52-2DD7194B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AAAA-81F4-4610-A93F-ABBD8CE4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841E-05BB-4C21-A0DD-56936427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F1A0F-A153-4A37-8CCF-D88EC121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4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F5D5-CF19-4C50-9086-0133B903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4A09D-4037-4D26-A319-766449C2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29DF-0540-4EE8-A063-16C83BC8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F314-C118-4479-B836-A00BA38C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2BCB-0C03-4BC6-A181-0E465600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1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3B690-2032-4137-99E8-0546C1F1A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20AD4-241B-4087-94B8-6E0B8E49A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942C2-4CD7-40DA-8CEC-F63E6EA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76F6-40ED-490A-9C6A-CB914841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7AFD-9D86-4312-A503-5F40EFBC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8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156D-A890-4B43-BC43-477DC2727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6EBDE-C125-4BEF-AF1E-4F42F32F1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2D3C5-EF44-4751-80BE-4092C103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6437C-C9F7-4FA1-8F54-1D7B8184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95352-4B92-4F44-8E56-048AC590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702700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4C19-2310-49DA-AD8B-D4578EA6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2086-DF3A-4C08-BD5C-8103D6E05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7EE6-EAD2-4507-BCCC-ABEFF8FB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CCFC-7D02-4C9E-BA9B-B377DBC5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FFB0-3F54-48FE-9DC6-64F5184D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93647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56EA-F6B1-46C7-A8A5-4FBCF12B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AE9A8-797E-46E3-AC76-6BAA0589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FA98-4DD4-4E2C-ACF6-D61C3957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43DD5-3BD9-4F80-853E-1DDDF4FB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64B1-9AB8-460D-8AB9-BFB81D09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716772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B890-124F-44BC-AE68-21598076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9E5C4-2C44-44CD-8D46-8FA2CB3E8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B2D1D-AF9B-41F5-A314-A47D99EF3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EF218-7C6C-4B1C-B8B1-4A65DB8F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8D65C-6434-460D-925B-255AD4E9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531AF-3AC8-4031-8548-D411D213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405371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47C0-C831-44F7-8381-7DC31281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3BEE7-7E08-4C2C-B44F-08D20BDCD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74A75-0418-4296-A9A9-E99E56282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D5015-993D-4193-B524-B24BFCE8B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C4FA3-1A2F-45DF-AEDF-4C66B78FB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F06D7-46E4-4EAD-BAE1-068F6B1B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37D61-D1DE-485F-9D96-46249382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B6008-255E-4FF0-A678-1A03EFFB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043053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07C5-DA34-4167-AAF2-1D4868F0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1FD9B-ED61-4445-BDE5-397F55BE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BECD9-8F6F-4D90-998D-E289CA4A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722AE-1D84-410D-9D6D-C9AEA06E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9232050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51F98-10CD-4DFB-975B-86B18B2C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4508A-E61A-4D10-9A59-AB4BF8B8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0A174-143D-44A4-A744-7D96DD5B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167927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029F-B62F-4F64-9517-D4C98B8C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39B9C-39B9-4A7E-82E3-76EB8CDCE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BF6FB-5607-469D-92BB-3DEE887BE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6207F-AC7A-4CC5-8279-CD4CE7B9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3FB8D-870D-4A82-85D2-7965271B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5DBB7-8366-4FCF-9DA8-2E428422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80207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EA1D-6090-4D23-BFC8-D9E836C5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CEA29-4338-4C34-ACFD-283248817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a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EC2E2-FAE5-4519-B959-DE0AD2110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662E4-CF11-4EE9-B21D-8BC43AD9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17A02-2E59-418D-A0FB-728CF2E6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F52B-31D4-4EC8-87B4-699C59F5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844026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C71C-D94B-4286-9609-558C7285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FF7C1-63A7-4C5F-8A7C-B1B5EB25C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28376-B29B-4EE2-B8EA-1E0E97FE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9B048-A453-4F1D-9B9A-E6F3DB5E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ABEE1-8489-493B-AA80-6F1D744A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027816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9803B-5DA9-43EA-9EDE-8FF27E6CF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2A4BD-63B1-4595-8574-3AFF636F0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AA412-15AD-49C9-9103-AA1B828A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A792B-228C-4146-B6CD-6D6347A4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FD2E6-9866-4778-BDD1-E92EEF24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785811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6BC-1584-4BEF-89F6-4570EFA8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DABA-08A5-4523-9D77-9E43F15D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05F2-FC3C-4FCA-802A-F909A9CC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9A38-1D67-4BCD-9DEF-7A91679D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0ED5-FBA3-43A7-AD22-63E3B4A9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8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2214-5147-45B0-93F7-A80664C9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604-2AC3-48B3-812F-714D7C34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75A8-8996-4FE1-ACF4-E78BA941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7B56-74C0-4172-922A-29336E2F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B2CE-8CD9-423D-B7F7-87574D0F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788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8964-EAE4-455A-8C0B-04492E88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BA80A-8FE5-497C-BD17-14F32E5F9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1E78-2CC2-4346-96CC-4411E39F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84AF-8799-4A35-9F32-F8F5459D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241E1-0F1E-4586-A915-26CC5C1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240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67B4-87E3-4ACF-8B69-09C024DD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909C-A699-4F63-A103-E3E8AC61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E3A4-E60F-4B90-9A3C-40747C8A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D2805-D487-4006-A5CD-D14200E2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A75E8-D463-4A7B-949A-29042008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EFABA-A365-4736-86D3-703BEFF0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5037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4721-9BA7-4534-8E99-882E1A2D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099CC-436D-4F40-A3A7-C3D3AF24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FD5BA-1690-40B3-A51F-6857E9BEB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352D8-5C3C-4FE5-B71F-AB650CB50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B22AC-FF34-4A58-A2D0-5B65684BB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0F8C4-36FD-4848-9C81-23BECC02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DB9E3-D2FE-4B51-B4F4-3A5BE35C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AE4F0-07F8-4844-8E1E-BCEE92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633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0818-AC48-4F11-8573-0B6A93EE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5BF5F-A8DD-45B2-A5D6-8B5AD0F6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D7D04-B278-419C-92AD-B433E037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879C-8EC2-490F-BD87-831BCA0B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7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FE21F-0944-4DB3-949B-F0B80950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5F2CE-2776-4CC8-A701-8F917F30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4645-2AAD-457B-A2C8-EF656456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896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D71-FC2C-4EAF-9678-CE7C5571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AD57-F803-4AA3-8686-FA0A9715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27833-F9B6-499B-A5DA-3ABC544D4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8E86C-FFC4-4AE5-8B3E-20778D7A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C320A-38C6-4253-B0F9-E54E72B7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589C-30B0-45FF-ADB2-17312288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205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857-BD7B-4C9F-AB67-4A85A613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F9107-1B9D-4910-AE02-4F3325002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17654-B332-472A-AA52-2DD7194B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AAAA-81F4-4610-A93F-ABBD8CE4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841E-05BB-4C21-A0DD-56936427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F1A0F-A153-4A37-8CCF-D88EC121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957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F5D5-CF19-4C50-9086-0133B903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4A09D-4037-4D26-A319-766449C2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29DF-0540-4EE8-A063-16C83BC8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F314-C118-4479-B836-A00BA38C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2BCB-0C03-4BC6-A181-0E465600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720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3B690-2032-4137-99E8-0546C1F1A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20AD4-241B-4087-94B8-6E0B8E49A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942C2-4CD7-40DA-8CEC-F63E6EA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76F6-40ED-490A-9C6A-CB914841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7AFD-9D86-4312-A503-5F40EFBC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5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778AA-C344-42DF-9F99-C70DEC58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B34B-A3E6-48B9-B156-0C38BCFB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D867-3C5A-4DCD-BFDE-431AFA388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EFAB-86B4-4991-828D-C8CFCC171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1C83F-31D8-4C74-B22B-49DC22BA1B1E}"/>
              </a:ext>
            </a:extLst>
          </p:cNvPr>
          <p:cNvSpPr txBox="1"/>
          <p:nvPr userDrawn="1"/>
        </p:nvSpPr>
        <p:spPr>
          <a:xfrm>
            <a:off x="4114800" y="109420"/>
            <a:ext cx="4953000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u="none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sine rule; </a:t>
            </a:r>
            <a:r>
              <a:rPr lang="en-US" sz="1600" b="1" dirty="0">
                <a:solidFill>
                  <a:srgbClr val="FF9900"/>
                </a:solidFill>
              </a:rPr>
              <a:t>To understand </a:t>
            </a:r>
            <a:r>
              <a:rPr lang="en-US" sz="1600" dirty="0">
                <a:solidFill>
                  <a:schemeClr val="tx1"/>
                </a:solidFill>
              </a:rPr>
              <a:t>when to use the sine rule; </a:t>
            </a:r>
            <a:r>
              <a:rPr lang="en-US" sz="1600" b="1" dirty="0">
                <a:solidFill>
                  <a:srgbClr val="00B050"/>
                </a:solidFill>
              </a:rPr>
              <a:t>To be able to </a:t>
            </a:r>
            <a:r>
              <a:rPr lang="en-US" sz="1600" dirty="0">
                <a:solidFill>
                  <a:schemeClr val="tx1"/>
                </a:solidFill>
              </a:rPr>
              <a:t>use the sine rule to find a missing angle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1B814-74DC-42E1-B0F6-12C58DF93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Sine Rule (Angle)</a:t>
            </a:r>
          </a:p>
        </p:txBody>
      </p:sp>
    </p:spTree>
    <p:extLst>
      <p:ext uri="{BB962C8B-B14F-4D97-AF65-F5344CB8AC3E}">
        <p14:creationId xmlns:p14="http://schemas.microsoft.com/office/powerpoint/2010/main" val="8385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E2D72-5E6C-4320-9116-D636B1B8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860F5-6C0A-4F02-BBDD-81647FCCA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436D0-21B2-424F-84E7-F66C60484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C91DF-028B-4419-9D66-AF046F37931A}" type="datetimeFigureOut">
              <a:rPr lang="ga-IE" smtClean="0"/>
              <a:t>25/04/2020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D4F82-DD6D-43A4-B509-3ED641370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7B5E-9ECF-4520-A777-9D4425F36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DC025-94B5-46EA-B70D-D3FED74ACE9B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416086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a-I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778AA-C344-42DF-9F99-C70DEC58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B34B-A3E6-48B9-B156-0C38BCFB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D867-3C5A-4DCD-BFDE-431AFA388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EFAB-86B4-4991-828D-C8CFCC171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1C83F-31D8-4C74-B22B-49DC22BA1B1E}"/>
              </a:ext>
            </a:extLst>
          </p:cNvPr>
          <p:cNvSpPr txBox="1"/>
          <p:nvPr userDrawn="1"/>
        </p:nvSpPr>
        <p:spPr>
          <a:xfrm>
            <a:off x="4114800" y="109420"/>
            <a:ext cx="4953000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u="none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sine rule; </a:t>
            </a:r>
            <a:r>
              <a:rPr lang="en-US" sz="1600" b="1" dirty="0">
                <a:solidFill>
                  <a:srgbClr val="FF9900"/>
                </a:solidFill>
              </a:rPr>
              <a:t>To understand </a:t>
            </a:r>
            <a:r>
              <a:rPr lang="en-US" sz="1600" dirty="0">
                <a:solidFill>
                  <a:schemeClr val="tx1"/>
                </a:solidFill>
              </a:rPr>
              <a:t>when to use the sine rule; </a:t>
            </a:r>
            <a:r>
              <a:rPr lang="en-US" sz="1600" b="1" dirty="0">
                <a:solidFill>
                  <a:srgbClr val="00B050"/>
                </a:solidFill>
              </a:rPr>
              <a:t>To be able to </a:t>
            </a:r>
            <a:r>
              <a:rPr lang="en-US" sz="1600" dirty="0">
                <a:solidFill>
                  <a:schemeClr val="tx1"/>
                </a:solidFill>
              </a:rPr>
              <a:t>use the sine rule to find a missing side or angle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1B814-74DC-42E1-B0F6-12C58DF93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Sine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5860D-FBE6-4F0F-BA3C-088B89E0ED44}"/>
              </a:ext>
            </a:extLst>
          </p:cNvPr>
          <p:cNvSpPr txBox="1"/>
          <p:nvPr userDrawn="1"/>
        </p:nvSpPr>
        <p:spPr>
          <a:xfrm>
            <a:off x="-304800" y="6626423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©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269F1-8C20-4DDB-9436-FD90FED7943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6489992"/>
            <a:ext cx="1176656" cy="3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5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9.JPG"/><Relationship Id="rId2" Type="http://schemas.openxmlformats.org/officeDocument/2006/relationships/tags" Target="../tags/tag2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0.JP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image" Target="../media/image12.png"/><Relationship Id="rId4" Type="http://schemas.openxmlformats.org/officeDocument/2006/relationships/tags" Target="../tags/tag28.xml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3.xml"/><Relationship Id="rId7" Type="http://schemas.openxmlformats.org/officeDocument/2006/relationships/image" Target="../media/image13.JP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73929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27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7F680E-AFF3-4E9E-B656-123C54CA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64"/>
            <a:ext cx="9144001" cy="68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00164-47BB-4E74-B5E8-98D995EE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841" y="4114800"/>
            <a:ext cx="4438318" cy="22034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CEDDCA-C262-4403-9724-674C6BC5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95400"/>
            <a:ext cx="6507135" cy="57168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9DE8FC-4353-4EA9-B03C-C08B78A0B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1981200"/>
            <a:ext cx="3886200" cy="217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5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Freeform 4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862102" y="1668861"/>
            <a:ext cx="3384550" cy="180331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  <a:gd name="T8" fmla="*/ 0 60000 65536"/>
              <a:gd name="T9" fmla="*/ 0 60000 65536"/>
              <a:gd name="T10" fmla="*/ 0 60000 65536"/>
              <a:gd name="T11" fmla="*/ 0 60000 65536"/>
              <a:gd name="T12" fmla="*/ 0 w 2132"/>
              <a:gd name="T13" fmla="*/ 0 h 1270"/>
              <a:gd name="T14" fmla="*/ 2132 w 2132"/>
              <a:gd name="T15" fmla="*/ 1270 h 12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MY" sz="2000" dirty="0"/>
          </a:p>
        </p:txBody>
      </p:sp>
      <p:sp>
        <p:nvSpPr>
          <p:cNvPr id="512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5326" y="3254734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5126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79346" y="3210566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5127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62800" y="1170927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5128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24326" y="221972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5129" name="Rectangl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0083" y="2243536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5130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23912" y="3428108"/>
            <a:ext cx="3630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CAB3F4A5-BFE6-498B-B700-96F2D5621F9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170525" y="4527241"/>
            <a:ext cx="3384550" cy="180331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  <a:gd name="T8" fmla="*/ 0 60000 65536"/>
              <a:gd name="T9" fmla="*/ 0 60000 65536"/>
              <a:gd name="T10" fmla="*/ 0 60000 65536"/>
              <a:gd name="T11" fmla="*/ 0 60000 65536"/>
              <a:gd name="T12" fmla="*/ 0 w 2132"/>
              <a:gd name="T13" fmla="*/ 0 h 1270"/>
              <a:gd name="T14" fmla="*/ 2132 w 2132"/>
              <a:gd name="T15" fmla="*/ 1270 h 12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MY" sz="2000" dirty="0"/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0C8F6F9B-6CD4-4D99-BEB8-80B7C35FEBA5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93749" y="6113114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45940A64-B8F9-4AFC-9EAB-7F9CCB35A35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67625" y="4085033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507026CC-EB03-493F-A29F-9B94A2B9B687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55075" y="6221835"/>
            <a:ext cx="504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5BD50F3-F8B2-4F34-80D6-EA61F63C73F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032749" y="507810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E85A0819-783C-4CA8-A3F5-DEB11D3B6AA5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45733" y="6382011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8DB8744-8BA2-4A05-8D9A-B0852A0B19F2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13449" y="4939339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CC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9161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6" grpId="0"/>
      <p:bldP spid="5127" grpId="0"/>
      <p:bldP spid="5128" grpId="0"/>
      <p:bldP spid="5129" grpId="0"/>
      <p:bldP spid="513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>
            <p:custDataLst>
              <p:tags r:id="rId1"/>
            </p:custDataLst>
          </p:nvPr>
        </p:nvSpPr>
        <p:spPr>
          <a:xfrm>
            <a:off x="2497931" y="3133985"/>
            <a:ext cx="762000" cy="6858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>
            <p:custDataLst>
              <p:tags r:id="rId2"/>
            </p:custDataLst>
          </p:nvPr>
        </p:nvSpPr>
        <p:spPr>
          <a:xfrm>
            <a:off x="3259931" y="229578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>
            <p:custDataLst>
              <p:tags r:id="rId3"/>
            </p:custDataLst>
          </p:nvPr>
        </p:nvSpPr>
        <p:spPr>
          <a:xfrm>
            <a:off x="5372100" y="359883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>
            <p:custDataLst>
              <p:tags r:id="rId4"/>
            </p:custDataLst>
          </p:nvPr>
        </p:nvSpPr>
        <p:spPr>
          <a:xfrm>
            <a:off x="5750988" y="2888101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>
            <p:custDataLst>
              <p:tags r:id="rId5"/>
            </p:custDataLst>
          </p:nvPr>
        </p:nvSpPr>
        <p:spPr>
          <a:xfrm>
            <a:off x="660591" y="4976154"/>
            <a:ext cx="1066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0" name="Oval 29"/>
          <p:cNvSpPr/>
          <p:nvPr>
            <p:custDataLst>
              <p:tags r:id="rId6"/>
            </p:custDataLst>
          </p:nvPr>
        </p:nvSpPr>
        <p:spPr>
          <a:xfrm>
            <a:off x="2037148" y="4899954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1" name="Oval 30"/>
          <p:cNvSpPr/>
          <p:nvPr>
            <p:custDataLst>
              <p:tags r:id="rId7"/>
            </p:custDataLst>
          </p:nvPr>
        </p:nvSpPr>
        <p:spPr>
          <a:xfrm>
            <a:off x="1908561" y="5531909"/>
            <a:ext cx="122555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2" name="Oval 31"/>
          <p:cNvSpPr/>
          <p:nvPr>
            <p:custDataLst>
              <p:tags r:id="rId8"/>
            </p:custDataLst>
          </p:nvPr>
        </p:nvSpPr>
        <p:spPr>
          <a:xfrm>
            <a:off x="685799" y="5513921"/>
            <a:ext cx="1016385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grpSp>
        <p:nvGrpSpPr>
          <p:cNvPr id="37" name="Group 36"/>
          <p:cNvGrpSpPr/>
          <p:nvPr>
            <p:custDataLst>
              <p:tags r:id="rId9"/>
            </p:custDataLst>
          </p:nvPr>
        </p:nvGrpSpPr>
        <p:grpSpPr>
          <a:xfrm>
            <a:off x="5029200" y="5051793"/>
            <a:ext cx="3429000" cy="1077218"/>
            <a:chOff x="4572000" y="5029200"/>
            <a:chExt cx="3429000" cy="107721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0" name="TextBox 19"/>
            <p:cNvSpPr txBox="1"/>
            <p:nvPr/>
          </p:nvSpPr>
          <p:spPr>
            <a:xfrm>
              <a:off x="4572000" y="5029200"/>
              <a:ext cx="3429000" cy="1077218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  7.1                  12</a:t>
              </a:r>
            </a:p>
            <a:p>
              <a:r>
                <a:rPr lang="en-GB" sz="3200" dirty="0"/>
                <a:t> sin z°             sin75°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22169" y="5225997"/>
              <a:ext cx="66913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/>
                <a:t>=</a:t>
              </a:r>
              <a:endParaRPr lang="en-GB" b="1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4695031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781800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>
            <p:custDataLst>
              <p:tags r:id="rId10"/>
            </p:custDataLst>
          </p:nvPr>
        </p:nvSpPr>
        <p:spPr>
          <a:xfrm>
            <a:off x="4300538" y="5248590"/>
            <a:ext cx="66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=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6244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543665" y="3010327"/>
            <a:ext cx="4256935" cy="1077218"/>
            <a:chOff x="990601" y="3048000"/>
            <a:chExt cx="4487432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1" y="3048000"/>
              <a:ext cx="4487432" cy="1077218"/>
              <a:chOff x="4572001" y="5029200"/>
              <a:chExt cx="3106684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1" y="5029200"/>
                <a:ext cx="3106684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7.1                    </a:t>
                </a:r>
              </a:p>
              <a:p>
                <a:r>
                  <a:rPr lang="en-GB" sz="3200" dirty="0"/>
                  <a:t>  sin z°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545869" y="5210551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430059" y="3260128"/>
              <a:ext cx="1915909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12.4233 …</a:t>
              </a:r>
            </a:p>
          </p:txBody>
        </p:sp>
      </p:grpSp>
      <p:sp>
        <p:nvSpPr>
          <p:cNvPr id="21" name="TextBox 20"/>
          <p:cNvSpPr txBox="1"/>
          <p:nvPr>
            <p:custDataLst>
              <p:tags r:id="rId2"/>
            </p:custDataLst>
          </p:nvPr>
        </p:nvSpPr>
        <p:spPr>
          <a:xfrm>
            <a:off x="5302813" y="6047178"/>
            <a:ext cx="3540992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z  = 34.9°</a:t>
            </a:r>
            <a:r>
              <a:rPr lang="en-GB" sz="3200" dirty="0"/>
              <a:t> (to 1.d.p)</a:t>
            </a:r>
          </a:p>
        </p:txBody>
      </p:sp>
      <p:sp>
        <p:nvSpPr>
          <p:cNvPr id="15" name="Left-Up Arrow 14"/>
          <p:cNvSpPr/>
          <p:nvPr>
            <p:custDataLst>
              <p:tags r:id="rId3"/>
            </p:custDataLst>
          </p:nvPr>
        </p:nvSpPr>
        <p:spPr>
          <a:xfrm rot="1300184">
            <a:off x="1749826" y="3344241"/>
            <a:ext cx="2019666" cy="1102888"/>
          </a:xfrm>
          <a:prstGeom prst="leftUpArrow">
            <a:avLst>
              <a:gd name="adj1" fmla="val 12625"/>
              <a:gd name="adj2" fmla="val 175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8" name="Group 57"/>
          <p:cNvGrpSpPr/>
          <p:nvPr>
            <p:custDataLst>
              <p:tags r:id="rId4"/>
            </p:custDataLst>
          </p:nvPr>
        </p:nvGrpSpPr>
        <p:grpSpPr>
          <a:xfrm>
            <a:off x="681165" y="4744766"/>
            <a:ext cx="3684240" cy="1077218"/>
            <a:chOff x="990600" y="3048000"/>
            <a:chExt cx="4953000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59" name="Group 58"/>
            <p:cNvGrpSpPr/>
            <p:nvPr/>
          </p:nvGrpSpPr>
          <p:grpSpPr>
            <a:xfrm>
              <a:off x="990600" y="3048000"/>
              <a:ext cx="4953000" cy="1077218"/>
              <a:chOff x="4572000" y="5029200"/>
              <a:chExt cx="3429000" cy="1077218"/>
            </a:xfrm>
            <a:grpFill/>
          </p:grpSpPr>
          <p:sp>
            <p:nvSpPr>
              <p:cNvPr id="61" name="TextBox 60"/>
              <p:cNvSpPr txBox="1"/>
              <p:nvPr/>
            </p:nvSpPr>
            <p:spPr>
              <a:xfrm>
                <a:off x="4572000" y="5029200"/>
                <a:ext cx="3429000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  7.1                    </a:t>
                </a:r>
              </a:p>
              <a:p>
                <a:r>
                  <a:rPr lang="en-GB" sz="3200" dirty="0"/>
                  <a:t> 12.4233 …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910678" y="5222523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 =</a:t>
                </a:r>
                <a:endParaRPr lang="en-GB" b="1" dirty="0"/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 flipV="1">
                <a:off x="4695027" y="5566092"/>
                <a:ext cx="109574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ctangle 59"/>
            <p:cNvSpPr/>
            <p:nvPr/>
          </p:nvSpPr>
          <p:spPr>
            <a:xfrm>
              <a:off x="4050709" y="3272100"/>
              <a:ext cx="1050288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sin z°</a:t>
              </a:r>
            </a:p>
          </p:txBody>
        </p:sp>
      </p:grpSp>
      <p:grpSp>
        <p:nvGrpSpPr>
          <p:cNvPr id="19" name="Group 18"/>
          <p:cNvGrpSpPr/>
          <p:nvPr>
            <p:custDataLst>
              <p:tags r:id="rId5"/>
            </p:custDataLst>
          </p:nvPr>
        </p:nvGrpSpPr>
        <p:grpSpPr>
          <a:xfrm>
            <a:off x="4886983" y="4744766"/>
            <a:ext cx="3956822" cy="1077218"/>
            <a:chOff x="538978" y="5940651"/>
            <a:chExt cx="3956822" cy="1077218"/>
          </a:xfrm>
        </p:grpSpPr>
        <p:grpSp>
          <p:nvGrpSpPr>
            <p:cNvPr id="64" name="Group 63"/>
            <p:cNvGrpSpPr/>
            <p:nvPr/>
          </p:nvGrpSpPr>
          <p:grpSpPr>
            <a:xfrm>
              <a:off x="538978" y="5940651"/>
              <a:ext cx="3956822" cy="1077218"/>
              <a:chOff x="990600" y="3048000"/>
              <a:chExt cx="4953000" cy="1077218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990600" y="3048000"/>
                <a:ext cx="4953000" cy="1077218"/>
                <a:chOff x="4572000" y="5029200"/>
                <a:chExt cx="3429000" cy="1077218"/>
              </a:xfrm>
            </p:grpSpPr>
            <p:sp>
              <p:nvSpPr>
                <p:cNvPr id="67" name="TextBox 66"/>
                <p:cNvSpPr txBox="1"/>
                <p:nvPr/>
              </p:nvSpPr>
              <p:spPr>
                <a:xfrm>
                  <a:off x="4572000" y="5029200"/>
                  <a:ext cx="3429000" cy="1077218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/>
                    <a:t>  	             7.1                    </a:t>
                  </a:r>
                </a:p>
                <a:p>
                  <a:r>
                    <a:rPr lang="en-GB" sz="3200" dirty="0"/>
                    <a:t> 	          12.4233 …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4768422" y="5209945"/>
                  <a:ext cx="6691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600" b="1" dirty="0"/>
                    <a:t> =</a:t>
                  </a:r>
                  <a:endParaRPr lang="en-GB" b="1" dirty="0"/>
                </a:p>
              </p:txBody>
            </p: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6284083" y="5566092"/>
                  <a:ext cx="904735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Rectangle 65"/>
              <p:cNvSpPr/>
              <p:nvPr/>
            </p:nvSpPr>
            <p:spPr>
              <a:xfrm>
                <a:off x="1113631" y="3259524"/>
                <a:ext cx="4860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3200" dirty="0"/>
                  <a:t>z°</a:t>
                </a:r>
              </a:p>
            </p:txBody>
          </p:sp>
        </p:grpSp>
        <p:sp>
          <p:nvSpPr>
            <p:cNvPr id="70" name="Rectangle 69"/>
            <p:cNvSpPr/>
            <p:nvPr/>
          </p:nvSpPr>
          <p:spPr>
            <a:xfrm>
              <a:off x="1344945" y="6121396"/>
              <a:ext cx="8787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200" dirty="0"/>
                <a:t>sin</a:t>
              </a:r>
              <a:r>
                <a:rPr lang="en-GB" sz="3200" baseline="30000" dirty="0"/>
                <a:t>-1</a:t>
              </a:r>
            </a:p>
          </p:txBody>
        </p:sp>
        <p:sp>
          <p:nvSpPr>
            <p:cNvPr id="17" name="Left Bracket 16"/>
            <p:cNvSpPr/>
            <p:nvPr/>
          </p:nvSpPr>
          <p:spPr>
            <a:xfrm>
              <a:off x="2286000" y="5999694"/>
              <a:ext cx="99706" cy="955697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Left Bracket 70"/>
            <p:cNvSpPr/>
            <p:nvPr/>
          </p:nvSpPr>
          <p:spPr>
            <a:xfrm flipH="1">
              <a:off x="3938894" y="5999693"/>
              <a:ext cx="99706" cy="955697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D43295-E638-48C2-BB45-253052A74B6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846" y="2541458"/>
            <a:ext cx="1347206" cy="12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8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543663" y="3633035"/>
            <a:ext cx="4028337" cy="1077218"/>
            <a:chOff x="990602" y="3048000"/>
            <a:chExt cx="4593803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2" y="3048000"/>
              <a:ext cx="4593803" cy="1077218"/>
              <a:chOff x="4572001" y="5029200"/>
              <a:chExt cx="3180325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1" y="5029200"/>
                <a:ext cx="3180325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sin z°                    </a:t>
                </a:r>
              </a:p>
              <a:p>
                <a:r>
                  <a:rPr lang="en-GB" sz="3200" dirty="0"/>
                  <a:t>   7.1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545869" y="5210551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319186" y="3263444"/>
              <a:ext cx="1915908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0.08049 …</a:t>
              </a:r>
            </a:p>
          </p:txBody>
        </p:sp>
      </p:grpSp>
      <p:sp>
        <p:nvSpPr>
          <p:cNvPr id="21" name="TextBox 20"/>
          <p:cNvSpPr txBox="1"/>
          <p:nvPr>
            <p:custDataLst>
              <p:tags r:id="rId2"/>
            </p:custDataLst>
          </p:nvPr>
        </p:nvSpPr>
        <p:spPr>
          <a:xfrm>
            <a:off x="5375811" y="5860676"/>
            <a:ext cx="3446262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z  = 34.9°</a:t>
            </a:r>
            <a:r>
              <a:rPr lang="en-GB" sz="3200" dirty="0"/>
              <a:t> (to 1.d.p)</a:t>
            </a:r>
          </a:p>
        </p:txBody>
      </p:sp>
      <p:sp>
        <p:nvSpPr>
          <p:cNvPr id="67" name="TextBox 66"/>
          <p:cNvSpPr txBox="1"/>
          <p:nvPr>
            <p:custDataLst>
              <p:tags r:id="rId3"/>
            </p:custDataLst>
          </p:nvPr>
        </p:nvSpPr>
        <p:spPr>
          <a:xfrm>
            <a:off x="5159430" y="5051156"/>
            <a:ext cx="368437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  z = sin</a:t>
            </a:r>
            <a:r>
              <a:rPr lang="en-GB" sz="2800" baseline="30000" dirty="0"/>
              <a:t>-1 </a:t>
            </a:r>
            <a:r>
              <a:rPr lang="en-GB" sz="2800" dirty="0"/>
              <a:t>(0.570849…)</a:t>
            </a:r>
          </a:p>
        </p:txBody>
      </p:sp>
      <p:grpSp>
        <p:nvGrpSpPr>
          <p:cNvPr id="2" name="Group 1"/>
          <p:cNvGrpSpPr/>
          <p:nvPr>
            <p:custDataLst>
              <p:tags r:id="rId4"/>
            </p:custDataLst>
          </p:nvPr>
        </p:nvGrpSpPr>
        <p:grpSpPr>
          <a:xfrm>
            <a:off x="552794" y="5042982"/>
            <a:ext cx="4019206" cy="1077218"/>
            <a:chOff x="552794" y="4720908"/>
            <a:chExt cx="4088844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58" name="Group 57"/>
            <p:cNvGrpSpPr/>
            <p:nvPr/>
          </p:nvGrpSpPr>
          <p:grpSpPr>
            <a:xfrm>
              <a:off x="552794" y="4720908"/>
              <a:ext cx="4088844" cy="1077218"/>
              <a:chOff x="990600" y="3048000"/>
              <a:chExt cx="4953000" cy="1077218"/>
            </a:xfrm>
            <a:grpFill/>
          </p:grpSpPr>
          <p:grpSp>
            <p:nvGrpSpPr>
              <p:cNvPr id="59" name="Group 58"/>
              <p:cNvGrpSpPr/>
              <p:nvPr/>
            </p:nvGrpSpPr>
            <p:grpSpPr>
              <a:xfrm>
                <a:off x="990600" y="3048000"/>
                <a:ext cx="4953000" cy="1077218"/>
                <a:chOff x="4572000" y="5029200"/>
                <a:chExt cx="3429000" cy="1077218"/>
              </a:xfrm>
              <a:grpFill/>
            </p:grpSpPr>
            <p:sp>
              <p:nvSpPr>
                <p:cNvPr id="61" name="TextBox 60"/>
                <p:cNvSpPr txBox="1"/>
                <p:nvPr/>
              </p:nvSpPr>
              <p:spPr>
                <a:xfrm>
                  <a:off x="4572000" y="5029200"/>
                  <a:ext cx="3429000" cy="1077218"/>
                </a:xfrm>
                <a:prstGeom prst="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/>
                    <a:t>    </a:t>
                  </a:r>
                </a:p>
                <a:p>
                  <a:r>
                    <a:rPr lang="en-GB" sz="3200" dirty="0"/>
                    <a:t>  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5374193" y="5222519"/>
                  <a:ext cx="669131" cy="646331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600" b="1" dirty="0"/>
                    <a:t> =</a:t>
                  </a:r>
                  <a:endParaRPr lang="en-GB" b="1" dirty="0"/>
                </a:p>
              </p:txBody>
            </p:sp>
          </p:grpSp>
          <p:sp>
            <p:nvSpPr>
              <p:cNvPr id="60" name="Rectangle 59"/>
              <p:cNvSpPr/>
              <p:nvPr/>
            </p:nvSpPr>
            <p:spPr>
              <a:xfrm>
                <a:off x="1214240" y="3272098"/>
                <a:ext cx="1050288" cy="584775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GB" sz="3200" dirty="0"/>
                  <a:t>sin z°</a:t>
                </a:r>
              </a:p>
            </p:txBody>
          </p:sp>
        </p:grpSp>
        <p:sp>
          <p:nvSpPr>
            <p:cNvPr id="72" name="Rectangle 71"/>
            <p:cNvSpPr/>
            <p:nvPr/>
          </p:nvSpPr>
          <p:spPr>
            <a:xfrm>
              <a:off x="2072951" y="4945006"/>
              <a:ext cx="2491168" cy="58477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0.08049 x 7.1</a:t>
              </a: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B098975B-A467-4B07-9ABD-942785E5C2A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156" y="5130745"/>
            <a:ext cx="1347206" cy="12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26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2657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187</Words>
  <Application>Microsoft Office PowerPoint</Application>
  <PresentationFormat>On-screen Show (4:3)</PresentationFormat>
  <Paragraphs>48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Alfer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A J Ferris</dc:creator>
  <cp:lastModifiedBy>Cian Lyons</cp:lastModifiedBy>
  <cp:revision>114</cp:revision>
  <dcterms:created xsi:type="dcterms:W3CDTF">2006-08-16T00:00:00Z</dcterms:created>
  <dcterms:modified xsi:type="dcterms:W3CDTF">2020-04-25T12:22:13Z</dcterms:modified>
</cp:coreProperties>
</file>