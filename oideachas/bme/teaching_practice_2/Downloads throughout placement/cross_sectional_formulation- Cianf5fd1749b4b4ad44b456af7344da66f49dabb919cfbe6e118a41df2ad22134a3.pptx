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  <p:sldId id="256" r:id="rId4"/>
    <p:sldId id="259" r:id="rId5"/>
  </p:sldIdLst>
  <p:sldSz cx="9144000" cy="6858000" type="letter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24"/>
    <p:restoredTop sz="94695"/>
  </p:normalViewPr>
  <p:slideViewPr>
    <p:cSldViewPr snapToGrid="0" snapToObjects="1">
      <p:cViewPr>
        <p:scale>
          <a:sx n="81" d="100"/>
          <a:sy n="81" d="100"/>
        </p:scale>
        <p:origin x="-133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E9F1-1233-2D4D-B03B-97EC2A5D8635}" type="datetimeFigureOut">
              <a:rPr lang="en-US" smtClean="0"/>
              <a:t>10/26/2020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72F76-0253-9544-AB94-1B2DE3D89F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E9F1-1233-2D4D-B03B-97EC2A5D8635}" type="datetimeFigureOut">
              <a:rPr lang="en-US" smtClean="0"/>
              <a:t>10/26/2020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72F76-0253-9544-AB94-1B2DE3D89F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E9F1-1233-2D4D-B03B-97EC2A5D8635}" type="datetimeFigureOut">
              <a:rPr lang="en-US" smtClean="0"/>
              <a:t>10/26/2020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72F76-0253-9544-AB94-1B2DE3D89F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E9F1-1233-2D4D-B03B-97EC2A5D8635}" type="datetimeFigureOut">
              <a:rPr lang="en-US" smtClean="0"/>
              <a:t>10/26/2020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72F76-0253-9544-AB94-1B2DE3D89F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E9F1-1233-2D4D-B03B-97EC2A5D8635}" type="datetimeFigureOut">
              <a:rPr lang="en-US" smtClean="0"/>
              <a:t>10/26/2020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72F76-0253-9544-AB94-1B2DE3D89F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E9F1-1233-2D4D-B03B-97EC2A5D8635}" type="datetimeFigureOut">
              <a:rPr lang="en-US" smtClean="0"/>
              <a:t>10/26/2020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72F76-0253-9544-AB94-1B2DE3D89F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E9F1-1233-2D4D-B03B-97EC2A5D8635}" type="datetimeFigureOut">
              <a:rPr lang="en-US" smtClean="0"/>
              <a:t>10/26/2020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72F76-0253-9544-AB94-1B2DE3D89F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E9F1-1233-2D4D-B03B-97EC2A5D8635}" type="datetimeFigureOut">
              <a:rPr lang="en-US" smtClean="0"/>
              <a:t>10/26/2020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72F76-0253-9544-AB94-1B2DE3D89F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E9F1-1233-2D4D-B03B-97EC2A5D8635}" type="datetimeFigureOut">
              <a:rPr lang="en-US" smtClean="0"/>
              <a:t>10/26/2020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72F76-0253-9544-AB94-1B2DE3D89F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E9F1-1233-2D4D-B03B-97EC2A5D8635}" type="datetimeFigureOut">
              <a:rPr lang="en-US" smtClean="0"/>
              <a:t>10/26/2020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72F76-0253-9544-AB94-1B2DE3D89F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E9F1-1233-2D4D-B03B-97EC2A5D8635}" type="datetimeFigureOut">
              <a:rPr lang="en-US" smtClean="0"/>
              <a:t>10/26/2020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72F76-0253-9544-AB94-1B2DE3D89F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4E9F1-1233-2D4D-B03B-97EC2A5D8635}" type="datetimeFigureOut">
              <a:rPr lang="en-US" smtClean="0"/>
              <a:t>10/26/2020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72F76-0253-9544-AB94-1B2DE3D89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024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148A922B-1475-334B-B660-7C7042A417B5}"/>
              </a:ext>
            </a:extLst>
          </p:cNvPr>
          <p:cNvGrpSpPr/>
          <p:nvPr/>
        </p:nvGrpSpPr>
        <p:grpSpPr>
          <a:xfrm>
            <a:off x="100969" y="131966"/>
            <a:ext cx="8761677" cy="6254017"/>
            <a:chOff x="100969" y="131966"/>
            <a:chExt cx="9286445" cy="6254017"/>
          </a:xfrm>
        </p:grpSpPr>
        <p:sp>
          <p:nvSpPr>
            <p:cNvPr id="2" name="TextBox 1">
              <a:extLst>
                <a:ext uri="{FF2B5EF4-FFF2-40B4-BE49-F238E27FC236}">
                  <a16:creationId xmlns="" xmlns:a16="http://schemas.microsoft.com/office/drawing/2014/main" id="{EB89FFB0-3F89-834A-B869-AB119007C2DA}"/>
                </a:ext>
              </a:extLst>
            </p:cNvPr>
            <p:cNvSpPr txBox="1"/>
            <p:nvPr/>
          </p:nvSpPr>
          <p:spPr>
            <a:xfrm>
              <a:off x="100969" y="131966"/>
              <a:ext cx="26212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>
                  <a:latin typeface="Arial"/>
                  <a:cs typeface="Arial"/>
                </a:rPr>
                <a:t>Cross Sectional Formulation</a:t>
              </a:r>
              <a:endParaRPr lang="en-US" sz="1400" b="1" dirty="0">
                <a:latin typeface="Arial"/>
                <a:cs typeface="Arial"/>
              </a:endParaRPr>
            </a:p>
          </p:txBody>
        </p:sp>
        <p:sp>
          <p:nvSpPr>
            <p:cNvPr id="3" name="Oval 2">
              <a:extLst>
                <a:ext uri="{FF2B5EF4-FFF2-40B4-BE49-F238E27FC236}">
                  <a16:creationId xmlns="" xmlns:a16="http://schemas.microsoft.com/office/drawing/2014/main" id="{18A8440A-EFD9-D440-B7B6-2D13C473E354}"/>
                </a:ext>
              </a:extLst>
            </p:cNvPr>
            <p:cNvSpPr/>
            <p:nvPr/>
          </p:nvSpPr>
          <p:spPr>
            <a:xfrm>
              <a:off x="608887" y="713317"/>
              <a:ext cx="8778527" cy="567266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="" xmlns:a16="http://schemas.microsoft.com/office/drawing/2014/main" id="{A2FF2D9C-E7D2-8F45-AD1D-6A95E881379A}"/>
                </a:ext>
              </a:extLst>
            </p:cNvPr>
            <p:cNvSpPr/>
            <p:nvPr/>
          </p:nvSpPr>
          <p:spPr>
            <a:xfrm>
              <a:off x="3648295" y="1045634"/>
              <a:ext cx="2699711" cy="17445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="" xmlns:a16="http://schemas.microsoft.com/office/drawing/2014/main" id="{395E3FD8-D73A-404C-9F74-9CA604E39E56}"/>
                </a:ext>
              </a:extLst>
            </p:cNvPr>
            <p:cNvSpPr/>
            <p:nvPr/>
          </p:nvSpPr>
          <p:spPr>
            <a:xfrm>
              <a:off x="3648295" y="4358633"/>
              <a:ext cx="2699711" cy="17445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2BBD076F-C553-1142-9ACE-D4ACA3D1BA97}"/>
                </a:ext>
              </a:extLst>
            </p:cNvPr>
            <p:cNvSpPr/>
            <p:nvPr/>
          </p:nvSpPr>
          <p:spPr>
            <a:xfrm>
              <a:off x="6328834" y="2677376"/>
              <a:ext cx="2699711" cy="17445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0E62BEA8-C9CB-DB45-8B84-1420FB8F8BBE}"/>
                </a:ext>
              </a:extLst>
            </p:cNvPr>
            <p:cNvSpPr/>
            <p:nvPr/>
          </p:nvSpPr>
          <p:spPr>
            <a:xfrm>
              <a:off x="929412" y="2677376"/>
              <a:ext cx="2699711" cy="17445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="" xmlns:a16="http://schemas.microsoft.com/office/drawing/2014/main" id="{BC634754-64C7-624F-8AC2-EBFE0957CA4D}"/>
                </a:ext>
              </a:extLst>
            </p:cNvPr>
            <p:cNvSpPr/>
            <p:nvPr/>
          </p:nvSpPr>
          <p:spPr>
            <a:xfrm>
              <a:off x="4233326" y="512234"/>
              <a:ext cx="1481673" cy="433916"/>
            </a:xfrm>
            <a:prstGeom prst="round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FB70EFDB-6452-1A47-8C42-FF56342ED383}"/>
                </a:ext>
              </a:extLst>
            </p:cNvPr>
            <p:cNvCxnSpPr/>
            <p:nvPr/>
          </p:nvCxnSpPr>
          <p:spPr>
            <a:xfrm>
              <a:off x="5005917" y="2967567"/>
              <a:ext cx="0" cy="12382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="" xmlns:a16="http://schemas.microsoft.com/office/drawing/2014/main" id="{52DD4615-48E5-AE41-A593-6C0C6AAAA951}"/>
                </a:ext>
              </a:extLst>
            </p:cNvPr>
            <p:cNvCxnSpPr/>
            <p:nvPr/>
          </p:nvCxnSpPr>
          <p:spPr>
            <a:xfrm>
              <a:off x="3915833" y="3549650"/>
              <a:ext cx="214841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="" xmlns:a16="http://schemas.microsoft.com/office/drawing/2014/main" id="{499AF6E9-D861-A340-89E2-56B670A4B980}"/>
                </a:ext>
              </a:extLst>
            </p:cNvPr>
            <p:cNvCxnSpPr/>
            <p:nvPr/>
          </p:nvCxnSpPr>
          <p:spPr>
            <a:xfrm flipV="1">
              <a:off x="3386667" y="2533650"/>
              <a:ext cx="508000" cy="3492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6AA3C4FC-4CF4-644A-B0BA-C2CC547FFE3A}"/>
                </a:ext>
              </a:extLst>
            </p:cNvPr>
            <p:cNvCxnSpPr/>
            <p:nvPr/>
          </p:nvCxnSpPr>
          <p:spPr>
            <a:xfrm flipH="1" flipV="1">
              <a:off x="6094006" y="2533650"/>
              <a:ext cx="508000" cy="3492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="" xmlns:a16="http://schemas.microsoft.com/office/drawing/2014/main" id="{FADD4890-6251-0442-8C16-8532D2E5AEB9}"/>
                </a:ext>
              </a:extLst>
            </p:cNvPr>
            <p:cNvCxnSpPr/>
            <p:nvPr/>
          </p:nvCxnSpPr>
          <p:spPr>
            <a:xfrm>
              <a:off x="3390905" y="4205174"/>
              <a:ext cx="508000" cy="3492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="" xmlns:a16="http://schemas.microsoft.com/office/drawing/2014/main" id="{A188DB36-9297-BA4F-A44C-BA05D37065B7}"/>
                </a:ext>
              </a:extLst>
            </p:cNvPr>
            <p:cNvCxnSpPr/>
            <p:nvPr/>
          </p:nvCxnSpPr>
          <p:spPr>
            <a:xfrm flipH="1">
              <a:off x="6098244" y="4205174"/>
              <a:ext cx="508000" cy="3492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85A207A0-F8CF-614A-99AD-77FC4DD67A54}"/>
                </a:ext>
              </a:extLst>
            </p:cNvPr>
            <p:cNvSpPr txBox="1"/>
            <p:nvPr/>
          </p:nvSpPr>
          <p:spPr>
            <a:xfrm>
              <a:off x="4389967" y="1065995"/>
              <a:ext cx="12319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Arial"/>
                  <a:cs typeface="Arial"/>
                </a:rPr>
                <a:t>Thoughts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B4F6E85E-003E-BB4B-A0F4-A1B1D6254E45}"/>
                </a:ext>
              </a:extLst>
            </p:cNvPr>
            <p:cNvSpPr txBox="1"/>
            <p:nvPr/>
          </p:nvSpPr>
          <p:spPr>
            <a:xfrm>
              <a:off x="7061206" y="2714040"/>
              <a:ext cx="12319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Arial"/>
                  <a:cs typeface="Arial"/>
                </a:rPr>
                <a:t>Behavior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1703C8F8-CC11-784F-87F8-D74372734C99}"/>
                </a:ext>
              </a:extLst>
            </p:cNvPr>
            <p:cNvSpPr txBox="1"/>
            <p:nvPr/>
          </p:nvSpPr>
          <p:spPr>
            <a:xfrm>
              <a:off x="4389967" y="4398697"/>
              <a:ext cx="12319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Arial"/>
                  <a:cs typeface="Arial"/>
                </a:rPr>
                <a:t>Bodily sensations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FD2117E1-FA07-3C40-8FCE-C388D4AAF057}"/>
                </a:ext>
              </a:extLst>
            </p:cNvPr>
            <p:cNvSpPr txBox="1"/>
            <p:nvPr/>
          </p:nvSpPr>
          <p:spPr>
            <a:xfrm>
              <a:off x="1631952" y="2729011"/>
              <a:ext cx="12319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Arial"/>
                  <a:cs typeface="Arial"/>
                </a:rPr>
                <a:t>Emotions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5C67FE38-837E-4C45-BD34-13D285FE7273}"/>
                </a:ext>
              </a:extLst>
            </p:cNvPr>
            <p:cNvSpPr txBox="1"/>
            <p:nvPr/>
          </p:nvSpPr>
          <p:spPr>
            <a:xfrm>
              <a:off x="4358218" y="559428"/>
              <a:ext cx="12319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Arial"/>
                  <a:cs typeface="Arial"/>
                </a:rPr>
                <a:t>Situation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3722346" y="1373773"/>
            <a:ext cx="2254557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050" dirty="0" smtClean="0">
                <a:solidFill>
                  <a:srgbClr val="FF0000"/>
                </a:solidFill>
              </a:rPr>
              <a:t>I was much better</a:t>
            </a:r>
          </a:p>
          <a:p>
            <a:r>
              <a:rPr lang="en-IE" sz="1050" dirty="0" smtClean="0"/>
              <a:t>I am not good enough anymore</a:t>
            </a:r>
          </a:p>
          <a:p>
            <a:r>
              <a:rPr lang="en-IE" sz="1050" dirty="0" smtClean="0"/>
              <a:t>“The past me”</a:t>
            </a:r>
          </a:p>
          <a:p>
            <a:r>
              <a:rPr lang="en-IE" sz="1050" dirty="0" smtClean="0"/>
              <a:t>I have lost my skill</a:t>
            </a:r>
          </a:p>
          <a:p>
            <a:r>
              <a:rPr lang="en-IE" sz="1050" dirty="0" smtClean="0"/>
              <a:t>Too much to do </a:t>
            </a:r>
          </a:p>
          <a:p>
            <a:r>
              <a:rPr lang="en-IE" sz="1050" dirty="0" smtClean="0"/>
              <a:t>No point in trying </a:t>
            </a:r>
          </a:p>
          <a:p>
            <a:r>
              <a:rPr lang="en-IE" sz="1050" dirty="0" smtClean="0"/>
              <a:t>In the past “I could” </a:t>
            </a:r>
          </a:p>
          <a:p>
            <a:r>
              <a:rPr lang="en-IE" sz="1050" dirty="0" smtClean="0"/>
              <a:t>“worthless”</a:t>
            </a:r>
          </a:p>
          <a:p>
            <a:endParaRPr lang="en-IE" dirty="0" smtClean="0"/>
          </a:p>
          <a:p>
            <a:endParaRPr lang="en-IE" dirty="0"/>
          </a:p>
        </p:txBody>
      </p:sp>
      <p:sp>
        <p:nvSpPr>
          <p:cNvPr id="23" name="TextBox 22"/>
          <p:cNvSpPr txBox="1"/>
          <p:nvPr/>
        </p:nvSpPr>
        <p:spPr>
          <a:xfrm>
            <a:off x="1101967" y="3054662"/>
            <a:ext cx="257831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 smtClean="0"/>
              <a:t>Sadness</a:t>
            </a:r>
          </a:p>
          <a:p>
            <a:r>
              <a:rPr lang="en-IE" dirty="0" smtClean="0"/>
              <a:t>Loss</a:t>
            </a:r>
          </a:p>
          <a:p>
            <a:r>
              <a:rPr lang="en-IE" dirty="0" smtClean="0"/>
              <a:t>Decreased confidence</a:t>
            </a:r>
          </a:p>
          <a:p>
            <a:r>
              <a:rPr lang="en-IE" dirty="0" smtClean="0"/>
              <a:t>Angry(self)</a:t>
            </a:r>
          </a:p>
          <a:p>
            <a:endParaRPr lang="en-IE" dirty="0" smtClean="0"/>
          </a:p>
          <a:p>
            <a:endParaRPr lang="en-IE" dirty="0" smtClean="0"/>
          </a:p>
          <a:p>
            <a:endParaRPr lang="en-IE" dirty="0"/>
          </a:p>
        </p:txBody>
      </p:sp>
      <p:sp>
        <p:nvSpPr>
          <p:cNvPr id="24" name="TextBox 23"/>
          <p:cNvSpPr txBox="1"/>
          <p:nvPr/>
        </p:nvSpPr>
        <p:spPr>
          <a:xfrm>
            <a:off x="6482862" y="3141785"/>
            <a:ext cx="2286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 smtClean="0"/>
              <a:t>Distraction ( music)</a:t>
            </a:r>
          </a:p>
          <a:p>
            <a:r>
              <a:rPr lang="en-IE" dirty="0" smtClean="0"/>
              <a:t>Ground myself</a:t>
            </a:r>
          </a:p>
          <a:p>
            <a:r>
              <a:rPr lang="en-IE" dirty="0" smtClean="0"/>
              <a:t>Try be task orientated</a:t>
            </a:r>
          </a:p>
          <a:p>
            <a:r>
              <a:rPr lang="en-IE" dirty="0" smtClean="0"/>
              <a:t>Avoidance</a:t>
            </a:r>
          </a:p>
          <a:p>
            <a:r>
              <a:rPr lang="en-IE" dirty="0" smtClean="0"/>
              <a:t>Pause ( post work) </a:t>
            </a:r>
          </a:p>
          <a:p>
            <a:endParaRPr lang="en-IE" dirty="0" smtClean="0"/>
          </a:p>
          <a:p>
            <a:endParaRPr lang="en-IE" dirty="0"/>
          </a:p>
        </p:txBody>
      </p:sp>
      <p:sp>
        <p:nvSpPr>
          <p:cNvPr id="25" name="TextBox 24"/>
          <p:cNvSpPr txBox="1"/>
          <p:nvPr/>
        </p:nvSpPr>
        <p:spPr>
          <a:xfrm>
            <a:off x="3680286" y="5085987"/>
            <a:ext cx="22046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 smtClean="0"/>
              <a:t>Chest heavy, tight</a:t>
            </a:r>
          </a:p>
          <a:p>
            <a:r>
              <a:rPr lang="en-IE" dirty="0" smtClean="0"/>
              <a:t>Feel small ( age 5) </a:t>
            </a:r>
          </a:p>
          <a:p>
            <a:r>
              <a:rPr lang="en-IE" dirty="0" smtClean="0"/>
              <a:t>Shorter breath </a:t>
            </a:r>
          </a:p>
          <a:p>
            <a:r>
              <a:rPr lang="en-IE" dirty="0" smtClean="0"/>
              <a:t>Hands shaky </a:t>
            </a:r>
          </a:p>
          <a:p>
            <a:endParaRPr lang="en-IE" dirty="0" smtClean="0"/>
          </a:p>
          <a:p>
            <a:endParaRPr lang="en-IE" dirty="0" smtClean="0"/>
          </a:p>
          <a:p>
            <a:endParaRPr lang="en-IE" dirty="0" smtClean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46393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148A922B-1475-334B-B660-7C7042A417B5}"/>
              </a:ext>
            </a:extLst>
          </p:cNvPr>
          <p:cNvGrpSpPr/>
          <p:nvPr/>
        </p:nvGrpSpPr>
        <p:grpSpPr>
          <a:xfrm>
            <a:off x="100969" y="131966"/>
            <a:ext cx="8761677" cy="6254017"/>
            <a:chOff x="100969" y="131966"/>
            <a:chExt cx="9286445" cy="6254017"/>
          </a:xfrm>
        </p:grpSpPr>
        <p:sp>
          <p:nvSpPr>
            <p:cNvPr id="2" name="TextBox 1">
              <a:extLst>
                <a:ext uri="{FF2B5EF4-FFF2-40B4-BE49-F238E27FC236}">
                  <a16:creationId xmlns="" xmlns:a16="http://schemas.microsoft.com/office/drawing/2014/main" id="{EB89FFB0-3F89-834A-B869-AB119007C2DA}"/>
                </a:ext>
              </a:extLst>
            </p:cNvPr>
            <p:cNvSpPr txBox="1"/>
            <p:nvPr/>
          </p:nvSpPr>
          <p:spPr>
            <a:xfrm>
              <a:off x="100969" y="131966"/>
              <a:ext cx="26212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>
                  <a:latin typeface="Arial"/>
                  <a:cs typeface="Arial"/>
                </a:rPr>
                <a:t>Cross Sectional Formulation</a:t>
              </a:r>
              <a:endParaRPr lang="en-US" sz="1400" b="1" dirty="0">
                <a:latin typeface="Arial"/>
                <a:cs typeface="Arial"/>
              </a:endParaRPr>
            </a:p>
          </p:txBody>
        </p:sp>
        <p:sp>
          <p:nvSpPr>
            <p:cNvPr id="3" name="Oval 2">
              <a:extLst>
                <a:ext uri="{FF2B5EF4-FFF2-40B4-BE49-F238E27FC236}">
                  <a16:creationId xmlns="" xmlns:a16="http://schemas.microsoft.com/office/drawing/2014/main" id="{18A8440A-EFD9-D440-B7B6-2D13C473E354}"/>
                </a:ext>
              </a:extLst>
            </p:cNvPr>
            <p:cNvSpPr/>
            <p:nvPr/>
          </p:nvSpPr>
          <p:spPr>
            <a:xfrm>
              <a:off x="608887" y="713317"/>
              <a:ext cx="8778527" cy="567266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="" xmlns:a16="http://schemas.microsoft.com/office/drawing/2014/main" id="{A2FF2D9C-E7D2-8F45-AD1D-6A95E881379A}"/>
                </a:ext>
              </a:extLst>
            </p:cNvPr>
            <p:cNvSpPr/>
            <p:nvPr/>
          </p:nvSpPr>
          <p:spPr>
            <a:xfrm>
              <a:off x="3648295" y="1045634"/>
              <a:ext cx="2699711" cy="17445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="" xmlns:a16="http://schemas.microsoft.com/office/drawing/2014/main" id="{395E3FD8-D73A-404C-9F74-9CA604E39E56}"/>
                </a:ext>
              </a:extLst>
            </p:cNvPr>
            <p:cNvSpPr/>
            <p:nvPr/>
          </p:nvSpPr>
          <p:spPr>
            <a:xfrm>
              <a:off x="3648295" y="4358633"/>
              <a:ext cx="2699711" cy="17445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2BBD076F-C553-1142-9ACE-D4ACA3D1BA97}"/>
                </a:ext>
              </a:extLst>
            </p:cNvPr>
            <p:cNvSpPr/>
            <p:nvPr/>
          </p:nvSpPr>
          <p:spPr>
            <a:xfrm>
              <a:off x="6328834" y="2677376"/>
              <a:ext cx="2699711" cy="17445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0E62BEA8-C9CB-DB45-8B84-1420FB8F8BBE}"/>
                </a:ext>
              </a:extLst>
            </p:cNvPr>
            <p:cNvSpPr/>
            <p:nvPr/>
          </p:nvSpPr>
          <p:spPr>
            <a:xfrm>
              <a:off x="929412" y="2677376"/>
              <a:ext cx="2699711" cy="17445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FB70EFDB-6452-1A47-8C42-FF56342ED383}"/>
                </a:ext>
              </a:extLst>
            </p:cNvPr>
            <p:cNvCxnSpPr/>
            <p:nvPr/>
          </p:nvCxnSpPr>
          <p:spPr>
            <a:xfrm>
              <a:off x="5005917" y="2967567"/>
              <a:ext cx="0" cy="12382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="" xmlns:a16="http://schemas.microsoft.com/office/drawing/2014/main" id="{52DD4615-48E5-AE41-A593-6C0C6AAAA951}"/>
                </a:ext>
              </a:extLst>
            </p:cNvPr>
            <p:cNvCxnSpPr/>
            <p:nvPr/>
          </p:nvCxnSpPr>
          <p:spPr>
            <a:xfrm>
              <a:off x="3915833" y="3549650"/>
              <a:ext cx="214841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="" xmlns:a16="http://schemas.microsoft.com/office/drawing/2014/main" id="{499AF6E9-D861-A340-89E2-56B670A4B980}"/>
                </a:ext>
              </a:extLst>
            </p:cNvPr>
            <p:cNvCxnSpPr/>
            <p:nvPr/>
          </p:nvCxnSpPr>
          <p:spPr>
            <a:xfrm flipV="1">
              <a:off x="3386667" y="2533650"/>
              <a:ext cx="508000" cy="3492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6AA3C4FC-4CF4-644A-B0BA-C2CC547FFE3A}"/>
                </a:ext>
              </a:extLst>
            </p:cNvPr>
            <p:cNvCxnSpPr/>
            <p:nvPr/>
          </p:nvCxnSpPr>
          <p:spPr>
            <a:xfrm flipH="1" flipV="1">
              <a:off x="6094006" y="2533650"/>
              <a:ext cx="508000" cy="3492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="" xmlns:a16="http://schemas.microsoft.com/office/drawing/2014/main" id="{FADD4890-6251-0442-8C16-8532D2E5AEB9}"/>
                </a:ext>
              </a:extLst>
            </p:cNvPr>
            <p:cNvCxnSpPr/>
            <p:nvPr/>
          </p:nvCxnSpPr>
          <p:spPr>
            <a:xfrm>
              <a:off x="3390905" y="4205174"/>
              <a:ext cx="508000" cy="3492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="" xmlns:a16="http://schemas.microsoft.com/office/drawing/2014/main" id="{A188DB36-9297-BA4F-A44C-BA05D37065B7}"/>
                </a:ext>
              </a:extLst>
            </p:cNvPr>
            <p:cNvCxnSpPr/>
            <p:nvPr/>
          </p:nvCxnSpPr>
          <p:spPr>
            <a:xfrm flipH="1">
              <a:off x="6098244" y="4205174"/>
              <a:ext cx="508000" cy="3492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85A207A0-F8CF-614A-99AD-77FC4DD67A54}"/>
                </a:ext>
              </a:extLst>
            </p:cNvPr>
            <p:cNvSpPr txBox="1"/>
            <p:nvPr/>
          </p:nvSpPr>
          <p:spPr>
            <a:xfrm>
              <a:off x="4389967" y="1065995"/>
              <a:ext cx="12319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Arial"/>
                  <a:cs typeface="Arial"/>
                </a:rPr>
                <a:t>Thoughts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B4F6E85E-003E-BB4B-A0F4-A1B1D6254E45}"/>
                </a:ext>
              </a:extLst>
            </p:cNvPr>
            <p:cNvSpPr txBox="1"/>
            <p:nvPr/>
          </p:nvSpPr>
          <p:spPr>
            <a:xfrm>
              <a:off x="7061206" y="2714040"/>
              <a:ext cx="12319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Arial"/>
                  <a:cs typeface="Arial"/>
                </a:rPr>
                <a:t>Behavior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1703C8F8-CC11-784F-87F8-D74372734C99}"/>
                </a:ext>
              </a:extLst>
            </p:cNvPr>
            <p:cNvSpPr txBox="1"/>
            <p:nvPr/>
          </p:nvSpPr>
          <p:spPr>
            <a:xfrm>
              <a:off x="4389967" y="4398697"/>
              <a:ext cx="12319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Arial"/>
                  <a:cs typeface="Arial"/>
                </a:rPr>
                <a:t>Bodily sensations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FD2117E1-FA07-3C40-8FCE-C388D4AAF057}"/>
                </a:ext>
              </a:extLst>
            </p:cNvPr>
            <p:cNvSpPr txBox="1"/>
            <p:nvPr/>
          </p:nvSpPr>
          <p:spPr>
            <a:xfrm>
              <a:off x="1631952" y="2729011"/>
              <a:ext cx="12319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Arial"/>
                  <a:cs typeface="Arial"/>
                </a:rPr>
                <a:t>Emotions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6826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148A922B-1475-334B-B660-7C7042A417B5}"/>
              </a:ext>
            </a:extLst>
          </p:cNvPr>
          <p:cNvGrpSpPr/>
          <p:nvPr/>
        </p:nvGrpSpPr>
        <p:grpSpPr>
          <a:xfrm>
            <a:off x="100969" y="131966"/>
            <a:ext cx="8761677" cy="6254017"/>
            <a:chOff x="100969" y="131966"/>
            <a:chExt cx="9286445" cy="6254017"/>
          </a:xfrm>
        </p:grpSpPr>
        <p:sp>
          <p:nvSpPr>
            <p:cNvPr id="2" name="TextBox 1">
              <a:extLst>
                <a:ext uri="{FF2B5EF4-FFF2-40B4-BE49-F238E27FC236}">
                  <a16:creationId xmlns="" xmlns:a16="http://schemas.microsoft.com/office/drawing/2014/main" id="{EB89FFB0-3F89-834A-B869-AB119007C2DA}"/>
                </a:ext>
              </a:extLst>
            </p:cNvPr>
            <p:cNvSpPr txBox="1"/>
            <p:nvPr/>
          </p:nvSpPr>
          <p:spPr>
            <a:xfrm>
              <a:off x="100969" y="131966"/>
              <a:ext cx="26212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>
                  <a:latin typeface="Arial"/>
                  <a:cs typeface="Arial"/>
                </a:rPr>
                <a:t>Cross Sectional Formulation</a:t>
              </a:r>
              <a:endParaRPr lang="en-US" sz="1400" b="1" dirty="0">
                <a:latin typeface="Arial"/>
                <a:cs typeface="Arial"/>
              </a:endParaRPr>
            </a:p>
          </p:txBody>
        </p:sp>
        <p:sp>
          <p:nvSpPr>
            <p:cNvPr id="3" name="Oval 2">
              <a:extLst>
                <a:ext uri="{FF2B5EF4-FFF2-40B4-BE49-F238E27FC236}">
                  <a16:creationId xmlns="" xmlns:a16="http://schemas.microsoft.com/office/drawing/2014/main" id="{18A8440A-EFD9-D440-B7B6-2D13C473E354}"/>
                </a:ext>
              </a:extLst>
            </p:cNvPr>
            <p:cNvSpPr/>
            <p:nvPr/>
          </p:nvSpPr>
          <p:spPr>
            <a:xfrm>
              <a:off x="608887" y="713317"/>
              <a:ext cx="8778527" cy="567266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="" xmlns:a16="http://schemas.microsoft.com/office/drawing/2014/main" id="{A2FF2D9C-E7D2-8F45-AD1D-6A95E881379A}"/>
                </a:ext>
              </a:extLst>
            </p:cNvPr>
            <p:cNvSpPr/>
            <p:nvPr/>
          </p:nvSpPr>
          <p:spPr>
            <a:xfrm>
              <a:off x="3648295" y="1045634"/>
              <a:ext cx="2699711" cy="17445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="" xmlns:a16="http://schemas.microsoft.com/office/drawing/2014/main" id="{395E3FD8-D73A-404C-9F74-9CA604E39E56}"/>
                </a:ext>
              </a:extLst>
            </p:cNvPr>
            <p:cNvSpPr/>
            <p:nvPr/>
          </p:nvSpPr>
          <p:spPr>
            <a:xfrm>
              <a:off x="3648295" y="4358633"/>
              <a:ext cx="2699711" cy="17445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2BBD076F-C553-1142-9ACE-D4ACA3D1BA97}"/>
                </a:ext>
              </a:extLst>
            </p:cNvPr>
            <p:cNvSpPr/>
            <p:nvPr/>
          </p:nvSpPr>
          <p:spPr>
            <a:xfrm>
              <a:off x="6328834" y="2677376"/>
              <a:ext cx="2699711" cy="17445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0E62BEA8-C9CB-DB45-8B84-1420FB8F8BBE}"/>
                </a:ext>
              </a:extLst>
            </p:cNvPr>
            <p:cNvSpPr/>
            <p:nvPr/>
          </p:nvSpPr>
          <p:spPr>
            <a:xfrm>
              <a:off x="929412" y="2677376"/>
              <a:ext cx="2699711" cy="17445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FB70EFDB-6452-1A47-8C42-FF56342ED383}"/>
                </a:ext>
              </a:extLst>
            </p:cNvPr>
            <p:cNvCxnSpPr/>
            <p:nvPr/>
          </p:nvCxnSpPr>
          <p:spPr>
            <a:xfrm>
              <a:off x="5005917" y="2967567"/>
              <a:ext cx="0" cy="12382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="" xmlns:a16="http://schemas.microsoft.com/office/drawing/2014/main" id="{52DD4615-48E5-AE41-A593-6C0C6AAAA951}"/>
                </a:ext>
              </a:extLst>
            </p:cNvPr>
            <p:cNvCxnSpPr/>
            <p:nvPr/>
          </p:nvCxnSpPr>
          <p:spPr>
            <a:xfrm>
              <a:off x="3915833" y="3549650"/>
              <a:ext cx="214841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="" xmlns:a16="http://schemas.microsoft.com/office/drawing/2014/main" id="{499AF6E9-D861-A340-89E2-56B670A4B980}"/>
                </a:ext>
              </a:extLst>
            </p:cNvPr>
            <p:cNvCxnSpPr/>
            <p:nvPr/>
          </p:nvCxnSpPr>
          <p:spPr>
            <a:xfrm flipV="1">
              <a:off x="3386667" y="2533650"/>
              <a:ext cx="508000" cy="3492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6AA3C4FC-4CF4-644A-B0BA-C2CC547FFE3A}"/>
                </a:ext>
              </a:extLst>
            </p:cNvPr>
            <p:cNvCxnSpPr/>
            <p:nvPr/>
          </p:nvCxnSpPr>
          <p:spPr>
            <a:xfrm flipH="1" flipV="1">
              <a:off x="6094006" y="2533650"/>
              <a:ext cx="508000" cy="3492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="" xmlns:a16="http://schemas.microsoft.com/office/drawing/2014/main" id="{FADD4890-6251-0442-8C16-8532D2E5AEB9}"/>
                </a:ext>
              </a:extLst>
            </p:cNvPr>
            <p:cNvCxnSpPr/>
            <p:nvPr/>
          </p:nvCxnSpPr>
          <p:spPr>
            <a:xfrm>
              <a:off x="3390905" y="4205174"/>
              <a:ext cx="508000" cy="3492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="" xmlns:a16="http://schemas.microsoft.com/office/drawing/2014/main" id="{A188DB36-9297-BA4F-A44C-BA05D37065B7}"/>
                </a:ext>
              </a:extLst>
            </p:cNvPr>
            <p:cNvCxnSpPr/>
            <p:nvPr/>
          </p:nvCxnSpPr>
          <p:spPr>
            <a:xfrm flipH="1">
              <a:off x="6098244" y="4205174"/>
              <a:ext cx="508000" cy="3492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85A207A0-F8CF-614A-99AD-77FC4DD67A54}"/>
                </a:ext>
              </a:extLst>
            </p:cNvPr>
            <p:cNvSpPr txBox="1"/>
            <p:nvPr/>
          </p:nvSpPr>
          <p:spPr>
            <a:xfrm>
              <a:off x="4389967" y="1065995"/>
              <a:ext cx="12319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Arial"/>
                  <a:cs typeface="Arial"/>
                </a:rPr>
                <a:t>Thoughts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B4F6E85E-003E-BB4B-A0F4-A1B1D6254E45}"/>
                </a:ext>
              </a:extLst>
            </p:cNvPr>
            <p:cNvSpPr txBox="1"/>
            <p:nvPr/>
          </p:nvSpPr>
          <p:spPr>
            <a:xfrm>
              <a:off x="7061206" y="2714040"/>
              <a:ext cx="12319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Arial"/>
                  <a:cs typeface="Arial"/>
                </a:rPr>
                <a:t>Behavior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1703C8F8-CC11-784F-87F8-D74372734C99}"/>
                </a:ext>
              </a:extLst>
            </p:cNvPr>
            <p:cNvSpPr txBox="1"/>
            <p:nvPr/>
          </p:nvSpPr>
          <p:spPr>
            <a:xfrm>
              <a:off x="4389967" y="4398697"/>
              <a:ext cx="12319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Arial"/>
                  <a:cs typeface="Arial"/>
                </a:rPr>
                <a:t>Bodily sensations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FD2117E1-FA07-3C40-8FCE-C388D4AAF057}"/>
                </a:ext>
              </a:extLst>
            </p:cNvPr>
            <p:cNvSpPr txBox="1"/>
            <p:nvPr/>
          </p:nvSpPr>
          <p:spPr>
            <a:xfrm>
              <a:off x="1631952" y="2729011"/>
              <a:ext cx="12319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Arial"/>
                  <a:cs typeface="Arial"/>
                </a:rPr>
                <a:t>Emotions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09262522-DA36-DB49-AB98-A0105DA03001}"/>
              </a:ext>
            </a:extLst>
          </p:cNvPr>
          <p:cNvSpPr txBox="1"/>
          <p:nvPr/>
        </p:nvSpPr>
        <p:spPr>
          <a:xfrm>
            <a:off x="100969" y="419665"/>
            <a:ext cx="301991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10A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Situation / Trigger:</a:t>
            </a:r>
          </a:p>
          <a:p>
            <a:r>
              <a:rPr lang="en-US" sz="1100" dirty="0">
                <a:solidFill>
                  <a:srgbClr val="010A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Looking through a box of letters and saw one from my sister. I had a picture in my </a:t>
            </a:r>
          </a:p>
          <a:p>
            <a:r>
              <a:rPr lang="en-US" sz="1100" dirty="0">
                <a:solidFill>
                  <a:srgbClr val="010A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mind of my family being</a:t>
            </a:r>
          </a:p>
          <a:p>
            <a:r>
              <a:rPr lang="en-US" sz="1100" dirty="0">
                <a:solidFill>
                  <a:srgbClr val="010A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killed in an accident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6A9BA86A-9EDD-7C4B-AB5E-B8E1D202AC70}"/>
              </a:ext>
            </a:extLst>
          </p:cNvPr>
          <p:cNvSpPr txBox="1"/>
          <p:nvPr/>
        </p:nvSpPr>
        <p:spPr>
          <a:xfrm>
            <a:off x="3565059" y="1596621"/>
            <a:ext cx="22974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10A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I’m horrible for thinking that.</a:t>
            </a:r>
          </a:p>
          <a:p>
            <a:pPr algn="ctr"/>
            <a:r>
              <a:rPr lang="en-US" sz="1100" dirty="0">
                <a:solidFill>
                  <a:srgbClr val="010A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it happens it will be my fault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A434E9AA-34CF-8E4B-B8FF-74F1E261C57D}"/>
              </a:ext>
            </a:extLst>
          </p:cNvPr>
          <p:cNvSpPr txBox="1"/>
          <p:nvPr/>
        </p:nvSpPr>
        <p:spPr>
          <a:xfrm>
            <a:off x="3580037" y="5029809"/>
            <a:ext cx="229741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10A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Heart beating faster</a:t>
            </a:r>
          </a:p>
          <a:p>
            <a:pPr algn="ctr"/>
            <a:r>
              <a:rPr lang="en-US" sz="1100" dirty="0">
                <a:solidFill>
                  <a:srgbClr val="010A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Mentally alert</a:t>
            </a:r>
          </a:p>
          <a:p>
            <a:pPr algn="ctr"/>
            <a:r>
              <a:rPr lang="en-US" sz="1100" dirty="0">
                <a:solidFill>
                  <a:srgbClr val="010A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Lump in throat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BF1B4305-BCF6-F147-9BFA-ED4DA9E6840C}"/>
              </a:ext>
            </a:extLst>
          </p:cNvPr>
          <p:cNvSpPr txBox="1"/>
          <p:nvPr/>
        </p:nvSpPr>
        <p:spPr>
          <a:xfrm>
            <a:off x="6100327" y="3249568"/>
            <a:ext cx="229741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10A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Say a prayer for their safety</a:t>
            </a:r>
          </a:p>
          <a:p>
            <a:pPr algn="ctr"/>
            <a:r>
              <a:rPr lang="en-US" sz="1100" dirty="0">
                <a:solidFill>
                  <a:srgbClr val="010A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can’t stop until I have said the</a:t>
            </a:r>
          </a:p>
          <a:p>
            <a:pPr algn="ctr"/>
            <a:r>
              <a:rPr lang="en-US" sz="1100" dirty="0">
                <a:solidFill>
                  <a:srgbClr val="010A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prayer an even number of times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42E3C6C9-219A-8B42-982B-512E54A72C15}"/>
              </a:ext>
            </a:extLst>
          </p:cNvPr>
          <p:cNvSpPr txBox="1"/>
          <p:nvPr/>
        </p:nvSpPr>
        <p:spPr>
          <a:xfrm>
            <a:off x="1007467" y="3371770"/>
            <a:ext cx="22974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10A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Afraid</a:t>
            </a:r>
          </a:p>
          <a:p>
            <a:pPr algn="ctr"/>
            <a:r>
              <a:rPr lang="en-US" sz="1100" dirty="0">
                <a:solidFill>
                  <a:srgbClr val="010A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Disgusted with myself</a:t>
            </a:r>
          </a:p>
        </p:txBody>
      </p:sp>
    </p:spTree>
    <p:extLst>
      <p:ext uri="{BB962C8B-B14F-4D97-AF65-F5344CB8AC3E}">
        <p14:creationId xmlns:p14="http://schemas.microsoft.com/office/powerpoint/2010/main" val="444476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148A922B-1475-334B-B660-7C7042A417B5}"/>
              </a:ext>
            </a:extLst>
          </p:cNvPr>
          <p:cNvGrpSpPr/>
          <p:nvPr/>
        </p:nvGrpSpPr>
        <p:grpSpPr>
          <a:xfrm>
            <a:off x="100969" y="131966"/>
            <a:ext cx="8761677" cy="6254017"/>
            <a:chOff x="100969" y="131966"/>
            <a:chExt cx="9286445" cy="6254017"/>
          </a:xfrm>
        </p:grpSpPr>
        <p:sp>
          <p:nvSpPr>
            <p:cNvPr id="2" name="TextBox 1">
              <a:extLst>
                <a:ext uri="{FF2B5EF4-FFF2-40B4-BE49-F238E27FC236}">
                  <a16:creationId xmlns="" xmlns:a16="http://schemas.microsoft.com/office/drawing/2014/main" id="{EB89FFB0-3F89-834A-B869-AB119007C2DA}"/>
                </a:ext>
              </a:extLst>
            </p:cNvPr>
            <p:cNvSpPr txBox="1"/>
            <p:nvPr/>
          </p:nvSpPr>
          <p:spPr>
            <a:xfrm>
              <a:off x="100969" y="131966"/>
              <a:ext cx="26212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>
                  <a:latin typeface="Arial"/>
                  <a:cs typeface="Arial"/>
                </a:rPr>
                <a:t>Cross Sectional Formulation</a:t>
              </a:r>
              <a:endParaRPr lang="en-US" sz="1400" b="1" dirty="0">
                <a:latin typeface="Arial"/>
                <a:cs typeface="Arial"/>
              </a:endParaRPr>
            </a:p>
          </p:txBody>
        </p:sp>
        <p:sp>
          <p:nvSpPr>
            <p:cNvPr id="3" name="Oval 2">
              <a:extLst>
                <a:ext uri="{FF2B5EF4-FFF2-40B4-BE49-F238E27FC236}">
                  <a16:creationId xmlns="" xmlns:a16="http://schemas.microsoft.com/office/drawing/2014/main" id="{18A8440A-EFD9-D440-B7B6-2D13C473E354}"/>
                </a:ext>
              </a:extLst>
            </p:cNvPr>
            <p:cNvSpPr/>
            <p:nvPr/>
          </p:nvSpPr>
          <p:spPr>
            <a:xfrm>
              <a:off x="608887" y="713317"/>
              <a:ext cx="8778527" cy="567266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="" xmlns:a16="http://schemas.microsoft.com/office/drawing/2014/main" id="{A2FF2D9C-E7D2-8F45-AD1D-6A95E881379A}"/>
                </a:ext>
              </a:extLst>
            </p:cNvPr>
            <p:cNvSpPr/>
            <p:nvPr/>
          </p:nvSpPr>
          <p:spPr>
            <a:xfrm>
              <a:off x="3648295" y="1045634"/>
              <a:ext cx="2699711" cy="17445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="" xmlns:a16="http://schemas.microsoft.com/office/drawing/2014/main" id="{395E3FD8-D73A-404C-9F74-9CA604E39E56}"/>
                </a:ext>
              </a:extLst>
            </p:cNvPr>
            <p:cNvSpPr/>
            <p:nvPr/>
          </p:nvSpPr>
          <p:spPr>
            <a:xfrm>
              <a:off x="3648295" y="4358633"/>
              <a:ext cx="2699711" cy="17445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2BBD076F-C553-1142-9ACE-D4ACA3D1BA97}"/>
                </a:ext>
              </a:extLst>
            </p:cNvPr>
            <p:cNvSpPr/>
            <p:nvPr/>
          </p:nvSpPr>
          <p:spPr>
            <a:xfrm>
              <a:off x="6328834" y="2677376"/>
              <a:ext cx="2699711" cy="17445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0E62BEA8-C9CB-DB45-8B84-1420FB8F8BBE}"/>
                </a:ext>
              </a:extLst>
            </p:cNvPr>
            <p:cNvSpPr/>
            <p:nvPr/>
          </p:nvSpPr>
          <p:spPr>
            <a:xfrm>
              <a:off x="929412" y="2677376"/>
              <a:ext cx="2699711" cy="17445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FB70EFDB-6452-1A47-8C42-FF56342ED383}"/>
                </a:ext>
              </a:extLst>
            </p:cNvPr>
            <p:cNvCxnSpPr/>
            <p:nvPr/>
          </p:nvCxnSpPr>
          <p:spPr>
            <a:xfrm>
              <a:off x="5005917" y="2967567"/>
              <a:ext cx="0" cy="12382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="" xmlns:a16="http://schemas.microsoft.com/office/drawing/2014/main" id="{52DD4615-48E5-AE41-A593-6C0C6AAAA951}"/>
                </a:ext>
              </a:extLst>
            </p:cNvPr>
            <p:cNvCxnSpPr/>
            <p:nvPr/>
          </p:nvCxnSpPr>
          <p:spPr>
            <a:xfrm>
              <a:off x="3915833" y="3549650"/>
              <a:ext cx="214841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="" xmlns:a16="http://schemas.microsoft.com/office/drawing/2014/main" id="{499AF6E9-D861-A340-89E2-56B670A4B980}"/>
                </a:ext>
              </a:extLst>
            </p:cNvPr>
            <p:cNvCxnSpPr/>
            <p:nvPr/>
          </p:nvCxnSpPr>
          <p:spPr>
            <a:xfrm flipV="1">
              <a:off x="3386667" y="2533650"/>
              <a:ext cx="508000" cy="3492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6AA3C4FC-4CF4-644A-B0BA-C2CC547FFE3A}"/>
                </a:ext>
              </a:extLst>
            </p:cNvPr>
            <p:cNvCxnSpPr/>
            <p:nvPr/>
          </p:nvCxnSpPr>
          <p:spPr>
            <a:xfrm flipH="1" flipV="1">
              <a:off x="6094006" y="2533650"/>
              <a:ext cx="508000" cy="3492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="" xmlns:a16="http://schemas.microsoft.com/office/drawing/2014/main" id="{FADD4890-6251-0442-8C16-8532D2E5AEB9}"/>
                </a:ext>
              </a:extLst>
            </p:cNvPr>
            <p:cNvCxnSpPr/>
            <p:nvPr/>
          </p:nvCxnSpPr>
          <p:spPr>
            <a:xfrm>
              <a:off x="3390905" y="4205174"/>
              <a:ext cx="508000" cy="3492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="" xmlns:a16="http://schemas.microsoft.com/office/drawing/2014/main" id="{A188DB36-9297-BA4F-A44C-BA05D37065B7}"/>
                </a:ext>
              </a:extLst>
            </p:cNvPr>
            <p:cNvCxnSpPr/>
            <p:nvPr/>
          </p:nvCxnSpPr>
          <p:spPr>
            <a:xfrm flipH="1">
              <a:off x="6098244" y="4205174"/>
              <a:ext cx="508000" cy="3492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85A207A0-F8CF-614A-99AD-77FC4DD67A54}"/>
                </a:ext>
              </a:extLst>
            </p:cNvPr>
            <p:cNvSpPr txBox="1"/>
            <p:nvPr/>
          </p:nvSpPr>
          <p:spPr>
            <a:xfrm>
              <a:off x="4389967" y="1065995"/>
              <a:ext cx="12319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Arial"/>
                  <a:cs typeface="Arial"/>
                </a:rPr>
                <a:t>Thoughts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B4F6E85E-003E-BB4B-A0F4-A1B1D6254E45}"/>
                </a:ext>
              </a:extLst>
            </p:cNvPr>
            <p:cNvSpPr txBox="1"/>
            <p:nvPr/>
          </p:nvSpPr>
          <p:spPr>
            <a:xfrm>
              <a:off x="7061206" y="2714040"/>
              <a:ext cx="12319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Arial"/>
                  <a:cs typeface="Arial"/>
                </a:rPr>
                <a:t>Behavior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1703C8F8-CC11-784F-87F8-D74372734C99}"/>
                </a:ext>
              </a:extLst>
            </p:cNvPr>
            <p:cNvSpPr txBox="1"/>
            <p:nvPr/>
          </p:nvSpPr>
          <p:spPr>
            <a:xfrm>
              <a:off x="4389967" y="4398697"/>
              <a:ext cx="12319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Arial"/>
                  <a:cs typeface="Arial"/>
                </a:rPr>
                <a:t>Bodily sensations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FD2117E1-FA07-3C40-8FCE-C388D4AAF057}"/>
                </a:ext>
              </a:extLst>
            </p:cNvPr>
            <p:cNvSpPr txBox="1"/>
            <p:nvPr/>
          </p:nvSpPr>
          <p:spPr>
            <a:xfrm>
              <a:off x="1631952" y="2729011"/>
              <a:ext cx="12319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Arial"/>
                  <a:cs typeface="Arial"/>
                </a:rPr>
                <a:t>Emotions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4A601490-256C-614D-8101-5C83F7955735}"/>
              </a:ext>
            </a:extLst>
          </p:cNvPr>
          <p:cNvSpPr txBox="1"/>
          <p:nvPr/>
        </p:nvSpPr>
        <p:spPr>
          <a:xfrm>
            <a:off x="100969" y="419665"/>
            <a:ext cx="301991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10A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Situation / Trigger:</a:t>
            </a:r>
          </a:p>
          <a:p>
            <a:r>
              <a:rPr lang="en-US" sz="1100" dirty="0">
                <a:solidFill>
                  <a:srgbClr val="010A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Looking for jobs online when my computer</a:t>
            </a:r>
          </a:p>
          <a:p>
            <a:r>
              <a:rPr lang="en-US" sz="1100" dirty="0">
                <a:solidFill>
                  <a:srgbClr val="010A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stops working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FDEF72EF-A819-3540-B5A0-95D61C8A6076}"/>
              </a:ext>
            </a:extLst>
          </p:cNvPr>
          <p:cNvSpPr txBox="1"/>
          <p:nvPr/>
        </p:nvSpPr>
        <p:spPr>
          <a:xfrm>
            <a:off x="3580037" y="1583218"/>
            <a:ext cx="22974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10A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hopeless.</a:t>
            </a:r>
          </a:p>
          <a:p>
            <a:pPr algn="ctr"/>
            <a:r>
              <a:rPr lang="en-US" sz="1100" dirty="0">
                <a:solidFill>
                  <a:srgbClr val="010A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Nothing ever goes right</a:t>
            </a:r>
          </a:p>
          <a:p>
            <a:pPr algn="ctr"/>
            <a:r>
              <a:rPr lang="en-US" sz="1100" dirty="0">
                <a:solidFill>
                  <a:srgbClr val="010A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What’s the point in me even</a:t>
            </a:r>
          </a:p>
          <a:p>
            <a:pPr algn="ctr"/>
            <a:r>
              <a:rPr lang="en-US" sz="1100" dirty="0">
                <a:solidFill>
                  <a:srgbClr val="010A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trying?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5A9681DC-686C-9F47-8276-A876F0DF059E}"/>
              </a:ext>
            </a:extLst>
          </p:cNvPr>
          <p:cNvSpPr txBox="1"/>
          <p:nvPr/>
        </p:nvSpPr>
        <p:spPr>
          <a:xfrm>
            <a:off x="3563541" y="5014799"/>
            <a:ext cx="2297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10A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Heavy feeling in my chest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213C47BB-65B2-9749-80D3-794B1BBF68E4}"/>
              </a:ext>
            </a:extLst>
          </p:cNvPr>
          <p:cNvSpPr txBox="1"/>
          <p:nvPr/>
        </p:nvSpPr>
        <p:spPr>
          <a:xfrm>
            <a:off x="6089774" y="3318817"/>
            <a:ext cx="22974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10A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Throw computer</a:t>
            </a:r>
          </a:p>
          <a:p>
            <a:pPr algn="ctr"/>
            <a:r>
              <a:rPr lang="en-US" sz="1100" dirty="0">
                <a:solidFill>
                  <a:srgbClr val="010A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 back to bed and cry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4E86231A-9857-8141-A373-E6EE9766B653}"/>
              </a:ext>
            </a:extLst>
          </p:cNvPr>
          <p:cNvSpPr txBox="1"/>
          <p:nvPr/>
        </p:nvSpPr>
        <p:spPr>
          <a:xfrm>
            <a:off x="1003237" y="3335994"/>
            <a:ext cx="2297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10A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Angry, sad, deflated, anxious</a:t>
            </a:r>
          </a:p>
        </p:txBody>
      </p:sp>
    </p:spTree>
    <p:extLst>
      <p:ext uri="{BB962C8B-B14F-4D97-AF65-F5344CB8AC3E}">
        <p14:creationId xmlns:p14="http://schemas.microsoft.com/office/powerpoint/2010/main" val="736703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</TotalTime>
  <Words>234</Words>
  <Application>Microsoft Office PowerPoint</Application>
  <PresentationFormat>Letter Paper (8.5x11 in)</PresentationFormat>
  <Paragraphs>70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Matthew Whalley</dc:creator>
  <cp:lastModifiedBy>Rogers, Katie, UHG</cp:lastModifiedBy>
  <cp:revision>16</cp:revision>
  <dcterms:created xsi:type="dcterms:W3CDTF">2018-09-24T14:43:13Z</dcterms:created>
  <dcterms:modified xsi:type="dcterms:W3CDTF">2020-10-26T19:34:47Z</dcterms:modified>
</cp:coreProperties>
</file>