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588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7D60C-CA30-4418-956C-2BD0E88CE44F}" type="datetimeFigureOut">
              <a:rPr lang="en-GB" smtClean="0"/>
              <a:t>28/10/2011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3ACEA-43AF-47CC-899E-28D017AA7B2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7D60C-CA30-4418-956C-2BD0E88CE44F}" type="datetimeFigureOut">
              <a:rPr lang="en-GB" smtClean="0"/>
              <a:t>28/10/2011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3ACEA-43AF-47CC-899E-28D017AA7B2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7D60C-CA30-4418-956C-2BD0E88CE44F}" type="datetimeFigureOut">
              <a:rPr lang="en-GB" smtClean="0"/>
              <a:t>28/10/2011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3ACEA-43AF-47CC-899E-28D017AA7B2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7D60C-CA30-4418-956C-2BD0E88CE44F}" type="datetimeFigureOut">
              <a:rPr lang="en-GB" smtClean="0"/>
              <a:t>28/10/2011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3ACEA-43AF-47CC-899E-28D017AA7B2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7D60C-CA30-4418-956C-2BD0E88CE44F}" type="datetimeFigureOut">
              <a:rPr lang="en-GB" smtClean="0"/>
              <a:t>28/10/2011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3ACEA-43AF-47CC-899E-28D017AA7B2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7D60C-CA30-4418-956C-2BD0E88CE44F}" type="datetimeFigureOut">
              <a:rPr lang="en-GB" smtClean="0"/>
              <a:t>28/10/2011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3ACEA-43AF-47CC-899E-28D017AA7B2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7D60C-CA30-4418-956C-2BD0E88CE44F}" type="datetimeFigureOut">
              <a:rPr lang="en-GB" smtClean="0"/>
              <a:t>28/10/2011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3ACEA-43AF-47CC-899E-28D017AA7B2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7D60C-CA30-4418-956C-2BD0E88CE44F}" type="datetimeFigureOut">
              <a:rPr lang="en-GB" smtClean="0"/>
              <a:t>28/10/2011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3ACEA-43AF-47CC-899E-28D017AA7B2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7D60C-CA30-4418-956C-2BD0E88CE44F}" type="datetimeFigureOut">
              <a:rPr lang="en-GB" smtClean="0"/>
              <a:t>28/10/2011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3ACEA-43AF-47CC-899E-28D017AA7B2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7D60C-CA30-4418-956C-2BD0E88CE44F}" type="datetimeFigureOut">
              <a:rPr lang="en-GB" smtClean="0"/>
              <a:t>28/10/2011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3ACEA-43AF-47CC-899E-28D017AA7B2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7D60C-CA30-4418-956C-2BD0E88CE44F}" type="datetimeFigureOut">
              <a:rPr lang="en-GB" smtClean="0"/>
              <a:t>28/10/2011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3ACEA-43AF-47CC-899E-28D017AA7B2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7D60C-CA30-4418-956C-2BD0E88CE44F}" type="datetimeFigureOut">
              <a:rPr lang="en-GB" smtClean="0"/>
              <a:t>28/10/2011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53ACEA-43AF-47CC-899E-28D017AA7B2D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266268" y="1484784"/>
            <a:ext cx="8626212" cy="609600"/>
          </a:xfrm>
          <a:prstGeom prst="roundRect">
            <a:avLst>
              <a:gd name="adj" fmla="val 21100"/>
            </a:avLst>
          </a:prstGeom>
          <a:solidFill>
            <a:srgbClr val="93D76E"/>
          </a:solidFill>
          <a:ln>
            <a:solidFill>
              <a:srgbClr val="0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Rounding – to the nearest 10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83112" y="2206596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29" name="Line 7"/>
          <p:cNvSpPr>
            <a:spLocks noChangeShapeType="1"/>
          </p:cNvSpPr>
          <p:nvPr/>
        </p:nvSpPr>
        <p:spPr bwMode="auto">
          <a:xfrm>
            <a:off x="1518168" y="2276872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36" name="Text Box 30"/>
          <p:cNvSpPr txBox="1">
            <a:spLocks noChangeArrowheads="1"/>
          </p:cNvSpPr>
          <p:nvPr/>
        </p:nvSpPr>
        <p:spPr bwMode="auto">
          <a:xfrm>
            <a:off x="3995936" y="3356992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  <a:endParaRPr lang="en-GB" sz="20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37" name="Text Box 4"/>
          <p:cNvSpPr txBox="1">
            <a:spLocks noChangeArrowheads="1"/>
          </p:cNvSpPr>
          <p:nvPr/>
        </p:nvSpPr>
        <p:spPr bwMode="auto">
          <a:xfrm>
            <a:off x="395536" y="2319384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>
                <a:latin typeface="+mj-lt"/>
              </a:rPr>
              <a:t>4 </a:t>
            </a:r>
            <a:r>
              <a:rPr lang="en-GB" sz="4000" dirty="0" smtClean="0">
                <a:latin typeface="+mj-lt"/>
              </a:rPr>
              <a:t>8 </a:t>
            </a:r>
            <a:r>
              <a:rPr lang="en-GB" sz="4000" dirty="0">
                <a:latin typeface="+mj-lt"/>
              </a:rPr>
              <a:t>3 </a:t>
            </a:r>
            <a:r>
              <a:rPr lang="en-GB" sz="4000" dirty="0" smtClean="0">
                <a:latin typeface="+mj-lt"/>
              </a:rPr>
              <a:t>2</a:t>
            </a:r>
            <a:endParaRPr lang="en-GB" sz="4000" dirty="0">
              <a:latin typeface="+mj-lt"/>
            </a:endParaRPr>
          </a:p>
        </p:txBody>
      </p:sp>
      <p:sp>
        <p:nvSpPr>
          <p:cNvPr id="38" name="Text Box 30"/>
          <p:cNvSpPr txBox="1">
            <a:spLocks noChangeArrowheads="1"/>
          </p:cNvSpPr>
          <p:nvPr/>
        </p:nvSpPr>
        <p:spPr bwMode="auto">
          <a:xfrm>
            <a:off x="1043608" y="3356992"/>
            <a:ext cx="576064" cy="406400"/>
          </a:xfrm>
          <a:prstGeom prst="rect">
            <a:avLst/>
          </a:prstGeom>
          <a:solidFill>
            <a:srgbClr val="99FF66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rgbClr val="009900"/>
                </a:solidFill>
                <a:latin typeface="+mj-lt"/>
              </a:rPr>
              <a:t>No</a:t>
            </a:r>
            <a:endParaRPr lang="en-GB" sz="2000" dirty="0">
              <a:solidFill>
                <a:srgbClr val="009900"/>
              </a:solidFill>
              <a:latin typeface="+mj-lt"/>
            </a:endParaRPr>
          </a:p>
        </p:txBody>
      </p:sp>
      <p:grpSp>
        <p:nvGrpSpPr>
          <p:cNvPr id="2" name="Group 40"/>
          <p:cNvGrpSpPr/>
          <p:nvPr/>
        </p:nvGrpSpPr>
        <p:grpSpPr>
          <a:xfrm>
            <a:off x="1763688" y="3068960"/>
            <a:ext cx="1152128" cy="936104"/>
            <a:chOff x="1331640" y="3789040"/>
            <a:chExt cx="1152128" cy="936104"/>
          </a:xfrm>
        </p:grpSpPr>
        <p:sp>
          <p:nvSpPr>
            <p:cNvPr id="39" name="Cloud Callout 38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50275"/>
                <a:gd name="adj2" fmla="val -6196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42" name="Text Box 4"/>
          <p:cNvSpPr txBox="1">
            <a:spLocks noChangeArrowheads="1"/>
          </p:cNvSpPr>
          <p:nvPr/>
        </p:nvSpPr>
        <p:spPr bwMode="auto">
          <a:xfrm>
            <a:off x="390220" y="3945250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>
                <a:latin typeface="+mj-lt"/>
              </a:rPr>
              <a:t>4 </a:t>
            </a:r>
            <a:r>
              <a:rPr lang="en-GB" sz="4000" dirty="0" smtClean="0">
                <a:latin typeface="+mj-lt"/>
              </a:rPr>
              <a:t>8 </a:t>
            </a:r>
            <a:r>
              <a:rPr lang="en-GB" sz="4000" dirty="0">
                <a:latin typeface="+mj-lt"/>
              </a:rPr>
              <a:t>3 </a:t>
            </a:r>
            <a:r>
              <a:rPr lang="en-GB" sz="4000" dirty="0" smtClean="0">
                <a:latin typeface="+mj-lt"/>
              </a:rPr>
              <a:t>0</a:t>
            </a:r>
            <a:endParaRPr lang="en-GB" sz="4000" dirty="0">
              <a:latin typeface="+mj-lt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3203848" y="2204864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0" name="Line 7"/>
          <p:cNvSpPr>
            <a:spLocks noChangeShapeType="1"/>
          </p:cNvSpPr>
          <p:nvPr/>
        </p:nvSpPr>
        <p:spPr bwMode="auto">
          <a:xfrm>
            <a:off x="4438904" y="227514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61" name="Text Box 4"/>
          <p:cNvSpPr txBox="1">
            <a:spLocks noChangeArrowheads="1"/>
          </p:cNvSpPr>
          <p:nvPr/>
        </p:nvSpPr>
        <p:spPr bwMode="auto">
          <a:xfrm>
            <a:off x="3316272" y="2317652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>
                <a:latin typeface="+mj-lt"/>
              </a:rPr>
              <a:t>4 </a:t>
            </a:r>
            <a:r>
              <a:rPr lang="en-GB" sz="4000" dirty="0" smtClean="0">
                <a:latin typeface="+mj-lt"/>
              </a:rPr>
              <a:t>8 </a:t>
            </a:r>
            <a:r>
              <a:rPr lang="en-GB" sz="4000" dirty="0">
                <a:latin typeface="+mj-lt"/>
              </a:rPr>
              <a:t>3 </a:t>
            </a:r>
            <a:r>
              <a:rPr lang="en-GB" sz="4000" dirty="0" smtClean="0">
                <a:latin typeface="+mj-lt"/>
              </a:rPr>
              <a:t>7</a:t>
            </a:r>
            <a:endParaRPr lang="en-GB" sz="4000" dirty="0">
              <a:latin typeface="+mj-lt"/>
            </a:endParaRPr>
          </a:p>
        </p:txBody>
      </p:sp>
      <p:grpSp>
        <p:nvGrpSpPr>
          <p:cNvPr id="3" name="Group 62"/>
          <p:cNvGrpSpPr/>
          <p:nvPr/>
        </p:nvGrpSpPr>
        <p:grpSpPr>
          <a:xfrm>
            <a:off x="4684424" y="3067228"/>
            <a:ext cx="1152128" cy="936104"/>
            <a:chOff x="1331640" y="3789040"/>
            <a:chExt cx="1152128" cy="936104"/>
          </a:xfrm>
        </p:grpSpPr>
        <p:sp>
          <p:nvSpPr>
            <p:cNvPr id="64" name="Cloud Callout 63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50275"/>
                <a:gd name="adj2" fmla="val -6196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66" name="Text Box 4"/>
          <p:cNvSpPr txBox="1">
            <a:spLocks noChangeArrowheads="1"/>
          </p:cNvSpPr>
          <p:nvPr/>
        </p:nvSpPr>
        <p:spPr bwMode="auto">
          <a:xfrm>
            <a:off x="3310956" y="3943518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>
                <a:latin typeface="+mj-lt"/>
              </a:rPr>
              <a:t>4 </a:t>
            </a:r>
            <a:r>
              <a:rPr lang="en-GB" sz="4000" dirty="0" smtClean="0">
                <a:latin typeface="+mj-lt"/>
              </a:rPr>
              <a:t>8 4 0</a:t>
            </a:r>
            <a:endParaRPr lang="en-GB" sz="4000" dirty="0">
              <a:latin typeface="+mj-lt"/>
            </a:endParaRPr>
          </a:p>
        </p:txBody>
      </p:sp>
      <p:sp>
        <p:nvSpPr>
          <p:cNvPr id="67" name="Text Box 30"/>
          <p:cNvSpPr txBox="1">
            <a:spLocks noChangeArrowheads="1"/>
          </p:cNvSpPr>
          <p:nvPr/>
        </p:nvSpPr>
        <p:spPr bwMode="auto">
          <a:xfrm>
            <a:off x="6876256" y="3356992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  <a:endParaRPr lang="en-GB" sz="20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6098916" y="2204864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9" name="Line 7"/>
          <p:cNvSpPr>
            <a:spLocks noChangeShapeType="1"/>
          </p:cNvSpPr>
          <p:nvPr/>
        </p:nvSpPr>
        <p:spPr bwMode="auto">
          <a:xfrm>
            <a:off x="7363468" y="227514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70" name="Text Box 4"/>
          <p:cNvSpPr txBox="1">
            <a:spLocks noChangeArrowheads="1"/>
          </p:cNvSpPr>
          <p:nvPr/>
        </p:nvSpPr>
        <p:spPr bwMode="auto">
          <a:xfrm>
            <a:off x="6612404" y="2317652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1 9 5</a:t>
            </a:r>
            <a:endParaRPr lang="en-GB" sz="4000" dirty="0">
              <a:latin typeface="+mj-lt"/>
            </a:endParaRPr>
          </a:p>
        </p:txBody>
      </p:sp>
      <p:grpSp>
        <p:nvGrpSpPr>
          <p:cNvPr id="4" name="Group 70"/>
          <p:cNvGrpSpPr/>
          <p:nvPr/>
        </p:nvGrpSpPr>
        <p:grpSpPr>
          <a:xfrm>
            <a:off x="7579492" y="3067228"/>
            <a:ext cx="1152128" cy="936104"/>
            <a:chOff x="1331640" y="3789040"/>
            <a:chExt cx="1152128" cy="936104"/>
          </a:xfrm>
        </p:grpSpPr>
        <p:sp>
          <p:nvSpPr>
            <p:cNvPr id="72" name="Cloud Callout 71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50275"/>
                <a:gd name="adj2" fmla="val -6196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74" name="Text Box 4"/>
          <p:cNvSpPr txBox="1">
            <a:spLocks noChangeArrowheads="1"/>
          </p:cNvSpPr>
          <p:nvPr/>
        </p:nvSpPr>
        <p:spPr bwMode="auto">
          <a:xfrm>
            <a:off x="6206024" y="3943518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    2 0 0</a:t>
            </a:r>
            <a:endParaRPr lang="en-GB" sz="4000" dirty="0">
              <a:latin typeface="+mj-lt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956376" y="1124744"/>
            <a:ext cx="720080" cy="720080"/>
          </a:xfrm>
          <a:prstGeom prst="roundRect">
            <a:avLst>
              <a:gd name="adj" fmla="val 21100"/>
            </a:avLst>
          </a:prstGeom>
          <a:solidFill>
            <a:srgbClr val="FF9966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prstClr val="white"/>
                </a:solidFill>
              </a:rPr>
              <a:t>E</a:t>
            </a:r>
            <a:endParaRPr lang="en-US" sz="2000" b="1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6" grpId="0" animBg="1"/>
      <p:bldP spid="38" grpId="0" animBg="1"/>
      <p:bldP spid="42" grpId="0"/>
      <p:bldP spid="60" grpId="0" animBg="1"/>
      <p:bldP spid="66" grpId="0"/>
      <p:bldP spid="67" grpId="0" animBg="1"/>
      <p:bldP spid="69" grpId="0" animBg="1"/>
      <p:bldP spid="7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266268" y="332656"/>
            <a:ext cx="8626212" cy="609600"/>
          </a:xfrm>
          <a:prstGeom prst="roundRect">
            <a:avLst>
              <a:gd name="adj" fmla="val 21100"/>
            </a:avLst>
          </a:prstGeom>
          <a:solidFill>
            <a:srgbClr val="93D76E"/>
          </a:solidFill>
          <a:ln>
            <a:solidFill>
              <a:srgbClr val="0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Rounding – to the nearest 100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83112" y="1054468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29" name="Line 7"/>
          <p:cNvSpPr>
            <a:spLocks noChangeShapeType="1"/>
          </p:cNvSpPr>
          <p:nvPr/>
        </p:nvSpPr>
        <p:spPr bwMode="auto">
          <a:xfrm>
            <a:off x="1909436" y="1139492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36" name="Text Box 30"/>
          <p:cNvSpPr txBox="1">
            <a:spLocks noChangeArrowheads="1"/>
          </p:cNvSpPr>
          <p:nvPr/>
        </p:nvSpPr>
        <p:spPr bwMode="auto">
          <a:xfrm>
            <a:off x="3995936" y="2204864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  <a:endParaRPr lang="en-GB" sz="20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37" name="Text Box 4"/>
          <p:cNvSpPr txBox="1">
            <a:spLocks noChangeArrowheads="1"/>
          </p:cNvSpPr>
          <p:nvPr/>
        </p:nvSpPr>
        <p:spPr bwMode="auto">
          <a:xfrm>
            <a:off x="395536" y="1167256"/>
            <a:ext cx="244827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1 5 8 2 3 1</a:t>
            </a:r>
            <a:endParaRPr lang="en-GB" sz="4000" dirty="0">
              <a:latin typeface="+mj-lt"/>
            </a:endParaRPr>
          </a:p>
        </p:txBody>
      </p:sp>
      <p:sp>
        <p:nvSpPr>
          <p:cNvPr id="38" name="Text Box 30"/>
          <p:cNvSpPr txBox="1">
            <a:spLocks noChangeArrowheads="1"/>
          </p:cNvSpPr>
          <p:nvPr/>
        </p:nvSpPr>
        <p:spPr bwMode="auto">
          <a:xfrm>
            <a:off x="1403648" y="2204864"/>
            <a:ext cx="576064" cy="406400"/>
          </a:xfrm>
          <a:prstGeom prst="rect">
            <a:avLst/>
          </a:prstGeom>
          <a:solidFill>
            <a:srgbClr val="99FF66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rgbClr val="009900"/>
                </a:solidFill>
                <a:latin typeface="+mj-lt"/>
              </a:rPr>
              <a:t>No</a:t>
            </a:r>
            <a:endParaRPr lang="en-GB" sz="2000" dirty="0">
              <a:solidFill>
                <a:srgbClr val="009900"/>
              </a:solidFill>
              <a:latin typeface="+mj-lt"/>
            </a:endParaRPr>
          </a:p>
        </p:txBody>
      </p:sp>
      <p:sp>
        <p:nvSpPr>
          <p:cNvPr id="42" name="Text Box 4"/>
          <p:cNvSpPr txBox="1">
            <a:spLocks noChangeArrowheads="1"/>
          </p:cNvSpPr>
          <p:nvPr/>
        </p:nvSpPr>
        <p:spPr bwMode="auto">
          <a:xfrm>
            <a:off x="390220" y="2793122"/>
            <a:ext cx="245358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1 5 8 2 0 0 </a:t>
            </a:r>
            <a:endParaRPr lang="en-GB" sz="4000" dirty="0">
              <a:latin typeface="+mj-lt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3203848" y="1052736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0" name="Line 7"/>
          <p:cNvSpPr>
            <a:spLocks noChangeShapeType="1"/>
          </p:cNvSpPr>
          <p:nvPr/>
        </p:nvSpPr>
        <p:spPr bwMode="auto">
          <a:xfrm>
            <a:off x="4459576" y="1123012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61" name="Text Box 4"/>
          <p:cNvSpPr txBox="1">
            <a:spLocks noChangeArrowheads="1"/>
          </p:cNvSpPr>
          <p:nvPr/>
        </p:nvSpPr>
        <p:spPr bwMode="auto">
          <a:xfrm>
            <a:off x="3707904" y="1165524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5 8 7 2 </a:t>
            </a:r>
            <a:endParaRPr lang="en-GB" sz="4000" dirty="0">
              <a:latin typeface="+mj-lt"/>
            </a:endParaRPr>
          </a:p>
        </p:txBody>
      </p:sp>
      <p:grpSp>
        <p:nvGrpSpPr>
          <p:cNvPr id="2" name="Group 62"/>
          <p:cNvGrpSpPr/>
          <p:nvPr/>
        </p:nvGrpSpPr>
        <p:grpSpPr>
          <a:xfrm>
            <a:off x="4684424" y="1915100"/>
            <a:ext cx="1152128" cy="936104"/>
            <a:chOff x="1331640" y="3789040"/>
            <a:chExt cx="1152128" cy="936104"/>
          </a:xfrm>
        </p:grpSpPr>
        <p:sp>
          <p:nvSpPr>
            <p:cNvPr id="64" name="Cloud Callout 63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50275"/>
                <a:gd name="adj2" fmla="val -6196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66" name="Text Box 4"/>
          <p:cNvSpPr txBox="1">
            <a:spLocks noChangeArrowheads="1"/>
          </p:cNvSpPr>
          <p:nvPr/>
        </p:nvSpPr>
        <p:spPr bwMode="auto">
          <a:xfrm>
            <a:off x="3745100" y="2791390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5 9 0 0</a:t>
            </a:r>
            <a:endParaRPr lang="en-GB" sz="4000" dirty="0">
              <a:latin typeface="+mj-lt"/>
            </a:endParaRPr>
          </a:p>
        </p:txBody>
      </p:sp>
      <p:sp>
        <p:nvSpPr>
          <p:cNvPr id="67" name="Text Box 30"/>
          <p:cNvSpPr txBox="1">
            <a:spLocks noChangeArrowheads="1"/>
          </p:cNvSpPr>
          <p:nvPr/>
        </p:nvSpPr>
        <p:spPr bwMode="auto">
          <a:xfrm>
            <a:off x="6876256" y="2204864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  <a:endParaRPr lang="en-GB" sz="20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6098916" y="1052736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9" name="Line 7"/>
          <p:cNvSpPr>
            <a:spLocks noChangeShapeType="1"/>
          </p:cNvSpPr>
          <p:nvPr/>
        </p:nvSpPr>
        <p:spPr bwMode="auto">
          <a:xfrm>
            <a:off x="7363468" y="1123012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70" name="Text Box 4"/>
          <p:cNvSpPr txBox="1">
            <a:spLocks noChangeArrowheads="1"/>
          </p:cNvSpPr>
          <p:nvPr/>
        </p:nvSpPr>
        <p:spPr bwMode="auto">
          <a:xfrm>
            <a:off x="7380312" y="1165524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8 9</a:t>
            </a:r>
            <a:endParaRPr lang="en-GB" sz="4000" dirty="0">
              <a:latin typeface="+mj-lt"/>
            </a:endParaRPr>
          </a:p>
        </p:txBody>
      </p:sp>
      <p:grpSp>
        <p:nvGrpSpPr>
          <p:cNvPr id="3" name="Group 70"/>
          <p:cNvGrpSpPr/>
          <p:nvPr/>
        </p:nvGrpSpPr>
        <p:grpSpPr>
          <a:xfrm>
            <a:off x="7579492" y="1915100"/>
            <a:ext cx="1152128" cy="936104"/>
            <a:chOff x="1331640" y="3789040"/>
            <a:chExt cx="1152128" cy="936104"/>
          </a:xfrm>
        </p:grpSpPr>
        <p:sp>
          <p:nvSpPr>
            <p:cNvPr id="72" name="Cloud Callout 71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50275"/>
                <a:gd name="adj2" fmla="val -6196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74" name="Text Box 4"/>
          <p:cNvSpPr txBox="1">
            <a:spLocks noChangeArrowheads="1"/>
          </p:cNvSpPr>
          <p:nvPr/>
        </p:nvSpPr>
        <p:spPr bwMode="auto">
          <a:xfrm>
            <a:off x="6610672" y="2791390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    1 0 0</a:t>
            </a:r>
            <a:endParaRPr lang="en-GB" sz="4000" dirty="0">
              <a:latin typeface="+mj-lt"/>
            </a:endParaRPr>
          </a:p>
        </p:txBody>
      </p:sp>
      <p:sp>
        <p:nvSpPr>
          <p:cNvPr id="75" name="Rounded Rectangle 74"/>
          <p:cNvSpPr/>
          <p:nvPr/>
        </p:nvSpPr>
        <p:spPr>
          <a:xfrm rot="16200000">
            <a:off x="-863738" y="4906030"/>
            <a:ext cx="2806580" cy="576064"/>
          </a:xfrm>
          <a:prstGeom prst="roundRect">
            <a:avLst>
              <a:gd name="adj" fmla="val 21100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Your Turn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971600" y="3818535"/>
            <a:ext cx="7920880" cy="2775641"/>
          </a:xfrm>
          <a:prstGeom prst="roundRect">
            <a:avLst>
              <a:gd name="adj" fmla="val 4579"/>
            </a:avLst>
          </a:prstGeom>
          <a:noFill/>
          <a:ln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1938" indent="-261938">
              <a:buClr>
                <a:schemeClr val="accent4"/>
              </a:buClr>
              <a:buFont typeface="Wingdings" pitchFamily="2" charset="2"/>
              <a:buChar char="§"/>
            </a:pPr>
            <a:r>
              <a:rPr lang="en-US" sz="2200" dirty="0" smtClean="0">
                <a:solidFill>
                  <a:schemeClr val="tx1"/>
                </a:solidFill>
              </a:rPr>
              <a:t>Copy &amp; </a:t>
            </a:r>
          </a:p>
          <a:p>
            <a:pPr marL="261938" indent="-261938">
              <a:buClr>
                <a:schemeClr val="accent4"/>
              </a:buClr>
            </a:pPr>
            <a:r>
              <a:rPr lang="en-US" sz="2200" dirty="0" smtClean="0">
                <a:solidFill>
                  <a:schemeClr val="tx1"/>
                </a:solidFill>
              </a:rPr>
              <a:t>	complete</a:t>
            </a:r>
          </a:p>
          <a:p>
            <a:pPr marL="261938" indent="-261938">
              <a:buClr>
                <a:schemeClr val="accent4"/>
              </a:buClr>
            </a:pPr>
            <a:r>
              <a:rPr lang="en-US" sz="2200" dirty="0" smtClean="0">
                <a:solidFill>
                  <a:schemeClr val="tx1"/>
                </a:solidFill>
              </a:rPr>
              <a:t>	this table:</a:t>
            </a:r>
          </a:p>
        </p:txBody>
      </p:sp>
      <p:grpSp>
        <p:nvGrpSpPr>
          <p:cNvPr id="4" name="Group 40"/>
          <p:cNvGrpSpPr/>
          <p:nvPr/>
        </p:nvGrpSpPr>
        <p:grpSpPr>
          <a:xfrm>
            <a:off x="2108980" y="1916832"/>
            <a:ext cx="1152128" cy="936104"/>
            <a:chOff x="1331640" y="3789040"/>
            <a:chExt cx="1152128" cy="936104"/>
          </a:xfrm>
        </p:grpSpPr>
        <p:sp>
          <p:nvSpPr>
            <p:cNvPr id="39" name="Cloud Callout 38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50275"/>
                <a:gd name="adj2" fmla="val -6196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graphicFrame>
        <p:nvGraphicFramePr>
          <p:cNvPr id="77" name="Table 76"/>
          <p:cNvGraphicFramePr>
            <a:graphicFrameLocks noGrp="1"/>
          </p:cNvGraphicFramePr>
          <p:nvPr/>
        </p:nvGraphicFramePr>
        <p:xfrm>
          <a:off x="2555776" y="4077072"/>
          <a:ext cx="6096000" cy="22250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152128"/>
                <a:gridCol w="1512168"/>
                <a:gridCol w="1656184"/>
                <a:gridCol w="1775520"/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Number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To nearest 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To nearest 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To nearest 1000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 eaLnBrk="1" hangingPunct="1">
                        <a:spcBef>
                          <a:spcPct val="20000"/>
                        </a:spcBef>
                      </a:pPr>
                      <a:r>
                        <a:rPr lang="en-GB" dirty="0" smtClean="0"/>
                        <a:t>37 521</a:t>
                      </a:r>
                      <a:endParaRPr lang="en-GB" b="1" dirty="0">
                        <a:cs typeface="Arial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 eaLnBrk="1" hangingPunct="1">
                        <a:spcBef>
                          <a:spcPct val="20000"/>
                        </a:spcBef>
                      </a:pPr>
                      <a:r>
                        <a:rPr lang="en-GB" dirty="0" smtClean="0"/>
                        <a:t>274 503</a:t>
                      </a:r>
                      <a:endParaRPr lang="en-GB" sz="1600" b="1" dirty="0">
                        <a:solidFill>
                          <a:schemeClr val="tx1"/>
                        </a:solidFill>
                        <a:cs typeface="Arial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 eaLnBrk="1" hangingPunct="1">
                        <a:spcBef>
                          <a:spcPct val="20000"/>
                        </a:spcBef>
                      </a:pPr>
                      <a:r>
                        <a:rPr lang="en-GB" dirty="0" smtClean="0"/>
                        <a:t>7 630 918</a:t>
                      </a:r>
                      <a:endParaRPr lang="en-GB" sz="1600" b="1" dirty="0">
                        <a:solidFill>
                          <a:schemeClr val="tx1"/>
                        </a:solidFill>
                        <a:cs typeface="Arial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9 875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452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8" name="5-Point Star 77"/>
          <p:cNvSpPr/>
          <p:nvPr/>
        </p:nvSpPr>
        <p:spPr>
          <a:xfrm>
            <a:off x="8316416" y="3789040"/>
            <a:ext cx="576064" cy="504056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Text Box 32"/>
          <p:cNvSpPr txBox="1">
            <a:spLocks noChangeArrowheads="1"/>
          </p:cNvSpPr>
          <p:nvPr/>
        </p:nvSpPr>
        <p:spPr bwMode="auto">
          <a:xfrm>
            <a:off x="7603914" y="4466608"/>
            <a:ext cx="7697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38000</a:t>
            </a:r>
          </a:p>
        </p:txBody>
      </p:sp>
      <p:sp>
        <p:nvSpPr>
          <p:cNvPr id="90" name="Text Box 33"/>
          <p:cNvSpPr txBox="1">
            <a:spLocks noChangeArrowheads="1"/>
          </p:cNvSpPr>
          <p:nvPr/>
        </p:nvSpPr>
        <p:spPr bwMode="auto">
          <a:xfrm>
            <a:off x="5814150" y="4437112"/>
            <a:ext cx="7697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37500</a:t>
            </a:r>
          </a:p>
        </p:txBody>
      </p:sp>
      <p:sp>
        <p:nvSpPr>
          <p:cNvPr id="91" name="Text Box 34"/>
          <p:cNvSpPr txBox="1">
            <a:spLocks noChangeArrowheads="1"/>
          </p:cNvSpPr>
          <p:nvPr/>
        </p:nvSpPr>
        <p:spPr bwMode="auto">
          <a:xfrm>
            <a:off x="4229974" y="4437112"/>
            <a:ext cx="7697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37520</a:t>
            </a:r>
          </a:p>
        </p:txBody>
      </p:sp>
      <p:sp>
        <p:nvSpPr>
          <p:cNvPr id="92" name="Text Box 35"/>
          <p:cNvSpPr txBox="1">
            <a:spLocks noChangeArrowheads="1"/>
          </p:cNvSpPr>
          <p:nvPr/>
        </p:nvSpPr>
        <p:spPr bwMode="auto">
          <a:xfrm>
            <a:off x="7486895" y="4826648"/>
            <a:ext cx="8867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275000</a:t>
            </a:r>
          </a:p>
        </p:txBody>
      </p:sp>
      <p:sp>
        <p:nvSpPr>
          <p:cNvPr id="93" name="Text Box 36"/>
          <p:cNvSpPr txBox="1">
            <a:spLocks noChangeArrowheads="1"/>
          </p:cNvSpPr>
          <p:nvPr/>
        </p:nvSpPr>
        <p:spPr bwMode="auto">
          <a:xfrm>
            <a:off x="5697131" y="4797152"/>
            <a:ext cx="8867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274500</a:t>
            </a:r>
          </a:p>
        </p:txBody>
      </p:sp>
      <p:sp>
        <p:nvSpPr>
          <p:cNvPr id="94" name="Text Box 37"/>
          <p:cNvSpPr txBox="1">
            <a:spLocks noChangeArrowheads="1"/>
          </p:cNvSpPr>
          <p:nvPr/>
        </p:nvSpPr>
        <p:spPr bwMode="auto">
          <a:xfrm>
            <a:off x="4112955" y="4797152"/>
            <a:ext cx="8867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274500</a:t>
            </a:r>
          </a:p>
        </p:txBody>
      </p:sp>
      <p:sp>
        <p:nvSpPr>
          <p:cNvPr id="95" name="Text Box 38"/>
          <p:cNvSpPr txBox="1">
            <a:spLocks noChangeArrowheads="1"/>
          </p:cNvSpPr>
          <p:nvPr/>
        </p:nvSpPr>
        <p:spPr bwMode="auto">
          <a:xfrm>
            <a:off x="7369876" y="5186688"/>
            <a:ext cx="1003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7631000</a:t>
            </a:r>
          </a:p>
        </p:txBody>
      </p:sp>
      <p:sp>
        <p:nvSpPr>
          <p:cNvPr id="96" name="Text Box 39"/>
          <p:cNvSpPr txBox="1">
            <a:spLocks noChangeArrowheads="1"/>
          </p:cNvSpPr>
          <p:nvPr/>
        </p:nvSpPr>
        <p:spPr bwMode="auto">
          <a:xfrm>
            <a:off x="5580112" y="5186688"/>
            <a:ext cx="1003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7630900</a:t>
            </a:r>
          </a:p>
        </p:txBody>
      </p:sp>
      <p:sp>
        <p:nvSpPr>
          <p:cNvPr id="97" name="Text Box 40"/>
          <p:cNvSpPr txBox="1">
            <a:spLocks noChangeArrowheads="1"/>
          </p:cNvSpPr>
          <p:nvPr/>
        </p:nvSpPr>
        <p:spPr bwMode="auto">
          <a:xfrm>
            <a:off x="3995936" y="5186688"/>
            <a:ext cx="1003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7630920</a:t>
            </a:r>
          </a:p>
        </p:txBody>
      </p:sp>
      <p:sp>
        <p:nvSpPr>
          <p:cNvPr id="98" name="Text Box 41"/>
          <p:cNvSpPr txBox="1">
            <a:spLocks noChangeArrowheads="1"/>
          </p:cNvSpPr>
          <p:nvPr/>
        </p:nvSpPr>
        <p:spPr bwMode="auto">
          <a:xfrm>
            <a:off x="7603914" y="5576224"/>
            <a:ext cx="7697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10000</a:t>
            </a:r>
          </a:p>
        </p:txBody>
      </p:sp>
      <p:sp>
        <p:nvSpPr>
          <p:cNvPr id="99" name="Text Box 42"/>
          <p:cNvSpPr txBox="1">
            <a:spLocks noChangeArrowheads="1"/>
          </p:cNvSpPr>
          <p:nvPr/>
        </p:nvSpPr>
        <p:spPr bwMode="auto">
          <a:xfrm>
            <a:off x="5931169" y="5546728"/>
            <a:ext cx="65274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9900</a:t>
            </a:r>
          </a:p>
        </p:txBody>
      </p:sp>
      <p:sp>
        <p:nvSpPr>
          <p:cNvPr id="100" name="Text Box 43"/>
          <p:cNvSpPr txBox="1">
            <a:spLocks noChangeArrowheads="1"/>
          </p:cNvSpPr>
          <p:nvPr/>
        </p:nvSpPr>
        <p:spPr bwMode="auto">
          <a:xfrm>
            <a:off x="4346993" y="5589240"/>
            <a:ext cx="65274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9880</a:t>
            </a:r>
          </a:p>
        </p:txBody>
      </p:sp>
      <p:sp>
        <p:nvSpPr>
          <p:cNvPr id="101" name="Text Box 44"/>
          <p:cNvSpPr txBox="1">
            <a:spLocks noChangeArrowheads="1"/>
          </p:cNvSpPr>
          <p:nvPr/>
        </p:nvSpPr>
        <p:spPr bwMode="auto">
          <a:xfrm>
            <a:off x="8071991" y="5949280"/>
            <a:ext cx="30168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GB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02" name="Text Box 45"/>
          <p:cNvSpPr txBox="1">
            <a:spLocks noChangeArrowheads="1"/>
          </p:cNvSpPr>
          <p:nvPr/>
        </p:nvSpPr>
        <p:spPr bwMode="auto">
          <a:xfrm>
            <a:off x="6048189" y="5949280"/>
            <a:ext cx="5357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500</a:t>
            </a:r>
          </a:p>
        </p:txBody>
      </p:sp>
      <p:sp>
        <p:nvSpPr>
          <p:cNvPr id="103" name="Text Box 46"/>
          <p:cNvSpPr txBox="1">
            <a:spLocks noChangeArrowheads="1"/>
          </p:cNvSpPr>
          <p:nvPr/>
        </p:nvSpPr>
        <p:spPr bwMode="auto">
          <a:xfrm>
            <a:off x="4464013" y="5919784"/>
            <a:ext cx="5357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450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56376" y="116632"/>
            <a:ext cx="720080" cy="720080"/>
          </a:xfrm>
          <a:prstGeom prst="roundRect">
            <a:avLst>
              <a:gd name="adj" fmla="val 21100"/>
            </a:avLst>
          </a:prstGeom>
          <a:solidFill>
            <a:srgbClr val="FF9966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prstClr val="white"/>
                </a:solidFill>
              </a:rPr>
              <a:t>E</a:t>
            </a:r>
            <a:endParaRPr lang="en-US" sz="2000" b="1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6" grpId="0" animBg="1"/>
      <p:bldP spid="38" grpId="0" animBg="1"/>
      <p:bldP spid="42" grpId="0"/>
      <p:bldP spid="60" grpId="0" animBg="1"/>
      <p:bldP spid="66" grpId="0"/>
      <p:bldP spid="67" grpId="0" animBg="1"/>
      <p:bldP spid="69" grpId="0" animBg="1"/>
      <p:bldP spid="74" grpId="0"/>
      <p:bldP spid="75" grpId="0" animBg="1"/>
      <p:bldP spid="76" grpId="0" animBg="1"/>
      <p:bldP spid="78" grpId="0" animBg="1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1" grpId="0"/>
      <p:bldP spid="102" grpId="0"/>
      <p:bldP spid="10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251520" y="404664"/>
            <a:ext cx="8626212" cy="609600"/>
          </a:xfrm>
          <a:prstGeom prst="roundRect">
            <a:avLst>
              <a:gd name="adj" fmla="val 21100"/>
            </a:avLst>
          </a:prstGeom>
          <a:solidFill>
            <a:srgbClr val="71A8F9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Rounding to  1 Decimal Place (1DP)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83112" y="1126476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29" name="Line 7"/>
          <p:cNvSpPr>
            <a:spLocks noChangeShapeType="1"/>
          </p:cNvSpPr>
          <p:nvPr/>
        </p:nvSpPr>
        <p:spPr bwMode="auto">
          <a:xfrm>
            <a:off x="1403648" y="1196752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36" name="Text Box 30"/>
          <p:cNvSpPr txBox="1">
            <a:spLocks noChangeArrowheads="1"/>
          </p:cNvSpPr>
          <p:nvPr/>
        </p:nvSpPr>
        <p:spPr bwMode="auto">
          <a:xfrm>
            <a:off x="3995936" y="2276872"/>
            <a:ext cx="576064" cy="406400"/>
          </a:xfrm>
          <a:prstGeom prst="rect">
            <a:avLst/>
          </a:prstGeom>
          <a:solidFill>
            <a:srgbClr val="99FF66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rgbClr val="009900"/>
                </a:solidFill>
                <a:latin typeface="+mj-lt"/>
              </a:rPr>
              <a:t>No</a:t>
            </a:r>
          </a:p>
        </p:txBody>
      </p:sp>
      <p:sp>
        <p:nvSpPr>
          <p:cNvPr id="37" name="Text Box 4"/>
          <p:cNvSpPr txBox="1">
            <a:spLocks noChangeArrowheads="1"/>
          </p:cNvSpPr>
          <p:nvPr/>
        </p:nvSpPr>
        <p:spPr bwMode="auto">
          <a:xfrm>
            <a:off x="395536" y="1239264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>
                <a:latin typeface="+mj-lt"/>
              </a:rPr>
              <a:t>4 </a:t>
            </a:r>
            <a:r>
              <a:rPr lang="en-GB" sz="4000" dirty="0" smtClean="0">
                <a:latin typeface="+mj-lt"/>
              </a:rPr>
              <a:t>. 8 </a:t>
            </a:r>
            <a:r>
              <a:rPr lang="en-GB" sz="4000" dirty="0">
                <a:latin typeface="+mj-lt"/>
              </a:rPr>
              <a:t>3 </a:t>
            </a:r>
            <a:r>
              <a:rPr lang="en-GB" sz="4000" dirty="0" smtClean="0">
                <a:latin typeface="+mj-lt"/>
              </a:rPr>
              <a:t>2 5</a:t>
            </a:r>
            <a:endParaRPr lang="en-GB" sz="4000" dirty="0">
              <a:latin typeface="+mj-lt"/>
            </a:endParaRPr>
          </a:p>
        </p:txBody>
      </p:sp>
      <p:sp>
        <p:nvSpPr>
          <p:cNvPr id="38" name="Text Box 30"/>
          <p:cNvSpPr txBox="1">
            <a:spLocks noChangeArrowheads="1"/>
          </p:cNvSpPr>
          <p:nvPr/>
        </p:nvSpPr>
        <p:spPr bwMode="auto">
          <a:xfrm>
            <a:off x="1043608" y="2276872"/>
            <a:ext cx="576064" cy="406400"/>
          </a:xfrm>
          <a:prstGeom prst="rect">
            <a:avLst/>
          </a:prstGeom>
          <a:solidFill>
            <a:srgbClr val="99FF66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rgbClr val="009900"/>
                </a:solidFill>
                <a:latin typeface="+mj-lt"/>
              </a:rPr>
              <a:t>No</a:t>
            </a:r>
            <a:endParaRPr lang="en-GB" sz="2000" dirty="0">
              <a:solidFill>
                <a:srgbClr val="009900"/>
              </a:solidFill>
              <a:latin typeface="+mj-lt"/>
            </a:endParaRPr>
          </a:p>
        </p:txBody>
      </p:sp>
      <p:grpSp>
        <p:nvGrpSpPr>
          <p:cNvPr id="2" name="Group 40"/>
          <p:cNvGrpSpPr/>
          <p:nvPr/>
        </p:nvGrpSpPr>
        <p:grpSpPr>
          <a:xfrm>
            <a:off x="1763688" y="1988840"/>
            <a:ext cx="1152128" cy="936104"/>
            <a:chOff x="1331640" y="3789040"/>
            <a:chExt cx="1152128" cy="936104"/>
          </a:xfrm>
        </p:grpSpPr>
        <p:sp>
          <p:nvSpPr>
            <p:cNvPr id="39" name="Cloud Callout 38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59369"/>
                <a:gd name="adj2" fmla="val -69088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42" name="Text Box 4"/>
          <p:cNvSpPr txBox="1">
            <a:spLocks noChangeArrowheads="1"/>
          </p:cNvSpPr>
          <p:nvPr/>
        </p:nvSpPr>
        <p:spPr bwMode="auto">
          <a:xfrm>
            <a:off x="417984" y="2865130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4 . 8</a:t>
            </a:r>
            <a:endParaRPr lang="en-GB" sz="4000" dirty="0">
              <a:latin typeface="+mj-lt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3203848" y="1124744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0" name="Line 7"/>
          <p:cNvSpPr>
            <a:spLocks noChangeShapeType="1"/>
          </p:cNvSpPr>
          <p:nvPr/>
        </p:nvSpPr>
        <p:spPr bwMode="auto">
          <a:xfrm>
            <a:off x="4322068" y="119502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61" name="Text Box 4"/>
          <p:cNvSpPr txBox="1">
            <a:spLocks noChangeArrowheads="1"/>
          </p:cNvSpPr>
          <p:nvPr/>
        </p:nvSpPr>
        <p:spPr bwMode="auto">
          <a:xfrm>
            <a:off x="3316272" y="1237532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>
                <a:latin typeface="+mj-lt"/>
              </a:rPr>
              <a:t>4 </a:t>
            </a:r>
            <a:r>
              <a:rPr lang="en-GB" sz="4000" dirty="0" smtClean="0">
                <a:latin typeface="+mj-lt"/>
              </a:rPr>
              <a:t>. 8 4 2 5 </a:t>
            </a:r>
            <a:endParaRPr lang="en-GB" sz="4000" dirty="0">
              <a:latin typeface="+mj-lt"/>
            </a:endParaRPr>
          </a:p>
        </p:txBody>
      </p:sp>
      <p:grpSp>
        <p:nvGrpSpPr>
          <p:cNvPr id="3" name="Group 62"/>
          <p:cNvGrpSpPr/>
          <p:nvPr/>
        </p:nvGrpSpPr>
        <p:grpSpPr>
          <a:xfrm>
            <a:off x="4684424" y="1987108"/>
            <a:ext cx="1152128" cy="936104"/>
            <a:chOff x="1331640" y="3789040"/>
            <a:chExt cx="1152128" cy="936104"/>
          </a:xfrm>
        </p:grpSpPr>
        <p:sp>
          <p:nvSpPr>
            <p:cNvPr id="64" name="Cloud Callout 63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50275"/>
                <a:gd name="adj2" fmla="val -6196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66" name="Text Box 4"/>
          <p:cNvSpPr txBox="1">
            <a:spLocks noChangeArrowheads="1"/>
          </p:cNvSpPr>
          <p:nvPr/>
        </p:nvSpPr>
        <p:spPr bwMode="auto">
          <a:xfrm>
            <a:off x="3310956" y="2863398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>
                <a:latin typeface="+mj-lt"/>
              </a:rPr>
              <a:t>4 </a:t>
            </a:r>
            <a:r>
              <a:rPr lang="en-GB" sz="4000" dirty="0" smtClean="0">
                <a:latin typeface="+mj-lt"/>
              </a:rPr>
              <a:t>. 8</a:t>
            </a:r>
            <a:endParaRPr lang="en-GB" sz="4000" dirty="0">
              <a:latin typeface="+mj-lt"/>
            </a:endParaRPr>
          </a:p>
        </p:txBody>
      </p:sp>
      <p:sp>
        <p:nvSpPr>
          <p:cNvPr id="67" name="Text Box 30"/>
          <p:cNvSpPr txBox="1">
            <a:spLocks noChangeArrowheads="1"/>
          </p:cNvSpPr>
          <p:nvPr/>
        </p:nvSpPr>
        <p:spPr bwMode="auto">
          <a:xfrm>
            <a:off x="6876256" y="2276872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  <a:endParaRPr lang="en-GB" sz="20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6098916" y="1124744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9" name="Line 7"/>
          <p:cNvSpPr>
            <a:spLocks noChangeShapeType="1"/>
          </p:cNvSpPr>
          <p:nvPr/>
        </p:nvSpPr>
        <p:spPr bwMode="auto">
          <a:xfrm>
            <a:off x="7363468" y="119502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70" name="Text Box 4"/>
          <p:cNvSpPr txBox="1">
            <a:spLocks noChangeArrowheads="1"/>
          </p:cNvSpPr>
          <p:nvPr/>
        </p:nvSpPr>
        <p:spPr bwMode="auto">
          <a:xfrm>
            <a:off x="6343625" y="1237532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4 . 8 5 2</a:t>
            </a:r>
            <a:endParaRPr lang="en-GB" sz="4000" dirty="0">
              <a:latin typeface="+mj-lt"/>
            </a:endParaRPr>
          </a:p>
        </p:txBody>
      </p:sp>
      <p:grpSp>
        <p:nvGrpSpPr>
          <p:cNvPr id="4" name="Group 70"/>
          <p:cNvGrpSpPr/>
          <p:nvPr/>
        </p:nvGrpSpPr>
        <p:grpSpPr>
          <a:xfrm>
            <a:off x="7579492" y="1987108"/>
            <a:ext cx="1152128" cy="936104"/>
            <a:chOff x="1331640" y="3789040"/>
            <a:chExt cx="1152128" cy="936104"/>
          </a:xfrm>
        </p:grpSpPr>
        <p:sp>
          <p:nvSpPr>
            <p:cNvPr id="72" name="Cloud Callout 71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50275"/>
                <a:gd name="adj2" fmla="val -6196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74" name="Text Box 4"/>
          <p:cNvSpPr txBox="1">
            <a:spLocks noChangeArrowheads="1"/>
          </p:cNvSpPr>
          <p:nvPr/>
        </p:nvSpPr>
        <p:spPr bwMode="auto">
          <a:xfrm>
            <a:off x="5907385" y="2863398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    4 . 9</a:t>
            </a:r>
            <a:endParaRPr lang="en-GB" sz="4000" dirty="0">
              <a:latin typeface="+mj-lt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99956" y="3862780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28" name="Line 7"/>
          <p:cNvSpPr>
            <a:spLocks noChangeShapeType="1"/>
          </p:cNvSpPr>
          <p:nvPr/>
        </p:nvSpPr>
        <p:spPr bwMode="auto">
          <a:xfrm>
            <a:off x="1418506" y="3933056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30" name="Text Box 30"/>
          <p:cNvSpPr txBox="1">
            <a:spLocks noChangeArrowheads="1"/>
          </p:cNvSpPr>
          <p:nvPr/>
        </p:nvSpPr>
        <p:spPr bwMode="auto">
          <a:xfrm>
            <a:off x="4012780" y="5013176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  <a:endParaRPr lang="en-GB" sz="20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31" name="Text Box 4"/>
          <p:cNvSpPr txBox="1">
            <a:spLocks noChangeArrowheads="1"/>
          </p:cNvSpPr>
          <p:nvPr/>
        </p:nvSpPr>
        <p:spPr bwMode="auto">
          <a:xfrm>
            <a:off x="412380" y="3975568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4 . 8 7 </a:t>
            </a:r>
            <a:endParaRPr lang="en-GB" sz="4000" dirty="0">
              <a:latin typeface="+mj-lt"/>
            </a:endParaRPr>
          </a:p>
        </p:txBody>
      </p:sp>
      <p:sp>
        <p:nvSpPr>
          <p:cNvPr id="32" name="Text Box 30"/>
          <p:cNvSpPr txBox="1">
            <a:spLocks noChangeArrowheads="1"/>
          </p:cNvSpPr>
          <p:nvPr/>
        </p:nvSpPr>
        <p:spPr bwMode="auto">
          <a:xfrm>
            <a:off x="1060452" y="5013176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</a:p>
        </p:txBody>
      </p:sp>
      <p:grpSp>
        <p:nvGrpSpPr>
          <p:cNvPr id="7" name="Group 40"/>
          <p:cNvGrpSpPr/>
          <p:nvPr/>
        </p:nvGrpSpPr>
        <p:grpSpPr>
          <a:xfrm>
            <a:off x="1780532" y="4725144"/>
            <a:ext cx="1152128" cy="936104"/>
            <a:chOff x="1331640" y="3789040"/>
            <a:chExt cx="1152128" cy="936104"/>
          </a:xfrm>
        </p:grpSpPr>
        <p:sp>
          <p:nvSpPr>
            <p:cNvPr id="34" name="Cloud Callout 33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50275"/>
                <a:gd name="adj2" fmla="val -6196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41" name="Text Box 4"/>
          <p:cNvSpPr txBox="1">
            <a:spLocks noChangeArrowheads="1"/>
          </p:cNvSpPr>
          <p:nvPr/>
        </p:nvSpPr>
        <p:spPr bwMode="auto">
          <a:xfrm>
            <a:off x="407064" y="5601434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4 . 9</a:t>
            </a:r>
            <a:endParaRPr lang="en-GB" sz="4000" dirty="0">
              <a:latin typeface="+mj-lt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3220692" y="3861048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44" name="Line 7"/>
          <p:cNvSpPr>
            <a:spLocks noChangeShapeType="1"/>
          </p:cNvSpPr>
          <p:nvPr/>
        </p:nvSpPr>
        <p:spPr bwMode="auto">
          <a:xfrm>
            <a:off x="4350643" y="3931324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45" name="Text Box 4"/>
          <p:cNvSpPr txBox="1">
            <a:spLocks noChangeArrowheads="1"/>
          </p:cNvSpPr>
          <p:nvPr/>
        </p:nvSpPr>
        <p:spPr bwMode="auto">
          <a:xfrm>
            <a:off x="3333116" y="3973836"/>
            <a:ext cx="267904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5 . 2 6 7 1 4</a:t>
            </a:r>
            <a:endParaRPr lang="en-GB" sz="4000" dirty="0">
              <a:latin typeface="+mj-lt"/>
            </a:endParaRPr>
          </a:p>
        </p:txBody>
      </p:sp>
      <p:grpSp>
        <p:nvGrpSpPr>
          <p:cNvPr id="8" name="Group 62"/>
          <p:cNvGrpSpPr/>
          <p:nvPr/>
        </p:nvGrpSpPr>
        <p:grpSpPr>
          <a:xfrm>
            <a:off x="4701268" y="4723412"/>
            <a:ext cx="1152128" cy="936104"/>
            <a:chOff x="1331640" y="3789040"/>
            <a:chExt cx="1152128" cy="936104"/>
          </a:xfrm>
        </p:grpSpPr>
        <p:sp>
          <p:nvSpPr>
            <p:cNvPr id="47" name="Cloud Callout 46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50275"/>
                <a:gd name="adj2" fmla="val -6196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49" name="Text Box 4"/>
          <p:cNvSpPr txBox="1">
            <a:spLocks noChangeArrowheads="1"/>
          </p:cNvSpPr>
          <p:nvPr/>
        </p:nvSpPr>
        <p:spPr bwMode="auto">
          <a:xfrm>
            <a:off x="3327800" y="5599702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5 . 3</a:t>
            </a:r>
            <a:endParaRPr lang="en-GB" sz="4000" dirty="0">
              <a:latin typeface="+mj-lt"/>
            </a:endParaRPr>
          </a:p>
        </p:txBody>
      </p:sp>
      <p:sp>
        <p:nvSpPr>
          <p:cNvPr id="50" name="Text Box 30"/>
          <p:cNvSpPr txBox="1">
            <a:spLocks noChangeArrowheads="1"/>
          </p:cNvSpPr>
          <p:nvPr/>
        </p:nvSpPr>
        <p:spPr bwMode="auto">
          <a:xfrm>
            <a:off x="6893100" y="5013176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  <a:endParaRPr lang="en-GB" sz="20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6115760" y="3861048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52" name="Line 7"/>
          <p:cNvSpPr>
            <a:spLocks noChangeShapeType="1"/>
          </p:cNvSpPr>
          <p:nvPr/>
        </p:nvSpPr>
        <p:spPr bwMode="auto">
          <a:xfrm>
            <a:off x="7380312" y="3931324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53" name="Text Box 4"/>
          <p:cNvSpPr txBox="1">
            <a:spLocks noChangeArrowheads="1"/>
          </p:cNvSpPr>
          <p:nvPr/>
        </p:nvSpPr>
        <p:spPr bwMode="auto">
          <a:xfrm>
            <a:off x="6353150" y="3973836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1 . 9 6 7</a:t>
            </a:r>
            <a:endParaRPr lang="en-GB" sz="4000" dirty="0">
              <a:latin typeface="+mj-lt"/>
            </a:endParaRPr>
          </a:p>
        </p:txBody>
      </p:sp>
      <p:grpSp>
        <p:nvGrpSpPr>
          <p:cNvPr id="9" name="Group 70"/>
          <p:cNvGrpSpPr/>
          <p:nvPr/>
        </p:nvGrpSpPr>
        <p:grpSpPr>
          <a:xfrm>
            <a:off x="7596336" y="4723412"/>
            <a:ext cx="1152128" cy="936104"/>
            <a:chOff x="1331640" y="3789040"/>
            <a:chExt cx="1152128" cy="936104"/>
          </a:xfrm>
        </p:grpSpPr>
        <p:sp>
          <p:nvSpPr>
            <p:cNvPr id="55" name="Cloud Callout 54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50275"/>
                <a:gd name="adj2" fmla="val -6196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57" name="Text Box 4"/>
          <p:cNvSpPr txBox="1">
            <a:spLocks noChangeArrowheads="1"/>
          </p:cNvSpPr>
          <p:nvPr/>
        </p:nvSpPr>
        <p:spPr bwMode="auto">
          <a:xfrm>
            <a:off x="5940152" y="5599702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    2 . 0</a:t>
            </a:r>
            <a:endParaRPr lang="en-GB" sz="4000" dirty="0">
              <a:latin typeface="+mj-lt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6057274" y="419412"/>
            <a:ext cx="720080" cy="5760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Rounded Rectangle 61"/>
          <p:cNvSpPr/>
          <p:nvPr/>
        </p:nvSpPr>
        <p:spPr>
          <a:xfrm>
            <a:off x="7956376" y="116632"/>
            <a:ext cx="720080" cy="720080"/>
          </a:xfrm>
          <a:prstGeom prst="roundRect">
            <a:avLst>
              <a:gd name="adj" fmla="val 21100"/>
            </a:avLst>
          </a:prstGeom>
          <a:solidFill>
            <a:srgbClr val="FF9966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prstClr val="white"/>
                </a:solidFill>
              </a:rPr>
              <a:t>D</a:t>
            </a:r>
            <a:endParaRPr lang="en-US" sz="2000" b="1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6" grpId="0" animBg="1"/>
      <p:bldP spid="38" grpId="0" animBg="1"/>
      <p:bldP spid="42" grpId="0"/>
      <p:bldP spid="59" grpId="0" animBg="1"/>
      <p:bldP spid="60" grpId="0" animBg="1"/>
      <p:bldP spid="61" grpId="0"/>
      <p:bldP spid="66" grpId="0"/>
      <p:bldP spid="67" grpId="0" animBg="1"/>
      <p:bldP spid="68" grpId="0" animBg="1"/>
      <p:bldP spid="69" grpId="0" animBg="1"/>
      <p:bldP spid="70" grpId="0"/>
      <p:bldP spid="74" grpId="0"/>
      <p:bldP spid="27" grpId="0" animBg="1"/>
      <p:bldP spid="28" grpId="0" animBg="1"/>
      <p:bldP spid="30" grpId="0" animBg="1"/>
      <p:bldP spid="31" grpId="0"/>
      <p:bldP spid="32" grpId="0" animBg="1"/>
      <p:bldP spid="41" grpId="0"/>
      <p:bldP spid="43" grpId="0" animBg="1"/>
      <p:bldP spid="44" grpId="0" animBg="1"/>
      <p:bldP spid="45" grpId="0"/>
      <p:bldP spid="49" grpId="0"/>
      <p:bldP spid="50" grpId="0" animBg="1"/>
      <p:bldP spid="51" grpId="0" animBg="1"/>
      <p:bldP spid="52" grpId="0" animBg="1"/>
      <p:bldP spid="53" grpId="0"/>
      <p:bldP spid="57" grpId="0"/>
      <p:bldP spid="5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266268" y="404664"/>
            <a:ext cx="8626212" cy="609600"/>
          </a:xfrm>
          <a:prstGeom prst="roundRect">
            <a:avLst>
              <a:gd name="adj" fmla="val 21100"/>
            </a:avLst>
          </a:prstGeom>
          <a:solidFill>
            <a:srgbClr val="71A8F9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Rounding to Decimal Places: 2DP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83112" y="1126476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29" name="Line 7"/>
          <p:cNvSpPr>
            <a:spLocks noChangeShapeType="1"/>
          </p:cNvSpPr>
          <p:nvPr/>
        </p:nvSpPr>
        <p:spPr bwMode="auto">
          <a:xfrm>
            <a:off x="1773213" y="122684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36" name="Text Box 30"/>
          <p:cNvSpPr txBox="1">
            <a:spLocks noChangeArrowheads="1"/>
          </p:cNvSpPr>
          <p:nvPr/>
        </p:nvSpPr>
        <p:spPr bwMode="auto">
          <a:xfrm>
            <a:off x="3995936" y="2276872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</a:p>
        </p:txBody>
      </p:sp>
      <p:sp>
        <p:nvSpPr>
          <p:cNvPr id="37" name="Text Box 4"/>
          <p:cNvSpPr txBox="1">
            <a:spLocks noChangeArrowheads="1"/>
          </p:cNvSpPr>
          <p:nvPr/>
        </p:nvSpPr>
        <p:spPr bwMode="auto">
          <a:xfrm>
            <a:off x="395536" y="1239264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>
                <a:latin typeface="+mj-lt"/>
              </a:rPr>
              <a:t>4 </a:t>
            </a:r>
            <a:r>
              <a:rPr lang="en-GB" sz="4000" dirty="0" smtClean="0">
                <a:latin typeface="+mj-lt"/>
              </a:rPr>
              <a:t>. 8 </a:t>
            </a:r>
            <a:r>
              <a:rPr lang="en-GB" sz="4000" dirty="0">
                <a:latin typeface="+mj-lt"/>
              </a:rPr>
              <a:t>3 </a:t>
            </a:r>
            <a:r>
              <a:rPr lang="en-GB" sz="4000" dirty="0" smtClean="0">
                <a:latin typeface="+mj-lt"/>
              </a:rPr>
              <a:t>2 5</a:t>
            </a:r>
            <a:endParaRPr lang="en-GB" sz="4000" dirty="0">
              <a:latin typeface="+mj-lt"/>
            </a:endParaRPr>
          </a:p>
        </p:txBody>
      </p:sp>
      <p:sp>
        <p:nvSpPr>
          <p:cNvPr id="38" name="Text Box 30"/>
          <p:cNvSpPr txBox="1">
            <a:spLocks noChangeArrowheads="1"/>
          </p:cNvSpPr>
          <p:nvPr/>
        </p:nvSpPr>
        <p:spPr bwMode="auto">
          <a:xfrm>
            <a:off x="1043608" y="2276872"/>
            <a:ext cx="576064" cy="406400"/>
          </a:xfrm>
          <a:prstGeom prst="rect">
            <a:avLst/>
          </a:prstGeom>
          <a:solidFill>
            <a:srgbClr val="99FF66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rgbClr val="009900"/>
                </a:solidFill>
                <a:latin typeface="+mj-lt"/>
              </a:rPr>
              <a:t>No</a:t>
            </a:r>
            <a:endParaRPr lang="en-GB" sz="2000" dirty="0">
              <a:solidFill>
                <a:srgbClr val="009900"/>
              </a:solidFill>
              <a:latin typeface="+mj-lt"/>
            </a:endParaRPr>
          </a:p>
        </p:txBody>
      </p:sp>
      <p:grpSp>
        <p:nvGrpSpPr>
          <p:cNvPr id="2" name="Group 40"/>
          <p:cNvGrpSpPr/>
          <p:nvPr/>
        </p:nvGrpSpPr>
        <p:grpSpPr>
          <a:xfrm>
            <a:off x="1763688" y="2060848"/>
            <a:ext cx="1152128" cy="936104"/>
            <a:chOff x="1331640" y="3789040"/>
            <a:chExt cx="1152128" cy="936104"/>
          </a:xfrm>
        </p:grpSpPr>
        <p:sp>
          <p:nvSpPr>
            <p:cNvPr id="39" name="Cloud Callout 38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34567"/>
                <a:gd name="adj2" fmla="val -72141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42" name="Text Box 4"/>
          <p:cNvSpPr txBox="1">
            <a:spLocks noChangeArrowheads="1"/>
          </p:cNvSpPr>
          <p:nvPr/>
        </p:nvSpPr>
        <p:spPr bwMode="auto">
          <a:xfrm>
            <a:off x="417984" y="2865130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4 . 8 3</a:t>
            </a:r>
            <a:endParaRPr lang="en-GB" sz="4000" dirty="0">
              <a:latin typeface="+mj-lt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3203848" y="1124744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0" name="Line 7"/>
          <p:cNvSpPr>
            <a:spLocks noChangeShapeType="1"/>
          </p:cNvSpPr>
          <p:nvPr/>
        </p:nvSpPr>
        <p:spPr bwMode="auto">
          <a:xfrm>
            <a:off x="4691633" y="119502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61" name="Text Box 4"/>
          <p:cNvSpPr txBox="1">
            <a:spLocks noChangeArrowheads="1"/>
          </p:cNvSpPr>
          <p:nvPr/>
        </p:nvSpPr>
        <p:spPr bwMode="auto">
          <a:xfrm>
            <a:off x="3316272" y="1237532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>
                <a:latin typeface="+mj-lt"/>
              </a:rPr>
              <a:t>4 </a:t>
            </a:r>
            <a:r>
              <a:rPr lang="en-GB" sz="4000" dirty="0" smtClean="0">
                <a:latin typeface="+mj-lt"/>
              </a:rPr>
              <a:t>. 8 4 6</a:t>
            </a:r>
            <a:endParaRPr lang="en-GB" sz="4000" dirty="0">
              <a:latin typeface="+mj-lt"/>
            </a:endParaRPr>
          </a:p>
        </p:txBody>
      </p:sp>
      <p:grpSp>
        <p:nvGrpSpPr>
          <p:cNvPr id="3" name="Group 62"/>
          <p:cNvGrpSpPr/>
          <p:nvPr/>
        </p:nvGrpSpPr>
        <p:grpSpPr>
          <a:xfrm>
            <a:off x="4684424" y="1987108"/>
            <a:ext cx="1152128" cy="936104"/>
            <a:chOff x="1331640" y="3789040"/>
            <a:chExt cx="1152128" cy="936104"/>
          </a:xfrm>
        </p:grpSpPr>
        <p:sp>
          <p:nvSpPr>
            <p:cNvPr id="64" name="Cloud Callout 63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31260"/>
                <a:gd name="adj2" fmla="val -65018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66" name="Text Box 4"/>
          <p:cNvSpPr txBox="1">
            <a:spLocks noChangeArrowheads="1"/>
          </p:cNvSpPr>
          <p:nvPr/>
        </p:nvSpPr>
        <p:spPr bwMode="auto">
          <a:xfrm>
            <a:off x="3310956" y="2863398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>
                <a:latin typeface="+mj-lt"/>
              </a:rPr>
              <a:t>4 </a:t>
            </a:r>
            <a:r>
              <a:rPr lang="en-GB" sz="4000" dirty="0" smtClean="0">
                <a:latin typeface="+mj-lt"/>
              </a:rPr>
              <a:t>. 8 5</a:t>
            </a:r>
            <a:endParaRPr lang="en-GB" sz="4000" dirty="0">
              <a:latin typeface="+mj-lt"/>
            </a:endParaRPr>
          </a:p>
        </p:txBody>
      </p:sp>
      <p:sp>
        <p:nvSpPr>
          <p:cNvPr id="67" name="Text Box 30"/>
          <p:cNvSpPr txBox="1">
            <a:spLocks noChangeArrowheads="1"/>
          </p:cNvSpPr>
          <p:nvPr/>
        </p:nvSpPr>
        <p:spPr bwMode="auto">
          <a:xfrm>
            <a:off x="6876256" y="2276872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  <a:endParaRPr lang="en-GB" sz="20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6098916" y="1124744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9" name="Line 7"/>
          <p:cNvSpPr>
            <a:spLocks noChangeShapeType="1"/>
          </p:cNvSpPr>
          <p:nvPr/>
        </p:nvSpPr>
        <p:spPr bwMode="auto">
          <a:xfrm>
            <a:off x="7740352" y="119502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70" name="Text Box 4"/>
          <p:cNvSpPr txBox="1">
            <a:spLocks noChangeArrowheads="1"/>
          </p:cNvSpPr>
          <p:nvPr/>
        </p:nvSpPr>
        <p:spPr bwMode="auto">
          <a:xfrm>
            <a:off x="6343624" y="1237532"/>
            <a:ext cx="254885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4 . 8 5 9 5 1</a:t>
            </a:r>
            <a:endParaRPr lang="en-GB" sz="4000" dirty="0">
              <a:latin typeface="+mj-lt"/>
            </a:endParaRPr>
          </a:p>
        </p:txBody>
      </p:sp>
      <p:grpSp>
        <p:nvGrpSpPr>
          <p:cNvPr id="4" name="Group 70"/>
          <p:cNvGrpSpPr/>
          <p:nvPr/>
        </p:nvGrpSpPr>
        <p:grpSpPr>
          <a:xfrm>
            <a:off x="7579492" y="1987108"/>
            <a:ext cx="1152128" cy="936104"/>
            <a:chOff x="1331640" y="3789040"/>
            <a:chExt cx="1152128" cy="936104"/>
          </a:xfrm>
        </p:grpSpPr>
        <p:sp>
          <p:nvSpPr>
            <p:cNvPr id="72" name="Cloud Callout 71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23820"/>
                <a:gd name="adj2" fmla="val -69088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74" name="Text Box 4"/>
          <p:cNvSpPr txBox="1">
            <a:spLocks noChangeArrowheads="1"/>
          </p:cNvSpPr>
          <p:nvPr/>
        </p:nvSpPr>
        <p:spPr bwMode="auto">
          <a:xfrm>
            <a:off x="5907385" y="2863398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    4 . 8 6</a:t>
            </a:r>
            <a:endParaRPr lang="en-GB" sz="4000" dirty="0">
              <a:latin typeface="+mj-lt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99956" y="3862780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28" name="Line 7"/>
          <p:cNvSpPr>
            <a:spLocks noChangeShapeType="1"/>
          </p:cNvSpPr>
          <p:nvPr/>
        </p:nvSpPr>
        <p:spPr bwMode="auto">
          <a:xfrm>
            <a:off x="1792263" y="3933056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30" name="Text Box 30"/>
          <p:cNvSpPr txBox="1">
            <a:spLocks noChangeArrowheads="1"/>
          </p:cNvSpPr>
          <p:nvPr/>
        </p:nvSpPr>
        <p:spPr bwMode="auto">
          <a:xfrm>
            <a:off x="4012780" y="5013176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  <a:endParaRPr lang="en-GB" sz="20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31" name="Text Box 4"/>
          <p:cNvSpPr txBox="1">
            <a:spLocks noChangeArrowheads="1"/>
          </p:cNvSpPr>
          <p:nvPr/>
        </p:nvSpPr>
        <p:spPr bwMode="auto">
          <a:xfrm>
            <a:off x="412380" y="3975568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1 . 6 9 4 9</a:t>
            </a:r>
            <a:endParaRPr lang="en-GB" sz="4000" dirty="0">
              <a:latin typeface="+mj-lt"/>
            </a:endParaRPr>
          </a:p>
        </p:txBody>
      </p:sp>
      <p:sp>
        <p:nvSpPr>
          <p:cNvPr id="32" name="Text Box 30"/>
          <p:cNvSpPr txBox="1">
            <a:spLocks noChangeArrowheads="1"/>
          </p:cNvSpPr>
          <p:nvPr/>
        </p:nvSpPr>
        <p:spPr bwMode="auto">
          <a:xfrm>
            <a:off x="1060452" y="5013176"/>
            <a:ext cx="576064" cy="406400"/>
          </a:xfrm>
          <a:prstGeom prst="rect">
            <a:avLst/>
          </a:prstGeom>
          <a:solidFill>
            <a:srgbClr val="99FF66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rgbClr val="009900"/>
                </a:solidFill>
                <a:latin typeface="+mj-lt"/>
              </a:rPr>
              <a:t>No</a:t>
            </a:r>
          </a:p>
        </p:txBody>
      </p:sp>
      <p:grpSp>
        <p:nvGrpSpPr>
          <p:cNvPr id="7" name="Group 40"/>
          <p:cNvGrpSpPr/>
          <p:nvPr/>
        </p:nvGrpSpPr>
        <p:grpSpPr>
          <a:xfrm>
            <a:off x="1835696" y="4797152"/>
            <a:ext cx="1152128" cy="936104"/>
            <a:chOff x="1331640" y="3789040"/>
            <a:chExt cx="1152128" cy="936104"/>
          </a:xfrm>
        </p:grpSpPr>
        <p:sp>
          <p:nvSpPr>
            <p:cNvPr id="34" name="Cloud Callout 33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37874"/>
                <a:gd name="adj2" fmla="val -7214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41" name="Text Box 4"/>
          <p:cNvSpPr txBox="1">
            <a:spLocks noChangeArrowheads="1"/>
          </p:cNvSpPr>
          <p:nvPr/>
        </p:nvSpPr>
        <p:spPr bwMode="auto">
          <a:xfrm>
            <a:off x="407064" y="5601434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1 . 6 9</a:t>
            </a:r>
            <a:endParaRPr lang="en-GB" sz="4000" dirty="0">
              <a:latin typeface="+mj-lt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3220692" y="3861048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44" name="Line 7"/>
          <p:cNvSpPr>
            <a:spLocks noChangeShapeType="1"/>
          </p:cNvSpPr>
          <p:nvPr/>
        </p:nvSpPr>
        <p:spPr bwMode="auto">
          <a:xfrm>
            <a:off x="4716016" y="3931324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45" name="Text Box 4"/>
          <p:cNvSpPr txBox="1">
            <a:spLocks noChangeArrowheads="1"/>
          </p:cNvSpPr>
          <p:nvPr/>
        </p:nvSpPr>
        <p:spPr bwMode="auto">
          <a:xfrm>
            <a:off x="3333116" y="3973836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5 . 2 6 7 1</a:t>
            </a:r>
            <a:endParaRPr lang="en-GB" sz="4000" dirty="0">
              <a:latin typeface="+mj-lt"/>
            </a:endParaRPr>
          </a:p>
        </p:txBody>
      </p:sp>
      <p:grpSp>
        <p:nvGrpSpPr>
          <p:cNvPr id="8" name="Group 62"/>
          <p:cNvGrpSpPr/>
          <p:nvPr/>
        </p:nvGrpSpPr>
        <p:grpSpPr>
          <a:xfrm>
            <a:off x="4716016" y="4725144"/>
            <a:ext cx="1152128" cy="936104"/>
            <a:chOff x="1187624" y="3789040"/>
            <a:chExt cx="1152128" cy="936104"/>
          </a:xfrm>
        </p:grpSpPr>
        <p:sp>
          <p:nvSpPr>
            <p:cNvPr id="47" name="Cloud Callout 46"/>
            <p:cNvSpPr/>
            <p:nvPr/>
          </p:nvSpPr>
          <p:spPr>
            <a:xfrm>
              <a:off x="1187624" y="3789040"/>
              <a:ext cx="1152128" cy="936104"/>
            </a:xfrm>
            <a:prstGeom prst="cloudCallout">
              <a:avLst>
                <a:gd name="adj1" fmla="val -38701"/>
                <a:gd name="adj2" fmla="val -6807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259632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49" name="Text Box 4"/>
          <p:cNvSpPr txBox="1">
            <a:spLocks noChangeArrowheads="1"/>
          </p:cNvSpPr>
          <p:nvPr/>
        </p:nvSpPr>
        <p:spPr bwMode="auto">
          <a:xfrm>
            <a:off x="3327800" y="5599702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5 . 2 7</a:t>
            </a:r>
            <a:endParaRPr lang="en-GB" sz="4000" dirty="0">
              <a:latin typeface="+mj-lt"/>
            </a:endParaRPr>
          </a:p>
        </p:txBody>
      </p:sp>
      <p:sp>
        <p:nvSpPr>
          <p:cNvPr id="50" name="Text Box 30"/>
          <p:cNvSpPr txBox="1">
            <a:spLocks noChangeArrowheads="1"/>
          </p:cNvSpPr>
          <p:nvPr/>
        </p:nvSpPr>
        <p:spPr bwMode="auto">
          <a:xfrm>
            <a:off x="6893100" y="5013176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  <a:endParaRPr lang="en-GB" sz="20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6115760" y="3861048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52" name="Line 7"/>
          <p:cNvSpPr>
            <a:spLocks noChangeShapeType="1"/>
          </p:cNvSpPr>
          <p:nvPr/>
        </p:nvSpPr>
        <p:spPr bwMode="auto">
          <a:xfrm>
            <a:off x="7740352" y="3931324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53" name="Text Box 4"/>
          <p:cNvSpPr txBox="1">
            <a:spLocks noChangeArrowheads="1"/>
          </p:cNvSpPr>
          <p:nvPr/>
        </p:nvSpPr>
        <p:spPr bwMode="auto">
          <a:xfrm>
            <a:off x="6353150" y="3973836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1 . 8 9 7</a:t>
            </a:r>
            <a:endParaRPr lang="en-GB" sz="4000" dirty="0">
              <a:latin typeface="+mj-lt"/>
            </a:endParaRPr>
          </a:p>
        </p:txBody>
      </p:sp>
      <p:grpSp>
        <p:nvGrpSpPr>
          <p:cNvPr id="9" name="Group 70"/>
          <p:cNvGrpSpPr/>
          <p:nvPr/>
        </p:nvGrpSpPr>
        <p:grpSpPr>
          <a:xfrm>
            <a:off x="7596336" y="4723412"/>
            <a:ext cx="1152128" cy="936104"/>
            <a:chOff x="1331640" y="3789040"/>
            <a:chExt cx="1152128" cy="936104"/>
          </a:xfrm>
        </p:grpSpPr>
        <p:sp>
          <p:nvSpPr>
            <p:cNvPr id="55" name="Cloud Callout 54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22993"/>
                <a:gd name="adj2" fmla="val -65018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57" name="Text Box 4"/>
          <p:cNvSpPr txBox="1">
            <a:spLocks noChangeArrowheads="1"/>
          </p:cNvSpPr>
          <p:nvPr/>
        </p:nvSpPr>
        <p:spPr bwMode="auto">
          <a:xfrm>
            <a:off x="5940152" y="5599702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    1 . 9 0</a:t>
            </a:r>
            <a:endParaRPr lang="en-GB" sz="4000" dirty="0">
              <a:latin typeface="+mj-lt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6025176" y="419412"/>
            <a:ext cx="720080" cy="5760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Rounded Rectangle 57"/>
          <p:cNvSpPr/>
          <p:nvPr/>
        </p:nvSpPr>
        <p:spPr>
          <a:xfrm>
            <a:off x="7956376" y="116632"/>
            <a:ext cx="720080" cy="720080"/>
          </a:xfrm>
          <a:prstGeom prst="roundRect">
            <a:avLst>
              <a:gd name="adj" fmla="val 21100"/>
            </a:avLst>
          </a:prstGeom>
          <a:solidFill>
            <a:srgbClr val="FF9966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prstClr val="white"/>
                </a:solidFill>
              </a:rPr>
              <a:t>D</a:t>
            </a:r>
            <a:endParaRPr lang="en-US" sz="2000" b="1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6" grpId="0" animBg="1"/>
      <p:bldP spid="38" grpId="0" animBg="1"/>
      <p:bldP spid="42" grpId="0"/>
      <p:bldP spid="59" grpId="0" animBg="1"/>
      <p:bldP spid="60" grpId="0" animBg="1"/>
      <p:bldP spid="61" grpId="0"/>
      <p:bldP spid="66" grpId="0"/>
      <p:bldP spid="67" grpId="0" animBg="1"/>
      <p:bldP spid="68" grpId="0" animBg="1"/>
      <p:bldP spid="69" grpId="0" animBg="1"/>
      <p:bldP spid="70" grpId="0"/>
      <p:bldP spid="74" grpId="0"/>
      <p:bldP spid="27" grpId="0" animBg="1"/>
      <p:bldP spid="28" grpId="0" animBg="1"/>
      <p:bldP spid="30" grpId="0" animBg="1"/>
      <p:bldP spid="31" grpId="0"/>
      <p:bldP spid="32" grpId="0" animBg="1"/>
      <p:bldP spid="41" grpId="0"/>
      <p:bldP spid="43" grpId="0" animBg="1"/>
      <p:bldP spid="44" grpId="0" animBg="1"/>
      <p:bldP spid="45" grpId="0"/>
      <p:bldP spid="49" grpId="0"/>
      <p:bldP spid="50" grpId="0" animBg="1"/>
      <p:bldP spid="51" grpId="0" animBg="1"/>
      <p:bldP spid="52" grpId="0" animBg="1"/>
      <p:bldP spid="53" grpId="0"/>
      <p:bldP spid="57" grpId="0"/>
      <p:bldP spid="5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266268" y="404664"/>
            <a:ext cx="8626212" cy="609600"/>
          </a:xfrm>
          <a:prstGeom prst="roundRect">
            <a:avLst>
              <a:gd name="adj" fmla="val 21100"/>
            </a:avLst>
          </a:prstGeom>
          <a:solidFill>
            <a:srgbClr val="71A8F9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Rounding to Decimal Places: 3DP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83112" y="1126476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29" name="Line 7"/>
          <p:cNvSpPr>
            <a:spLocks noChangeShapeType="1"/>
          </p:cNvSpPr>
          <p:nvPr/>
        </p:nvSpPr>
        <p:spPr bwMode="auto">
          <a:xfrm>
            <a:off x="2150622" y="122684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36" name="Text Box 30"/>
          <p:cNvSpPr txBox="1">
            <a:spLocks noChangeArrowheads="1"/>
          </p:cNvSpPr>
          <p:nvPr/>
        </p:nvSpPr>
        <p:spPr bwMode="auto">
          <a:xfrm>
            <a:off x="3995936" y="2276872"/>
            <a:ext cx="576064" cy="406400"/>
          </a:xfrm>
          <a:prstGeom prst="rect">
            <a:avLst/>
          </a:prstGeom>
          <a:solidFill>
            <a:srgbClr val="99FF66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rgbClr val="009900"/>
                </a:solidFill>
                <a:latin typeface="+mj-lt"/>
              </a:rPr>
              <a:t>No</a:t>
            </a:r>
          </a:p>
        </p:txBody>
      </p:sp>
      <p:sp>
        <p:nvSpPr>
          <p:cNvPr id="37" name="Text Box 4"/>
          <p:cNvSpPr txBox="1">
            <a:spLocks noChangeArrowheads="1"/>
          </p:cNvSpPr>
          <p:nvPr/>
        </p:nvSpPr>
        <p:spPr bwMode="auto">
          <a:xfrm>
            <a:off x="395536" y="1239264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>
                <a:latin typeface="+mj-lt"/>
              </a:rPr>
              <a:t>4 </a:t>
            </a:r>
            <a:r>
              <a:rPr lang="en-GB" sz="4000" dirty="0" smtClean="0">
                <a:latin typeface="+mj-lt"/>
              </a:rPr>
              <a:t>. 8 </a:t>
            </a:r>
            <a:r>
              <a:rPr lang="en-GB" sz="4000" dirty="0">
                <a:latin typeface="+mj-lt"/>
              </a:rPr>
              <a:t>3 </a:t>
            </a:r>
            <a:r>
              <a:rPr lang="en-GB" sz="4000" dirty="0" smtClean="0">
                <a:latin typeface="+mj-lt"/>
              </a:rPr>
              <a:t>2 5</a:t>
            </a:r>
            <a:endParaRPr lang="en-GB" sz="4000" dirty="0">
              <a:latin typeface="+mj-lt"/>
            </a:endParaRPr>
          </a:p>
        </p:txBody>
      </p:sp>
      <p:sp>
        <p:nvSpPr>
          <p:cNvPr id="38" name="Text Box 30"/>
          <p:cNvSpPr txBox="1">
            <a:spLocks noChangeArrowheads="1"/>
          </p:cNvSpPr>
          <p:nvPr/>
        </p:nvSpPr>
        <p:spPr bwMode="auto">
          <a:xfrm>
            <a:off x="1043608" y="2276872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</a:p>
        </p:txBody>
      </p:sp>
      <p:grpSp>
        <p:nvGrpSpPr>
          <p:cNvPr id="2" name="Group 40"/>
          <p:cNvGrpSpPr/>
          <p:nvPr/>
        </p:nvGrpSpPr>
        <p:grpSpPr>
          <a:xfrm>
            <a:off x="1763688" y="2060848"/>
            <a:ext cx="1152128" cy="936104"/>
            <a:chOff x="1331640" y="3789040"/>
            <a:chExt cx="1152128" cy="936104"/>
          </a:xfrm>
        </p:grpSpPr>
        <p:sp>
          <p:nvSpPr>
            <p:cNvPr id="39" name="Cloud Callout 38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1498"/>
                <a:gd name="adj2" fmla="val -73159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42" name="Text Box 4"/>
          <p:cNvSpPr txBox="1">
            <a:spLocks noChangeArrowheads="1"/>
          </p:cNvSpPr>
          <p:nvPr/>
        </p:nvSpPr>
        <p:spPr bwMode="auto">
          <a:xfrm>
            <a:off x="417984" y="2865130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4 . 8 3 3</a:t>
            </a:r>
            <a:endParaRPr lang="en-GB" sz="4000" dirty="0">
              <a:latin typeface="+mj-lt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3203848" y="1124744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0" name="Line 7"/>
          <p:cNvSpPr>
            <a:spLocks noChangeShapeType="1"/>
          </p:cNvSpPr>
          <p:nvPr/>
        </p:nvSpPr>
        <p:spPr bwMode="auto">
          <a:xfrm>
            <a:off x="5066531" y="119502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61" name="Text Box 4"/>
          <p:cNvSpPr txBox="1">
            <a:spLocks noChangeArrowheads="1"/>
          </p:cNvSpPr>
          <p:nvPr/>
        </p:nvSpPr>
        <p:spPr bwMode="auto">
          <a:xfrm>
            <a:off x="3316272" y="1237532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>
                <a:latin typeface="+mj-lt"/>
              </a:rPr>
              <a:t>4 </a:t>
            </a:r>
            <a:r>
              <a:rPr lang="en-GB" sz="4000" dirty="0" smtClean="0">
                <a:latin typeface="+mj-lt"/>
              </a:rPr>
              <a:t>. 8 4 6 2 </a:t>
            </a:r>
            <a:endParaRPr lang="en-GB" sz="4000" dirty="0">
              <a:latin typeface="+mj-lt"/>
            </a:endParaRPr>
          </a:p>
        </p:txBody>
      </p:sp>
      <p:grpSp>
        <p:nvGrpSpPr>
          <p:cNvPr id="3" name="Group 62"/>
          <p:cNvGrpSpPr/>
          <p:nvPr/>
        </p:nvGrpSpPr>
        <p:grpSpPr>
          <a:xfrm>
            <a:off x="4684424" y="1987108"/>
            <a:ext cx="1152128" cy="936104"/>
            <a:chOff x="1331640" y="3789040"/>
            <a:chExt cx="1152128" cy="936104"/>
          </a:xfrm>
        </p:grpSpPr>
        <p:sp>
          <p:nvSpPr>
            <p:cNvPr id="64" name="Cloud Callout 63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3978"/>
                <a:gd name="adj2" fmla="val -65018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66" name="Text Box 4"/>
          <p:cNvSpPr txBox="1">
            <a:spLocks noChangeArrowheads="1"/>
          </p:cNvSpPr>
          <p:nvPr/>
        </p:nvSpPr>
        <p:spPr bwMode="auto">
          <a:xfrm>
            <a:off x="3310956" y="2863398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>
                <a:latin typeface="+mj-lt"/>
              </a:rPr>
              <a:t>4 </a:t>
            </a:r>
            <a:r>
              <a:rPr lang="en-GB" sz="4000" dirty="0" smtClean="0">
                <a:latin typeface="+mj-lt"/>
              </a:rPr>
              <a:t>. 8 4 6</a:t>
            </a:r>
            <a:endParaRPr lang="en-GB" sz="4000" dirty="0">
              <a:latin typeface="+mj-lt"/>
            </a:endParaRPr>
          </a:p>
        </p:txBody>
      </p:sp>
      <p:sp>
        <p:nvSpPr>
          <p:cNvPr id="67" name="Text Box 30"/>
          <p:cNvSpPr txBox="1">
            <a:spLocks noChangeArrowheads="1"/>
          </p:cNvSpPr>
          <p:nvPr/>
        </p:nvSpPr>
        <p:spPr bwMode="auto">
          <a:xfrm>
            <a:off x="6876256" y="2276872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  <a:endParaRPr lang="en-GB" sz="20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6098916" y="1124744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9" name="Line 7"/>
          <p:cNvSpPr>
            <a:spLocks noChangeShapeType="1"/>
          </p:cNvSpPr>
          <p:nvPr/>
        </p:nvSpPr>
        <p:spPr bwMode="auto">
          <a:xfrm>
            <a:off x="8114109" y="119502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70" name="Text Box 4"/>
          <p:cNvSpPr txBox="1">
            <a:spLocks noChangeArrowheads="1"/>
          </p:cNvSpPr>
          <p:nvPr/>
        </p:nvSpPr>
        <p:spPr bwMode="auto">
          <a:xfrm>
            <a:off x="6353150" y="1237532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4 . 8 5 9 5</a:t>
            </a:r>
            <a:endParaRPr lang="en-GB" sz="4000" dirty="0">
              <a:latin typeface="+mj-lt"/>
            </a:endParaRPr>
          </a:p>
        </p:txBody>
      </p:sp>
      <p:grpSp>
        <p:nvGrpSpPr>
          <p:cNvPr id="4" name="Group 70"/>
          <p:cNvGrpSpPr/>
          <p:nvPr/>
        </p:nvGrpSpPr>
        <p:grpSpPr>
          <a:xfrm>
            <a:off x="7579492" y="1987108"/>
            <a:ext cx="1152128" cy="936104"/>
            <a:chOff x="1331640" y="3789040"/>
            <a:chExt cx="1152128" cy="936104"/>
          </a:xfrm>
        </p:grpSpPr>
        <p:sp>
          <p:nvSpPr>
            <p:cNvPr id="72" name="Cloud Callout 71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10076"/>
                <a:gd name="adj2" fmla="val -67053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74" name="Text Box 4"/>
          <p:cNvSpPr txBox="1">
            <a:spLocks noChangeArrowheads="1"/>
          </p:cNvSpPr>
          <p:nvPr/>
        </p:nvSpPr>
        <p:spPr bwMode="auto">
          <a:xfrm>
            <a:off x="5907384" y="2863398"/>
            <a:ext cx="255304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    4 . 8 6 0</a:t>
            </a:r>
            <a:endParaRPr lang="en-GB" sz="4000" dirty="0">
              <a:latin typeface="+mj-lt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99956" y="3862780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28" name="Line 7"/>
          <p:cNvSpPr>
            <a:spLocks noChangeShapeType="1"/>
          </p:cNvSpPr>
          <p:nvPr/>
        </p:nvSpPr>
        <p:spPr bwMode="auto">
          <a:xfrm>
            <a:off x="2195736" y="3963144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30" name="Text Box 30"/>
          <p:cNvSpPr txBox="1">
            <a:spLocks noChangeArrowheads="1"/>
          </p:cNvSpPr>
          <p:nvPr/>
        </p:nvSpPr>
        <p:spPr bwMode="auto">
          <a:xfrm>
            <a:off x="4012780" y="5013176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  <a:endParaRPr lang="en-GB" sz="20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31" name="Text Box 4"/>
          <p:cNvSpPr txBox="1">
            <a:spLocks noChangeArrowheads="1"/>
          </p:cNvSpPr>
          <p:nvPr/>
        </p:nvSpPr>
        <p:spPr bwMode="auto">
          <a:xfrm>
            <a:off x="412380" y="3975568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1 . 6 9 4 2</a:t>
            </a:r>
            <a:endParaRPr lang="en-GB" sz="4000" dirty="0">
              <a:latin typeface="+mj-lt"/>
            </a:endParaRPr>
          </a:p>
        </p:txBody>
      </p:sp>
      <p:sp>
        <p:nvSpPr>
          <p:cNvPr id="32" name="Text Box 30"/>
          <p:cNvSpPr txBox="1">
            <a:spLocks noChangeArrowheads="1"/>
          </p:cNvSpPr>
          <p:nvPr/>
        </p:nvSpPr>
        <p:spPr bwMode="auto">
          <a:xfrm>
            <a:off x="1060452" y="5013176"/>
            <a:ext cx="576064" cy="406400"/>
          </a:xfrm>
          <a:prstGeom prst="rect">
            <a:avLst/>
          </a:prstGeom>
          <a:solidFill>
            <a:srgbClr val="99FF66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rgbClr val="009900"/>
                </a:solidFill>
                <a:latin typeface="+mj-lt"/>
              </a:rPr>
              <a:t>No</a:t>
            </a:r>
          </a:p>
        </p:txBody>
      </p:sp>
      <p:grpSp>
        <p:nvGrpSpPr>
          <p:cNvPr id="7" name="Group 40"/>
          <p:cNvGrpSpPr/>
          <p:nvPr/>
        </p:nvGrpSpPr>
        <p:grpSpPr>
          <a:xfrm>
            <a:off x="1835696" y="4797152"/>
            <a:ext cx="1152128" cy="936104"/>
            <a:chOff x="1331640" y="3789040"/>
            <a:chExt cx="1152128" cy="936104"/>
          </a:xfrm>
        </p:grpSpPr>
        <p:sp>
          <p:nvSpPr>
            <p:cNvPr id="34" name="Cloud Callout 33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5631"/>
                <a:gd name="adj2" fmla="val -73158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41" name="Text Box 4"/>
          <p:cNvSpPr txBox="1">
            <a:spLocks noChangeArrowheads="1"/>
          </p:cNvSpPr>
          <p:nvPr/>
        </p:nvSpPr>
        <p:spPr bwMode="auto">
          <a:xfrm>
            <a:off x="407064" y="5601434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1 . 6 9 4</a:t>
            </a:r>
            <a:endParaRPr lang="en-GB" sz="4000" dirty="0">
              <a:latin typeface="+mj-lt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3220692" y="3861048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44" name="Line 7"/>
          <p:cNvSpPr>
            <a:spLocks noChangeShapeType="1"/>
          </p:cNvSpPr>
          <p:nvPr/>
        </p:nvSpPr>
        <p:spPr bwMode="auto">
          <a:xfrm>
            <a:off x="5085581" y="3931324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45" name="Text Box 4"/>
          <p:cNvSpPr txBox="1">
            <a:spLocks noChangeArrowheads="1"/>
          </p:cNvSpPr>
          <p:nvPr/>
        </p:nvSpPr>
        <p:spPr bwMode="auto">
          <a:xfrm>
            <a:off x="3333116" y="3973836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5 . 2 6 2 7</a:t>
            </a:r>
            <a:endParaRPr lang="en-GB" sz="4000" dirty="0">
              <a:latin typeface="+mj-lt"/>
            </a:endParaRPr>
          </a:p>
        </p:txBody>
      </p:sp>
      <p:grpSp>
        <p:nvGrpSpPr>
          <p:cNvPr id="8" name="Group 62"/>
          <p:cNvGrpSpPr/>
          <p:nvPr/>
        </p:nvGrpSpPr>
        <p:grpSpPr>
          <a:xfrm>
            <a:off x="4716016" y="4725144"/>
            <a:ext cx="1152128" cy="936104"/>
            <a:chOff x="1187624" y="3789040"/>
            <a:chExt cx="1152128" cy="936104"/>
          </a:xfrm>
        </p:grpSpPr>
        <p:sp>
          <p:nvSpPr>
            <p:cNvPr id="47" name="Cloud Callout 46"/>
            <p:cNvSpPr/>
            <p:nvPr/>
          </p:nvSpPr>
          <p:spPr>
            <a:xfrm>
              <a:off x="1187624" y="3789040"/>
              <a:ext cx="1152128" cy="936104"/>
            </a:xfrm>
            <a:prstGeom prst="cloudCallout">
              <a:avLst>
                <a:gd name="adj1" fmla="val -2325"/>
                <a:gd name="adj2" fmla="val -6603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259632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49" name="Text Box 4"/>
          <p:cNvSpPr txBox="1">
            <a:spLocks noChangeArrowheads="1"/>
          </p:cNvSpPr>
          <p:nvPr/>
        </p:nvSpPr>
        <p:spPr bwMode="auto">
          <a:xfrm>
            <a:off x="3327800" y="5599702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5 . 2 6 3</a:t>
            </a:r>
            <a:endParaRPr lang="en-GB" sz="4000" dirty="0">
              <a:latin typeface="+mj-lt"/>
            </a:endParaRPr>
          </a:p>
        </p:txBody>
      </p:sp>
      <p:sp>
        <p:nvSpPr>
          <p:cNvPr id="50" name="Text Box 30"/>
          <p:cNvSpPr txBox="1">
            <a:spLocks noChangeArrowheads="1"/>
          </p:cNvSpPr>
          <p:nvPr/>
        </p:nvSpPr>
        <p:spPr bwMode="auto">
          <a:xfrm>
            <a:off x="6893100" y="5013176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  <a:endParaRPr lang="en-GB" sz="20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6115760" y="3861048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52" name="Line 7"/>
          <p:cNvSpPr>
            <a:spLocks noChangeShapeType="1"/>
          </p:cNvSpPr>
          <p:nvPr/>
        </p:nvSpPr>
        <p:spPr bwMode="auto">
          <a:xfrm>
            <a:off x="8100392" y="3931324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53" name="Text Box 4"/>
          <p:cNvSpPr txBox="1">
            <a:spLocks noChangeArrowheads="1"/>
          </p:cNvSpPr>
          <p:nvPr/>
        </p:nvSpPr>
        <p:spPr bwMode="auto">
          <a:xfrm>
            <a:off x="6353150" y="3973836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1 . 9 9 9 9</a:t>
            </a:r>
            <a:endParaRPr lang="en-GB" sz="4000" dirty="0">
              <a:latin typeface="+mj-lt"/>
            </a:endParaRPr>
          </a:p>
        </p:txBody>
      </p:sp>
      <p:grpSp>
        <p:nvGrpSpPr>
          <p:cNvPr id="9" name="Group 70"/>
          <p:cNvGrpSpPr/>
          <p:nvPr/>
        </p:nvGrpSpPr>
        <p:grpSpPr>
          <a:xfrm>
            <a:off x="7596336" y="4723412"/>
            <a:ext cx="1152128" cy="936104"/>
            <a:chOff x="1331640" y="3789040"/>
            <a:chExt cx="1152128" cy="936104"/>
          </a:xfrm>
        </p:grpSpPr>
        <p:sp>
          <p:nvSpPr>
            <p:cNvPr id="55" name="Cloud Callout 54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11730"/>
                <a:gd name="adj2" fmla="val -62983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57" name="Text Box 4"/>
          <p:cNvSpPr txBox="1">
            <a:spLocks noChangeArrowheads="1"/>
          </p:cNvSpPr>
          <p:nvPr/>
        </p:nvSpPr>
        <p:spPr bwMode="auto">
          <a:xfrm>
            <a:off x="5940152" y="5599702"/>
            <a:ext cx="252028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    2 . 0 0 0</a:t>
            </a:r>
            <a:endParaRPr lang="en-GB" sz="4000" dirty="0">
              <a:latin typeface="+mj-lt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6025176" y="419412"/>
            <a:ext cx="720080" cy="5760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Rounded Rectangle 57"/>
          <p:cNvSpPr/>
          <p:nvPr/>
        </p:nvSpPr>
        <p:spPr>
          <a:xfrm>
            <a:off x="7956376" y="116632"/>
            <a:ext cx="720080" cy="720080"/>
          </a:xfrm>
          <a:prstGeom prst="roundRect">
            <a:avLst>
              <a:gd name="adj" fmla="val 21100"/>
            </a:avLst>
          </a:prstGeom>
          <a:solidFill>
            <a:srgbClr val="FF9966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prstClr val="white"/>
                </a:solidFill>
              </a:rPr>
              <a:t>D</a:t>
            </a:r>
            <a:endParaRPr lang="en-US" sz="2000" b="1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6" grpId="0" animBg="1"/>
      <p:bldP spid="38" grpId="0" animBg="1"/>
      <p:bldP spid="42" grpId="0"/>
      <p:bldP spid="59" grpId="0" animBg="1"/>
      <p:bldP spid="60" grpId="0" animBg="1"/>
      <p:bldP spid="61" grpId="0"/>
      <p:bldP spid="66" grpId="0"/>
      <p:bldP spid="67" grpId="0" animBg="1"/>
      <p:bldP spid="68" grpId="0" animBg="1"/>
      <p:bldP spid="69" grpId="0" animBg="1"/>
      <p:bldP spid="70" grpId="0"/>
      <p:bldP spid="74" grpId="0"/>
      <p:bldP spid="27" grpId="0" animBg="1"/>
      <p:bldP spid="28" grpId="0" animBg="1"/>
      <p:bldP spid="30" grpId="0" animBg="1"/>
      <p:bldP spid="31" grpId="0"/>
      <p:bldP spid="32" grpId="0" animBg="1"/>
      <p:bldP spid="41" grpId="0"/>
      <p:bldP spid="43" grpId="0" animBg="1"/>
      <p:bldP spid="44" grpId="0" animBg="1"/>
      <p:bldP spid="45" grpId="0"/>
      <p:bldP spid="49" grpId="0"/>
      <p:bldP spid="50" grpId="0" animBg="1"/>
      <p:bldP spid="51" grpId="0" animBg="1"/>
      <p:bldP spid="52" grpId="0" animBg="1"/>
      <p:bldP spid="53" grpId="0"/>
      <p:bldP spid="57" grpId="0"/>
      <p:bldP spid="5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66268" y="188640"/>
            <a:ext cx="8626212" cy="609600"/>
          </a:xfrm>
          <a:prstGeom prst="roundRect">
            <a:avLst>
              <a:gd name="adj" fmla="val 21100"/>
            </a:avLst>
          </a:prstGeom>
          <a:solidFill>
            <a:srgbClr val="71A8F9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Rounding to Decimal Places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5" name="Text Box 30"/>
          <p:cNvSpPr txBox="1">
            <a:spLocks noChangeArrowheads="1"/>
          </p:cNvSpPr>
          <p:nvPr/>
        </p:nvSpPr>
        <p:spPr bwMode="auto">
          <a:xfrm>
            <a:off x="6876256" y="2105092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  <a:endParaRPr lang="en-GB" sz="20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084168" y="952964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7949057" y="102324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6196592" y="1065752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5 . 2 6 2 7</a:t>
            </a:r>
            <a:endParaRPr lang="en-GB" sz="4000" dirty="0">
              <a:latin typeface="+mj-lt"/>
            </a:endParaRPr>
          </a:p>
        </p:txBody>
      </p:sp>
      <p:grpSp>
        <p:nvGrpSpPr>
          <p:cNvPr id="2" name="Group 62"/>
          <p:cNvGrpSpPr/>
          <p:nvPr/>
        </p:nvGrpSpPr>
        <p:grpSpPr>
          <a:xfrm>
            <a:off x="7579492" y="1817060"/>
            <a:ext cx="1152128" cy="936104"/>
            <a:chOff x="1187624" y="3789040"/>
            <a:chExt cx="1152128" cy="936104"/>
          </a:xfrm>
        </p:grpSpPr>
        <p:sp>
          <p:nvSpPr>
            <p:cNvPr id="10" name="Cloud Callout 9"/>
            <p:cNvSpPr/>
            <p:nvPr/>
          </p:nvSpPr>
          <p:spPr>
            <a:xfrm>
              <a:off x="1187624" y="3789040"/>
              <a:ext cx="1152128" cy="936104"/>
            </a:xfrm>
            <a:prstGeom prst="cloudCallout">
              <a:avLst>
                <a:gd name="adj1" fmla="val -2325"/>
                <a:gd name="adj2" fmla="val -6603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259632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6191276" y="2691618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5 . 2 6 3</a:t>
            </a:r>
            <a:endParaRPr lang="en-GB" sz="4000" dirty="0">
              <a:latin typeface="+mj-lt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192928" y="936484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14" name="Line 7"/>
          <p:cNvSpPr>
            <a:spLocks noChangeShapeType="1"/>
          </p:cNvSpPr>
          <p:nvPr/>
        </p:nvSpPr>
        <p:spPr bwMode="auto">
          <a:xfrm>
            <a:off x="4685235" y="100676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3305352" y="1049272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1 . 6 9 4 9</a:t>
            </a:r>
            <a:endParaRPr lang="en-GB" sz="4000" dirty="0">
              <a:latin typeface="+mj-lt"/>
            </a:endParaRPr>
          </a:p>
        </p:txBody>
      </p:sp>
      <p:sp>
        <p:nvSpPr>
          <p:cNvPr id="16" name="Text Box 30"/>
          <p:cNvSpPr txBox="1">
            <a:spLocks noChangeArrowheads="1"/>
          </p:cNvSpPr>
          <p:nvPr/>
        </p:nvSpPr>
        <p:spPr bwMode="auto">
          <a:xfrm>
            <a:off x="3953424" y="2086880"/>
            <a:ext cx="576064" cy="406400"/>
          </a:xfrm>
          <a:prstGeom prst="rect">
            <a:avLst/>
          </a:prstGeom>
          <a:solidFill>
            <a:srgbClr val="99FF66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rgbClr val="009900"/>
                </a:solidFill>
                <a:latin typeface="+mj-lt"/>
              </a:rPr>
              <a:t>No</a:t>
            </a:r>
          </a:p>
        </p:txBody>
      </p:sp>
      <p:grpSp>
        <p:nvGrpSpPr>
          <p:cNvPr id="3" name="Group 40"/>
          <p:cNvGrpSpPr/>
          <p:nvPr/>
        </p:nvGrpSpPr>
        <p:grpSpPr>
          <a:xfrm>
            <a:off x="4728668" y="1870856"/>
            <a:ext cx="1152128" cy="936104"/>
            <a:chOff x="1331640" y="3789040"/>
            <a:chExt cx="1152128" cy="936104"/>
          </a:xfrm>
        </p:grpSpPr>
        <p:sp>
          <p:nvSpPr>
            <p:cNvPr id="18" name="Cloud Callout 17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37874"/>
                <a:gd name="adj2" fmla="val -7214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20" name="Text Box 4"/>
          <p:cNvSpPr txBox="1">
            <a:spLocks noChangeArrowheads="1"/>
          </p:cNvSpPr>
          <p:nvPr/>
        </p:nvSpPr>
        <p:spPr bwMode="auto">
          <a:xfrm>
            <a:off x="3300036" y="2675138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1 . 6 9</a:t>
            </a:r>
            <a:endParaRPr lang="en-GB" sz="4000" dirty="0">
              <a:latin typeface="+mj-lt"/>
            </a:endParaRPr>
          </a:p>
        </p:txBody>
      </p:sp>
      <p:sp>
        <p:nvSpPr>
          <p:cNvPr id="21" name="Text Box 30"/>
          <p:cNvSpPr txBox="1">
            <a:spLocks noChangeArrowheads="1"/>
          </p:cNvSpPr>
          <p:nvPr/>
        </p:nvSpPr>
        <p:spPr bwMode="auto">
          <a:xfrm>
            <a:off x="1071372" y="2060848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  <a:endParaRPr lang="en-GB" sz="20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94032" y="908720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23" name="Line 7"/>
          <p:cNvSpPr>
            <a:spLocks noChangeShapeType="1"/>
          </p:cNvSpPr>
          <p:nvPr/>
        </p:nvSpPr>
        <p:spPr bwMode="auto">
          <a:xfrm>
            <a:off x="1558584" y="978996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24" name="Text Box 4"/>
          <p:cNvSpPr txBox="1">
            <a:spLocks noChangeArrowheads="1"/>
          </p:cNvSpPr>
          <p:nvPr/>
        </p:nvSpPr>
        <p:spPr bwMode="auto">
          <a:xfrm>
            <a:off x="538741" y="1021508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4 . 8 5 2</a:t>
            </a:r>
            <a:endParaRPr lang="en-GB" sz="4000" dirty="0">
              <a:latin typeface="+mj-lt"/>
            </a:endParaRPr>
          </a:p>
        </p:txBody>
      </p:sp>
      <p:grpSp>
        <p:nvGrpSpPr>
          <p:cNvPr id="9" name="Group 70"/>
          <p:cNvGrpSpPr/>
          <p:nvPr/>
        </p:nvGrpSpPr>
        <p:grpSpPr>
          <a:xfrm>
            <a:off x="1774608" y="1771084"/>
            <a:ext cx="1152128" cy="936104"/>
            <a:chOff x="1331640" y="3789040"/>
            <a:chExt cx="1152128" cy="936104"/>
          </a:xfrm>
        </p:grpSpPr>
        <p:sp>
          <p:nvSpPr>
            <p:cNvPr id="26" name="Cloud Callout 25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50275"/>
                <a:gd name="adj2" fmla="val -6196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28" name="Text Box 4"/>
          <p:cNvSpPr txBox="1">
            <a:spLocks noChangeArrowheads="1"/>
          </p:cNvSpPr>
          <p:nvPr/>
        </p:nvSpPr>
        <p:spPr bwMode="auto">
          <a:xfrm>
            <a:off x="102501" y="2632626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    4 . 9</a:t>
            </a:r>
            <a:endParaRPr lang="en-GB" sz="4000" dirty="0">
              <a:latin typeface="+mj-lt"/>
            </a:endParaRPr>
          </a:p>
        </p:txBody>
      </p:sp>
      <p:sp>
        <p:nvSpPr>
          <p:cNvPr id="81" name="Rounded Rectangle 80"/>
          <p:cNvSpPr/>
          <p:nvPr/>
        </p:nvSpPr>
        <p:spPr>
          <a:xfrm rot="16200000">
            <a:off x="-863738" y="4906030"/>
            <a:ext cx="2806580" cy="576064"/>
          </a:xfrm>
          <a:prstGeom prst="roundRect">
            <a:avLst>
              <a:gd name="adj" fmla="val 21100"/>
            </a:avLst>
          </a:prstGeom>
          <a:solidFill>
            <a:srgbClr val="93D76E"/>
          </a:solidFill>
          <a:ln>
            <a:solidFill>
              <a:srgbClr val="0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Your Turn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971600" y="3818535"/>
            <a:ext cx="7920880" cy="2775641"/>
          </a:xfrm>
          <a:prstGeom prst="roundRect">
            <a:avLst>
              <a:gd name="adj" fmla="val 4579"/>
            </a:avLst>
          </a:prstGeom>
          <a:solidFill>
            <a:schemeClr val="bg1"/>
          </a:solidFill>
          <a:ln>
            <a:solidFill>
              <a:srgbClr val="0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176213" indent="-176213">
              <a:buClr>
                <a:srgbClr val="008000"/>
              </a:buClr>
              <a:buFont typeface="Wingdings" pitchFamily="2" charset="2"/>
              <a:buChar char="§"/>
            </a:pPr>
            <a:r>
              <a:rPr lang="en-US" sz="2200" dirty="0" smtClean="0">
                <a:solidFill>
                  <a:schemeClr val="tx1"/>
                </a:solidFill>
              </a:rPr>
              <a:t>Copy &amp; </a:t>
            </a:r>
          </a:p>
          <a:p>
            <a:pPr marL="176213" indent="-176213">
              <a:buClr>
                <a:srgbClr val="008000"/>
              </a:buClr>
            </a:pPr>
            <a:r>
              <a:rPr lang="en-US" sz="2200" dirty="0" smtClean="0">
                <a:solidFill>
                  <a:schemeClr val="tx1"/>
                </a:solidFill>
              </a:rPr>
              <a:t>	complete</a:t>
            </a:r>
          </a:p>
          <a:p>
            <a:pPr marL="176213" indent="-176213">
              <a:buClr>
                <a:srgbClr val="008000"/>
              </a:buClr>
            </a:pPr>
            <a:r>
              <a:rPr lang="en-US" sz="2200" dirty="0" smtClean="0">
                <a:solidFill>
                  <a:schemeClr val="tx1"/>
                </a:solidFill>
              </a:rPr>
              <a:t>	this table:</a:t>
            </a:r>
          </a:p>
        </p:txBody>
      </p:sp>
      <p:graphicFrame>
        <p:nvGraphicFramePr>
          <p:cNvPr id="83" name="Table 82"/>
          <p:cNvGraphicFramePr>
            <a:graphicFrameLocks noGrp="1"/>
          </p:cNvGraphicFramePr>
          <p:nvPr/>
        </p:nvGraphicFramePr>
        <p:xfrm>
          <a:off x="2555776" y="4077072"/>
          <a:ext cx="6096000" cy="22250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152128"/>
                <a:gridCol w="1512168"/>
                <a:gridCol w="1656184"/>
                <a:gridCol w="177552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Number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To 1DP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To 2DP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To 3DP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 eaLnBrk="1" hangingPunct="1">
                        <a:spcBef>
                          <a:spcPct val="20000"/>
                        </a:spcBef>
                      </a:pPr>
                      <a:r>
                        <a:rPr lang="en-GB" dirty="0" smtClean="0">
                          <a:cs typeface="Arial" charset="0"/>
                        </a:rPr>
                        <a:t>63.4721 </a:t>
                      </a:r>
                      <a:endParaRPr lang="en-GB" dirty="0">
                        <a:cs typeface="Arial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 eaLnBrk="1" hangingPunct="1">
                        <a:spcBef>
                          <a:spcPct val="20000"/>
                        </a:spcBef>
                      </a:pPr>
                      <a:r>
                        <a:rPr lang="en-GB" dirty="0" smtClean="0">
                          <a:solidFill>
                            <a:schemeClr val="tx1"/>
                          </a:solidFill>
                          <a:cs typeface="Arial" charset="0"/>
                        </a:rPr>
                        <a:t>87.6564</a:t>
                      </a:r>
                      <a:endParaRPr lang="en-GB" sz="1600" dirty="0">
                        <a:solidFill>
                          <a:schemeClr val="tx1"/>
                        </a:solidFill>
                        <a:cs typeface="Arial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 eaLnBrk="1" hangingPunct="1">
                        <a:spcBef>
                          <a:spcPct val="20000"/>
                        </a:spcBef>
                      </a:pPr>
                      <a:r>
                        <a:rPr lang="en-GB" dirty="0" smtClean="0">
                          <a:solidFill>
                            <a:schemeClr val="tx1"/>
                          </a:solidFill>
                          <a:cs typeface="Arial" charset="0"/>
                        </a:rPr>
                        <a:t>149.9875</a:t>
                      </a:r>
                      <a:endParaRPr lang="en-GB" sz="1600" dirty="0">
                        <a:solidFill>
                          <a:schemeClr val="tx1"/>
                        </a:solidFill>
                        <a:cs typeface="Arial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>
                          <a:solidFill>
                            <a:schemeClr val="tx1"/>
                          </a:solidFill>
                          <a:cs typeface="Arial" charset="0"/>
                        </a:rPr>
                        <a:t>3.54029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>
                          <a:solidFill>
                            <a:schemeClr val="tx1"/>
                          </a:solidFill>
                          <a:cs typeface="Arial" charset="0"/>
                        </a:rPr>
                        <a:t>0.59999</a:t>
                      </a:r>
                      <a:endParaRPr lang="en-GB" sz="1600" dirty="0" smtClean="0">
                        <a:solidFill>
                          <a:schemeClr val="tx1"/>
                        </a:solidFill>
                        <a:cs typeface="Arial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0" name="Text Box 39"/>
          <p:cNvSpPr txBox="1">
            <a:spLocks noChangeArrowheads="1"/>
          </p:cNvSpPr>
          <p:nvPr/>
        </p:nvSpPr>
        <p:spPr bwMode="auto">
          <a:xfrm>
            <a:off x="4256971" y="4437112"/>
            <a:ext cx="59343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63.5</a:t>
            </a:r>
          </a:p>
        </p:txBody>
      </p:sp>
      <p:sp>
        <p:nvSpPr>
          <p:cNvPr id="101" name="Text Box 40"/>
          <p:cNvSpPr txBox="1">
            <a:spLocks noChangeArrowheads="1"/>
          </p:cNvSpPr>
          <p:nvPr/>
        </p:nvSpPr>
        <p:spPr bwMode="auto">
          <a:xfrm>
            <a:off x="5733757" y="4437112"/>
            <a:ext cx="7104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GB">
                <a:solidFill>
                  <a:schemeClr val="accent6">
                    <a:lumMod val="75000"/>
                  </a:schemeClr>
                </a:solidFill>
              </a:rPr>
              <a:t>63.47</a:t>
            </a:r>
          </a:p>
        </p:txBody>
      </p:sp>
      <p:sp>
        <p:nvSpPr>
          <p:cNvPr id="102" name="Text Box 41"/>
          <p:cNvSpPr txBox="1">
            <a:spLocks noChangeArrowheads="1"/>
          </p:cNvSpPr>
          <p:nvPr/>
        </p:nvSpPr>
        <p:spPr bwMode="auto">
          <a:xfrm>
            <a:off x="7372693" y="4437112"/>
            <a:ext cx="82747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GB">
                <a:solidFill>
                  <a:schemeClr val="accent6">
                    <a:lumMod val="75000"/>
                  </a:schemeClr>
                </a:solidFill>
              </a:rPr>
              <a:t>63.472</a:t>
            </a:r>
          </a:p>
        </p:txBody>
      </p:sp>
      <p:sp>
        <p:nvSpPr>
          <p:cNvPr id="103" name="Text Box 43"/>
          <p:cNvSpPr txBox="1">
            <a:spLocks noChangeArrowheads="1"/>
          </p:cNvSpPr>
          <p:nvPr/>
        </p:nvSpPr>
        <p:spPr bwMode="auto">
          <a:xfrm>
            <a:off x="4256971" y="4839664"/>
            <a:ext cx="59343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87.7</a:t>
            </a:r>
          </a:p>
        </p:txBody>
      </p:sp>
      <p:sp>
        <p:nvSpPr>
          <p:cNvPr id="104" name="Text Box 44"/>
          <p:cNvSpPr txBox="1">
            <a:spLocks noChangeArrowheads="1"/>
          </p:cNvSpPr>
          <p:nvPr/>
        </p:nvSpPr>
        <p:spPr bwMode="auto">
          <a:xfrm>
            <a:off x="5733757" y="4839664"/>
            <a:ext cx="7104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GB">
                <a:solidFill>
                  <a:schemeClr val="accent6">
                    <a:lumMod val="75000"/>
                  </a:schemeClr>
                </a:solidFill>
              </a:rPr>
              <a:t>87.66</a:t>
            </a:r>
          </a:p>
        </p:txBody>
      </p:sp>
      <p:sp>
        <p:nvSpPr>
          <p:cNvPr id="105" name="Text Box 45"/>
          <p:cNvSpPr txBox="1">
            <a:spLocks noChangeArrowheads="1"/>
          </p:cNvSpPr>
          <p:nvPr/>
        </p:nvSpPr>
        <p:spPr bwMode="auto">
          <a:xfrm>
            <a:off x="7372693" y="4839664"/>
            <a:ext cx="82747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GB">
                <a:solidFill>
                  <a:schemeClr val="accent6">
                    <a:lumMod val="75000"/>
                  </a:schemeClr>
                </a:solidFill>
              </a:rPr>
              <a:t>87.656</a:t>
            </a:r>
          </a:p>
        </p:txBody>
      </p:sp>
      <p:sp>
        <p:nvSpPr>
          <p:cNvPr id="106" name="Text Box 47"/>
          <p:cNvSpPr txBox="1">
            <a:spLocks noChangeArrowheads="1"/>
          </p:cNvSpPr>
          <p:nvPr/>
        </p:nvSpPr>
        <p:spPr bwMode="auto">
          <a:xfrm>
            <a:off x="4139952" y="5186688"/>
            <a:ext cx="7104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150.0</a:t>
            </a:r>
          </a:p>
        </p:txBody>
      </p:sp>
      <p:sp>
        <p:nvSpPr>
          <p:cNvPr id="107" name="Text Box 48"/>
          <p:cNvSpPr txBox="1">
            <a:spLocks noChangeArrowheads="1"/>
          </p:cNvSpPr>
          <p:nvPr/>
        </p:nvSpPr>
        <p:spPr bwMode="auto">
          <a:xfrm>
            <a:off x="5616737" y="5186688"/>
            <a:ext cx="82747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GB">
                <a:solidFill>
                  <a:schemeClr val="accent6">
                    <a:lumMod val="75000"/>
                  </a:schemeClr>
                </a:solidFill>
              </a:rPr>
              <a:t>149.99</a:t>
            </a:r>
          </a:p>
        </p:txBody>
      </p:sp>
      <p:sp>
        <p:nvSpPr>
          <p:cNvPr id="108" name="Text Box 49"/>
          <p:cNvSpPr txBox="1">
            <a:spLocks noChangeArrowheads="1"/>
          </p:cNvSpPr>
          <p:nvPr/>
        </p:nvSpPr>
        <p:spPr bwMode="auto">
          <a:xfrm>
            <a:off x="7255675" y="5186688"/>
            <a:ext cx="94448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GB">
                <a:solidFill>
                  <a:schemeClr val="accent6">
                    <a:lumMod val="75000"/>
                  </a:schemeClr>
                </a:solidFill>
              </a:rPr>
              <a:t>149.988</a:t>
            </a:r>
          </a:p>
        </p:txBody>
      </p:sp>
      <p:sp>
        <p:nvSpPr>
          <p:cNvPr id="109" name="Text Box 51"/>
          <p:cNvSpPr txBox="1">
            <a:spLocks noChangeArrowheads="1"/>
          </p:cNvSpPr>
          <p:nvPr/>
        </p:nvSpPr>
        <p:spPr bwMode="auto">
          <a:xfrm>
            <a:off x="4373991" y="5574492"/>
            <a:ext cx="4764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3.5</a:t>
            </a:r>
          </a:p>
        </p:txBody>
      </p:sp>
      <p:sp>
        <p:nvSpPr>
          <p:cNvPr id="110" name="Text Box 52"/>
          <p:cNvSpPr txBox="1">
            <a:spLocks noChangeArrowheads="1"/>
          </p:cNvSpPr>
          <p:nvPr/>
        </p:nvSpPr>
        <p:spPr bwMode="auto">
          <a:xfrm>
            <a:off x="5850776" y="5574492"/>
            <a:ext cx="59343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GB">
                <a:solidFill>
                  <a:schemeClr val="accent6">
                    <a:lumMod val="75000"/>
                  </a:schemeClr>
                </a:solidFill>
              </a:rPr>
              <a:t>3.54</a:t>
            </a:r>
          </a:p>
        </p:txBody>
      </p:sp>
      <p:sp>
        <p:nvSpPr>
          <p:cNvPr id="111" name="Text Box 53"/>
          <p:cNvSpPr txBox="1">
            <a:spLocks noChangeArrowheads="1"/>
          </p:cNvSpPr>
          <p:nvPr/>
        </p:nvSpPr>
        <p:spPr bwMode="auto">
          <a:xfrm>
            <a:off x="7489713" y="5574492"/>
            <a:ext cx="7104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GB">
                <a:solidFill>
                  <a:schemeClr val="accent6">
                    <a:lumMod val="75000"/>
                  </a:schemeClr>
                </a:solidFill>
              </a:rPr>
              <a:t>3.540</a:t>
            </a:r>
          </a:p>
        </p:txBody>
      </p:sp>
      <p:sp>
        <p:nvSpPr>
          <p:cNvPr id="112" name="Text Box 55"/>
          <p:cNvSpPr txBox="1">
            <a:spLocks noChangeArrowheads="1"/>
          </p:cNvSpPr>
          <p:nvPr/>
        </p:nvSpPr>
        <p:spPr bwMode="auto">
          <a:xfrm>
            <a:off x="4373991" y="5919784"/>
            <a:ext cx="4764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0.6</a:t>
            </a:r>
          </a:p>
        </p:txBody>
      </p:sp>
      <p:sp>
        <p:nvSpPr>
          <p:cNvPr id="113" name="Text Box 56"/>
          <p:cNvSpPr txBox="1">
            <a:spLocks noChangeArrowheads="1"/>
          </p:cNvSpPr>
          <p:nvPr/>
        </p:nvSpPr>
        <p:spPr bwMode="auto">
          <a:xfrm>
            <a:off x="5850776" y="5919784"/>
            <a:ext cx="59343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GB">
                <a:solidFill>
                  <a:schemeClr val="accent6">
                    <a:lumMod val="75000"/>
                  </a:schemeClr>
                </a:solidFill>
              </a:rPr>
              <a:t>0.60</a:t>
            </a:r>
          </a:p>
        </p:txBody>
      </p:sp>
      <p:sp>
        <p:nvSpPr>
          <p:cNvPr id="114" name="Text Box 57"/>
          <p:cNvSpPr txBox="1">
            <a:spLocks noChangeArrowheads="1"/>
          </p:cNvSpPr>
          <p:nvPr/>
        </p:nvSpPr>
        <p:spPr bwMode="auto">
          <a:xfrm>
            <a:off x="7489713" y="5919784"/>
            <a:ext cx="7104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GB">
                <a:solidFill>
                  <a:schemeClr val="accent6">
                    <a:lumMod val="75000"/>
                  </a:schemeClr>
                </a:solidFill>
              </a:rPr>
              <a:t>0.600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316416" y="93648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3DP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5436096" y="90872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2DP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2511532" y="89397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1DP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1403648" y="5373216"/>
            <a:ext cx="720080" cy="720080"/>
          </a:xfrm>
          <a:prstGeom prst="roundRect">
            <a:avLst>
              <a:gd name="adj" fmla="val 21100"/>
            </a:avLst>
          </a:prstGeom>
          <a:solidFill>
            <a:srgbClr val="FF9966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prstClr val="white"/>
                </a:solidFill>
              </a:rPr>
              <a:t>D</a:t>
            </a:r>
            <a:endParaRPr lang="en-US" sz="2000" b="1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82" grpId="0" animBg="1"/>
      <p:bldP spid="100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2" grpId="0"/>
      <p:bldP spid="113" grpId="0"/>
      <p:bldP spid="1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266268" y="548680"/>
            <a:ext cx="8626212" cy="609600"/>
          </a:xfrm>
          <a:prstGeom prst="roundRect">
            <a:avLst>
              <a:gd name="adj" fmla="val 21100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Significant Figures: Important Zeros in Numbers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54" name="Heart 53"/>
          <p:cNvSpPr/>
          <p:nvPr/>
        </p:nvSpPr>
        <p:spPr>
          <a:xfrm>
            <a:off x="971600" y="1532440"/>
            <a:ext cx="792088" cy="720080"/>
          </a:xfrm>
          <a:prstGeom prst="hear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Cloud 61"/>
          <p:cNvSpPr/>
          <p:nvPr/>
        </p:nvSpPr>
        <p:spPr>
          <a:xfrm>
            <a:off x="1907704" y="1532440"/>
            <a:ext cx="936104" cy="720080"/>
          </a:xfrm>
          <a:prstGeom prst="cloud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Isosceles Triangle 62"/>
          <p:cNvSpPr/>
          <p:nvPr/>
        </p:nvSpPr>
        <p:spPr>
          <a:xfrm>
            <a:off x="2915816" y="1532440"/>
            <a:ext cx="1008112" cy="720080"/>
          </a:xfrm>
          <a:prstGeom prst="triangle">
            <a:avLst/>
          </a:prstGeom>
          <a:solidFill>
            <a:srgbClr val="CCFF9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5-Point Star 70"/>
          <p:cNvSpPr/>
          <p:nvPr/>
        </p:nvSpPr>
        <p:spPr>
          <a:xfrm>
            <a:off x="4067944" y="1460432"/>
            <a:ext cx="864096" cy="864096"/>
          </a:xfrm>
          <a:prstGeom prst="star5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Smiley Face 74"/>
          <p:cNvSpPr/>
          <p:nvPr/>
        </p:nvSpPr>
        <p:spPr>
          <a:xfrm>
            <a:off x="5076056" y="1532440"/>
            <a:ext cx="720080" cy="765194"/>
          </a:xfrm>
          <a:prstGeom prst="smileyFac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/>
          <p:cNvSpPr txBox="1"/>
          <p:nvPr/>
        </p:nvSpPr>
        <p:spPr>
          <a:xfrm>
            <a:off x="1102169" y="1446985"/>
            <a:ext cx="504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 smtClean="0"/>
              <a:t>5</a:t>
            </a:r>
            <a:endParaRPr lang="en-GB" sz="5400" dirty="0"/>
          </a:p>
        </p:txBody>
      </p:sp>
      <p:sp>
        <p:nvSpPr>
          <p:cNvPr id="77" name="TextBox 76"/>
          <p:cNvSpPr txBox="1"/>
          <p:nvPr/>
        </p:nvSpPr>
        <p:spPr>
          <a:xfrm>
            <a:off x="2123728" y="1446985"/>
            <a:ext cx="504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 smtClean="0"/>
              <a:t>2</a:t>
            </a:r>
            <a:endParaRPr lang="en-GB" sz="5400" dirty="0"/>
          </a:p>
        </p:txBody>
      </p:sp>
      <p:sp>
        <p:nvSpPr>
          <p:cNvPr id="78" name="TextBox 77"/>
          <p:cNvSpPr txBox="1"/>
          <p:nvPr/>
        </p:nvSpPr>
        <p:spPr>
          <a:xfrm>
            <a:off x="3145287" y="1446312"/>
            <a:ext cx="504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 smtClean="0"/>
              <a:t>0</a:t>
            </a:r>
            <a:endParaRPr lang="en-GB" sz="5400" dirty="0"/>
          </a:p>
        </p:txBody>
      </p:sp>
      <p:sp>
        <p:nvSpPr>
          <p:cNvPr id="79" name="TextBox 78"/>
          <p:cNvSpPr txBox="1"/>
          <p:nvPr/>
        </p:nvSpPr>
        <p:spPr>
          <a:xfrm>
            <a:off x="4238854" y="1446985"/>
            <a:ext cx="504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 smtClean="0"/>
              <a:t>0</a:t>
            </a:r>
            <a:endParaRPr lang="en-GB" sz="5400" dirty="0"/>
          </a:p>
        </p:txBody>
      </p:sp>
      <p:sp>
        <p:nvSpPr>
          <p:cNvPr id="80" name="TextBox 79"/>
          <p:cNvSpPr txBox="1"/>
          <p:nvPr/>
        </p:nvSpPr>
        <p:spPr>
          <a:xfrm>
            <a:off x="5193178" y="1446985"/>
            <a:ext cx="504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 smtClean="0"/>
              <a:t>0</a:t>
            </a:r>
            <a:endParaRPr lang="en-GB" sz="5400" dirty="0"/>
          </a:p>
        </p:txBody>
      </p:sp>
      <p:sp>
        <p:nvSpPr>
          <p:cNvPr id="81" name="Heart 80"/>
          <p:cNvSpPr/>
          <p:nvPr/>
        </p:nvSpPr>
        <p:spPr>
          <a:xfrm>
            <a:off x="971600" y="2768677"/>
            <a:ext cx="792088" cy="720080"/>
          </a:xfrm>
          <a:prstGeom prst="hear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Cloud 81"/>
          <p:cNvSpPr/>
          <p:nvPr/>
        </p:nvSpPr>
        <p:spPr>
          <a:xfrm>
            <a:off x="1907704" y="2768677"/>
            <a:ext cx="936104" cy="720080"/>
          </a:xfrm>
          <a:prstGeom prst="cloud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Isosceles Triangle 82"/>
          <p:cNvSpPr/>
          <p:nvPr/>
        </p:nvSpPr>
        <p:spPr>
          <a:xfrm>
            <a:off x="2915816" y="2768677"/>
            <a:ext cx="1008112" cy="720080"/>
          </a:xfrm>
          <a:prstGeom prst="triangle">
            <a:avLst/>
          </a:prstGeom>
          <a:solidFill>
            <a:srgbClr val="CCFF9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5-Point Star 83"/>
          <p:cNvSpPr/>
          <p:nvPr/>
        </p:nvSpPr>
        <p:spPr>
          <a:xfrm>
            <a:off x="4067944" y="2696669"/>
            <a:ext cx="864096" cy="864096"/>
          </a:xfrm>
          <a:prstGeom prst="star5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Smiley Face 84"/>
          <p:cNvSpPr/>
          <p:nvPr/>
        </p:nvSpPr>
        <p:spPr>
          <a:xfrm>
            <a:off x="5076056" y="2768677"/>
            <a:ext cx="720080" cy="765194"/>
          </a:xfrm>
          <a:prstGeom prst="smileyFac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TextBox 85"/>
          <p:cNvSpPr txBox="1"/>
          <p:nvPr/>
        </p:nvSpPr>
        <p:spPr>
          <a:xfrm>
            <a:off x="1102169" y="2683222"/>
            <a:ext cx="504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 smtClean="0"/>
              <a:t>5</a:t>
            </a:r>
            <a:endParaRPr lang="en-GB" sz="5400" dirty="0"/>
          </a:p>
        </p:txBody>
      </p:sp>
      <p:sp>
        <p:nvSpPr>
          <p:cNvPr id="87" name="TextBox 86"/>
          <p:cNvSpPr txBox="1"/>
          <p:nvPr/>
        </p:nvSpPr>
        <p:spPr>
          <a:xfrm>
            <a:off x="2123728" y="2683222"/>
            <a:ext cx="504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 smtClean="0"/>
              <a:t>.</a:t>
            </a:r>
            <a:endParaRPr lang="en-GB" sz="5400" dirty="0"/>
          </a:p>
        </p:txBody>
      </p:sp>
      <p:sp>
        <p:nvSpPr>
          <p:cNvPr id="88" name="TextBox 87"/>
          <p:cNvSpPr txBox="1"/>
          <p:nvPr/>
        </p:nvSpPr>
        <p:spPr>
          <a:xfrm>
            <a:off x="3145287" y="2682549"/>
            <a:ext cx="504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 smtClean="0"/>
              <a:t>2</a:t>
            </a:r>
            <a:endParaRPr lang="en-GB" sz="5400" dirty="0"/>
          </a:p>
        </p:txBody>
      </p:sp>
      <p:sp>
        <p:nvSpPr>
          <p:cNvPr id="89" name="TextBox 88"/>
          <p:cNvSpPr txBox="1"/>
          <p:nvPr/>
        </p:nvSpPr>
        <p:spPr>
          <a:xfrm>
            <a:off x="4238854" y="2683222"/>
            <a:ext cx="504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 smtClean="0"/>
              <a:t>0</a:t>
            </a:r>
            <a:endParaRPr lang="en-GB" sz="5400" dirty="0"/>
          </a:p>
        </p:txBody>
      </p:sp>
      <p:sp>
        <p:nvSpPr>
          <p:cNvPr id="90" name="TextBox 89"/>
          <p:cNvSpPr txBox="1"/>
          <p:nvPr/>
        </p:nvSpPr>
        <p:spPr>
          <a:xfrm>
            <a:off x="5193178" y="2683222"/>
            <a:ext cx="504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 smtClean="0"/>
              <a:t>0</a:t>
            </a:r>
            <a:endParaRPr lang="en-GB" sz="5400" dirty="0"/>
          </a:p>
        </p:txBody>
      </p:sp>
      <p:sp>
        <p:nvSpPr>
          <p:cNvPr id="91" name="Heart 90"/>
          <p:cNvSpPr/>
          <p:nvPr/>
        </p:nvSpPr>
        <p:spPr>
          <a:xfrm>
            <a:off x="971600" y="3992813"/>
            <a:ext cx="792088" cy="720080"/>
          </a:xfrm>
          <a:prstGeom prst="hear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Cloud 91"/>
          <p:cNvSpPr/>
          <p:nvPr/>
        </p:nvSpPr>
        <p:spPr>
          <a:xfrm>
            <a:off x="1907704" y="3992813"/>
            <a:ext cx="936104" cy="720080"/>
          </a:xfrm>
          <a:prstGeom prst="cloud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Isosceles Triangle 92"/>
          <p:cNvSpPr/>
          <p:nvPr/>
        </p:nvSpPr>
        <p:spPr>
          <a:xfrm>
            <a:off x="2915816" y="3992813"/>
            <a:ext cx="1008112" cy="720080"/>
          </a:xfrm>
          <a:prstGeom prst="triangle">
            <a:avLst/>
          </a:prstGeom>
          <a:solidFill>
            <a:srgbClr val="CCFF9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5-Point Star 93"/>
          <p:cNvSpPr/>
          <p:nvPr/>
        </p:nvSpPr>
        <p:spPr>
          <a:xfrm>
            <a:off x="4067944" y="3920805"/>
            <a:ext cx="864096" cy="864096"/>
          </a:xfrm>
          <a:prstGeom prst="star5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Smiley Face 94"/>
          <p:cNvSpPr/>
          <p:nvPr/>
        </p:nvSpPr>
        <p:spPr>
          <a:xfrm>
            <a:off x="5076056" y="3992813"/>
            <a:ext cx="720080" cy="765194"/>
          </a:xfrm>
          <a:prstGeom prst="smileyFac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TextBox 95"/>
          <p:cNvSpPr txBox="1"/>
          <p:nvPr/>
        </p:nvSpPr>
        <p:spPr>
          <a:xfrm>
            <a:off x="1102169" y="3907358"/>
            <a:ext cx="504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 smtClean="0"/>
              <a:t>0</a:t>
            </a:r>
            <a:endParaRPr lang="en-GB" sz="5400" dirty="0"/>
          </a:p>
        </p:txBody>
      </p:sp>
      <p:sp>
        <p:nvSpPr>
          <p:cNvPr id="97" name="TextBox 96"/>
          <p:cNvSpPr txBox="1"/>
          <p:nvPr/>
        </p:nvSpPr>
        <p:spPr>
          <a:xfrm>
            <a:off x="2123728" y="3907358"/>
            <a:ext cx="504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 smtClean="0"/>
              <a:t>.</a:t>
            </a:r>
            <a:endParaRPr lang="en-GB" sz="5400" dirty="0"/>
          </a:p>
        </p:txBody>
      </p:sp>
      <p:sp>
        <p:nvSpPr>
          <p:cNvPr id="98" name="TextBox 97"/>
          <p:cNvSpPr txBox="1"/>
          <p:nvPr/>
        </p:nvSpPr>
        <p:spPr>
          <a:xfrm>
            <a:off x="3145287" y="3906685"/>
            <a:ext cx="504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 smtClean="0"/>
              <a:t>0</a:t>
            </a:r>
            <a:endParaRPr lang="en-GB" sz="5400" dirty="0"/>
          </a:p>
        </p:txBody>
      </p:sp>
      <p:sp>
        <p:nvSpPr>
          <p:cNvPr id="99" name="TextBox 98"/>
          <p:cNvSpPr txBox="1"/>
          <p:nvPr/>
        </p:nvSpPr>
        <p:spPr>
          <a:xfrm>
            <a:off x="4238854" y="3907358"/>
            <a:ext cx="504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 smtClean="0"/>
              <a:t>5</a:t>
            </a:r>
            <a:endParaRPr lang="en-GB" sz="5400" dirty="0"/>
          </a:p>
        </p:txBody>
      </p:sp>
      <p:sp>
        <p:nvSpPr>
          <p:cNvPr id="100" name="TextBox 99"/>
          <p:cNvSpPr txBox="1"/>
          <p:nvPr/>
        </p:nvSpPr>
        <p:spPr>
          <a:xfrm>
            <a:off x="5193178" y="3907358"/>
            <a:ext cx="504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 smtClean="0"/>
              <a:t>0</a:t>
            </a:r>
            <a:endParaRPr lang="en-GB" sz="5400" dirty="0"/>
          </a:p>
        </p:txBody>
      </p:sp>
      <p:sp>
        <p:nvSpPr>
          <p:cNvPr id="101" name="Heart 100"/>
          <p:cNvSpPr/>
          <p:nvPr/>
        </p:nvSpPr>
        <p:spPr>
          <a:xfrm>
            <a:off x="971600" y="5216949"/>
            <a:ext cx="792088" cy="720080"/>
          </a:xfrm>
          <a:prstGeom prst="hear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" name="Cloud 101"/>
          <p:cNvSpPr/>
          <p:nvPr/>
        </p:nvSpPr>
        <p:spPr>
          <a:xfrm>
            <a:off x="1907704" y="5216949"/>
            <a:ext cx="936104" cy="720080"/>
          </a:xfrm>
          <a:prstGeom prst="cloud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Isosceles Triangle 102"/>
          <p:cNvSpPr/>
          <p:nvPr/>
        </p:nvSpPr>
        <p:spPr>
          <a:xfrm>
            <a:off x="2915816" y="5216949"/>
            <a:ext cx="1008112" cy="720080"/>
          </a:xfrm>
          <a:prstGeom prst="triangle">
            <a:avLst/>
          </a:prstGeom>
          <a:solidFill>
            <a:srgbClr val="CCFF9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5-Point Star 103"/>
          <p:cNvSpPr/>
          <p:nvPr/>
        </p:nvSpPr>
        <p:spPr>
          <a:xfrm>
            <a:off x="4067944" y="5144941"/>
            <a:ext cx="864096" cy="864096"/>
          </a:xfrm>
          <a:prstGeom prst="star5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" name="Smiley Face 104"/>
          <p:cNvSpPr/>
          <p:nvPr/>
        </p:nvSpPr>
        <p:spPr>
          <a:xfrm>
            <a:off x="5076056" y="5216949"/>
            <a:ext cx="720080" cy="765194"/>
          </a:xfrm>
          <a:prstGeom prst="smileyFac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6" name="TextBox 105"/>
          <p:cNvSpPr txBox="1"/>
          <p:nvPr/>
        </p:nvSpPr>
        <p:spPr>
          <a:xfrm>
            <a:off x="1102169" y="5131494"/>
            <a:ext cx="504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 smtClean="0"/>
              <a:t>0</a:t>
            </a:r>
            <a:endParaRPr lang="en-GB" sz="5400" dirty="0"/>
          </a:p>
        </p:txBody>
      </p:sp>
      <p:sp>
        <p:nvSpPr>
          <p:cNvPr id="107" name="TextBox 106"/>
          <p:cNvSpPr txBox="1"/>
          <p:nvPr/>
        </p:nvSpPr>
        <p:spPr>
          <a:xfrm>
            <a:off x="2123728" y="5131494"/>
            <a:ext cx="504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 smtClean="0"/>
              <a:t>2</a:t>
            </a:r>
            <a:endParaRPr lang="en-GB" sz="5400" dirty="0"/>
          </a:p>
        </p:txBody>
      </p:sp>
      <p:sp>
        <p:nvSpPr>
          <p:cNvPr id="108" name="TextBox 107"/>
          <p:cNvSpPr txBox="1"/>
          <p:nvPr/>
        </p:nvSpPr>
        <p:spPr>
          <a:xfrm>
            <a:off x="3233344" y="5130821"/>
            <a:ext cx="504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 smtClean="0"/>
              <a:t>.</a:t>
            </a:r>
            <a:endParaRPr lang="en-GB" sz="5400" dirty="0"/>
          </a:p>
        </p:txBody>
      </p:sp>
      <p:sp>
        <p:nvSpPr>
          <p:cNvPr id="109" name="TextBox 108"/>
          <p:cNvSpPr txBox="1"/>
          <p:nvPr/>
        </p:nvSpPr>
        <p:spPr>
          <a:xfrm>
            <a:off x="4283968" y="5131494"/>
            <a:ext cx="504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 smtClean="0"/>
              <a:t>5</a:t>
            </a:r>
            <a:endParaRPr lang="en-GB" sz="5400" dirty="0"/>
          </a:p>
        </p:txBody>
      </p:sp>
      <p:sp>
        <p:nvSpPr>
          <p:cNvPr id="110" name="TextBox 109"/>
          <p:cNvSpPr txBox="1"/>
          <p:nvPr/>
        </p:nvSpPr>
        <p:spPr>
          <a:xfrm>
            <a:off x="5193178" y="5131494"/>
            <a:ext cx="504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 smtClean="0"/>
              <a:t>0</a:t>
            </a:r>
            <a:endParaRPr lang="en-GB" sz="5400" dirty="0"/>
          </a:p>
        </p:txBody>
      </p:sp>
      <p:sp>
        <p:nvSpPr>
          <p:cNvPr id="111" name="TextBox 110"/>
          <p:cNvSpPr txBox="1"/>
          <p:nvPr/>
        </p:nvSpPr>
        <p:spPr>
          <a:xfrm>
            <a:off x="323528" y="1530514"/>
            <a:ext cx="720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solidFill>
                  <a:srgbClr val="7030A0"/>
                </a:solidFill>
              </a:rPr>
              <a:t>a.</a:t>
            </a:r>
            <a:endParaRPr lang="en-GB" sz="4000" dirty="0">
              <a:solidFill>
                <a:srgbClr val="7030A0"/>
              </a:solidFill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323528" y="2754650"/>
            <a:ext cx="720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solidFill>
                  <a:srgbClr val="7030A0"/>
                </a:solidFill>
              </a:rPr>
              <a:t>b.</a:t>
            </a:r>
            <a:endParaRPr lang="en-GB" sz="4000" dirty="0">
              <a:solidFill>
                <a:srgbClr val="7030A0"/>
              </a:solidFill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323528" y="3978786"/>
            <a:ext cx="720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solidFill>
                  <a:srgbClr val="7030A0"/>
                </a:solidFill>
              </a:rPr>
              <a:t>c.</a:t>
            </a:r>
            <a:endParaRPr lang="en-GB" sz="4000" dirty="0">
              <a:solidFill>
                <a:srgbClr val="7030A0"/>
              </a:solidFill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323528" y="5202922"/>
            <a:ext cx="720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solidFill>
                  <a:srgbClr val="7030A0"/>
                </a:solidFill>
              </a:rPr>
              <a:t>d.</a:t>
            </a:r>
            <a:endParaRPr lang="en-GB" sz="4000" dirty="0">
              <a:solidFill>
                <a:srgbClr val="7030A0"/>
              </a:solidFill>
            </a:endParaRPr>
          </a:p>
        </p:txBody>
      </p:sp>
      <p:sp>
        <p:nvSpPr>
          <p:cNvPr id="115" name="Cloud Callout 114"/>
          <p:cNvSpPr/>
          <p:nvPr/>
        </p:nvSpPr>
        <p:spPr>
          <a:xfrm>
            <a:off x="6516216" y="1734344"/>
            <a:ext cx="2627784" cy="3134816"/>
          </a:xfrm>
          <a:prstGeom prst="cloudCallout">
            <a:avLst>
              <a:gd name="adj1" fmla="val -80470"/>
              <a:gd name="adj2" fmla="val -30043"/>
            </a:avLst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dirty="0">
              <a:solidFill>
                <a:srgbClr val="0000FF"/>
              </a:solidFill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6745687" y="2169296"/>
            <a:ext cx="1944216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 smtClean="0">
                <a:solidFill>
                  <a:srgbClr val="0000FF"/>
                </a:solidFill>
              </a:rPr>
              <a:t>Which zeros matter?</a:t>
            </a:r>
          </a:p>
          <a:p>
            <a:pPr algn="ctr"/>
            <a:endParaRPr lang="en-GB" sz="500" dirty="0" smtClean="0">
              <a:solidFill>
                <a:srgbClr val="0000FF"/>
              </a:solidFill>
            </a:endParaRPr>
          </a:p>
          <a:p>
            <a:pPr algn="ctr"/>
            <a:r>
              <a:rPr lang="en-GB" sz="2000" dirty="0" smtClean="0">
                <a:solidFill>
                  <a:srgbClr val="0000FF"/>
                </a:solidFill>
              </a:rPr>
              <a:t>Are there any we could get rid of and still have the same value?</a:t>
            </a:r>
            <a:endParaRPr lang="en-GB" sz="2000" dirty="0">
              <a:solidFill>
                <a:srgbClr val="0000FF"/>
              </a:solidFill>
            </a:endParaRPr>
          </a:p>
        </p:txBody>
      </p:sp>
      <p:grpSp>
        <p:nvGrpSpPr>
          <p:cNvPr id="2" name="Group 118"/>
          <p:cNvGrpSpPr/>
          <p:nvPr/>
        </p:nvGrpSpPr>
        <p:grpSpPr>
          <a:xfrm>
            <a:off x="5897640" y="5157192"/>
            <a:ext cx="3138856" cy="1528648"/>
            <a:chOff x="5897640" y="5199704"/>
            <a:chExt cx="3138856" cy="1528648"/>
          </a:xfrm>
        </p:grpSpPr>
        <p:sp>
          <p:nvSpPr>
            <p:cNvPr id="118" name="TextBox 117"/>
            <p:cNvSpPr txBox="1"/>
            <p:nvPr/>
          </p:nvSpPr>
          <p:spPr>
            <a:xfrm>
              <a:off x="6084168" y="5528023"/>
              <a:ext cx="2952328" cy="120032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/>
                <a:t>When dealing with </a:t>
              </a:r>
              <a:r>
                <a:rPr lang="en-GB" b="1" dirty="0" smtClean="0"/>
                <a:t>Significant Figures</a:t>
              </a:r>
              <a:r>
                <a:rPr lang="en-GB" dirty="0" smtClean="0"/>
                <a:t>, you need to </a:t>
              </a:r>
              <a:r>
                <a:rPr lang="en-GB" b="1" dirty="0" smtClean="0"/>
                <a:t>keep any zeros </a:t>
              </a:r>
              <a:r>
                <a:rPr lang="en-GB" dirty="0" smtClean="0"/>
                <a:t>that tell us the</a:t>
              </a:r>
              <a:r>
                <a:rPr lang="en-GB" b="1" dirty="0" smtClean="0"/>
                <a:t> value of a number</a:t>
              </a:r>
              <a:endParaRPr lang="en-GB" b="1" dirty="0"/>
            </a:p>
          </p:txBody>
        </p:sp>
        <p:pic>
          <p:nvPicPr>
            <p:cNvPr id="247810" name="Picture 2" descr="http://www.ravica.com/blog/wp-content/uploads/2009/12/Warning-sign1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897640" y="5199704"/>
              <a:ext cx="760849" cy="634041"/>
            </a:xfrm>
            <a:prstGeom prst="rect">
              <a:avLst/>
            </a:prstGeom>
            <a:noFill/>
          </p:spPr>
        </p:pic>
      </p:grpSp>
      <p:sp>
        <p:nvSpPr>
          <p:cNvPr id="52" name="Rounded Rectangle 51"/>
          <p:cNvSpPr/>
          <p:nvPr/>
        </p:nvSpPr>
        <p:spPr>
          <a:xfrm>
            <a:off x="7956376" y="116632"/>
            <a:ext cx="720080" cy="720080"/>
          </a:xfrm>
          <a:prstGeom prst="roundRect">
            <a:avLst>
              <a:gd name="adj" fmla="val 21100"/>
            </a:avLst>
          </a:prstGeom>
          <a:solidFill>
            <a:srgbClr val="FF9966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prstClr val="white"/>
                </a:solidFill>
              </a:rPr>
              <a:t>C</a:t>
            </a:r>
            <a:endParaRPr lang="en-US" sz="2000" b="1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82" grpId="0" animBg="1"/>
      <p:bldP spid="83" grpId="0" animBg="1"/>
      <p:bldP spid="84" grpId="0" animBg="1"/>
      <p:bldP spid="85" grpId="0" animBg="1"/>
      <p:bldP spid="86" grpId="0"/>
      <p:bldP spid="87" grpId="0"/>
      <p:bldP spid="88" grpId="0"/>
      <p:bldP spid="89" grpId="0"/>
      <p:bldP spid="90" grpId="0"/>
      <p:bldP spid="91" grpId="0" animBg="1"/>
      <p:bldP spid="92" grpId="0" animBg="1"/>
      <p:bldP spid="93" grpId="0" animBg="1"/>
      <p:bldP spid="94" grpId="0" animBg="1"/>
      <p:bldP spid="95" grpId="0" animBg="1"/>
      <p:bldP spid="96" grpId="0"/>
      <p:bldP spid="97" grpId="0"/>
      <p:bldP spid="98" grpId="0"/>
      <p:bldP spid="99" grpId="0"/>
      <p:bldP spid="100" grpId="0"/>
      <p:bldP spid="101" grpId="0" animBg="1"/>
      <p:bldP spid="102" grpId="0" animBg="1"/>
      <p:bldP spid="103" grpId="0" animBg="1"/>
      <p:bldP spid="104" grpId="0" animBg="1"/>
      <p:bldP spid="105" grpId="0" animBg="1"/>
      <p:bldP spid="106" grpId="0"/>
      <p:bldP spid="107" grpId="0"/>
      <p:bldP spid="108" grpId="0"/>
      <p:bldP spid="109" grpId="0"/>
      <p:bldP spid="110" grpId="0"/>
      <p:bldP spid="112" grpId="0"/>
      <p:bldP spid="113" grpId="0"/>
      <p:bldP spid="1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266268" y="404664"/>
            <a:ext cx="8626212" cy="609600"/>
          </a:xfrm>
          <a:prstGeom prst="roundRect">
            <a:avLst>
              <a:gd name="adj" fmla="val 21100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Rounding to 1 Significant Figure (1SF)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83112" y="1126476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29" name="Line 7"/>
          <p:cNvSpPr>
            <a:spLocks noChangeShapeType="1"/>
          </p:cNvSpPr>
          <p:nvPr/>
        </p:nvSpPr>
        <p:spPr bwMode="auto">
          <a:xfrm>
            <a:off x="1763688" y="1240287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36" name="Text Box 30"/>
          <p:cNvSpPr txBox="1">
            <a:spLocks noChangeArrowheads="1"/>
          </p:cNvSpPr>
          <p:nvPr/>
        </p:nvSpPr>
        <p:spPr bwMode="auto">
          <a:xfrm>
            <a:off x="3995936" y="2276872"/>
            <a:ext cx="576064" cy="406400"/>
          </a:xfrm>
          <a:prstGeom prst="rect">
            <a:avLst/>
          </a:prstGeom>
          <a:solidFill>
            <a:srgbClr val="99FF66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rgbClr val="009900"/>
                </a:solidFill>
                <a:latin typeface="+mj-lt"/>
              </a:rPr>
              <a:t>No</a:t>
            </a:r>
          </a:p>
        </p:txBody>
      </p:sp>
      <p:sp>
        <p:nvSpPr>
          <p:cNvPr id="37" name="Text Box 4"/>
          <p:cNvSpPr txBox="1">
            <a:spLocks noChangeArrowheads="1"/>
          </p:cNvSpPr>
          <p:nvPr/>
        </p:nvSpPr>
        <p:spPr bwMode="auto">
          <a:xfrm>
            <a:off x="395536" y="1239264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0 . 0 7 6 5</a:t>
            </a:r>
            <a:endParaRPr lang="en-GB" sz="4000" dirty="0">
              <a:latin typeface="+mj-lt"/>
            </a:endParaRPr>
          </a:p>
        </p:txBody>
      </p:sp>
      <p:sp>
        <p:nvSpPr>
          <p:cNvPr id="38" name="Text Box 30"/>
          <p:cNvSpPr txBox="1">
            <a:spLocks noChangeArrowheads="1"/>
          </p:cNvSpPr>
          <p:nvPr/>
        </p:nvSpPr>
        <p:spPr bwMode="auto">
          <a:xfrm>
            <a:off x="1043608" y="2276872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</a:p>
        </p:txBody>
      </p:sp>
      <p:grpSp>
        <p:nvGrpSpPr>
          <p:cNvPr id="2" name="Group 40"/>
          <p:cNvGrpSpPr/>
          <p:nvPr/>
        </p:nvGrpSpPr>
        <p:grpSpPr>
          <a:xfrm>
            <a:off x="1763688" y="2060848"/>
            <a:ext cx="1152128" cy="936104"/>
            <a:chOff x="1331640" y="3789040"/>
            <a:chExt cx="1152128" cy="936104"/>
          </a:xfrm>
        </p:grpSpPr>
        <p:sp>
          <p:nvSpPr>
            <p:cNvPr id="39" name="Cloud Callout 38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30434"/>
                <a:gd name="adj2" fmla="val -73159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42" name="Text Box 4"/>
          <p:cNvSpPr txBox="1">
            <a:spLocks noChangeArrowheads="1"/>
          </p:cNvSpPr>
          <p:nvPr/>
        </p:nvSpPr>
        <p:spPr bwMode="auto">
          <a:xfrm>
            <a:off x="417984" y="2865130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0 . 0 8</a:t>
            </a:r>
            <a:endParaRPr lang="en-GB" sz="4000" dirty="0">
              <a:latin typeface="+mj-lt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3203848" y="1124744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0" name="Line 7"/>
          <p:cNvSpPr>
            <a:spLocks noChangeShapeType="1"/>
          </p:cNvSpPr>
          <p:nvPr/>
        </p:nvSpPr>
        <p:spPr bwMode="auto">
          <a:xfrm>
            <a:off x="5066531" y="119502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61" name="Text Box 4"/>
          <p:cNvSpPr txBox="1">
            <a:spLocks noChangeArrowheads="1"/>
          </p:cNvSpPr>
          <p:nvPr/>
        </p:nvSpPr>
        <p:spPr bwMode="auto">
          <a:xfrm>
            <a:off x="3316272" y="1237532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0 . 0 0 1 2 </a:t>
            </a:r>
            <a:endParaRPr lang="en-GB" sz="4000" dirty="0">
              <a:latin typeface="+mj-lt"/>
            </a:endParaRPr>
          </a:p>
        </p:txBody>
      </p:sp>
      <p:grpSp>
        <p:nvGrpSpPr>
          <p:cNvPr id="3" name="Group 62"/>
          <p:cNvGrpSpPr/>
          <p:nvPr/>
        </p:nvGrpSpPr>
        <p:grpSpPr>
          <a:xfrm>
            <a:off x="4684424" y="1987108"/>
            <a:ext cx="1152128" cy="936104"/>
            <a:chOff x="1331640" y="3789040"/>
            <a:chExt cx="1152128" cy="936104"/>
          </a:xfrm>
        </p:grpSpPr>
        <p:sp>
          <p:nvSpPr>
            <p:cNvPr id="64" name="Cloud Callout 63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3978"/>
                <a:gd name="adj2" fmla="val -65018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66" name="Text Box 4"/>
          <p:cNvSpPr txBox="1">
            <a:spLocks noChangeArrowheads="1"/>
          </p:cNvSpPr>
          <p:nvPr/>
        </p:nvSpPr>
        <p:spPr bwMode="auto">
          <a:xfrm>
            <a:off x="3310956" y="2863398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0 . 0 0 1</a:t>
            </a:r>
            <a:endParaRPr lang="en-GB" sz="4000" dirty="0">
              <a:latin typeface="+mj-lt"/>
            </a:endParaRPr>
          </a:p>
        </p:txBody>
      </p:sp>
      <p:sp>
        <p:nvSpPr>
          <p:cNvPr id="67" name="Text Box 30"/>
          <p:cNvSpPr txBox="1">
            <a:spLocks noChangeArrowheads="1"/>
          </p:cNvSpPr>
          <p:nvPr/>
        </p:nvSpPr>
        <p:spPr bwMode="auto">
          <a:xfrm>
            <a:off x="6876256" y="2276872"/>
            <a:ext cx="576064" cy="406400"/>
          </a:xfrm>
          <a:prstGeom prst="rect">
            <a:avLst/>
          </a:prstGeom>
          <a:solidFill>
            <a:srgbClr val="99FF66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rgbClr val="009900"/>
                </a:solidFill>
                <a:latin typeface="+mj-lt"/>
              </a:rPr>
              <a:t>No</a:t>
            </a:r>
            <a:endParaRPr lang="en-GB" sz="2000" dirty="0">
              <a:solidFill>
                <a:srgbClr val="009900"/>
              </a:solidFill>
              <a:latin typeface="+mj-lt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6098916" y="1124744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9" name="Line 7"/>
          <p:cNvSpPr>
            <a:spLocks noChangeShapeType="1"/>
          </p:cNvSpPr>
          <p:nvPr/>
        </p:nvSpPr>
        <p:spPr bwMode="auto">
          <a:xfrm>
            <a:off x="6804248" y="1198265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70" name="Text Box 4"/>
          <p:cNvSpPr txBox="1">
            <a:spLocks noChangeArrowheads="1"/>
          </p:cNvSpPr>
          <p:nvPr/>
        </p:nvSpPr>
        <p:spPr bwMode="auto">
          <a:xfrm>
            <a:off x="6353150" y="1237532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1 . 0 0 9 5</a:t>
            </a:r>
            <a:endParaRPr lang="en-GB" sz="4000" dirty="0">
              <a:latin typeface="+mj-lt"/>
            </a:endParaRPr>
          </a:p>
        </p:txBody>
      </p:sp>
      <p:grpSp>
        <p:nvGrpSpPr>
          <p:cNvPr id="4" name="Group 70"/>
          <p:cNvGrpSpPr/>
          <p:nvPr/>
        </p:nvGrpSpPr>
        <p:grpSpPr>
          <a:xfrm>
            <a:off x="7579492" y="1987108"/>
            <a:ext cx="1152128" cy="936104"/>
            <a:chOff x="1331640" y="3789040"/>
            <a:chExt cx="1152128" cy="936104"/>
          </a:xfrm>
        </p:grpSpPr>
        <p:sp>
          <p:nvSpPr>
            <p:cNvPr id="72" name="Cloud Callout 71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81692"/>
                <a:gd name="adj2" fmla="val -67053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74" name="Text Box 4"/>
          <p:cNvSpPr txBox="1">
            <a:spLocks noChangeArrowheads="1"/>
          </p:cNvSpPr>
          <p:nvPr/>
        </p:nvSpPr>
        <p:spPr bwMode="auto">
          <a:xfrm>
            <a:off x="5907384" y="2863398"/>
            <a:ext cx="255304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    1</a:t>
            </a:r>
            <a:endParaRPr lang="en-GB" sz="4000" dirty="0">
              <a:latin typeface="+mj-lt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99956" y="3862780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28" name="Line 7"/>
          <p:cNvSpPr>
            <a:spLocks noChangeShapeType="1"/>
          </p:cNvSpPr>
          <p:nvPr/>
        </p:nvSpPr>
        <p:spPr bwMode="auto">
          <a:xfrm>
            <a:off x="1327719" y="3963144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30" name="Text Box 30"/>
          <p:cNvSpPr txBox="1">
            <a:spLocks noChangeArrowheads="1"/>
          </p:cNvSpPr>
          <p:nvPr/>
        </p:nvSpPr>
        <p:spPr bwMode="auto">
          <a:xfrm>
            <a:off x="4012780" y="5013176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  <a:endParaRPr lang="en-GB" sz="20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31" name="Text Box 4"/>
          <p:cNvSpPr txBox="1">
            <a:spLocks noChangeArrowheads="1"/>
          </p:cNvSpPr>
          <p:nvPr/>
        </p:nvSpPr>
        <p:spPr bwMode="auto">
          <a:xfrm>
            <a:off x="922040" y="3975568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2 4 1</a:t>
            </a:r>
            <a:endParaRPr lang="en-GB" sz="4000" dirty="0">
              <a:latin typeface="+mj-lt"/>
            </a:endParaRPr>
          </a:p>
        </p:txBody>
      </p:sp>
      <p:sp>
        <p:nvSpPr>
          <p:cNvPr id="32" name="Text Box 30"/>
          <p:cNvSpPr txBox="1">
            <a:spLocks noChangeArrowheads="1"/>
          </p:cNvSpPr>
          <p:nvPr/>
        </p:nvSpPr>
        <p:spPr bwMode="auto">
          <a:xfrm>
            <a:off x="1060452" y="5013176"/>
            <a:ext cx="576064" cy="406400"/>
          </a:xfrm>
          <a:prstGeom prst="rect">
            <a:avLst/>
          </a:prstGeom>
          <a:solidFill>
            <a:srgbClr val="99FF66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rgbClr val="009900"/>
                </a:solidFill>
                <a:latin typeface="+mj-lt"/>
              </a:rPr>
              <a:t>No</a:t>
            </a:r>
          </a:p>
        </p:txBody>
      </p:sp>
      <p:grpSp>
        <p:nvGrpSpPr>
          <p:cNvPr id="7" name="Group 40"/>
          <p:cNvGrpSpPr/>
          <p:nvPr/>
        </p:nvGrpSpPr>
        <p:grpSpPr>
          <a:xfrm>
            <a:off x="1835696" y="4797152"/>
            <a:ext cx="1152128" cy="936104"/>
            <a:chOff x="1331640" y="3789040"/>
            <a:chExt cx="1152128" cy="936104"/>
          </a:xfrm>
        </p:grpSpPr>
        <p:sp>
          <p:nvSpPr>
            <p:cNvPr id="34" name="Cloud Callout 33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70116"/>
                <a:gd name="adj2" fmla="val -74176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41" name="Text Box 4"/>
          <p:cNvSpPr txBox="1">
            <a:spLocks noChangeArrowheads="1"/>
          </p:cNvSpPr>
          <p:nvPr/>
        </p:nvSpPr>
        <p:spPr bwMode="auto">
          <a:xfrm>
            <a:off x="965473" y="5601434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2 0 0</a:t>
            </a:r>
            <a:endParaRPr lang="en-GB" sz="4000" dirty="0">
              <a:latin typeface="+mj-lt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3220692" y="3861048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44" name="Line 7"/>
          <p:cNvSpPr>
            <a:spLocks noChangeShapeType="1"/>
          </p:cNvSpPr>
          <p:nvPr/>
        </p:nvSpPr>
        <p:spPr bwMode="auto">
          <a:xfrm>
            <a:off x="4355976" y="3931324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45" name="Text Box 4"/>
          <p:cNvSpPr txBox="1">
            <a:spLocks noChangeArrowheads="1"/>
          </p:cNvSpPr>
          <p:nvPr/>
        </p:nvSpPr>
        <p:spPr bwMode="auto">
          <a:xfrm>
            <a:off x="3946376" y="3973836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5 8 7 </a:t>
            </a:r>
            <a:endParaRPr lang="en-GB" sz="4000" dirty="0">
              <a:latin typeface="+mj-lt"/>
            </a:endParaRPr>
          </a:p>
        </p:txBody>
      </p:sp>
      <p:grpSp>
        <p:nvGrpSpPr>
          <p:cNvPr id="8" name="Group 62"/>
          <p:cNvGrpSpPr/>
          <p:nvPr/>
        </p:nvGrpSpPr>
        <p:grpSpPr>
          <a:xfrm>
            <a:off x="4716016" y="4725144"/>
            <a:ext cx="1152128" cy="936104"/>
            <a:chOff x="1187624" y="3789040"/>
            <a:chExt cx="1152128" cy="936104"/>
          </a:xfrm>
        </p:grpSpPr>
        <p:sp>
          <p:nvSpPr>
            <p:cNvPr id="47" name="Cloud Callout 46"/>
            <p:cNvSpPr/>
            <p:nvPr/>
          </p:nvSpPr>
          <p:spPr>
            <a:xfrm>
              <a:off x="1187624" y="3789040"/>
              <a:ext cx="1152128" cy="936104"/>
            </a:xfrm>
            <a:prstGeom prst="cloudCallout">
              <a:avLst>
                <a:gd name="adj1" fmla="val -57716"/>
                <a:gd name="adj2" fmla="val -6603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259632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49" name="Text Box 4"/>
          <p:cNvSpPr txBox="1">
            <a:spLocks noChangeArrowheads="1"/>
          </p:cNvSpPr>
          <p:nvPr/>
        </p:nvSpPr>
        <p:spPr bwMode="auto">
          <a:xfrm>
            <a:off x="3995936" y="5599702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6 0 0 </a:t>
            </a:r>
            <a:endParaRPr lang="en-GB" sz="4000" dirty="0">
              <a:latin typeface="+mj-lt"/>
            </a:endParaRPr>
          </a:p>
        </p:txBody>
      </p:sp>
      <p:sp>
        <p:nvSpPr>
          <p:cNvPr id="50" name="Text Box 30"/>
          <p:cNvSpPr txBox="1">
            <a:spLocks noChangeArrowheads="1"/>
          </p:cNvSpPr>
          <p:nvPr/>
        </p:nvSpPr>
        <p:spPr bwMode="auto">
          <a:xfrm>
            <a:off x="6893100" y="5013176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  <a:endParaRPr lang="en-GB" sz="20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6115760" y="3861048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52" name="Line 7"/>
          <p:cNvSpPr>
            <a:spLocks noChangeShapeType="1"/>
          </p:cNvSpPr>
          <p:nvPr/>
        </p:nvSpPr>
        <p:spPr bwMode="auto">
          <a:xfrm>
            <a:off x="7357864" y="3931324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53" name="Text Box 4"/>
          <p:cNvSpPr txBox="1">
            <a:spLocks noChangeArrowheads="1"/>
          </p:cNvSpPr>
          <p:nvPr/>
        </p:nvSpPr>
        <p:spPr bwMode="auto">
          <a:xfrm>
            <a:off x="6948264" y="3973836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7 5</a:t>
            </a:r>
            <a:endParaRPr lang="en-GB" sz="4000" dirty="0">
              <a:latin typeface="+mj-lt"/>
            </a:endParaRPr>
          </a:p>
        </p:txBody>
      </p:sp>
      <p:grpSp>
        <p:nvGrpSpPr>
          <p:cNvPr id="9" name="Group 70"/>
          <p:cNvGrpSpPr/>
          <p:nvPr/>
        </p:nvGrpSpPr>
        <p:grpSpPr>
          <a:xfrm>
            <a:off x="7596336" y="4723412"/>
            <a:ext cx="1152128" cy="936104"/>
            <a:chOff x="1331640" y="3789040"/>
            <a:chExt cx="1152128" cy="936104"/>
          </a:xfrm>
        </p:grpSpPr>
        <p:sp>
          <p:nvSpPr>
            <p:cNvPr id="55" name="Cloud Callout 54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51102"/>
                <a:gd name="adj2" fmla="val -66036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57" name="Text Box 4"/>
          <p:cNvSpPr txBox="1">
            <a:spLocks noChangeArrowheads="1"/>
          </p:cNvSpPr>
          <p:nvPr/>
        </p:nvSpPr>
        <p:spPr bwMode="auto">
          <a:xfrm>
            <a:off x="6516216" y="5599702"/>
            <a:ext cx="252028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    8 0</a:t>
            </a:r>
            <a:endParaRPr lang="en-GB" sz="4000" dirty="0">
              <a:latin typeface="+mj-lt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7956376" y="116632"/>
            <a:ext cx="720080" cy="720080"/>
          </a:xfrm>
          <a:prstGeom prst="roundRect">
            <a:avLst>
              <a:gd name="adj" fmla="val 21100"/>
            </a:avLst>
          </a:prstGeom>
          <a:solidFill>
            <a:srgbClr val="FF9966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prstClr val="white"/>
                </a:solidFill>
              </a:rPr>
              <a:t>C</a:t>
            </a:r>
            <a:endParaRPr lang="en-US" sz="2000" b="1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6" grpId="0" animBg="1"/>
      <p:bldP spid="38" grpId="0" animBg="1"/>
      <p:bldP spid="42" grpId="0"/>
      <p:bldP spid="59" grpId="0" animBg="1"/>
      <p:bldP spid="60" grpId="0" animBg="1"/>
      <p:bldP spid="61" grpId="0"/>
      <p:bldP spid="66" grpId="0"/>
      <p:bldP spid="67" grpId="0" animBg="1"/>
      <p:bldP spid="68" grpId="0" animBg="1"/>
      <p:bldP spid="69" grpId="0" animBg="1"/>
      <p:bldP spid="70" grpId="0"/>
      <p:bldP spid="74" grpId="0"/>
      <p:bldP spid="27" grpId="0" animBg="1"/>
      <p:bldP spid="28" grpId="0" animBg="1"/>
      <p:bldP spid="30" grpId="0" animBg="1"/>
      <p:bldP spid="31" grpId="0"/>
      <p:bldP spid="32" grpId="0" animBg="1"/>
      <p:bldP spid="41" grpId="0"/>
      <p:bldP spid="43" grpId="0" animBg="1"/>
      <p:bldP spid="44" grpId="0" animBg="1"/>
      <p:bldP spid="45" grpId="0"/>
      <p:bldP spid="49" grpId="0"/>
      <p:bldP spid="50" grpId="0" animBg="1"/>
      <p:bldP spid="51" grpId="0" animBg="1"/>
      <p:bldP spid="52" grpId="0" animBg="1"/>
      <p:bldP spid="53" grpId="0"/>
      <p:bldP spid="5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266268" y="404664"/>
            <a:ext cx="8626212" cy="609600"/>
          </a:xfrm>
          <a:prstGeom prst="roundRect">
            <a:avLst>
              <a:gd name="adj" fmla="val 21100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Rounding to 2 Significant Figure (2SF)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83112" y="1126476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29" name="Line 7"/>
          <p:cNvSpPr>
            <a:spLocks noChangeShapeType="1"/>
          </p:cNvSpPr>
          <p:nvPr/>
        </p:nvSpPr>
        <p:spPr bwMode="auto">
          <a:xfrm>
            <a:off x="1547664" y="1240287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36" name="Text Box 30"/>
          <p:cNvSpPr txBox="1">
            <a:spLocks noChangeArrowheads="1"/>
          </p:cNvSpPr>
          <p:nvPr/>
        </p:nvSpPr>
        <p:spPr bwMode="auto">
          <a:xfrm>
            <a:off x="3995936" y="2276872"/>
            <a:ext cx="576064" cy="406400"/>
          </a:xfrm>
          <a:prstGeom prst="rect">
            <a:avLst/>
          </a:prstGeom>
          <a:solidFill>
            <a:srgbClr val="99FF66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rgbClr val="009900"/>
                </a:solidFill>
                <a:latin typeface="+mj-lt"/>
              </a:rPr>
              <a:t>No</a:t>
            </a:r>
          </a:p>
        </p:txBody>
      </p:sp>
      <p:sp>
        <p:nvSpPr>
          <p:cNvPr id="37" name="Text Box 4"/>
          <p:cNvSpPr txBox="1">
            <a:spLocks noChangeArrowheads="1"/>
          </p:cNvSpPr>
          <p:nvPr/>
        </p:nvSpPr>
        <p:spPr bwMode="auto">
          <a:xfrm>
            <a:off x="778024" y="1239264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1 4 7 2 </a:t>
            </a:r>
            <a:endParaRPr lang="en-GB" sz="4000" dirty="0">
              <a:latin typeface="+mj-lt"/>
            </a:endParaRPr>
          </a:p>
        </p:txBody>
      </p:sp>
      <p:sp>
        <p:nvSpPr>
          <p:cNvPr id="38" name="Text Box 30"/>
          <p:cNvSpPr txBox="1">
            <a:spLocks noChangeArrowheads="1"/>
          </p:cNvSpPr>
          <p:nvPr/>
        </p:nvSpPr>
        <p:spPr bwMode="auto">
          <a:xfrm>
            <a:off x="1043608" y="2276872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</a:p>
        </p:txBody>
      </p:sp>
      <p:grpSp>
        <p:nvGrpSpPr>
          <p:cNvPr id="2" name="Group 40"/>
          <p:cNvGrpSpPr/>
          <p:nvPr/>
        </p:nvGrpSpPr>
        <p:grpSpPr>
          <a:xfrm>
            <a:off x="1763688" y="2060848"/>
            <a:ext cx="1152128" cy="936104"/>
            <a:chOff x="1331640" y="3789040"/>
            <a:chExt cx="1152128" cy="936104"/>
          </a:xfrm>
        </p:grpSpPr>
        <p:sp>
          <p:nvSpPr>
            <p:cNvPr id="39" name="Cloud Callout 38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49449"/>
                <a:gd name="adj2" fmla="val -74177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42" name="Text Box 4"/>
          <p:cNvSpPr txBox="1">
            <a:spLocks noChangeArrowheads="1"/>
          </p:cNvSpPr>
          <p:nvPr/>
        </p:nvSpPr>
        <p:spPr bwMode="auto">
          <a:xfrm>
            <a:off x="850032" y="2865130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1 5 0 0 </a:t>
            </a:r>
            <a:endParaRPr lang="en-GB" sz="4000" dirty="0">
              <a:latin typeface="+mj-lt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3203848" y="1124744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0" name="Line 7"/>
          <p:cNvSpPr>
            <a:spLocks noChangeShapeType="1"/>
          </p:cNvSpPr>
          <p:nvPr/>
        </p:nvSpPr>
        <p:spPr bwMode="auto">
          <a:xfrm>
            <a:off x="4346451" y="119502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61" name="Text Box 4"/>
          <p:cNvSpPr txBox="1">
            <a:spLocks noChangeArrowheads="1"/>
          </p:cNvSpPr>
          <p:nvPr/>
        </p:nvSpPr>
        <p:spPr bwMode="auto">
          <a:xfrm>
            <a:off x="3316272" y="1237532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1 . 4 2 7 9 </a:t>
            </a:r>
            <a:endParaRPr lang="en-GB" sz="4000" dirty="0">
              <a:latin typeface="+mj-lt"/>
            </a:endParaRPr>
          </a:p>
        </p:txBody>
      </p:sp>
      <p:grpSp>
        <p:nvGrpSpPr>
          <p:cNvPr id="3" name="Group 62"/>
          <p:cNvGrpSpPr/>
          <p:nvPr/>
        </p:nvGrpSpPr>
        <p:grpSpPr>
          <a:xfrm>
            <a:off x="4684424" y="1987108"/>
            <a:ext cx="1152128" cy="936104"/>
            <a:chOff x="1331640" y="3789040"/>
            <a:chExt cx="1152128" cy="936104"/>
          </a:xfrm>
        </p:grpSpPr>
        <p:sp>
          <p:nvSpPr>
            <p:cNvPr id="64" name="Cloud Callout 63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62676"/>
                <a:gd name="adj2" fmla="val -64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66" name="Text Box 4"/>
          <p:cNvSpPr txBox="1">
            <a:spLocks noChangeArrowheads="1"/>
          </p:cNvSpPr>
          <p:nvPr/>
        </p:nvSpPr>
        <p:spPr bwMode="auto">
          <a:xfrm>
            <a:off x="3310956" y="2863398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1 . 4</a:t>
            </a:r>
            <a:endParaRPr lang="en-GB" sz="4000" dirty="0">
              <a:latin typeface="+mj-lt"/>
            </a:endParaRPr>
          </a:p>
        </p:txBody>
      </p:sp>
      <p:sp>
        <p:nvSpPr>
          <p:cNvPr id="67" name="Text Box 30"/>
          <p:cNvSpPr txBox="1">
            <a:spLocks noChangeArrowheads="1"/>
          </p:cNvSpPr>
          <p:nvPr/>
        </p:nvSpPr>
        <p:spPr bwMode="auto">
          <a:xfrm>
            <a:off x="6876256" y="2276872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098916" y="1124744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9" name="Line 7"/>
          <p:cNvSpPr>
            <a:spLocks noChangeShapeType="1"/>
          </p:cNvSpPr>
          <p:nvPr/>
        </p:nvSpPr>
        <p:spPr bwMode="auto">
          <a:xfrm>
            <a:off x="8100392" y="1198265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70" name="Text Box 4"/>
          <p:cNvSpPr txBox="1">
            <a:spLocks noChangeArrowheads="1"/>
          </p:cNvSpPr>
          <p:nvPr/>
        </p:nvSpPr>
        <p:spPr bwMode="auto">
          <a:xfrm>
            <a:off x="6353150" y="1237532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0 . 0 5 3 5</a:t>
            </a:r>
            <a:endParaRPr lang="en-GB" sz="4000" dirty="0">
              <a:latin typeface="+mj-lt"/>
            </a:endParaRPr>
          </a:p>
        </p:txBody>
      </p:sp>
      <p:grpSp>
        <p:nvGrpSpPr>
          <p:cNvPr id="4" name="Group 70"/>
          <p:cNvGrpSpPr/>
          <p:nvPr/>
        </p:nvGrpSpPr>
        <p:grpSpPr>
          <a:xfrm>
            <a:off x="7579492" y="1987108"/>
            <a:ext cx="1152128" cy="936104"/>
            <a:chOff x="1331640" y="3789040"/>
            <a:chExt cx="1152128" cy="936104"/>
          </a:xfrm>
        </p:grpSpPr>
        <p:sp>
          <p:nvSpPr>
            <p:cNvPr id="72" name="Cloud Callout 71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13382"/>
                <a:gd name="adj2" fmla="val -66036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74" name="Text Box 4"/>
          <p:cNvSpPr txBox="1">
            <a:spLocks noChangeArrowheads="1"/>
          </p:cNvSpPr>
          <p:nvPr/>
        </p:nvSpPr>
        <p:spPr bwMode="auto">
          <a:xfrm>
            <a:off x="5907384" y="2863398"/>
            <a:ext cx="255304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    0 . 0 5 4</a:t>
            </a:r>
            <a:endParaRPr lang="en-GB" sz="4000" dirty="0">
              <a:latin typeface="+mj-lt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99956" y="3862780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28" name="Line 7"/>
          <p:cNvSpPr>
            <a:spLocks noChangeShapeType="1"/>
          </p:cNvSpPr>
          <p:nvPr/>
        </p:nvSpPr>
        <p:spPr bwMode="auto">
          <a:xfrm>
            <a:off x="1475656" y="3963144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30" name="Text Box 30"/>
          <p:cNvSpPr txBox="1">
            <a:spLocks noChangeArrowheads="1"/>
          </p:cNvSpPr>
          <p:nvPr/>
        </p:nvSpPr>
        <p:spPr bwMode="auto">
          <a:xfrm>
            <a:off x="4012780" y="5013176"/>
            <a:ext cx="576064" cy="406400"/>
          </a:xfrm>
          <a:prstGeom prst="rect">
            <a:avLst/>
          </a:prstGeom>
          <a:solidFill>
            <a:srgbClr val="99FF66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rgbClr val="009900"/>
                </a:solidFill>
                <a:latin typeface="+mj-lt"/>
              </a:rPr>
              <a:t>No</a:t>
            </a:r>
            <a:endParaRPr lang="en-GB" sz="2000" dirty="0">
              <a:solidFill>
                <a:srgbClr val="009900"/>
              </a:solidFill>
              <a:latin typeface="+mj-lt"/>
            </a:endParaRPr>
          </a:p>
        </p:txBody>
      </p:sp>
      <p:sp>
        <p:nvSpPr>
          <p:cNvPr id="31" name="Text Box 4"/>
          <p:cNvSpPr txBox="1">
            <a:spLocks noChangeArrowheads="1"/>
          </p:cNvSpPr>
          <p:nvPr/>
        </p:nvSpPr>
        <p:spPr bwMode="auto">
          <a:xfrm>
            <a:off x="683568" y="3975568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4 2 7 2 8</a:t>
            </a:r>
            <a:endParaRPr lang="en-GB" sz="4000" dirty="0">
              <a:latin typeface="+mj-lt"/>
            </a:endParaRPr>
          </a:p>
        </p:txBody>
      </p:sp>
      <p:sp>
        <p:nvSpPr>
          <p:cNvPr id="32" name="Text Box 30"/>
          <p:cNvSpPr txBox="1">
            <a:spLocks noChangeArrowheads="1"/>
          </p:cNvSpPr>
          <p:nvPr/>
        </p:nvSpPr>
        <p:spPr bwMode="auto">
          <a:xfrm>
            <a:off x="1060452" y="5013176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</a:p>
        </p:txBody>
      </p:sp>
      <p:grpSp>
        <p:nvGrpSpPr>
          <p:cNvPr id="7" name="Group 40"/>
          <p:cNvGrpSpPr/>
          <p:nvPr/>
        </p:nvGrpSpPr>
        <p:grpSpPr>
          <a:xfrm>
            <a:off x="1835696" y="4797152"/>
            <a:ext cx="1152128" cy="936104"/>
            <a:chOff x="1331640" y="3789040"/>
            <a:chExt cx="1152128" cy="936104"/>
          </a:xfrm>
        </p:grpSpPr>
        <p:sp>
          <p:nvSpPr>
            <p:cNvPr id="34" name="Cloud Callout 33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70116"/>
                <a:gd name="adj2" fmla="val -74176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41" name="Text Box 4"/>
          <p:cNvSpPr txBox="1">
            <a:spLocks noChangeArrowheads="1"/>
          </p:cNvSpPr>
          <p:nvPr/>
        </p:nvSpPr>
        <p:spPr bwMode="auto">
          <a:xfrm>
            <a:off x="683568" y="5601434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4 3 0 0 0</a:t>
            </a:r>
            <a:endParaRPr lang="en-GB" sz="4000" dirty="0">
              <a:latin typeface="+mj-lt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3220692" y="3861048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44" name="Line 7"/>
          <p:cNvSpPr>
            <a:spLocks noChangeShapeType="1"/>
          </p:cNvSpPr>
          <p:nvPr/>
        </p:nvSpPr>
        <p:spPr bwMode="auto">
          <a:xfrm>
            <a:off x="4192910" y="3963144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45" name="Text Box 4"/>
          <p:cNvSpPr txBox="1">
            <a:spLocks noChangeArrowheads="1"/>
          </p:cNvSpPr>
          <p:nvPr/>
        </p:nvSpPr>
        <p:spPr bwMode="auto">
          <a:xfrm>
            <a:off x="3419872" y="3973836"/>
            <a:ext cx="252028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2 0 4 4 7 8</a:t>
            </a:r>
            <a:endParaRPr lang="en-GB" sz="4000" dirty="0">
              <a:latin typeface="+mj-lt"/>
            </a:endParaRPr>
          </a:p>
        </p:txBody>
      </p:sp>
      <p:grpSp>
        <p:nvGrpSpPr>
          <p:cNvPr id="8" name="Group 62"/>
          <p:cNvGrpSpPr/>
          <p:nvPr/>
        </p:nvGrpSpPr>
        <p:grpSpPr>
          <a:xfrm>
            <a:off x="4716016" y="4725144"/>
            <a:ext cx="1152128" cy="936104"/>
            <a:chOff x="1187624" y="3789040"/>
            <a:chExt cx="1152128" cy="936104"/>
          </a:xfrm>
        </p:grpSpPr>
        <p:sp>
          <p:nvSpPr>
            <p:cNvPr id="47" name="Cloud Callout 46"/>
            <p:cNvSpPr/>
            <p:nvPr/>
          </p:nvSpPr>
          <p:spPr>
            <a:xfrm>
              <a:off x="1187624" y="3789040"/>
              <a:ext cx="1152128" cy="936104"/>
            </a:xfrm>
            <a:prstGeom prst="cloudCallout">
              <a:avLst>
                <a:gd name="adj1" fmla="val -75077"/>
                <a:gd name="adj2" fmla="val -66035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259632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49" name="Text Box 4"/>
          <p:cNvSpPr txBox="1">
            <a:spLocks noChangeArrowheads="1"/>
          </p:cNvSpPr>
          <p:nvPr/>
        </p:nvSpPr>
        <p:spPr bwMode="auto">
          <a:xfrm>
            <a:off x="3451845" y="5599702"/>
            <a:ext cx="256984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2 0 0 0 0 0</a:t>
            </a:r>
            <a:endParaRPr lang="en-GB" sz="4000" dirty="0">
              <a:latin typeface="+mj-lt"/>
            </a:endParaRPr>
          </a:p>
        </p:txBody>
      </p:sp>
      <p:sp>
        <p:nvSpPr>
          <p:cNvPr id="50" name="Text Box 30"/>
          <p:cNvSpPr txBox="1">
            <a:spLocks noChangeArrowheads="1"/>
          </p:cNvSpPr>
          <p:nvPr/>
        </p:nvSpPr>
        <p:spPr bwMode="auto">
          <a:xfrm>
            <a:off x="6893100" y="5013176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  <a:endParaRPr lang="en-GB" sz="20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6115760" y="3861048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52" name="Line 7"/>
          <p:cNvSpPr>
            <a:spLocks noChangeShapeType="1"/>
          </p:cNvSpPr>
          <p:nvPr/>
        </p:nvSpPr>
        <p:spPr bwMode="auto">
          <a:xfrm>
            <a:off x="8115250" y="3931324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53" name="Text Box 4"/>
          <p:cNvSpPr txBox="1">
            <a:spLocks noChangeArrowheads="1"/>
          </p:cNvSpPr>
          <p:nvPr/>
        </p:nvSpPr>
        <p:spPr bwMode="auto">
          <a:xfrm>
            <a:off x="6372200" y="3973836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0 . 0 6 9 6</a:t>
            </a:r>
            <a:endParaRPr lang="en-GB" sz="4000" dirty="0">
              <a:latin typeface="+mj-lt"/>
            </a:endParaRPr>
          </a:p>
        </p:txBody>
      </p:sp>
      <p:grpSp>
        <p:nvGrpSpPr>
          <p:cNvPr id="9" name="Group 70"/>
          <p:cNvGrpSpPr/>
          <p:nvPr/>
        </p:nvGrpSpPr>
        <p:grpSpPr>
          <a:xfrm>
            <a:off x="7596336" y="4723412"/>
            <a:ext cx="1152128" cy="936104"/>
            <a:chOff x="1331640" y="3789040"/>
            <a:chExt cx="1152128" cy="936104"/>
          </a:xfrm>
        </p:grpSpPr>
        <p:sp>
          <p:nvSpPr>
            <p:cNvPr id="55" name="Cloud Callout 54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12556"/>
                <a:gd name="adj2" fmla="val -64001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57" name="Text Box 4"/>
          <p:cNvSpPr txBox="1">
            <a:spLocks noChangeArrowheads="1"/>
          </p:cNvSpPr>
          <p:nvPr/>
        </p:nvSpPr>
        <p:spPr bwMode="auto">
          <a:xfrm>
            <a:off x="5940152" y="5599702"/>
            <a:ext cx="252028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    0 . 0 7 0</a:t>
            </a:r>
            <a:endParaRPr lang="en-GB" sz="4000" dirty="0">
              <a:latin typeface="+mj-lt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7956376" y="116632"/>
            <a:ext cx="720080" cy="720080"/>
          </a:xfrm>
          <a:prstGeom prst="roundRect">
            <a:avLst>
              <a:gd name="adj" fmla="val 21100"/>
            </a:avLst>
          </a:prstGeom>
          <a:solidFill>
            <a:srgbClr val="FF9966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prstClr val="white"/>
                </a:solidFill>
              </a:rPr>
              <a:t>C</a:t>
            </a:r>
            <a:endParaRPr lang="en-US" sz="2000" b="1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6" grpId="0" animBg="1"/>
      <p:bldP spid="38" grpId="0" animBg="1"/>
      <p:bldP spid="42" grpId="0"/>
      <p:bldP spid="59" grpId="0" animBg="1"/>
      <p:bldP spid="60" grpId="0" animBg="1"/>
      <p:bldP spid="61" grpId="0"/>
      <p:bldP spid="66" grpId="0"/>
      <p:bldP spid="67" grpId="0" animBg="1"/>
      <p:bldP spid="68" grpId="0" animBg="1"/>
      <p:bldP spid="69" grpId="0" animBg="1"/>
      <p:bldP spid="70" grpId="0"/>
      <p:bldP spid="74" grpId="0"/>
      <p:bldP spid="27" grpId="0" animBg="1"/>
      <p:bldP spid="28" grpId="0" animBg="1"/>
      <p:bldP spid="30" grpId="0" animBg="1"/>
      <p:bldP spid="31" grpId="0"/>
      <p:bldP spid="32" grpId="0" animBg="1"/>
      <p:bldP spid="41" grpId="0"/>
      <p:bldP spid="43" grpId="0" animBg="1"/>
      <p:bldP spid="44" grpId="0" animBg="1"/>
      <p:bldP spid="45" grpId="0"/>
      <p:bldP spid="49" grpId="0"/>
      <p:bldP spid="50" grpId="0" animBg="1"/>
      <p:bldP spid="51" grpId="0" animBg="1"/>
      <p:bldP spid="52" grpId="0" animBg="1"/>
      <p:bldP spid="53" grpId="0"/>
      <p:bldP spid="5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266268" y="404664"/>
            <a:ext cx="8626212" cy="609600"/>
          </a:xfrm>
          <a:prstGeom prst="roundRect">
            <a:avLst>
              <a:gd name="adj" fmla="val 21100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Rounding to 3 Significant Figure (3SF)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83112" y="1126476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29" name="Line 7"/>
          <p:cNvSpPr>
            <a:spLocks noChangeShapeType="1"/>
          </p:cNvSpPr>
          <p:nvPr/>
        </p:nvSpPr>
        <p:spPr bwMode="auto">
          <a:xfrm>
            <a:off x="2502818" y="1240287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36" name="Text Box 30"/>
          <p:cNvSpPr txBox="1">
            <a:spLocks noChangeArrowheads="1"/>
          </p:cNvSpPr>
          <p:nvPr/>
        </p:nvSpPr>
        <p:spPr bwMode="auto">
          <a:xfrm>
            <a:off x="3995936" y="2276872"/>
            <a:ext cx="576064" cy="406400"/>
          </a:xfrm>
          <a:prstGeom prst="rect">
            <a:avLst/>
          </a:prstGeom>
          <a:solidFill>
            <a:srgbClr val="99FF66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rgbClr val="009900"/>
                </a:solidFill>
                <a:latin typeface="+mj-lt"/>
              </a:rPr>
              <a:t>No</a:t>
            </a:r>
          </a:p>
        </p:txBody>
      </p:sp>
      <p:sp>
        <p:nvSpPr>
          <p:cNvPr id="37" name="Text Box 4"/>
          <p:cNvSpPr txBox="1">
            <a:spLocks noChangeArrowheads="1"/>
          </p:cNvSpPr>
          <p:nvPr/>
        </p:nvSpPr>
        <p:spPr bwMode="auto">
          <a:xfrm>
            <a:off x="395536" y="1239264"/>
            <a:ext cx="259228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0 . 0 2 6 7 1</a:t>
            </a:r>
            <a:endParaRPr lang="en-GB" sz="4000" dirty="0">
              <a:latin typeface="+mj-lt"/>
            </a:endParaRPr>
          </a:p>
        </p:txBody>
      </p:sp>
      <p:sp>
        <p:nvSpPr>
          <p:cNvPr id="38" name="Text Box 30"/>
          <p:cNvSpPr txBox="1">
            <a:spLocks noChangeArrowheads="1"/>
          </p:cNvSpPr>
          <p:nvPr/>
        </p:nvSpPr>
        <p:spPr bwMode="auto">
          <a:xfrm>
            <a:off x="1043608" y="2276872"/>
            <a:ext cx="576064" cy="406400"/>
          </a:xfrm>
          <a:prstGeom prst="rect">
            <a:avLst/>
          </a:prstGeom>
          <a:solidFill>
            <a:srgbClr val="99FF66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rgbClr val="009900"/>
                </a:solidFill>
                <a:latin typeface="+mj-lt"/>
              </a:rPr>
              <a:t>No</a:t>
            </a:r>
          </a:p>
        </p:txBody>
      </p:sp>
      <p:grpSp>
        <p:nvGrpSpPr>
          <p:cNvPr id="2" name="Group 40"/>
          <p:cNvGrpSpPr/>
          <p:nvPr/>
        </p:nvGrpSpPr>
        <p:grpSpPr>
          <a:xfrm>
            <a:off x="1763688" y="2060848"/>
            <a:ext cx="1152128" cy="936104"/>
            <a:chOff x="1331640" y="3789040"/>
            <a:chExt cx="1152128" cy="936104"/>
          </a:xfrm>
        </p:grpSpPr>
        <p:sp>
          <p:nvSpPr>
            <p:cNvPr id="39" name="Cloud Callout 38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32397"/>
                <a:gd name="adj2" fmla="val -72142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42" name="Text Box 4"/>
          <p:cNvSpPr txBox="1">
            <a:spLocks noChangeArrowheads="1"/>
          </p:cNvSpPr>
          <p:nvPr/>
        </p:nvSpPr>
        <p:spPr bwMode="auto">
          <a:xfrm>
            <a:off x="395536" y="2865130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0 . 0 2 6 7</a:t>
            </a:r>
            <a:endParaRPr lang="en-GB" sz="4000" dirty="0">
              <a:latin typeface="+mj-lt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3203848" y="1124744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0" name="Line 7"/>
          <p:cNvSpPr>
            <a:spLocks noChangeShapeType="1"/>
          </p:cNvSpPr>
          <p:nvPr/>
        </p:nvSpPr>
        <p:spPr bwMode="auto">
          <a:xfrm>
            <a:off x="4716016" y="119502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61" name="Text Box 4"/>
          <p:cNvSpPr txBox="1">
            <a:spLocks noChangeArrowheads="1"/>
          </p:cNvSpPr>
          <p:nvPr/>
        </p:nvSpPr>
        <p:spPr bwMode="auto">
          <a:xfrm>
            <a:off x="3316272" y="1237532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3 . 2 9 4 9 </a:t>
            </a:r>
            <a:endParaRPr lang="en-GB" sz="4000" dirty="0">
              <a:latin typeface="+mj-lt"/>
            </a:endParaRPr>
          </a:p>
        </p:txBody>
      </p:sp>
      <p:grpSp>
        <p:nvGrpSpPr>
          <p:cNvPr id="3" name="Group 62"/>
          <p:cNvGrpSpPr/>
          <p:nvPr/>
        </p:nvGrpSpPr>
        <p:grpSpPr>
          <a:xfrm>
            <a:off x="4684424" y="1987108"/>
            <a:ext cx="1152128" cy="936104"/>
            <a:chOff x="1331640" y="3789040"/>
            <a:chExt cx="1152128" cy="936104"/>
          </a:xfrm>
        </p:grpSpPr>
        <p:sp>
          <p:nvSpPr>
            <p:cNvPr id="64" name="Cloud Callout 63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31260"/>
                <a:gd name="adj2" fmla="val -64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66" name="Text Box 4"/>
          <p:cNvSpPr txBox="1">
            <a:spLocks noChangeArrowheads="1"/>
          </p:cNvSpPr>
          <p:nvPr/>
        </p:nvSpPr>
        <p:spPr bwMode="auto">
          <a:xfrm>
            <a:off x="3310956" y="2863398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3 . 2 9</a:t>
            </a:r>
            <a:endParaRPr lang="en-GB" sz="4000" dirty="0">
              <a:latin typeface="+mj-lt"/>
            </a:endParaRPr>
          </a:p>
        </p:txBody>
      </p:sp>
      <p:sp>
        <p:nvSpPr>
          <p:cNvPr id="67" name="Text Box 30"/>
          <p:cNvSpPr txBox="1">
            <a:spLocks noChangeArrowheads="1"/>
          </p:cNvSpPr>
          <p:nvPr/>
        </p:nvSpPr>
        <p:spPr bwMode="auto">
          <a:xfrm>
            <a:off x="6793582" y="2276872"/>
            <a:ext cx="576064" cy="400110"/>
          </a:xfrm>
          <a:prstGeom prst="rect">
            <a:avLst/>
          </a:prstGeom>
          <a:solidFill>
            <a:srgbClr val="99FF66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rgbClr val="009900"/>
                </a:solidFill>
                <a:latin typeface="+mj-lt"/>
              </a:rPr>
              <a:t>No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098916" y="1124744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9" name="Line 7"/>
          <p:cNvSpPr>
            <a:spLocks noChangeShapeType="1"/>
          </p:cNvSpPr>
          <p:nvPr/>
        </p:nvSpPr>
        <p:spPr bwMode="auto">
          <a:xfrm>
            <a:off x="7619578" y="1198265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70" name="Text Box 4"/>
          <p:cNvSpPr txBox="1">
            <a:spLocks noChangeArrowheads="1"/>
          </p:cNvSpPr>
          <p:nvPr/>
        </p:nvSpPr>
        <p:spPr bwMode="auto">
          <a:xfrm>
            <a:off x="6484565" y="1237532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3 4 7 2 8</a:t>
            </a:r>
            <a:endParaRPr lang="en-GB" sz="4000" dirty="0">
              <a:latin typeface="+mj-lt"/>
            </a:endParaRPr>
          </a:p>
        </p:txBody>
      </p:sp>
      <p:grpSp>
        <p:nvGrpSpPr>
          <p:cNvPr id="4" name="Group 70"/>
          <p:cNvGrpSpPr/>
          <p:nvPr/>
        </p:nvGrpSpPr>
        <p:grpSpPr>
          <a:xfrm>
            <a:off x="7496818" y="1987108"/>
            <a:ext cx="1152128" cy="936104"/>
            <a:chOff x="1331640" y="3789040"/>
            <a:chExt cx="1152128" cy="936104"/>
          </a:xfrm>
        </p:grpSpPr>
        <p:sp>
          <p:nvSpPr>
            <p:cNvPr id="72" name="Cloud Callout 71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22994"/>
                <a:gd name="adj2" fmla="val -65019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74" name="Text Box 4"/>
          <p:cNvSpPr txBox="1">
            <a:spLocks noChangeArrowheads="1"/>
          </p:cNvSpPr>
          <p:nvPr/>
        </p:nvSpPr>
        <p:spPr bwMode="auto">
          <a:xfrm>
            <a:off x="6050260" y="2863398"/>
            <a:ext cx="255304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    3 4 7 0 0</a:t>
            </a:r>
            <a:endParaRPr lang="en-GB" sz="4000" dirty="0">
              <a:latin typeface="+mj-lt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99956" y="3862780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28" name="Line 7"/>
          <p:cNvSpPr>
            <a:spLocks noChangeShapeType="1"/>
          </p:cNvSpPr>
          <p:nvPr/>
        </p:nvSpPr>
        <p:spPr bwMode="auto">
          <a:xfrm>
            <a:off x="1826171" y="3995539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30" name="Text Box 30"/>
          <p:cNvSpPr txBox="1">
            <a:spLocks noChangeArrowheads="1"/>
          </p:cNvSpPr>
          <p:nvPr/>
        </p:nvSpPr>
        <p:spPr bwMode="auto">
          <a:xfrm>
            <a:off x="4012780" y="5013176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</a:p>
        </p:txBody>
      </p:sp>
      <p:sp>
        <p:nvSpPr>
          <p:cNvPr id="31" name="Text Box 4"/>
          <p:cNvSpPr txBox="1">
            <a:spLocks noChangeArrowheads="1"/>
          </p:cNvSpPr>
          <p:nvPr/>
        </p:nvSpPr>
        <p:spPr bwMode="auto">
          <a:xfrm>
            <a:off x="683568" y="3975568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1 3 7 9 8</a:t>
            </a:r>
            <a:endParaRPr lang="en-GB" sz="4000" dirty="0">
              <a:latin typeface="+mj-lt"/>
            </a:endParaRPr>
          </a:p>
        </p:txBody>
      </p:sp>
      <p:sp>
        <p:nvSpPr>
          <p:cNvPr id="32" name="Text Box 30"/>
          <p:cNvSpPr txBox="1">
            <a:spLocks noChangeArrowheads="1"/>
          </p:cNvSpPr>
          <p:nvPr/>
        </p:nvSpPr>
        <p:spPr bwMode="auto">
          <a:xfrm>
            <a:off x="1060452" y="5013176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</a:p>
        </p:txBody>
      </p:sp>
      <p:grpSp>
        <p:nvGrpSpPr>
          <p:cNvPr id="7" name="Group 40"/>
          <p:cNvGrpSpPr/>
          <p:nvPr/>
        </p:nvGrpSpPr>
        <p:grpSpPr>
          <a:xfrm>
            <a:off x="1835696" y="4797152"/>
            <a:ext cx="1152128" cy="936104"/>
            <a:chOff x="1331640" y="3789040"/>
            <a:chExt cx="1152128" cy="936104"/>
          </a:xfrm>
        </p:grpSpPr>
        <p:sp>
          <p:nvSpPr>
            <p:cNvPr id="34" name="Cloud Callout 33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32913"/>
                <a:gd name="adj2" fmla="val -73159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41" name="Text Box 4"/>
          <p:cNvSpPr txBox="1">
            <a:spLocks noChangeArrowheads="1"/>
          </p:cNvSpPr>
          <p:nvPr/>
        </p:nvSpPr>
        <p:spPr bwMode="auto">
          <a:xfrm>
            <a:off x="683568" y="5601434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1 3 8 0 0</a:t>
            </a:r>
            <a:endParaRPr lang="en-GB" sz="4000" dirty="0">
              <a:latin typeface="+mj-lt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3220692" y="3861048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44" name="Line 7"/>
          <p:cNvSpPr>
            <a:spLocks noChangeShapeType="1"/>
          </p:cNvSpPr>
          <p:nvPr/>
        </p:nvSpPr>
        <p:spPr bwMode="auto">
          <a:xfrm>
            <a:off x="4572000" y="3963144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45" name="Text Box 4"/>
          <p:cNvSpPr txBox="1">
            <a:spLocks noChangeArrowheads="1"/>
          </p:cNvSpPr>
          <p:nvPr/>
        </p:nvSpPr>
        <p:spPr bwMode="auto">
          <a:xfrm>
            <a:off x="3419872" y="3973836"/>
            <a:ext cx="252028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9 7 4 9 7 8</a:t>
            </a:r>
            <a:endParaRPr lang="en-GB" sz="4000" dirty="0">
              <a:latin typeface="+mj-lt"/>
            </a:endParaRPr>
          </a:p>
        </p:txBody>
      </p:sp>
      <p:grpSp>
        <p:nvGrpSpPr>
          <p:cNvPr id="8" name="Group 62"/>
          <p:cNvGrpSpPr/>
          <p:nvPr/>
        </p:nvGrpSpPr>
        <p:grpSpPr>
          <a:xfrm>
            <a:off x="4716016" y="4725144"/>
            <a:ext cx="1152128" cy="936104"/>
            <a:chOff x="1187624" y="3789040"/>
            <a:chExt cx="1152128" cy="936104"/>
          </a:xfrm>
        </p:grpSpPr>
        <p:sp>
          <p:nvSpPr>
            <p:cNvPr id="47" name="Cloud Callout 46"/>
            <p:cNvSpPr/>
            <p:nvPr/>
          </p:nvSpPr>
          <p:spPr>
            <a:xfrm>
              <a:off x="1187624" y="3789040"/>
              <a:ext cx="1152128" cy="936104"/>
            </a:xfrm>
            <a:prstGeom prst="cloudCallout">
              <a:avLst>
                <a:gd name="adj1" fmla="val -46141"/>
                <a:gd name="adj2" fmla="val -65017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259632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49" name="Text Box 4"/>
          <p:cNvSpPr txBox="1">
            <a:spLocks noChangeArrowheads="1"/>
          </p:cNvSpPr>
          <p:nvPr/>
        </p:nvSpPr>
        <p:spPr bwMode="auto">
          <a:xfrm>
            <a:off x="3470895" y="5599702"/>
            <a:ext cx="256984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9 7 5 0 0 0</a:t>
            </a:r>
            <a:endParaRPr lang="en-GB" sz="4000" dirty="0">
              <a:latin typeface="+mj-lt"/>
            </a:endParaRPr>
          </a:p>
        </p:txBody>
      </p:sp>
      <p:sp>
        <p:nvSpPr>
          <p:cNvPr id="50" name="Text Box 30"/>
          <p:cNvSpPr txBox="1">
            <a:spLocks noChangeArrowheads="1"/>
          </p:cNvSpPr>
          <p:nvPr/>
        </p:nvSpPr>
        <p:spPr bwMode="auto">
          <a:xfrm>
            <a:off x="6893100" y="5013176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  <a:endParaRPr lang="en-GB" sz="20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6115760" y="3861048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52" name="Line 7"/>
          <p:cNvSpPr>
            <a:spLocks noChangeShapeType="1"/>
          </p:cNvSpPr>
          <p:nvPr/>
        </p:nvSpPr>
        <p:spPr bwMode="auto">
          <a:xfrm>
            <a:off x="7745685" y="3931324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53" name="Text Box 4"/>
          <p:cNvSpPr txBox="1">
            <a:spLocks noChangeArrowheads="1"/>
          </p:cNvSpPr>
          <p:nvPr/>
        </p:nvSpPr>
        <p:spPr bwMode="auto">
          <a:xfrm>
            <a:off x="6372200" y="3973836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1 2 . 0 6 9</a:t>
            </a:r>
            <a:endParaRPr lang="en-GB" sz="4000" dirty="0">
              <a:latin typeface="+mj-lt"/>
            </a:endParaRPr>
          </a:p>
        </p:txBody>
      </p:sp>
      <p:grpSp>
        <p:nvGrpSpPr>
          <p:cNvPr id="9" name="Group 70"/>
          <p:cNvGrpSpPr/>
          <p:nvPr/>
        </p:nvGrpSpPr>
        <p:grpSpPr>
          <a:xfrm>
            <a:off x="7596336" y="4723412"/>
            <a:ext cx="1152128" cy="936104"/>
            <a:chOff x="1331640" y="3789040"/>
            <a:chExt cx="1152128" cy="936104"/>
          </a:xfrm>
        </p:grpSpPr>
        <p:sp>
          <p:nvSpPr>
            <p:cNvPr id="55" name="Cloud Callout 54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20513"/>
                <a:gd name="adj2" fmla="val -61966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57" name="Text Box 4"/>
          <p:cNvSpPr txBox="1">
            <a:spLocks noChangeArrowheads="1"/>
          </p:cNvSpPr>
          <p:nvPr/>
        </p:nvSpPr>
        <p:spPr bwMode="auto">
          <a:xfrm>
            <a:off x="5940152" y="5599702"/>
            <a:ext cx="252028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    1 2 . 1</a:t>
            </a:r>
            <a:endParaRPr lang="en-GB" sz="4000" dirty="0">
              <a:latin typeface="+mj-lt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7956376" y="116632"/>
            <a:ext cx="720080" cy="720080"/>
          </a:xfrm>
          <a:prstGeom prst="roundRect">
            <a:avLst>
              <a:gd name="adj" fmla="val 21100"/>
            </a:avLst>
          </a:prstGeom>
          <a:solidFill>
            <a:srgbClr val="FF9966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prstClr val="white"/>
                </a:solidFill>
              </a:rPr>
              <a:t>C</a:t>
            </a:r>
            <a:endParaRPr lang="en-US" sz="2000" b="1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6" grpId="0" animBg="1"/>
      <p:bldP spid="38" grpId="0" animBg="1"/>
      <p:bldP spid="42" grpId="0"/>
      <p:bldP spid="59" grpId="0" animBg="1"/>
      <p:bldP spid="60" grpId="0" animBg="1"/>
      <p:bldP spid="61" grpId="0"/>
      <p:bldP spid="66" grpId="0"/>
      <p:bldP spid="67" grpId="0" animBg="1"/>
      <p:bldP spid="68" grpId="0" animBg="1"/>
      <p:bldP spid="69" grpId="0" animBg="1"/>
      <p:bldP spid="70" grpId="0"/>
      <p:bldP spid="74" grpId="0"/>
      <p:bldP spid="27" grpId="0" animBg="1"/>
      <p:bldP spid="28" grpId="0" animBg="1"/>
      <p:bldP spid="30" grpId="0" animBg="1"/>
      <p:bldP spid="31" grpId="0"/>
      <p:bldP spid="32" grpId="0" animBg="1"/>
      <p:bldP spid="41" grpId="0"/>
      <p:bldP spid="43" grpId="0" animBg="1"/>
      <p:bldP spid="44" grpId="0" animBg="1"/>
      <p:bldP spid="45" grpId="0"/>
      <p:bldP spid="49" grpId="0"/>
      <p:bldP spid="50" grpId="0" animBg="1"/>
      <p:bldP spid="51" grpId="0" animBg="1"/>
      <p:bldP spid="52" grpId="0" animBg="1"/>
      <p:bldP spid="53" grpId="0"/>
      <p:bldP spid="5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66268" y="188640"/>
            <a:ext cx="8626212" cy="609600"/>
          </a:xfrm>
          <a:prstGeom prst="roundRect">
            <a:avLst>
              <a:gd name="adj" fmla="val 21100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Rounding to Significant Figures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81" name="Rounded Rectangle 80"/>
          <p:cNvSpPr/>
          <p:nvPr/>
        </p:nvSpPr>
        <p:spPr>
          <a:xfrm rot="16200000">
            <a:off x="-863738" y="4906030"/>
            <a:ext cx="2806580" cy="576064"/>
          </a:xfrm>
          <a:prstGeom prst="roundRect">
            <a:avLst>
              <a:gd name="adj" fmla="val 21100"/>
            </a:avLst>
          </a:prstGeom>
          <a:solidFill>
            <a:srgbClr val="93D76E"/>
          </a:solidFill>
          <a:ln>
            <a:solidFill>
              <a:srgbClr val="0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Your Turn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971600" y="3818535"/>
            <a:ext cx="7920880" cy="2775641"/>
          </a:xfrm>
          <a:prstGeom prst="roundRect">
            <a:avLst>
              <a:gd name="adj" fmla="val 4579"/>
            </a:avLst>
          </a:prstGeom>
          <a:solidFill>
            <a:schemeClr val="bg1"/>
          </a:solidFill>
          <a:ln>
            <a:solidFill>
              <a:srgbClr val="0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176213" indent="-176213">
              <a:buClr>
                <a:srgbClr val="008000"/>
              </a:buClr>
              <a:buFont typeface="Wingdings" pitchFamily="2" charset="2"/>
              <a:buChar char="§"/>
            </a:pPr>
            <a:r>
              <a:rPr lang="en-US" sz="2200" dirty="0" smtClean="0">
                <a:solidFill>
                  <a:schemeClr val="tx1"/>
                </a:solidFill>
              </a:rPr>
              <a:t>Copy &amp; </a:t>
            </a:r>
          </a:p>
          <a:p>
            <a:pPr marL="176213" indent="-176213">
              <a:buClr>
                <a:srgbClr val="008000"/>
              </a:buClr>
            </a:pPr>
            <a:r>
              <a:rPr lang="en-US" sz="2200" dirty="0" smtClean="0">
                <a:solidFill>
                  <a:schemeClr val="tx1"/>
                </a:solidFill>
              </a:rPr>
              <a:t>	complete</a:t>
            </a:r>
          </a:p>
          <a:p>
            <a:pPr marL="176213" indent="-176213">
              <a:buClr>
                <a:srgbClr val="008000"/>
              </a:buClr>
            </a:pPr>
            <a:r>
              <a:rPr lang="en-US" sz="2200" dirty="0" smtClean="0">
                <a:solidFill>
                  <a:schemeClr val="tx1"/>
                </a:solidFill>
              </a:rPr>
              <a:t>	this table:</a:t>
            </a:r>
          </a:p>
        </p:txBody>
      </p:sp>
      <p:graphicFrame>
        <p:nvGraphicFramePr>
          <p:cNvPr id="83" name="Table 82"/>
          <p:cNvGraphicFramePr>
            <a:graphicFrameLocks noGrp="1"/>
          </p:cNvGraphicFramePr>
          <p:nvPr/>
        </p:nvGraphicFramePr>
        <p:xfrm>
          <a:off x="2555776" y="4077072"/>
          <a:ext cx="6096000" cy="22250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296144"/>
                <a:gridCol w="1512168"/>
                <a:gridCol w="1656184"/>
                <a:gridCol w="163150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Number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To 1SF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To 2SF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To 3SF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>
                        <a:spcBef>
                          <a:spcPct val="20000"/>
                        </a:spcBef>
                      </a:pPr>
                      <a:r>
                        <a:rPr lang="en-GB" dirty="0" smtClean="0">
                          <a:cs typeface="Arial" pitchFamily="34" charset="0"/>
                        </a:rPr>
                        <a:t>6.3528</a:t>
                      </a:r>
                      <a:endParaRPr lang="en-GB" dirty="0"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>
                        <a:spcBef>
                          <a:spcPct val="20000"/>
                        </a:spcBef>
                      </a:pPr>
                      <a:r>
                        <a:rPr lang="en-GB" dirty="0" smtClean="0">
                          <a:solidFill>
                            <a:schemeClr val="tx1"/>
                          </a:solidFill>
                          <a:cs typeface="Arial" pitchFamily="34" charset="0"/>
                        </a:rPr>
                        <a:t>34.026</a:t>
                      </a:r>
                      <a:endParaRPr lang="en-GB" sz="1600" dirty="0">
                        <a:solidFill>
                          <a:schemeClr val="tx1"/>
                        </a:solidFill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>
                        <a:spcBef>
                          <a:spcPct val="20000"/>
                        </a:spcBef>
                      </a:pPr>
                      <a:r>
                        <a:rPr lang="en-GB" dirty="0" smtClean="0">
                          <a:solidFill>
                            <a:schemeClr val="tx1"/>
                          </a:solidFill>
                          <a:cs typeface="Arial" pitchFamily="34" charset="0"/>
                        </a:rPr>
                        <a:t>0.005708</a:t>
                      </a:r>
                      <a:endParaRPr lang="en-GB" sz="1600" dirty="0">
                        <a:solidFill>
                          <a:schemeClr val="tx1"/>
                        </a:solidFill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>
                        <a:spcBef>
                          <a:spcPct val="20000"/>
                        </a:spcBef>
                      </a:pPr>
                      <a:r>
                        <a:rPr lang="en-GB" dirty="0" smtClean="0">
                          <a:solidFill>
                            <a:schemeClr val="tx1"/>
                          </a:solidFill>
                          <a:cs typeface="Arial" pitchFamily="34" charset="0"/>
                        </a:rPr>
                        <a:t>150.932</a:t>
                      </a:r>
                      <a:endParaRPr lang="en-GB" sz="1600" dirty="0">
                        <a:solidFill>
                          <a:schemeClr val="tx1"/>
                        </a:solidFill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>
                          <a:solidFill>
                            <a:schemeClr val="tx1"/>
                          </a:solidFill>
                          <a:cs typeface="Arial" pitchFamily="34" charset="0"/>
                        </a:rPr>
                        <a:t>0.00007835</a:t>
                      </a:r>
                      <a:endParaRPr lang="en-GB" sz="1600" dirty="0" smtClean="0">
                        <a:solidFill>
                          <a:schemeClr val="tx1"/>
                        </a:solidFill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5" name="TextBox 114"/>
          <p:cNvSpPr txBox="1"/>
          <p:nvPr/>
        </p:nvSpPr>
        <p:spPr>
          <a:xfrm>
            <a:off x="8316416" y="93648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3SF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5470004" y="90872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2SF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2511532" y="89397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1SF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283112" y="899195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49" name="Line 7"/>
          <p:cNvSpPr>
            <a:spLocks noChangeShapeType="1"/>
          </p:cNvSpPr>
          <p:nvPr/>
        </p:nvSpPr>
        <p:spPr bwMode="auto">
          <a:xfrm>
            <a:off x="1763688" y="1013006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50" name="Text Box 4"/>
          <p:cNvSpPr txBox="1">
            <a:spLocks noChangeArrowheads="1"/>
          </p:cNvSpPr>
          <p:nvPr/>
        </p:nvSpPr>
        <p:spPr bwMode="auto">
          <a:xfrm>
            <a:off x="395536" y="1011983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0 . 0 7 6 5</a:t>
            </a:r>
            <a:endParaRPr lang="en-GB" sz="4000" dirty="0">
              <a:latin typeface="+mj-lt"/>
            </a:endParaRPr>
          </a:p>
        </p:txBody>
      </p:sp>
      <p:sp>
        <p:nvSpPr>
          <p:cNvPr id="51" name="Text Box 30"/>
          <p:cNvSpPr txBox="1">
            <a:spLocks noChangeArrowheads="1"/>
          </p:cNvSpPr>
          <p:nvPr/>
        </p:nvSpPr>
        <p:spPr bwMode="auto">
          <a:xfrm>
            <a:off x="1043608" y="2049591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</a:p>
        </p:txBody>
      </p:sp>
      <p:grpSp>
        <p:nvGrpSpPr>
          <p:cNvPr id="2" name="Group 40"/>
          <p:cNvGrpSpPr/>
          <p:nvPr/>
        </p:nvGrpSpPr>
        <p:grpSpPr>
          <a:xfrm>
            <a:off x="1763688" y="1833567"/>
            <a:ext cx="1152128" cy="936104"/>
            <a:chOff x="1331640" y="3789040"/>
            <a:chExt cx="1152128" cy="936104"/>
          </a:xfrm>
        </p:grpSpPr>
        <p:sp>
          <p:nvSpPr>
            <p:cNvPr id="53" name="Cloud Callout 52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30434"/>
                <a:gd name="adj2" fmla="val -73159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55" name="Text Box 4"/>
          <p:cNvSpPr txBox="1">
            <a:spLocks noChangeArrowheads="1"/>
          </p:cNvSpPr>
          <p:nvPr/>
        </p:nvSpPr>
        <p:spPr bwMode="auto">
          <a:xfrm>
            <a:off x="417984" y="2637849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0 . 0 8</a:t>
            </a:r>
            <a:endParaRPr lang="en-GB" sz="4000" dirty="0">
              <a:latin typeface="+mj-lt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3197340" y="908720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57" name="Line 7"/>
          <p:cNvSpPr>
            <a:spLocks noChangeShapeType="1"/>
          </p:cNvSpPr>
          <p:nvPr/>
        </p:nvSpPr>
        <p:spPr bwMode="auto">
          <a:xfrm>
            <a:off x="4373040" y="1009084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58" name="Text Box 4"/>
          <p:cNvSpPr txBox="1">
            <a:spLocks noChangeArrowheads="1"/>
          </p:cNvSpPr>
          <p:nvPr/>
        </p:nvSpPr>
        <p:spPr bwMode="auto">
          <a:xfrm>
            <a:off x="3580952" y="1021508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4 2 7 2 8</a:t>
            </a:r>
            <a:endParaRPr lang="en-GB" sz="4000" dirty="0">
              <a:latin typeface="+mj-lt"/>
            </a:endParaRPr>
          </a:p>
        </p:txBody>
      </p:sp>
      <p:sp>
        <p:nvSpPr>
          <p:cNvPr id="59" name="Text Box 30"/>
          <p:cNvSpPr txBox="1">
            <a:spLocks noChangeArrowheads="1"/>
          </p:cNvSpPr>
          <p:nvPr/>
        </p:nvSpPr>
        <p:spPr bwMode="auto">
          <a:xfrm>
            <a:off x="3957836" y="2059116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</a:p>
        </p:txBody>
      </p:sp>
      <p:grpSp>
        <p:nvGrpSpPr>
          <p:cNvPr id="3" name="Group 40"/>
          <p:cNvGrpSpPr/>
          <p:nvPr/>
        </p:nvGrpSpPr>
        <p:grpSpPr>
          <a:xfrm>
            <a:off x="4733080" y="1843092"/>
            <a:ext cx="1152128" cy="936104"/>
            <a:chOff x="1331640" y="3789040"/>
            <a:chExt cx="1152128" cy="936104"/>
          </a:xfrm>
        </p:grpSpPr>
        <p:sp>
          <p:nvSpPr>
            <p:cNvPr id="61" name="Cloud Callout 60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70116"/>
                <a:gd name="adj2" fmla="val -74176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63" name="Text Box 4"/>
          <p:cNvSpPr txBox="1">
            <a:spLocks noChangeArrowheads="1"/>
          </p:cNvSpPr>
          <p:nvPr/>
        </p:nvSpPr>
        <p:spPr bwMode="auto">
          <a:xfrm>
            <a:off x="3580952" y="2647374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4 3 0 0 0</a:t>
            </a:r>
            <a:endParaRPr lang="en-GB" sz="4000" dirty="0">
              <a:latin typeface="+mj-lt"/>
            </a:endParaRPr>
          </a:p>
        </p:txBody>
      </p:sp>
      <p:sp>
        <p:nvSpPr>
          <p:cNvPr id="64" name="Text Box 30"/>
          <p:cNvSpPr txBox="1">
            <a:spLocks noChangeArrowheads="1"/>
          </p:cNvSpPr>
          <p:nvPr/>
        </p:nvSpPr>
        <p:spPr bwMode="auto">
          <a:xfrm>
            <a:off x="6883575" y="2060848"/>
            <a:ext cx="576064" cy="406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Yes</a:t>
            </a:r>
            <a:endParaRPr lang="en-GB" sz="20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6106235" y="908720"/>
            <a:ext cx="2776720" cy="2590556"/>
          </a:xfrm>
          <a:prstGeom prst="roundRect">
            <a:avLst>
              <a:gd name="adj" fmla="val 4905"/>
            </a:avLst>
          </a:prstGeom>
          <a:noFill/>
          <a:ln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9875" indent="-269875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§"/>
            </a:pPr>
            <a:endParaRPr lang="en-US" sz="2200" dirty="0" smtClean="0">
              <a:solidFill>
                <a:schemeClr val="tx1"/>
              </a:solidFill>
            </a:endParaRPr>
          </a:p>
        </p:txBody>
      </p:sp>
      <p:sp>
        <p:nvSpPr>
          <p:cNvPr id="66" name="Line 7"/>
          <p:cNvSpPr>
            <a:spLocks noChangeShapeType="1"/>
          </p:cNvSpPr>
          <p:nvPr/>
        </p:nvSpPr>
        <p:spPr bwMode="auto">
          <a:xfrm>
            <a:off x="7736160" y="978996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>
              <a:latin typeface="+mj-lt"/>
            </a:endParaRPr>
          </a:p>
        </p:txBody>
      </p:sp>
      <p:sp>
        <p:nvSpPr>
          <p:cNvPr id="67" name="Text Box 4"/>
          <p:cNvSpPr txBox="1">
            <a:spLocks noChangeArrowheads="1"/>
          </p:cNvSpPr>
          <p:nvPr/>
        </p:nvSpPr>
        <p:spPr bwMode="auto">
          <a:xfrm>
            <a:off x="6362675" y="1021508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1 2 . 0 6 9</a:t>
            </a:r>
            <a:endParaRPr lang="en-GB" sz="4000" dirty="0">
              <a:latin typeface="+mj-lt"/>
            </a:endParaRPr>
          </a:p>
        </p:txBody>
      </p:sp>
      <p:grpSp>
        <p:nvGrpSpPr>
          <p:cNvPr id="5" name="Group 70"/>
          <p:cNvGrpSpPr/>
          <p:nvPr/>
        </p:nvGrpSpPr>
        <p:grpSpPr>
          <a:xfrm>
            <a:off x="7586811" y="1771084"/>
            <a:ext cx="1152128" cy="936104"/>
            <a:chOff x="1331640" y="3789040"/>
            <a:chExt cx="1152128" cy="936104"/>
          </a:xfrm>
        </p:grpSpPr>
        <p:sp>
          <p:nvSpPr>
            <p:cNvPr id="69" name="Cloud Callout 68"/>
            <p:cNvSpPr/>
            <p:nvPr/>
          </p:nvSpPr>
          <p:spPr>
            <a:xfrm>
              <a:off x="1331640" y="3789040"/>
              <a:ext cx="1152128" cy="936104"/>
            </a:xfrm>
            <a:prstGeom prst="cloudCallout">
              <a:avLst>
                <a:gd name="adj1" fmla="val -20513"/>
                <a:gd name="adj2" fmla="val -61966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1388900" y="3920040"/>
              <a:ext cx="963228" cy="646331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00FF"/>
                  </a:solidFill>
                </a:rPr>
                <a:t>5 or more?</a:t>
              </a:r>
              <a:endParaRPr lang="en-GB" dirty="0">
                <a:solidFill>
                  <a:srgbClr val="0000FF"/>
                </a:solidFill>
              </a:endParaRPr>
            </a:p>
          </p:txBody>
        </p:sp>
      </p:grpSp>
      <p:sp>
        <p:nvSpPr>
          <p:cNvPr id="71" name="Text Box 4"/>
          <p:cNvSpPr txBox="1">
            <a:spLocks noChangeArrowheads="1"/>
          </p:cNvSpPr>
          <p:nvPr/>
        </p:nvSpPr>
        <p:spPr bwMode="auto">
          <a:xfrm>
            <a:off x="5930627" y="2647374"/>
            <a:ext cx="252028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4000" dirty="0" smtClean="0">
                <a:latin typeface="+mj-lt"/>
              </a:rPr>
              <a:t>    1 2 . 1</a:t>
            </a:r>
            <a:endParaRPr lang="en-GB" sz="4000" dirty="0">
              <a:latin typeface="+mj-lt"/>
            </a:endParaRPr>
          </a:p>
        </p:txBody>
      </p:sp>
      <p:sp>
        <p:nvSpPr>
          <p:cNvPr id="72" name="Text Box 29"/>
          <p:cNvSpPr txBox="1">
            <a:spLocks noChangeArrowheads="1"/>
          </p:cNvSpPr>
          <p:nvPr/>
        </p:nvSpPr>
        <p:spPr bwMode="auto">
          <a:xfrm>
            <a:off x="4573682" y="4456162"/>
            <a:ext cx="59343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 eaLnBrk="0" hangingPunct="0"/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6.35</a:t>
            </a:r>
          </a:p>
        </p:txBody>
      </p:sp>
      <p:sp>
        <p:nvSpPr>
          <p:cNvPr id="73" name="Text Box 30"/>
          <p:cNvSpPr txBox="1">
            <a:spLocks noChangeArrowheads="1"/>
          </p:cNvSpPr>
          <p:nvPr/>
        </p:nvSpPr>
        <p:spPr bwMode="auto">
          <a:xfrm>
            <a:off x="6208642" y="4456162"/>
            <a:ext cx="4764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GB">
                <a:solidFill>
                  <a:schemeClr val="accent6">
                    <a:lumMod val="75000"/>
                  </a:schemeClr>
                </a:solidFill>
              </a:rPr>
              <a:t>6.4</a:t>
            </a:r>
          </a:p>
        </p:txBody>
      </p:sp>
      <p:sp>
        <p:nvSpPr>
          <p:cNvPr id="74" name="Text Box 31"/>
          <p:cNvSpPr txBox="1">
            <a:spLocks noChangeArrowheads="1"/>
          </p:cNvSpPr>
          <p:nvPr/>
        </p:nvSpPr>
        <p:spPr bwMode="auto">
          <a:xfrm>
            <a:off x="8086738" y="4456162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75" name="Text Box 32"/>
          <p:cNvSpPr txBox="1">
            <a:spLocks noChangeArrowheads="1"/>
          </p:cNvSpPr>
          <p:nvPr/>
        </p:nvSpPr>
        <p:spPr bwMode="auto">
          <a:xfrm>
            <a:off x="4573682" y="4825960"/>
            <a:ext cx="59343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 eaLnBrk="0" hangingPunct="0"/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34.0</a:t>
            </a:r>
          </a:p>
        </p:txBody>
      </p:sp>
      <p:sp>
        <p:nvSpPr>
          <p:cNvPr id="76" name="Text Box 33"/>
          <p:cNvSpPr txBox="1">
            <a:spLocks noChangeArrowheads="1"/>
          </p:cNvSpPr>
          <p:nvPr/>
        </p:nvSpPr>
        <p:spPr bwMode="auto">
          <a:xfrm>
            <a:off x="6266350" y="4825727"/>
            <a:ext cx="4187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GB">
                <a:solidFill>
                  <a:schemeClr val="accent6">
                    <a:lumMod val="75000"/>
                  </a:schemeClr>
                </a:solidFill>
              </a:rPr>
              <a:t>34</a:t>
            </a:r>
          </a:p>
        </p:txBody>
      </p:sp>
      <p:sp>
        <p:nvSpPr>
          <p:cNvPr id="77" name="Text Box 34"/>
          <p:cNvSpPr txBox="1">
            <a:spLocks noChangeArrowheads="1"/>
          </p:cNvSpPr>
          <p:nvPr/>
        </p:nvSpPr>
        <p:spPr bwMode="auto">
          <a:xfrm>
            <a:off x="7969720" y="4806677"/>
            <a:ext cx="4187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30</a:t>
            </a:r>
          </a:p>
        </p:txBody>
      </p:sp>
      <p:sp>
        <p:nvSpPr>
          <p:cNvPr id="78" name="Text Box 35"/>
          <p:cNvSpPr txBox="1">
            <a:spLocks noChangeArrowheads="1"/>
          </p:cNvSpPr>
          <p:nvPr/>
        </p:nvSpPr>
        <p:spPr bwMode="auto">
          <a:xfrm>
            <a:off x="4222625" y="5195292"/>
            <a:ext cx="94448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 eaLnBrk="0" hangingPunct="0"/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0.00571</a:t>
            </a:r>
          </a:p>
        </p:txBody>
      </p:sp>
      <p:sp>
        <p:nvSpPr>
          <p:cNvPr id="79" name="Text Box 36"/>
          <p:cNvSpPr txBox="1">
            <a:spLocks noChangeArrowheads="1"/>
          </p:cNvSpPr>
          <p:nvPr/>
        </p:nvSpPr>
        <p:spPr bwMode="auto">
          <a:xfrm>
            <a:off x="5857583" y="5204817"/>
            <a:ext cx="82747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0.0057</a:t>
            </a:r>
          </a:p>
        </p:txBody>
      </p:sp>
      <p:sp>
        <p:nvSpPr>
          <p:cNvPr id="80" name="Text Box 37"/>
          <p:cNvSpPr txBox="1">
            <a:spLocks noChangeArrowheads="1"/>
          </p:cNvSpPr>
          <p:nvPr/>
        </p:nvSpPr>
        <p:spPr bwMode="auto">
          <a:xfrm>
            <a:off x="7677973" y="5200858"/>
            <a:ext cx="7104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0.006</a:t>
            </a:r>
          </a:p>
        </p:txBody>
      </p:sp>
      <p:sp>
        <p:nvSpPr>
          <p:cNvPr id="84" name="Text Box 38"/>
          <p:cNvSpPr txBox="1">
            <a:spLocks noChangeArrowheads="1"/>
          </p:cNvSpPr>
          <p:nvPr/>
        </p:nvSpPr>
        <p:spPr bwMode="auto">
          <a:xfrm>
            <a:off x="4631390" y="5564857"/>
            <a:ext cx="53572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 eaLnBrk="0" hangingPunct="0"/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151</a:t>
            </a:r>
          </a:p>
        </p:txBody>
      </p:sp>
      <p:sp>
        <p:nvSpPr>
          <p:cNvPr id="85" name="Text Box 39"/>
          <p:cNvSpPr txBox="1">
            <a:spLocks noChangeArrowheads="1"/>
          </p:cNvSpPr>
          <p:nvPr/>
        </p:nvSpPr>
        <p:spPr bwMode="auto">
          <a:xfrm>
            <a:off x="6149330" y="5555332"/>
            <a:ext cx="53572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150</a:t>
            </a:r>
          </a:p>
        </p:txBody>
      </p:sp>
      <p:sp>
        <p:nvSpPr>
          <p:cNvPr id="86" name="Text Box 40"/>
          <p:cNvSpPr txBox="1">
            <a:spLocks noChangeArrowheads="1"/>
          </p:cNvSpPr>
          <p:nvPr/>
        </p:nvSpPr>
        <p:spPr bwMode="auto">
          <a:xfrm>
            <a:off x="7852700" y="5570190"/>
            <a:ext cx="53572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200</a:t>
            </a:r>
          </a:p>
        </p:txBody>
      </p:sp>
      <p:sp>
        <p:nvSpPr>
          <p:cNvPr id="87" name="Text Box 41"/>
          <p:cNvSpPr txBox="1">
            <a:spLocks noChangeArrowheads="1"/>
          </p:cNvSpPr>
          <p:nvPr/>
        </p:nvSpPr>
        <p:spPr bwMode="auto">
          <a:xfrm>
            <a:off x="3988586" y="5958805"/>
            <a:ext cx="117852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 eaLnBrk="0" hangingPunct="0"/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0.0000784</a:t>
            </a:r>
          </a:p>
        </p:txBody>
      </p:sp>
      <p:sp>
        <p:nvSpPr>
          <p:cNvPr id="88" name="Text Box 42"/>
          <p:cNvSpPr txBox="1">
            <a:spLocks noChangeArrowheads="1"/>
          </p:cNvSpPr>
          <p:nvPr/>
        </p:nvSpPr>
        <p:spPr bwMode="auto">
          <a:xfrm>
            <a:off x="5623545" y="5949280"/>
            <a:ext cx="106150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0.000078</a:t>
            </a:r>
          </a:p>
        </p:txBody>
      </p:sp>
      <p:sp>
        <p:nvSpPr>
          <p:cNvPr id="89" name="Text Box 43"/>
          <p:cNvSpPr txBox="1">
            <a:spLocks noChangeArrowheads="1"/>
          </p:cNvSpPr>
          <p:nvPr/>
        </p:nvSpPr>
        <p:spPr bwMode="auto">
          <a:xfrm>
            <a:off x="7443935" y="5949280"/>
            <a:ext cx="94448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0.00008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403648" y="5445224"/>
            <a:ext cx="720080" cy="720080"/>
          </a:xfrm>
          <a:prstGeom prst="roundRect">
            <a:avLst>
              <a:gd name="adj" fmla="val 21100"/>
            </a:avLst>
          </a:prstGeom>
          <a:solidFill>
            <a:srgbClr val="FF9966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prstClr val="white"/>
                </a:solidFill>
              </a:rPr>
              <a:t>C</a:t>
            </a:r>
            <a:endParaRPr lang="en-US" sz="2000" b="1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4" grpId="0"/>
      <p:bldP spid="85" grpId="0"/>
      <p:bldP spid="86" grpId="0"/>
      <p:bldP spid="87" grpId="0"/>
      <p:bldP spid="88" grpId="0"/>
      <p:bldP spid="8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964</Words>
  <Application>Microsoft Office PowerPoint</Application>
  <PresentationFormat>On-screen Show (4:3)</PresentationFormat>
  <Paragraphs>332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z.coomber</dc:creator>
  <cp:lastModifiedBy>z.coomber</cp:lastModifiedBy>
  <cp:revision>1</cp:revision>
  <dcterms:created xsi:type="dcterms:W3CDTF">2011-10-28T15:59:57Z</dcterms:created>
  <dcterms:modified xsi:type="dcterms:W3CDTF">2011-10-28T16:00:34Z</dcterms:modified>
</cp:coreProperties>
</file>