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2" r:id="rId2"/>
    <p:sldId id="263" r:id="rId3"/>
    <p:sldId id="271" r:id="rId4"/>
    <p:sldId id="285" r:id="rId5"/>
    <p:sldId id="286" r:id="rId6"/>
    <p:sldId id="287" r:id="rId7"/>
    <p:sldId id="288" r:id="rId8"/>
    <p:sldId id="289" r:id="rId9"/>
    <p:sldId id="284" r:id="rId10"/>
    <p:sldId id="269" r:id="rId11"/>
    <p:sldId id="270" r:id="rId12"/>
    <p:sldId id="277" r:id="rId13"/>
    <p:sldId id="27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741" autoAdjust="0"/>
  </p:normalViewPr>
  <p:slideViewPr>
    <p:cSldViewPr>
      <p:cViewPr varScale="1">
        <p:scale>
          <a:sx n="120" d="100"/>
          <a:sy n="120" d="100"/>
        </p:scale>
        <p:origin x="19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EEAAD-A92D-43A9-98B3-62912DCA0BAB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37E9B-8440-4E11-9C33-57013B61C1CC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814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C2B1E31-3AC8-4E6F-A5E2-5207C0338B09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A1AEB9D-7AD2-4934-8287-2F465B9B09A0}" type="datetimeFigureOut">
              <a:rPr lang="en-IE" smtClean="0"/>
              <a:pPr/>
              <a:t>22/10/2020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rxPt75bU6rc&amp;feature=relate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jUOHhFvR4k" TargetMode="External"/><Relationship Id="rId2" Type="http://schemas.openxmlformats.org/officeDocument/2006/relationships/hyperlink" Target="https://www.youtube.com/watch?v=LrKmM1cEffU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675635" y="2327833"/>
            <a:ext cx="7488238" cy="2664296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IE" sz="5400" b="1" dirty="0">
                <a:solidFill>
                  <a:srgbClr val="382971"/>
                </a:solidFill>
                <a:latin typeface="Tahoma" pitchFamily="34" charset="0"/>
              </a:rPr>
              <a:t>School Placement</a:t>
            </a:r>
            <a:br>
              <a:rPr lang="en-IE" sz="5400" b="1" dirty="0">
                <a:solidFill>
                  <a:srgbClr val="382971"/>
                </a:solidFill>
                <a:latin typeface="Tahoma" pitchFamily="34" charset="0"/>
              </a:rPr>
            </a:br>
            <a:br>
              <a:rPr lang="en-IE" sz="5400" b="1" dirty="0">
                <a:solidFill>
                  <a:srgbClr val="382971"/>
                </a:solidFill>
                <a:latin typeface="Tahoma" pitchFamily="34" charset="0"/>
              </a:rPr>
            </a:br>
            <a:r>
              <a:rPr lang="en-IE" sz="4000" b="1" i="1" dirty="0">
                <a:solidFill>
                  <a:srgbClr val="382971"/>
                </a:solidFill>
                <a:latin typeface="Tahoma" pitchFamily="34" charset="0"/>
              </a:rPr>
              <a:t>Review and going forward</a:t>
            </a:r>
            <a:br>
              <a:rPr lang="en-IE" sz="2700" b="1" i="1" dirty="0">
                <a:solidFill>
                  <a:srgbClr val="382971"/>
                </a:solidFill>
                <a:latin typeface="Tahoma" pitchFamily="34" charset="0"/>
              </a:rPr>
            </a:br>
            <a:endParaRPr lang="en-GB" sz="2700" b="1" i="1" dirty="0">
              <a:solidFill>
                <a:srgbClr val="382971"/>
              </a:solidFill>
              <a:latin typeface="Tahoma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633913" y="5403850"/>
            <a:ext cx="4510087" cy="401638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FontTx/>
              <a:buNone/>
            </a:pPr>
            <a:r>
              <a:rPr lang="en-IE" sz="2400" b="1" dirty="0">
                <a:solidFill>
                  <a:schemeClr val="tx2"/>
                </a:solidFill>
              </a:rPr>
              <a:t>			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057" name="AutoShape 9"/>
          <p:cNvSpPr>
            <a:spLocks noChangeArrowheads="1"/>
          </p:cNvSpPr>
          <p:nvPr/>
        </p:nvSpPr>
        <p:spPr bwMode="auto">
          <a:xfrm>
            <a:off x="611188" y="1806575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>
              <a:lumMod val="75000"/>
            </a:schemeClr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85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8084" y="404664"/>
            <a:ext cx="7620000" cy="1143000"/>
          </a:xfrm>
        </p:spPr>
        <p:txBody>
          <a:bodyPr/>
          <a:lstStyle/>
          <a:p>
            <a:r>
              <a:rPr lang="en-IE" dirty="0"/>
              <a:t>Today’s Meeting</a:t>
            </a:r>
            <a:r>
              <a:rPr lang="en-IE" b="1" dirty="0"/>
              <a:t>:</a:t>
            </a:r>
            <a:endParaRPr lang="en-GB" b="1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001000" cy="4824536"/>
          </a:xfrm>
        </p:spPr>
        <p:txBody>
          <a:bodyPr>
            <a:normAutofit/>
          </a:bodyPr>
          <a:lstStyle/>
          <a:p>
            <a:pPr marL="358775" indent="-358775">
              <a:lnSpc>
                <a:spcPct val="90000"/>
              </a:lnSpc>
            </a:pPr>
            <a:r>
              <a:rPr lang="en-IE" altLang="zh-CN" sz="3600" dirty="0">
                <a:ea typeface="宋体" charset="-122"/>
              </a:rPr>
              <a:t>Review of your experiences so far</a:t>
            </a:r>
          </a:p>
          <a:p>
            <a:pPr marL="358775" indent="-358775">
              <a:lnSpc>
                <a:spcPct val="90000"/>
              </a:lnSpc>
            </a:pPr>
            <a:r>
              <a:rPr lang="en-IE" altLang="zh-CN" sz="3600" dirty="0">
                <a:ea typeface="宋体" charset="-122"/>
              </a:rPr>
              <a:t>Review of your SP FILES</a:t>
            </a:r>
          </a:p>
          <a:p>
            <a:pPr marL="358775" indent="-358775">
              <a:lnSpc>
                <a:spcPct val="90000"/>
              </a:lnSpc>
            </a:pPr>
            <a:r>
              <a:rPr lang="en-IE" altLang="zh-CN" sz="3600" dirty="0">
                <a:ea typeface="宋体" charset="-122"/>
              </a:rPr>
              <a:t>Feedback on Classroom Observations</a:t>
            </a:r>
          </a:p>
          <a:p>
            <a:pPr marL="358775" indent="-358775">
              <a:lnSpc>
                <a:spcPct val="90000"/>
              </a:lnSpc>
            </a:pPr>
            <a:r>
              <a:rPr lang="en-IE" altLang="zh-CN" sz="3600" dirty="0">
                <a:ea typeface="宋体" charset="-122"/>
              </a:rPr>
              <a:t>Teaching Practice Asssessment Criteria</a:t>
            </a:r>
          </a:p>
          <a:p>
            <a:pPr marL="358775" indent="-358775">
              <a:lnSpc>
                <a:spcPct val="90000"/>
              </a:lnSpc>
            </a:pPr>
            <a:r>
              <a:rPr lang="en-IE" altLang="zh-CN" sz="3600" dirty="0">
                <a:ea typeface="宋体" charset="-122"/>
              </a:rPr>
              <a:t>Review of Progress wrt Action Research Project</a:t>
            </a:r>
          </a:p>
        </p:txBody>
      </p:sp>
    </p:spTree>
    <p:extLst>
      <p:ext uri="{BB962C8B-B14F-4D97-AF65-F5344CB8AC3E}">
        <p14:creationId xmlns:p14="http://schemas.microsoft.com/office/powerpoint/2010/main" val="361685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620000" cy="1143000"/>
          </a:xfrm>
        </p:spPr>
        <p:txBody>
          <a:bodyPr/>
          <a:lstStyle/>
          <a:p>
            <a:r>
              <a:rPr lang="en-US" dirty="0"/>
              <a:t>Your learning on SP so far…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6200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have you learnt about yourself as a teacher?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have you learnt about your students?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have you learnt about working with other teachers?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sz="3100" i="1" dirty="0"/>
              <a:t>Think of your weekly reflections and lesson evaluations and share with your group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 min individual reflection and then share with your group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621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Planning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What do you find most  challenging?</a:t>
            </a:r>
          </a:p>
          <a:p>
            <a:pPr>
              <a:lnSpc>
                <a:spcPct val="150000"/>
              </a:lnSpc>
            </a:pPr>
            <a:r>
              <a:rPr lang="en-US" dirty="0"/>
              <a:t>What supports do you need now?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Feedback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The Lesson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Watch this:</a:t>
            </a:r>
            <a:endParaRPr lang="en-US" dirty="0">
              <a:hlinkClick r:id="rId2"/>
            </a:endParaRPr>
          </a:p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http://www.youtube.com/watch?v=rxPt75bU6rc&amp;feature=related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62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Gagné</a:t>
            </a:r>
            <a:r>
              <a:rPr lang="en-US" dirty="0"/>
              <a:t> Nine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you remember them?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Gain Attention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Describe the learning intention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Stimulate recall of prior knowledge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 the ‘new’ material for learning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Provide guidance on learning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Elicit performance / practice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Provide feedback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Assess performance- inform on progress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Enhance retention and transfer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32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what does it mean for your planning?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every class-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Episodes and different scenes for learning and assessment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Differentiation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is your lesson plan reflecting these?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Brainstorm-</a:t>
            </a:r>
          </a:p>
        </p:txBody>
      </p:sp>
    </p:spTree>
    <p:extLst>
      <p:ext uri="{BB962C8B-B14F-4D97-AF65-F5344CB8AC3E}">
        <p14:creationId xmlns:p14="http://schemas.microsoft.com/office/powerpoint/2010/main" val="364685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Blooms Taxonomy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guide to planning for learning</a:t>
            </a:r>
          </a:p>
          <a:p>
            <a:pPr marL="0" indent="0">
              <a:buNone/>
            </a:pPr>
            <a:r>
              <a:rPr lang="en-US" dirty="0"/>
              <a:t>Brainstorm(again!- the levels)</a:t>
            </a:r>
          </a:p>
          <a:p>
            <a:pPr marL="0" indent="0">
              <a:buNone/>
            </a:pPr>
            <a:r>
              <a:rPr lang="en-US" dirty="0"/>
              <a:t>Revision- overview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https://www.youtube.com/watch?v=LrKmM1cEffU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tool for focusing on deepening learning- and formulating questions – but how best to use?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https://www.youtube.com/watch?v=NjUOHhFvR4k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25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620000" cy="1143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Moving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81200"/>
            <a:ext cx="7620000" cy="406104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Do you wish to change the presentation of your lesson plan?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If so… why and for what benefit?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Make sure all key elements of the lesson are included- including student information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618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IE" dirty="0"/>
              <a:t>The final block: SP criteria (</a:t>
            </a:r>
            <a:r>
              <a:rPr lang="en-IE" sz="2700" dirty="0"/>
              <a:t>pg. 10+ of the Handbook)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620000" cy="48006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IE" sz="3100" i="1" dirty="0"/>
              <a:t>Criteria for self assessment and action planning for the rest of SP</a:t>
            </a:r>
          </a:p>
          <a:p>
            <a:pPr>
              <a:buNone/>
            </a:pPr>
            <a:endParaRPr lang="en-IE" sz="1500" i="1" dirty="0"/>
          </a:p>
          <a:p>
            <a:r>
              <a:rPr lang="en-IE" dirty="0"/>
              <a:t>Planning and Preparation for teaching, learning and assessment</a:t>
            </a:r>
          </a:p>
          <a:p>
            <a:r>
              <a:rPr lang="en-IE" dirty="0"/>
              <a:t>Demonstration of Subject Knowledge and selection of teaching aids</a:t>
            </a:r>
          </a:p>
          <a:p>
            <a:r>
              <a:rPr lang="en-IE" dirty="0"/>
              <a:t>Management of teaching and learning environment</a:t>
            </a:r>
          </a:p>
          <a:p>
            <a:r>
              <a:rPr lang="en-IE" dirty="0"/>
              <a:t>Teaching, Learning and assessment strategies</a:t>
            </a:r>
          </a:p>
          <a:p>
            <a:r>
              <a:rPr lang="en-IE" dirty="0"/>
              <a:t>Critical Thinking, problem solving and reflection skills</a:t>
            </a:r>
          </a:p>
          <a:p>
            <a:r>
              <a:rPr lang="en-IE" dirty="0"/>
              <a:t>Professionalism</a:t>
            </a:r>
          </a:p>
          <a:p>
            <a:pPr>
              <a:buNone/>
            </a:pPr>
            <a:endParaRPr lang="en-IE" dirty="0"/>
          </a:p>
          <a:p>
            <a:pPr>
              <a:buNone/>
            </a:pPr>
            <a:r>
              <a:rPr lang="en-IE" sz="2600" i="1" dirty="0"/>
              <a:t>Read, Reflect, self assess and devise action plan for improvement.....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1143000"/>
          </a:xfrm>
        </p:spPr>
        <p:txBody>
          <a:bodyPr/>
          <a:lstStyle/>
          <a:p>
            <a:r>
              <a:rPr lang="en-IE" sz="4200" dirty="0"/>
              <a:t>Submission of SP file - softcopy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600200"/>
            <a:ext cx="6889576" cy="355699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IE" dirty="0"/>
          </a:p>
          <a:p>
            <a:pPr marL="114300" indent="0" algn="ctr">
              <a:buNone/>
            </a:pPr>
            <a:r>
              <a:rPr lang="en-IE" sz="3200" dirty="0"/>
              <a:t>You are required to have your School Placement File (softcopy – Google Drive) up-to-date and completed – upload to Blackboard by required date</a:t>
            </a:r>
            <a:endParaRPr lang="en-I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620000" cy="1143000"/>
          </a:xfrm>
        </p:spPr>
        <p:txBody>
          <a:bodyPr/>
          <a:lstStyle/>
          <a:p>
            <a:r>
              <a:rPr lang="en-IE" dirty="0"/>
              <a:t>Action Research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7620000" cy="3124944"/>
          </a:xfrm>
        </p:spPr>
        <p:txBody>
          <a:bodyPr>
            <a:normAutofit/>
          </a:bodyPr>
          <a:lstStyle/>
          <a:p>
            <a:r>
              <a:rPr lang="en-IE" sz="3600" dirty="0"/>
              <a:t>What stage are you at in relation to your project?</a:t>
            </a:r>
          </a:p>
          <a:p>
            <a:endParaRPr lang="en-IE" sz="3600" dirty="0"/>
          </a:p>
          <a:p>
            <a:r>
              <a:rPr lang="en-IE" sz="3600" dirty="0"/>
              <a:t>Any concerns/questions?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876800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dirty="0"/>
          </a:p>
          <a:p>
            <a:r>
              <a:rPr lang="en-IE" b="1" dirty="0">
                <a:solidFill>
                  <a:srgbClr val="FF0000"/>
                </a:solidFill>
              </a:rPr>
              <a:t>Paper submission date on Bb</a:t>
            </a:r>
          </a:p>
        </p:txBody>
      </p:sp>
    </p:spTree>
    <p:extLst>
      <p:ext uri="{BB962C8B-B14F-4D97-AF65-F5344CB8AC3E}">
        <p14:creationId xmlns:p14="http://schemas.microsoft.com/office/powerpoint/2010/main" val="3116389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348880"/>
            <a:ext cx="7620000" cy="1143000"/>
          </a:xfrm>
        </p:spPr>
        <p:txBody>
          <a:bodyPr/>
          <a:lstStyle/>
          <a:p>
            <a:pPr algn="ctr"/>
            <a:r>
              <a:rPr lang="en-IE" b="1" dirty="0"/>
              <a:t>Go n-</a:t>
            </a:r>
            <a:r>
              <a:rPr lang="en-IE" b="1" dirty="0" err="1"/>
              <a:t>éirí</a:t>
            </a:r>
            <a:r>
              <a:rPr lang="en-IE" b="1" dirty="0"/>
              <a:t> an t-</a:t>
            </a:r>
            <a:r>
              <a:rPr lang="en-IE" b="1" dirty="0" err="1"/>
              <a:t>ádh</a:t>
            </a:r>
            <a:r>
              <a:rPr lang="en-IE" b="1" dirty="0"/>
              <a:t> </a:t>
            </a:r>
            <a:r>
              <a:rPr lang="en-IE" b="1" dirty="0" err="1"/>
              <a:t>libh</a:t>
            </a:r>
            <a:r>
              <a:rPr lang="en-IE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141773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574</TotalTime>
  <Words>455</Words>
  <Application>Microsoft Macintosh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Tahoma</vt:lpstr>
      <vt:lpstr>Times New Roman</vt:lpstr>
      <vt:lpstr>Adjacency</vt:lpstr>
      <vt:lpstr>School Placement  Review and going forward </vt:lpstr>
      <vt:lpstr>Today’s Meeting:</vt:lpstr>
      <vt:lpstr>Your learning on SP so far…</vt:lpstr>
      <vt:lpstr>Lesson Planning and Delivery</vt:lpstr>
      <vt:lpstr>The Lesson Structure</vt:lpstr>
      <vt:lpstr>Gagné Nine steps</vt:lpstr>
      <vt:lpstr>So what does it mean for your planning?</vt:lpstr>
      <vt:lpstr>Blooms Taxonomy revisited</vt:lpstr>
      <vt:lpstr>Moving forward</vt:lpstr>
      <vt:lpstr>The final block: SP criteria (pg. 10+ of the Handbook)</vt:lpstr>
      <vt:lpstr>Submission of SP file - softcopy</vt:lpstr>
      <vt:lpstr>Action Research Projects</vt:lpstr>
      <vt:lpstr>Go n-éirí an t-ádh libh!</vt:lpstr>
    </vt:vector>
  </TitlesOfParts>
  <Company>National University of Ireland Galway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Services</dc:creator>
  <cp:lastModifiedBy>Cornelia Connolly</cp:lastModifiedBy>
  <cp:revision>38</cp:revision>
  <dcterms:created xsi:type="dcterms:W3CDTF">2016-10-28T15:08:09Z</dcterms:created>
  <dcterms:modified xsi:type="dcterms:W3CDTF">2020-10-22T16:05:51Z</dcterms:modified>
</cp:coreProperties>
</file>