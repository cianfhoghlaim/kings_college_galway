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7" r:id="rId2"/>
    <p:sldId id="268" r:id="rId3"/>
    <p:sldId id="259" r:id="rId4"/>
    <p:sldId id="260" r:id="rId5"/>
    <p:sldId id="261" r:id="rId6"/>
    <p:sldId id="263" r:id="rId7"/>
    <p:sldId id="264" r:id="rId8"/>
    <p:sldId id="265" r:id="rId9"/>
    <p:sldId id="266" r:id="rId10"/>
    <p:sldId id="267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08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B0F42F-C5E2-47F5-89C7-D426F35122D9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7A1DCA-D5F9-4E60-B3C7-EADB2AD019C7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3</a:t>
            </a:fld>
            <a:endParaRPr lang="en-GB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4</a:t>
            </a:fld>
            <a:endParaRPr lang="en-GB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5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7A1DCA-D5F9-4E60-B3C7-EADB2AD019C7}" type="slidenum">
              <a:rPr lang="en-GB" smtClean="0"/>
              <a:pPr/>
              <a:t>10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E063AF2-6460-4FD6-A024-D92A86E26BBD}" type="datetimeFigureOut">
              <a:rPr lang="en-US" smtClean="0"/>
              <a:pPr/>
              <a:t>11/10/2009</a:t>
            </a:fld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D0A8E3B7-7967-4B48-A42C-693D71A67B0C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3.bin"/><Relationship Id="rId5" Type="http://schemas.openxmlformats.org/officeDocument/2006/relationships/oleObject" Target="../embeddings/oleObject2.bin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7.bin"/><Relationship Id="rId5" Type="http://schemas.openxmlformats.org/officeDocument/2006/relationships/oleObject" Target="../embeddings/oleObject6.bin"/><Relationship Id="rId4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oleObject" Target="../embeddings/oleObject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oleObject" Target="../embeddings/oleObject10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oleObject" Target="../embeddings/oleObject1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4" Type="http://schemas.openxmlformats.org/officeDocument/2006/relationships/oleObject" Target="../embeddings/oleObject12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oleObject" Target="../embeddings/oleObject13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4" Type="http://schemas.openxmlformats.org/officeDocument/2006/relationships/oleObject" Target="../embeddings/oleObject1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1285860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Express as percentages:</a:t>
            </a:r>
            <a:endParaRPr lang="en-GB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785786" y="2143116"/>
            <a:ext cx="7858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1) </a:t>
            </a:r>
            <a:r>
              <a:rPr lang="en-GB" sz="3200" dirty="0" smtClean="0"/>
              <a:t> </a:t>
            </a:r>
            <a:r>
              <a:rPr lang="en-GB" sz="3200" dirty="0" smtClean="0"/>
              <a:t>5.65</a:t>
            </a:r>
            <a:r>
              <a:rPr lang="en-GB" sz="3200" dirty="0" smtClean="0"/>
              <a:t>	</a:t>
            </a:r>
            <a:r>
              <a:rPr lang="en-GB" sz="3200" dirty="0" smtClean="0"/>
              <a:t>2</a:t>
            </a:r>
            <a:r>
              <a:rPr lang="en-GB" sz="3200" dirty="0" smtClean="0"/>
              <a:t>) </a:t>
            </a:r>
            <a:r>
              <a:rPr lang="en-GB" sz="3200" dirty="0" smtClean="0"/>
              <a:t>11 </a:t>
            </a:r>
            <a:r>
              <a:rPr lang="en-GB" sz="3200" dirty="0" smtClean="0"/>
              <a:t>out of </a:t>
            </a:r>
            <a:r>
              <a:rPr lang="en-GB" sz="3200" dirty="0" smtClean="0"/>
              <a:t>67</a:t>
            </a:r>
            <a:r>
              <a:rPr lang="en-GB" sz="3200" dirty="0" smtClean="0"/>
              <a:t>	</a:t>
            </a:r>
            <a:r>
              <a:rPr lang="en-GB" sz="3200" dirty="0" smtClean="0"/>
              <a:t>3</a:t>
            </a:r>
            <a:r>
              <a:rPr lang="en-GB" sz="3200" dirty="0" smtClean="0"/>
              <a:t>) </a:t>
            </a:r>
            <a:r>
              <a:rPr lang="en-GB" sz="3200" dirty="0" smtClean="0"/>
              <a:t>0.0098 </a:t>
            </a:r>
            <a:endParaRPr lang="en-GB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2928934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Change to fraction:</a:t>
            </a:r>
            <a:endParaRPr lang="en-GB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857224" y="3571876"/>
            <a:ext cx="7858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1) </a:t>
            </a:r>
            <a:r>
              <a:rPr lang="en-GB" sz="3200" dirty="0" smtClean="0"/>
              <a:t>34</a:t>
            </a:r>
            <a:r>
              <a:rPr lang="en-GB" sz="3200" dirty="0" smtClean="0"/>
              <a:t>%</a:t>
            </a:r>
            <a:r>
              <a:rPr lang="en-GB" sz="3200" dirty="0" smtClean="0"/>
              <a:t>	2) </a:t>
            </a:r>
            <a:r>
              <a:rPr lang="en-GB" sz="3200" dirty="0" smtClean="0"/>
              <a:t>238 </a:t>
            </a:r>
            <a:r>
              <a:rPr lang="en-GB" sz="3200" dirty="0" smtClean="0"/>
              <a:t>%		3) </a:t>
            </a:r>
            <a:r>
              <a:rPr lang="en-GB" sz="3200" dirty="0" smtClean="0"/>
              <a:t>0.7</a:t>
            </a:r>
            <a:r>
              <a:rPr lang="en-GB" sz="3200" dirty="0" smtClean="0"/>
              <a:t>% </a:t>
            </a:r>
            <a:endParaRPr lang="en-GB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571472" y="4214818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Change to Decimal:</a:t>
            </a:r>
            <a:endParaRPr lang="en-GB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928662" y="5000636"/>
            <a:ext cx="7858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1) </a:t>
            </a:r>
            <a:r>
              <a:rPr lang="en-GB" sz="3200" dirty="0" smtClean="0"/>
              <a:t>45</a:t>
            </a:r>
            <a:r>
              <a:rPr lang="en-GB" sz="3200" dirty="0" smtClean="0"/>
              <a:t>%</a:t>
            </a:r>
            <a:r>
              <a:rPr lang="en-GB" sz="3200" dirty="0" smtClean="0"/>
              <a:t>	2) </a:t>
            </a:r>
            <a:r>
              <a:rPr lang="en-GB" sz="3200" dirty="0" smtClean="0"/>
              <a:t>794 </a:t>
            </a:r>
            <a:r>
              <a:rPr lang="en-GB" sz="3200" dirty="0" smtClean="0"/>
              <a:t>%		3) </a:t>
            </a:r>
            <a:r>
              <a:rPr lang="en-GB" sz="3200" dirty="0" smtClean="0"/>
              <a:t>2.52</a:t>
            </a:r>
            <a:r>
              <a:rPr lang="en-GB" sz="3200" dirty="0" smtClean="0"/>
              <a:t>% 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Questions</a:t>
            </a:r>
            <a:endParaRPr lang="en-GB" dirty="0"/>
          </a:p>
        </p:txBody>
      </p:sp>
      <p:sp>
        <p:nvSpPr>
          <p:cNvPr id="4" name="TextBox 3"/>
          <p:cNvSpPr txBox="1"/>
          <p:nvPr/>
        </p:nvSpPr>
        <p:spPr>
          <a:xfrm>
            <a:off x="285720" y="1285860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Express as percentages:</a:t>
            </a:r>
            <a:endParaRPr lang="en-GB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785786" y="2143116"/>
            <a:ext cx="7858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1) </a:t>
            </a:r>
            <a:r>
              <a:rPr lang="en-GB" sz="3200" dirty="0" smtClean="0"/>
              <a:t>565%</a:t>
            </a:r>
            <a:r>
              <a:rPr lang="en-GB" sz="3200" dirty="0" smtClean="0"/>
              <a:t>	</a:t>
            </a:r>
            <a:r>
              <a:rPr lang="en-GB" sz="3200" dirty="0" smtClean="0"/>
              <a:t>	2</a:t>
            </a:r>
            <a:r>
              <a:rPr lang="en-GB" sz="3200" dirty="0" smtClean="0"/>
              <a:t>) </a:t>
            </a:r>
            <a:r>
              <a:rPr lang="en-GB" sz="3200" dirty="0" smtClean="0"/>
              <a:t>16.42%</a:t>
            </a:r>
            <a:r>
              <a:rPr lang="en-GB" sz="3200" dirty="0" smtClean="0"/>
              <a:t>	</a:t>
            </a:r>
            <a:r>
              <a:rPr lang="en-GB" sz="3200" dirty="0" smtClean="0"/>
              <a:t>3</a:t>
            </a:r>
            <a:r>
              <a:rPr lang="en-GB" sz="3200" dirty="0" smtClean="0"/>
              <a:t>) </a:t>
            </a:r>
            <a:r>
              <a:rPr lang="en-GB" sz="3200" dirty="0" smtClean="0"/>
              <a:t>0.98% </a:t>
            </a:r>
            <a:endParaRPr lang="en-GB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357158" y="2928934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Change to fraction:</a:t>
            </a:r>
            <a:endParaRPr lang="en-GB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857224" y="3571876"/>
            <a:ext cx="7858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1) </a:t>
            </a:r>
            <a:r>
              <a:rPr lang="en-GB" sz="3200" dirty="0" smtClean="0"/>
              <a:t>17/50</a:t>
            </a:r>
            <a:r>
              <a:rPr lang="en-GB" sz="3200" dirty="0" smtClean="0"/>
              <a:t>	</a:t>
            </a:r>
            <a:r>
              <a:rPr lang="en-GB" sz="3200" dirty="0" smtClean="0"/>
              <a:t>	2</a:t>
            </a:r>
            <a:r>
              <a:rPr lang="en-GB" sz="3200" dirty="0" smtClean="0"/>
              <a:t>) </a:t>
            </a:r>
            <a:r>
              <a:rPr lang="en-GB" sz="3200" dirty="0" smtClean="0"/>
              <a:t>119/50</a:t>
            </a:r>
            <a:r>
              <a:rPr lang="en-GB" sz="3200" dirty="0" smtClean="0"/>
              <a:t>	</a:t>
            </a:r>
            <a:r>
              <a:rPr lang="en-GB" sz="3200" dirty="0" smtClean="0"/>
              <a:t>3</a:t>
            </a:r>
            <a:r>
              <a:rPr lang="en-GB" sz="3200" dirty="0" smtClean="0"/>
              <a:t>) </a:t>
            </a:r>
            <a:r>
              <a:rPr lang="en-GB" sz="3200" dirty="0" smtClean="0"/>
              <a:t>7/1000</a:t>
            </a:r>
            <a:endParaRPr lang="en-GB" sz="3200" dirty="0"/>
          </a:p>
        </p:txBody>
      </p:sp>
      <p:sp>
        <p:nvSpPr>
          <p:cNvPr id="8" name="TextBox 7"/>
          <p:cNvSpPr txBox="1"/>
          <p:nvPr/>
        </p:nvSpPr>
        <p:spPr>
          <a:xfrm>
            <a:off x="571472" y="4214818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Change to Decimal:</a:t>
            </a:r>
            <a:endParaRPr lang="en-GB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928662" y="5000636"/>
            <a:ext cx="78581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 smtClean="0"/>
              <a:t>1) </a:t>
            </a:r>
            <a:r>
              <a:rPr lang="en-GB" sz="3200" dirty="0" smtClean="0"/>
              <a:t>0.</a:t>
            </a:r>
            <a:r>
              <a:rPr lang="en-GB" sz="3200" dirty="0" smtClean="0"/>
              <a:t>45</a:t>
            </a:r>
            <a:r>
              <a:rPr lang="en-GB" sz="3200" dirty="0" smtClean="0"/>
              <a:t>	</a:t>
            </a:r>
            <a:r>
              <a:rPr lang="en-GB" sz="3200" dirty="0" smtClean="0"/>
              <a:t>	2</a:t>
            </a:r>
            <a:r>
              <a:rPr lang="en-GB" sz="3200" dirty="0" smtClean="0"/>
              <a:t>) </a:t>
            </a:r>
            <a:r>
              <a:rPr lang="en-GB" sz="3200" dirty="0" smtClean="0"/>
              <a:t>7.94 </a:t>
            </a:r>
            <a:r>
              <a:rPr lang="en-GB" sz="3200" dirty="0" smtClean="0"/>
              <a:t>		3) </a:t>
            </a:r>
            <a:r>
              <a:rPr lang="en-GB" sz="3200" dirty="0" smtClean="0"/>
              <a:t>0.0252 </a:t>
            </a:r>
            <a:endParaRPr lang="en-GB"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en-GB" dirty="0" smtClean="0"/>
              <a:t>Percentage profit/loss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857232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/>
              <a:t>a </a:t>
            </a:r>
            <a:r>
              <a:rPr lang="en-GB" sz="2800" b="1" dirty="0" err="1"/>
              <a:t>Tinnie</a:t>
            </a:r>
            <a:r>
              <a:rPr lang="en-GB" sz="2800" b="1" dirty="0"/>
              <a:t>, bought for $345 and sold for $</a:t>
            </a:r>
            <a:r>
              <a:rPr lang="en-GB" sz="2800" b="1" dirty="0" smtClean="0"/>
              <a:t>454</a:t>
            </a:r>
          </a:p>
          <a:p>
            <a:endParaRPr lang="en-GB" sz="2800" b="1" dirty="0"/>
          </a:p>
          <a:p>
            <a:endParaRPr lang="en-GB" sz="2800" b="1" dirty="0" smtClean="0"/>
          </a:p>
          <a:p>
            <a:endParaRPr lang="en-GB" sz="2800" b="1" dirty="0" smtClean="0"/>
          </a:p>
          <a:p>
            <a:endParaRPr lang="en-GB" sz="2800" b="1" dirty="0"/>
          </a:p>
          <a:p>
            <a:endParaRPr lang="en-GB" sz="2800" b="1" dirty="0" smtClean="0"/>
          </a:p>
          <a:p>
            <a:endParaRPr lang="en-GB" sz="2800" b="1" dirty="0"/>
          </a:p>
          <a:p>
            <a:r>
              <a:rPr lang="en-GB" sz="2800" b="1" dirty="0"/>
              <a:t>b Waterbed, bought for $350 and sold for $</a:t>
            </a:r>
            <a:r>
              <a:rPr lang="en-GB" sz="2800" b="1" dirty="0" smtClean="0"/>
              <a:t>320</a:t>
            </a:r>
            <a:endParaRPr lang="en-GB" sz="28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0" y="1350946"/>
            <a:ext cx="4214842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Difference= 454 -345</a:t>
            </a:r>
          </a:p>
          <a:p>
            <a:r>
              <a:rPr lang="en-GB" sz="2800" dirty="0"/>
              <a:t>	</a:t>
            </a:r>
            <a:r>
              <a:rPr lang="en-GB" sz="2800" dirty="0" smtClean="0"/>
              <a:t>    = $109</a:t>
            </a:r>
            <a:r>
              <a:rPr lang="en-GB" dirty="0" smtClean="0"/>
              <a:t>	</a:t>
            </a:r>
            <a:endParaRPr lang="en-GB" dirty="0"/>
          </a:p>
        </p:txBody>
      </p:sp>
      <p:grpSp>
        <p:nvGrpSpPr>
          <p:cNvPr id="10" name="Group 9"/>
          <p:cNvGrpSpPr/>
          <p:nvPr/>
        </p:nvGrpSpPr>
        <p:grpSpPr>
          <a:xfrm>
            <a:off x="4357654" y="1350946"/>
            <a:ext cx="4786346" cy="2246769"/>
            <a:chOff x="4357654" y="2214554"/>
            <a:chExt cx="4786346" cy="2246769"/>
          </a:xfrm>
        </p:grpSpPr>
        <p:grpSp>
          <p:nvGrpSpPr>
            <p:cNvPr id="8" name="Group 7"/>
            <p:cNvGrpSpPr/>
            <p:nvPr/>
          </p:nvGrpSpPr>
          <p:grpSpPr>
            <a:xfrm>
              <a:off x="4357654" y="2214554"/>
              <a:ext cx="4786346" cy="2246769"/>
              <a:chOff x="4286216" y="2143116"/>
              <a:chExt cx="4786346" cy="2246769"/>
            </a:xfrm>
          </p:grpSpPr>
          <p:sp>
            <p:nvSpPr>
              <p:cNvPr id="6" name="TextBox 5"/>
              <p:cNvSpPr txBox="1"/>
              <p:nvPr/>
            </p:nvSpPr>
            <p:spPr>
              <a:xfrm>
                <a:off x="4286216" y="2143116"/>
                <a:ext cx="4786346" cy="2246769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 smtClean="0"/>
                  <a:t>percentage=</a:t>
                </a:r>
              </a:p>
              <a:p>
                <a:endParaRPr lang="en-GB" sz="2800" dirty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	=</a:t>
                </a:r>
              </a:p>
              <a:p>
                <a:endParaRPr lang="en-GB" sz="2800" dirty="0" smtClean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profit=31.59%</a:t>
                </a:r>
                <a:r>
                  <a:rPr lang="en-GB" sz="2800" dirty="0"/>
                  <a:t>	</a:t>
                </a:r>
                <a:endParaRPr lang="en-GB" dirty="0"/>
              </a:p>
            </p:txBody>
          </p:sp>
          <p:graphicFrame>
            <p:nvGraphicFramePr>
              <p:cNvPr id="7" name="Object 6"/>
              <p:cNvGraphicFramePr>
                <a:graphicFrameLocks noChangeAspect="1"/>
              </p:cNvGraphicFramePr>
              <p:nvPr/>
            </p:nvGraphicFramePr>
            <p:xfrm>
              <a:off x="6542087" y="2214554"/>
              <a:ext cx="2530475" cy="889000"/>
            </p:xfrm>
            <a:graphic>
              <a:graphicData uri="http://schemas.openxmlformats.org/presentationml/2006/ole">
                <p:oleObj spid="_x0000_s1027" name="Equation" r:id="rId4" imgW="1193760" imgH="419040" progId="Equation.3">
                  <p:embed/>
                </p:oleObj>
              </a:graphicData>
            </a:graphic>
          </p:graphicFrame>
        </p:grpSp>
        <p:graphicFrame>
          <p:nvGraphicFramePr>
            <p:cNvPr id="9" name="Object 8"/>
            <p:cNvGraphicFramePr>
              <a:graphicFrameLocks noChangeAspect="1"/>
            </p:cNvGraphicFramePr>
            <p:nvPr/>
          </p:nvGraphicFramePr>
          <p:xfrm>
            <a:off x="6572264" y="3071810"/>
            <a:ext cx="1292225" cy="835025"/>
          </p:xfrm>
          <a:graphic>
            <a:graphicData uri="http://schemas.openxmlformats.org/presentationml/2006/ole">
              <p:oleObj spid="_x0000_s1028" name="Equation" r:id="rId5" imgW="609480" imgH="393480" progId="Equation.3">
                <p:embed/>
              </p:oleObj>
            </a:graphicData>
          </a:graphic>
        </p:graphicFrame>
      </p:grpSp>
      <p:sp>
        <p:nvSpPr>
          <p:cNvPr id="11" name="TextBox 10"/>
          <p:cNvSpPr txBox="1"/>
          <p:nvPr/>
        </p:nvSpPr>
        <p:spPr>
          <a:xfrm>
            <a:off x="500034" y="2422516"/>
            <a:ext cx="2786050" cy="800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profit= $109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4429132"/>
            <a:ext cx="4214842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Difference	= 350 -320</a:t>
            </a:r>
          </a:p>
          <a:p>
            <a:r>
              <a:rPr lang="en-GB" sz="2800" dirty="0"/>
              <a:t>	</a:t>
            </a:r>
            <a:r>
              <a:rPr lang="en-GB" sz="2800" dirty="0" smtClean="0"/>
              <a:t>    	= $39</a:t>
            </a:r>
            <a:r>
              <a:rPr lang="en-GB" dirty="0" smtClean="0"/>
              <a:t>	</a:t>
            </a:r>
            <a:endParaRPr lang="en-GB" dirty="0"/>
          </a:p>
        </p:txBody>
      </p:sp>
      <p:grpSp>
        <p:nvGrpSpPr>
          <p:cNvPr id="13" name="Group 12"/>
          <p:cNvGrpSpPr/>
          <p:nvPr/>
        </p:nvGrpSpPr>
        <p:grpSpPr>
          <a:xfrm>
            <a:off x="4357654" y="4429132"/>
            <a:ext cx="4786346" cy="2246769"/>
            <a:chOff x="4357654" y="2214554"/>
            <a:chExt cx="4786346" cy="2246769"/>
          </a:xfrm>
        </p:grpSpPr>
        <p:grpSp>
          <p:nvGrpSpPr>
            <p:cNvPr id="14" name="Group 7"/>
            <p:cNvGrpSpPr/>
            <p:nvPr/>
          </p:nvGrpSpPr>
          <p:grpSpPr>
            <a:xfrm>
              <a:off x="4357654" y="2214554"/>
              <a:ext cx="4786346" cy="2246769"/>
              <a:chOff x="4286216" y="2143116"/>
              <a:chExt cx="4786346" cy="2246769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4286216" y="2143116"/>
                <a:ext cx="4786346" cy="2246769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 smtClean="0"/>
                  <a:t>percentage=</a:t>
                </a:r>
              </a:p>
              <a:p>
                <a:endParaRPr lang="en-GB" sz="2800" dirty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	=</a:t>
                </a:r>
              </a:p>
              <a:p>
                <a:endParaRPr lang="en-GB" sz="2800" dirty="0" smtClean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loss	</a:t>
                </a:r>
                <a:r>
                  <a:rPr lang="en-GB" sz="2800" smtClean="0"/>
                  <a:t>=8.57</a:t>
                </a:r>
                <a:r>
                  <a:rPr lang="en-GB" sz="2800" dirty="0" smtClean="0"/>
                  <a:t>%</a:t>
                </a:r>
                <a:r>
                  <a:rPr lang="en-GB" sz="2800" dirty="0"/>
                  <a:t>	</a:t>
                </a:r>
                <a:endParaRPr lang="en-GB" dirty="0"/>
              </a:p>
            </p:txBody>
          </p:sp>
          <p:graphicFrame>
            <p:nvGraphicFramePr>
              <p:cNvPr id="17" name="Object 16"/>
              <p:cNvGraphicFramePr>
                <a:graphicFrameLocks noChangeAspect="1"/>
              </p:cNvGraphicFramePr>
              <p:nvPr/>
            </p:nvGraphicFramePr>
            <p:xfrm>
              <a:off x="6542087" y="2214554"/>
              <a:ext cx="2530475" cy="889000"/>
            </p:xfrm>
            <a:graphic>
              <a:graphicData uri="http://schemas.openxmlformats.org/presentationml/2006/ole">
                <p:oleObj spid="_x0000_s1029" name="Equation" r:id="rId6" imgW="1193760" imgH="419040" progId="Equation.3">
                  <p:embed/>
                </p:oleObj>
              </a:graphicData>
            </a:graphic>
          </p:graphicFrame>
        </p:grpSp>
        <p:graphicFrame>
          <p:nvGraphicFramePr>
            <p:cNvPr id="15" name="Object 14"/>
            <p:cNvGraphicFramePr>
              <a:graphicFrameLocks noChangeAspect="1"/>
            </p:cNvGraphicFramePr>
            <p:nvPr/>
          </p:nvGraphicFramePr>
          <p:xfrm>
            <a:off x="6572264" y="3071810"/>
            <a:ext cx="1292225" cy="835025"/>
          </p:xfrm>
          <a:graphic>
            <a:graphicData uri="http://schemas.openxmlformats.org/presentationml/2006/ole">
              <p:oleObj spid="_x0000_s1030" name="Equation" r:id="rId7" imgW="609480" imgH="393480" progId="Equation.3">
                <p:embed/>
              </p:oleObj>
            </a:graphicData>
          </a:graphic>
        </p:graphicFrame>
      </p:grpSp>
      <p:sp>
        <p:nvSpPr>
          <p:cNvPr id="18" name="TextBox 17"/>
          <p:cNvSpPr txBox="1"/>
          <p:nvPr/>
        </p:nvSpPr>
        <p:spPr>
          <a:xfrm>
            <a:off x="500034" y="5500702"/>
            <a:ext cx="2786050" cy="800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Loss	= $30</a:t>
            </a:r>
            <a:r>
              <a:rPr lang="en-GB" dirty="0" smtClean="0"/>
              <a:t>	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2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b="1" dirty="0" smtClean="0"/>
              <a:t>c Computer desk, bought for $520 and sold for $680</a:t>
            </a:r>
          </a:p>
          <a:p>
            <a:endParaRPr lang="en-GB" sz="2800" b="1" dirty="0"/>
          </a:p>
          <a:p>
            <a:endParaRPr lang="en-GB" sz="2800" b="1" dirty="0" smtClean="0"/>
          </a:p>
          <a:p>
            <a:endParaRPr lang="en-GB" sz="2800" b="1" dirty="0" smtClean="0"/>
          </a:p>
          <a:p>
            <a:endParaRPr lang="en-GB" sz="2800" b="1" dirty="0" smtClean="0"/>
          </a:p>
          <a:p>
            <a:endParaRPr lang="en-GB" sz="2800" b="1" dirty="0" smtClean="0"/>
          </a:p>
          <a:p>
            <a:endParaRPr lang="en-GB" sz="2800" b="1" dirty="0"/>
          </a:p>
          <a:p>
            <a:r>
              <a:rPr lang="en-GB" sz="2800" b="1" dirty="0" smtClean="0"/>
              <a:t>d Tripod, bought for $80 and sold for $68</a:t>
            </a:r>
          </a:p>
          <a:p>
            <a:endParaRPr lang="en-GB" sz="2800" b="1" dirty="0" smtClean="0"/>
          </a:p>
          <a:p>
            <a:endParaRPr lang="en-GB" sz="2800" b="1" dirty="0"/>
          </a:p>
          <a:p>
            <a:endParaRPr lang="en-GB" sz="2800" b="1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0" y="857232"/>
            <a:ext cx="4214842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Difference= 680 -520</a:t>
            </a:r>
          </a:p>
          <a:p>
            <a:r>
              <a:rPr lang="en-GB" sz="2800" dirty="0"/>
              <a:t>	</a:t>
            </a:r>
            <a:r>
              <a:rPr lang="en-GB" sz="2800" dirty="0" smtClean="0"/>
              <a:t>    = $160</a:t>
            </a:r>
            <a:r>
              <a:rPr lang="en-GB" dirty="0" smtClean="0"/>
              <a:t>	</a:t>
            </a:r>
            <a:endParaRPr lang="en-GB" dirty="0"/>
          </a:p>
        </p:txBody>
      </p:sp>
      <p:grpSp>
        <p:nvGrpSpPr>
          <p:cNvPr id="6" name="Group 5"/>
          <p:cNvGrpSpPr/>
          <p:nvPr/>
        </p:nvGrpSpPr>
        <p:grpSpPr>
          <a:xfrm>
            <a:off x="4357654" y="857232"/>
            <a:ext cx="4786346" cy="2246769"/>
            <a:chOff x="4357654" y="2214554"/>
            <a:chExt cx="4786346" cy="2246769"/>
          </a:xfrm>
        </p:grpSpPr>
        <p:grpSp>
          <p:nvGrpSpPr>
            <p:cNvPr id="7" name="Group 7"/>
            <p:cNvGrpSpPr/>
            <p:nvPr/>
          </p:nvGrpSpPr>
          <p:grpSpPr>
            <a:xfrm>
              <a:off x="4357654" y="2214554"/>
              <a:ext cx="4786346" cy="2246769"/>
              <a:chOff x="4286216" y="2143116"/>
              <a:chExt cx="4786346" cy="2246769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4286216" y="2143116"/>
                <a:ext cx="4786346" cy="2246769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 smtClean="0"/>
                  <a:t>percentage=</a:t>
                </a:r>
              </a:p>
              <a:p>
                <a:endParaRPr lang="en-GB" sz="2800" dirty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	=</a:t>
                </a:r>
              </a:p>
              <a:p>
                <a:endParaRPr lang="en-GB" sz="2800" dirty="0" smtClean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profit=30.77%</a:t>
                </a:r>
                <a:r>
                  <a:rPr lang="en-GB" sz="2800" dirty="0"/>
                  <a:t>	</a:t>
                </a:r>
                <a:endParaRPr lang="en-GB" dirty="0"/>
              </a:p>
            </p:txBody>
          </p:sp>
          <p:graphicFrame>
            <p:nvGraphicFramePr>
              <p:cNvPr id="10" name="Object 9"/>
              <p:cNvGraphicFramePr>
                <a:graphicFrameLocks noChangeAspect="1"/>
              </p:cNvGraphicFramePr>
              <p:nvPr/>
            </p:nvGraphicFramePr>
            <p:xfrm>
              <a:off x="6542087" y="2214554"/>
              <a:ext cx="2530475" cy="889000"/>
            </p:xfrm>
            <a:graphic>
              <a:graphicData uri="http://schemas.openxmlformats.org/presentationml/2006/ole">
                <p:oleObj spid="_x0000_s2050" name="Equation" r:id="rId4" imgW="1193760" imgH="419040" progId="Equation.3">
                  <p:embed/>
                </p:oleObj>
              </a:graphicData>
            </a:graphic>
          </p:graphicFrame>
        </p:grpSp>
        <p:graphicFrame>
          <p:nvGraphicFramePr>
            <p:cNvPr id="8" name="Object 7"/>
            <p:cNvGraphicFramePr>
              <a:graphicFrameLocks noChangeAspect="1"/>
            </p:cNvGraphicFramePr>
            <p:nvPr/>
          </p:nvGraphicFramePr>
          <p:xfrm>
            <a:off x="6572264" y="3071810"/>
            <a:ext cx="1292225" cy="835025"/>
          </p:xfrm>
          <a:graphic>
            <a:graphicData uri="http://schemas.openxmlformats.org/presentationml/2006/ole">
              <p:oleObj spid="_x0000_s2051" name="Equation" r:id="rId5" imgW="609480" imgH="393480" progId="Equation.3">
                <p:embed/>
              </p:oleObj>
            </a:graphicData>
          </a:graphic>
        </p:graphicFrame>
      </p:grpSp>
      <p:sp>
        <p:nvSpPr>
          <p:cNvPr id="11" name="TextBox 10"/>
          <p:cNvSpPr txBox="1"/>
          <p:nvPr/>
        </p:nvSpPr>
        <p:spPr>
          <a:xfrm>
            <a:off x="500034" y="1928802"/>
            <a:ext cx="2786050" cy="800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profit= $160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7158" y="4071942"/>
            <a:ext cx="4214842" cy="95410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Difference= 80 -68</a:t>
            </a:r>
          </a:p>
          <a:p>
            <a:r>
              <a:rPr lang="en-GB" sz="2800" dirty="0"/>
              <a:t>	</a:t>
            </a:r>
            <a:r>
              <a:rPr lang="en-GB" sz="2800" dirty="0" smtClean="0"/>
              <a:t>    = $12</a:t>
            </a:r>
            <a:r>
              <a:rPr lang="en-GB" dirty="0" smtClean="0"/>
              <a:t>	</a:t>
            </a:r>
            <a:endParaRPr lang="en-GB" dirty="0"/>
          </a:p>
        </p:txBody>
      </p:sp>
      <p:grpSp>
        <p:nvGrpSpPr>
          <p:cNvPr id="14" name="Group 13"/>
          <p:cNvGrpSpPr/>
          <p:nvPr/>
        </p:nvGrpSpPr>
        <p:grpSpPr>
          <a:xfrm>
            <a:off x="4714812" y="4071942"/>
            <a:ext cx="4786346" cy="2246769"/>
            <a:chOff x="4357654" y="2214554"/>
            <a:chExt cx="4786346" cy="2246769"/>
          </a:xfrm>
        </p:grpSpPr>
        <p:grpSp>
          <p:nvGrpSpPr>
            <p:cNvPr id="15" name="Group 7"/>
            <p:cNvGrpSpPr/>
            <p:nvPr/>
          </p:nvGrpSpPr>
          <p:grpSpPr>
            <a:xfrm>
              <a:off x="4357654" y="2214554"/>
              <a:ext cx="4786346" cy="2246769"/>
              <a:chOff x="4286216" y="2143116"/>
              <a:chExt cx="4786346" cy="2246769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4286216" y="2143116"/>
                <a:ext cx="4786346" cy="2246769"/>
              </a:xfrm>
              <a:prstGeom prst="rect">
                <a:avLst/>
              </a:prstGeom>
              <a:solidFill>
                <a:srgbClr val="00B050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 smtClean="0"/>
                  <a:t>percentage=</a:t>
                </a:r>
              </a:p>
              <a:p>
                <a:endParaRPr lang="en-GB" sz="2800" dirty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	=</a:t>
                </a:r>
              </a:p>
              <a:p>
                <a:endParaRPr lang="en-GB" sz="2800" dirty="0" smtClean="0"/>
              </a:p>
              <a:p>
                <a:r>
                  <a:rPr lang="en-GB" sz="2800" dirty="0"/>
                  <a:t>	</a:t>
                </a:r>
                <a:r>
                  <a:rPr lang="en-GB" sz="2800" dirty="0" smtClean="0"/>
                  <a:t>loss	=15%</a:t>
                </a:r>
                <a:r>
                  <a:rPr lang="en-GB" sz="2800" dirty="0"/>
                  <a:t>	</a:t>
                </a:r>
                <a:endParaRPr lang="en-GB" dirty="0"/>
              </a:p>
            </p:txBody>
          </p:sp>
          <p:graphicFrame>
            <p:nvGraphicFramePr>
              <p:cNvPr id="18" name="Object 17"/>
              <p:cNvGraphicFramePr>
                <a:graphicFrameLocks noChangeAspect="1"/>
              </p:cNvGraphicFramePr>
              <p:nvPr/>
            </p:nvGraphicFramePr>
            <p:xfrm>
              <a:off x="6542087" y="2214554"/>
              <a:ext cx="2530475" cy="889000"/>
            </p:xfrm>
            <a:graphic>
              <a:graphicData uri="http://schemas.openxmlformats.org/presentationml/2006/ole">
                <p:oleObj spid="_x0000_s2052" name="Equation" r:id="rId6" imgW="1193760" imgH="419040" progId="Equation.3">
                  <p:embed/>
                </p:oleObj>
              </a:graphicData>
            </a:graphic>
          </p:graphicFrame>
        </p:grpSp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6651655" y="3071800"/>
            <a:ext cx="1131887" cy="835025"/>
          </p:xfrm>
          <a:graphic>
            <a:graphicData uri="http://schemas.openxmlformats.org/presentationml/2006/ole">
              <p:oleObj spid="_x0000_s2053" name="Equation" r:id="rId7" imgW="533160" imgH="393480" progId="Equation.3">
                <p:embed/>
              </p:oleObj>
            </a:graphicData>
          </a:graphic>
        </p:graphicFrame>
      </p:grpSp>
      <p:sp>
        <p:nvSpPr>
          <p:cNvPr id="19" name="TextBox 18"/>
          <p:cNvSpPr txBox="1"/>
          <p:nvPr/>
        </p:nvSpPr>
        <p:spPr>
          <a:xfrm>
            <a:off x="857192" y="5143512"/>
            <a:ext cx="2786050" cy="80021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Loss	= $12</a:t>
            </a:r>
            <a:r>
              <a:rPr lang="en-GB" dirty="0" smtClean="0"/>
              <a:t>	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  <p:bldP spid="13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57290" y="4214818"/>
            <a:ext cx="6000792" cy="224676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</a:t>
            </a:r>
            <a:r>
              <a:rPr lang="en-GB" sz="2800" dirty="0" smtClean="0"/>
              <a:t>price	= 180% of $150</a:t>
            </a:r>
          </a:p>
          <a:p>
            <a:r>
              <a:rPr lang="en-GB" sz="2800" dirty="0" smtClean="0"/>
              <a:t> </a:t>
            </a:r>
            <a:r>
              <a:rPr lang="en-GB" sz="2800" dirty="0" smtClean="0"/>
              <a:t>	</a:t>
            </a: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lang="en-GB" sz="2800" dirty="0" smtClean="0"/>
              <a:t>                  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	</a:t>
            </a:r>
            <a:r>
              <a:rPr lang="en-GB" sz="2800" dirty="0" smtClean="0"/>
              <a:t>x 150</a:t>
            </a:r>
          </a:p>
          <a:p>
            <a:r>
              <a:rPr lang="en-GB" sz="2800" dirty="0" smtClean="0"/>
              <a:t>				     </a:t>
            </a:r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</a:t>
            </a:r>
            <a:r>
              <a:rPr lang="en-GB" sz="2800" dirty="0" smtClean="0"/>
              <a:t>= </a:t>
            </a:r>
            <a:r>
              <a:rPr lang="en-GB" sz="2800" dirty="0" smtClean="0"/>
              <a:t>$270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GB" dirty="0" smtClean="0"/>
              <a:t>Mark up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4291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An antiques shop uses a mark up of 80%. For what prices does it sell the following items?</a:t>
            </a:r>
          </a:p>
          <a:p>
            <a:pPr marL="457200" indent="-457200">
              <a:buAutoNum type="alphaLcParenBoth"/>
            </a:pPr>
            <a:r>
              <a:rPr lang="en-GB" sz="2400" b="1" dirty="0" smtClean="0"/>
              <a:t>Table </a:t>
            </a:r>
            <a:r>
              <a:rPr lang="en-GB" sz="2400" b="1" dirty="0" smtClean="0"/>
              <a:t>bought for $150 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857364"/>
            <a:ext cx="8572560" cy="138499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price percentage = 100% + mark up%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 100 + 80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180%</a:t>
            </a:r>
            <a:r>
              <a:rPr lang="en-GB" sz="2800" dirty="0" smtClean="0"/>
              <a:t>	 </a:t>
            </a:r>
            <a:r>
              <a:rPr lang="en-GB" sz="2800" dirty="0"/>
              <a:t>	</a:t>
            </a:r>
            <a:endParaRPr lang="en-GB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29124" y="4786322"/>
          <a:ext cx="1071570" cy="1073366"/>
        </p:xfrm>
        <a:graphic>
          <a:graphicData uri="http://schemas.openxmlformats.org/presentationml/2006/ole">
            <p:oleObj spid="_x0000_s21507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57290" y="4214818"/>
            <a:ext cx="6000792" cy="224676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</a:t>
            </a:r>
            <a:r>
              <a:rPr lang="en-GB" sz="2800" dirty="0" smtClean="0"/>
              <a:t>price	= 130% of $85</a:t>
            </a:r>
          </a:p>
          <a:p>
            <a:r>
              <a:rPr lang="en-GB" sz="2800" dirty="0" smtClean="0"/>
              <a:t> </a:t>
            </a:r>
            <a:r>
              <a:rPr lang="en-GB" sz="2800" dirty="0" smtClean="0"/>
              <a:t>	</a:t>
            </a: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lang="en-GB" sz="2800" dirty="0" smtClean="0"/>
              <a:t>                  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	</a:t>
            </a:r>
            <a:r>
              <a:rPr lang="en-GB" sz="2800" dirty="0" smtClean="0"/>
              <a:t>x 85</a:t>
            </a:r>
          </a:p>
          <a:p>
            <a:r>
              <a:rPr lang="en-GB" sz="2800" dirty="0" smtClean="0"/>
              <a:t>				     </a:t>
            </a:r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</a:t>
            </a:r>
            <a:r>
              <a:rPr lang="en-GB" sz="2800" dirty="0" smtClean="0"/>
              <a:t>= $</a:t>
            </a:r>
            <a:r>
              <a:rPr lang="en-GB" sz="2800" dirty="0" smtClean="0"/>
              <a:t>110.50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GB" dirty="0" smtClean="0"/>
              <a:t>Mark up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4291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An antiques shop uses a mark up of </a:t>
            </a:r>
            <a:r>
              <a:rPr lang="en-GB" sz="2400" dirty="0" smtClean="0"/>
              <a:t>30</a:t>
            </a:r>
            <a:r>
              <a:rPr lang="en-GB" sz="2400" dirty="0" smtClean="0"/>
              <a:t>%. For what prices does it sell the following items?</a:t>
            </a:r>
          </a:p>
          <a:p>
            <a:pPr marL="457200" indent="-457200">
              <a:buAutoNum type="alphaLcParenBoth"/>
            </a:pPr>
            <a:r>
              <a:rPr lang="en-GB" sz="2400" b="1" dirty="0" smtClean="0"/>
              <a:t>hat </a:t>
            </a:r>
            <a:r>
              <a:rPr lang="en-GB" sz="2400" b="1" dirty="0" smtClean="0"/>
              <a:t>bought for </a:t>
            </a:r>
            <a:r>
              <a:rPr lang="en-GB" sz="2400" b="1" dirty="0" smtClean="0"/>
              <a:t>$</a:t>
            </a:r>
            <a:r>
              <a:rPr lang="en-GB" sz="2400" b="1" dirty="0" smtClean="0"/>
              <a:t>8</a:t>
            </a:r>
            <a:r>
              <a:rPr lang="en-GB" sz="2400" b="1" dirty="0" smtClean="0"/>
              <a:t>5</a:t>
            </a:r>
            <a:r>
              <a:rPr lang="en-GB" sz="2400" b="1" dirty="0" smtClean="0"/>
              <a:t> </a:t>
            </a:r>
            <a:r>
              <a:rPr lang="en-GB" sz="2400" b="1" dirty="0" smtClean="0"/>
              <a:t>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857364"/>
            <a:ext cx="8572560" cy="138499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price percentage = 100% + mark up%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 100 + 30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130%</a:t>
            </a:r>
            <a:r>
              <a:rPr lang="en-GB" sz="2800" dirty="0" smtClean="0"/>
              <a:t>	 </a:t>
            </a:r>
            <a:r>
              <a:rPr lang="en-GB" sz="2800" dirty="0"/>
              <a:t>	</a:t>
            </a:r>
            <a:endParaRPr lang="en-GB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29124" y="4786322"/>
          <a:ext cx="1071570" cy="1073366"/>
        </p:xfrm>
        <a:graphic>
          <a:graphicData uri="http://schemas.openxmlformats.org/presentationml/2006/ole">
            <p:oleObj spid="_x0000_s23554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57290" y="4214818"/>
            <a:ext cx="6000792" cy="224676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</a:t>
            </a:r>
            <a:r>
              <a:rPr lang="en-GB" sz="2800" dirty="0" smtClean="0"/>
              <a:t>price	= 30% of $210</a:t>
            </a:r>
          </a:p>
          <a:p>
            <a:r>
              <a:rPr lang="en-GB" sz="2800" dirty="0" smtClean="0"/>
              <a:t> </a:t>
            </a:r>
            <a:r>
              <a:rPr lang="en-GB" sz="2800" dirty="0" smtClean="0"/>
              <a:t>	</a:t>
            </a: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lang="en-GB" sz="2800" dirty="0" smtClean="0"/>
              <a:t>                  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	</a:t>
            </a:r>
            <a:r>
              <a:rPr lang="en-GB" sz="2800" dirty="0" smtClean="0"/>
              <a:t>x 210</a:t>
            </a:r>
          </a:p>
          <a:p>
            <a:r>
              <a:rPr lang="en-GB" sz="2800" dirty="0" smtClean="0"/>
              <a:t>				     </a:t>
            </a:r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</a:t>
            </a:r>
            <a:r>
              <a:rPr lang="en-GB" sz="2800" dirty="0" smtClean="0"/>
              <a:t>= $81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GB" dirty="0" smtClean="0"/>
              <a:t>discount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4291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A shop is having a sale and discounts dresses by 70</a:t>
            </a:r>
            <a:r>
              <a:rPr lang="en-GB" sz="2400" dirty="0" smtClean="0"/>
              <a:t>%. For what prices does it sell the following items?</a:t>
            </a:r>
          </a:p>
          <a:p>
            <a:pPr marL="457200" indent="-457200">
              <a:buAutoNum type="alphaLcParenBoth"/>
            </a:pPr>
            <a:r>
              <a:rPr lang="en-GB" sz="2400" b="1" dirty="0" smtClean="0"/>
              <a:t>dress marked originally for $210 </a:t>
            </a:r>
            <a:r>
              <a:rPr lang="en-GB" sz="2400" b="1" dirty="0" smtClean="0"/>
              <a:t>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857364"/>
            <a:ext cx="8572560" cy="138499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price percentage = 100% - discount%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 100 - 70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30%</a:t>
            </a:r>
            <a:r>
              <a:rPr lang="en-GB" sz="2800" dirty="0" smtClean="0"/>
              <a:t>	 </a:t>
            </a:r>
            <a:r>
              <a:rPr lang="en-GB" sz="2800" dirty="0"/>
              <a:t>	</a:t>
            </a:r>
            <a:endParaRPr lang="en-GB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29124" y="4786322"/>
          <a:ext cx="1071570" cy="1073366"/>
        </p:xfrm>
        <a:graphic>
          <a:graphicData uri="http://schemas.openxmlformats.org/presentationml/2006/ole">
            <p:oleObj spid="_x0000_s24578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357290" y="4214818"/>
            <a:ext cx="6000792" cy="224676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</a:t>
            </a:r>
            <a:r>
              <a:rPr lang="en-GB" sz="2800" dirty="0" smtClean="0"/>
              <a:t>price	= 77% of $160</a:t>
            </a:r>
          </a:p>
          <a:p>
            <a:r>
              <a:rPr lang="en-GB" sz="2800" dirty="0" smtClean="0"/>
              <a:t> </a:t>
            </a:r>
            <a:r>
              <a:rPr lang="en-GB" sz="2800" dirty="0" smtClean="0"/>
              <a:t>	</a:t>
            </a: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lang="en-GB" sz="2800" dirty="0" smtClean="0"/>
              <a:t>                  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	</a:t>
            </a:r>
            <a:r>
              <a:rPr lang="en-GB" sz="2800" dirty="0" smtClean="0"/>
              <a:t>x 160</a:t>
            </a:r>
          </a:p>
          <a:p>
            <a:r>
              <a:rPr lang="en-GB" sz="2800" dirty="0" smtClean="0"/>
              <a:t>				     </a:t>
            </a:r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</a:t>
            </a:r>
            <a:r>
              <a:rPr lang="en-GB" sz="2800" dirty="0" smtClean="0"/>
              <a:t>= $123.20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GB" dirty="0" smtClean="0"/>
              <a:t>discount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4291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A shop is having a sale and discounts </a:t>
            </a:r>
            <a:r>
              <a:rPr lang="en-GB" sz="2400" dirty="0" smtClean="0"/>
              <a:t>Jeans </a:t>
            </a:r>
            <a:r>
              <a:rPr lang="en-GB" sz="2400" dirty="0" smtClean="0"/>
              <a:t>by </a:t>
            </a:r>
            <a:r>
              <a:rPr lang="en-GB" sz="2400" dirty="0" smtClean="0"/>
              <a:t>23%. </a:t>
            </a:r>
            <a:r>
              <a:rPr lang="en-GB" sz="2400" dirty="0" smtClean="0"/>
              <a:t>For what prices does it sell the following items?</a:t>
            </a:r>
          </a:p>
          <a:p>
            <a:pPr marL="457200" indent="-457200">
              <a:buAutoNum type="alphaLcParenBoth"/>
            </a:pPr>
            <a:r>
              <a:rPr lang="en-GB" sz="2400" b="1" dirty="0" smtClean="0"/>
              <a:t>Jeans</a:t>
            </a:r>
            <a:r>
              <a:rPr lang="en-GB" sz="2400" b="1" dirty="0" smtClean="0"/>
              <a:t> marked originally for $160 </a:t>
            </a:r>
            <a:r>
              <a:rPr lang="en-GB" sz="2400" b="1" dirty="0" smtClean="0"/>
              <a:t>	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857364"/>
            <a:ext cx="8572560" cy="1384995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Selling price percentage = 100% - discount%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100 - 23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     = 77%</a:t>
            </a:r>
            <a:r>
              <a:rPr lang="en-GB" sz="2800" dirty="0" smtClean="0"/>
              <a:t>	 </a:t>
            </a:r>
            <a:r>
              <a:rPr lang="en-GB" sz="2800" dirty="0"/>
              <a:t>	</a:t>
            </a:r>
            <a:endParaRPr lang="en-GB" dirty="0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4429124" y="4786322"/>
          <a:ext cx="1071570" cy="1073366"/>
        </p:xfrm>
        <a:graphic>
          <a:graphicData uri="http://schemas.openxmlformats.org/presentationml/2006/ole">
            <p:oleObj spid="_x0000_s25602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4214818"/>
            <a:ext cx="8501090" cy="224676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Weekly pay</a:t>
            </a:r>
            <a:r>
              <a:rPr lang="en-GB" sz="2800" dirty="0" smtClean="0"/>
              <a:t> </a:t>
            </a:r>
            <a:r>
              <a:rPr lang="en-GB" sz="2800" dirty="0" smtClean="0"/>
              <a:t>  		</a:t>
            </a:r>
            <a:r>
              <a:rPr lang="en-GB" sz="2800" dirty="0" smtClean="0"/>
              <a:t>= Wage + commission</a:t>
            </a:r>
          </a:p>
          <a:p>
            <a:endParaRPr lang="en-GB" sz="2800" dirty="0" smtClean="0"/>
          </a:p>
          <a:p>
            <a:r>
              <a:rPr lang="en-GB" sz="2800" dirty="0" smtClean="0"/>
              <a:t> </a:t>
            </a:r>
            <a:r>
              <a:rPr lang="en-GB" sz="2800" dirty="0" smtClean="0"/>
              <a:t>	</a:t>
            </a: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lang="en-GB" sz="2800" dirty="0" smtClean="0"/>
              <a:t> 		</a:t>
            </a:r>
            <a:r>
              <a:rPr lang="en-GB" sz="2800" dirty="0" smtClean="0"/>
              <a:t>= </a:t>
            </a:r>
            <a:r>
              <a:rPr lang="en-GB" sz="2800" dirty="0" smtClean="0"/>
              <a:t>130   + </a:t>
            </a:r>
            <a:r>
              <a:rPr lang="en-GB" sz="2800" dirty="0" smtClean="0"/>
              <a:t>7500</a:t>
            </a:r>
            <a:endParaRPr lang="en-GB" sz="2800" dirty="0" smtClean="0"/>
          </a:p>
          <a:p>
            <a:r>
              <a:rPr lang="en-GB" sz="2800" dirty="0" smtClean="0"/>
              <a:t>				     </a:t>
            </a:r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	</a:t>
            </a:r>
            <a:r>
              <a:rPr lang="en-GB" sz="2800" dirty="0" smtClean="0"/>
              <a:t>= $7630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GB" dirty="0" smtClean="0"/>
              <a:t>Commission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4291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A </a:t>
            </a:r>
            <a:r>
              <a:rPr lang="en-GB" sz="2400" dirty="0" smtClean="0"/>
              <a:t>car salesperson earns $130 per week plus 15% commission on sales.</a:t>
            </a:r>
            <a:r>
              <a:rPr lang="en-GB" sz="2400" dirty="0" smtClean="0"/>
              <a:t> </a:t>
            </a:r>
            <a:r>
              <a:rPr lang="en-GB" sz="2400" dirty="0" smtClean="0"/>
              <a:t>How much does the salesperson make in a week if he sells $ 50,000 worth of cars?</a:t>
            </a:r>
            <a:endParaRPr lang="en-GB" sz="24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0" y="1857364"/>
            <a:ext cx="8572560" cy="224676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Commission 		= 15% of sales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=	    x 50000 </a:t>
            </a:r>
          </a:p>
          <a:p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	= $7500</a:t>
            </a:r>
            <a:r>
              <a:rPr lang="en-GB" sz="2800" dirty="0" smtClean="0"/>
              <a:t>	 </a:t>
            </a:r>
            <a:r>
              <a:rPr lang="en-GB" sz="2800" dirty="0"/>
              <a:t>	</a:t>
            </a:r>
            <a:endParaRPr lang="en-GB" dirty="0"/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4143372" y="2357430"/>
          <a:ext cx="785818" cy="858836"/>
        </p:xfrm>
        <a:graphic>
          <a:graphicData uri="http://schemas.openxmlformats.org/presentationml/2006/ole">
            <p:oleObj spid="_x0000_s26627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0" y="4214818"/>
            <a:ext cx="8501090" cy="2246769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Weekly pay</a:t>
            </a:r>
            <a:r>
              <a:rPr lang="en-GB" sz="2800" dirty="0" smtClean="0"/>
              <a:t> </a:t>
            </a:r>
            <a:r>
              <a:rPr lang="en-GB" sz="2800" dirty="0" smtClean="0"/>
              <a:t>  		</a:t>
            </a:r>
            <a:r>
              <a:rPr lang="en-GB" sz="2800" dirty="0" smtClean="0"/>
              <a:t>= Wage + commission</a:t>
            </a:r>
          </a:p>
          <a:p>
            <a:endParaRPr lang="en-GB" sz="2800" dirty="0" smtClean="0"/>
          </a:p>
          <a:p>
            <a:r>
              <a:rPr lang="en-GB" sz="2800" dirty="0" smtClean="0"/>
              <a:t> </a:t>
            </a:r>
            <a:r>
              <a:rPr lang="en-GB" sz="2800" dirty="0" smtClean="0"/>
              <a:t>	</a:t>
            </a:r>
            <a:r>
              <a:rPr lang="en-GB" sz="2800" dirty="0"/>
              <a:t>	</a:t>
            </a:r>
            <a:r>
              <a:rPr lang="en-GB" sz="2800" dirty="0" smtClean="0"/>
              <a:t>   </a:t>
            </a:r>
            <a:r>
              <a:rPr lang="en-GB" sz="2800" dirty="0" smtClean="0"/>
              <a:t> 		= 940 + 1500</a:t>
            </a:r>
          </a:p>
          <a:p>
            <a:r>
              <a:rPr lang="en-GB" sz="2800" dirty="0" smtClean="0"/>
              <a:t>				     </a:t>
            </a:r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	</a:t>
            </a:r>
            <a:r>
              <a:rPr lang="en-GB" sz="2800" dirty="0" smtClean="0"/>
              <a:t>= $2440</a:t>
            </a:r>
            <a:r>
              <a:rPr lang="en-GB" dirty="0" smtClean="0"/>
              <a:t>	</a:t>
            </a:r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28596" y="-142900"/>
            <a:ext cx="8229600" cy="1143000"/>
          </a:xfrm>
        </p:spPr>
        <p:txBody>
          <a:bodyPr/>
          <a:lstStyle/>
          <a:p>
            <a:r>
              <a:rPr lang="en-GB" dirty="0" smtClean="0"/>
              <a:t>Commission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642918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 smtClean="0"/>
              <a:t>A </a:t>
            </a:r>
            <a:r>
              <a:rPr lang="en-GB" sz="2400" dirty="0" smtClean="0"/>
              <a:t>car salesperson earns $940 per week plus 3% commission on sales.</a:t>
            </a:r>
            <a:r>
              <a:rPr lang="en-GB" sz="2400" dirty="0" smtClean="0"/>
              <a:t> </a:t>
            </a:r>
            <a:r>
              <a:rPr lang="en-GB" sz="2400" dirty="0" smtClean="0"/>
              <a:t>How much does the salesperson make in a week if he sells $ 50,000 worth of cars?</a:t>
            </a:r>
            <a:endParaRPr lang="en-GB" sz="24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0" y="1857364"/>
            <a:ext cx="8572560" cy="2246769"/>
          </a:xfrm>
          <a:prstGeom prst="rect">
            <a:avLst/>
          </a:prstGeom>
          <a:solidFill>
            <a:srgbClr val="00B050"/>
          </a:solidFill>
        </p:spPr>
        <p:txBody>
          <a:bodyPr wrap="square" rtlCol="0">
            <a:spAutoFit/>
          </a:bodyPr>
          <a:lstStyle/>
          <a:p>
            <a:r>
              <a:rPr lang="en-GB" sz="2800" dirty="0" smtClean="0"/>
              <a:t>Commission 		= 3 % of sales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</a:t>
            </a:r>
          </a:p>
          <a:p>
            <a:r>
              <a:rPr lang="en-GB" sz="2800" dirty="0" smtClean="0"/>
              <a:t>	</a:t>
            </a:r>
            <a:r>
              <a:rPr lang="en-GB" sz="2800" dirty="0" smtClean="0"/>
              <a:t>			=	    x 50000 </a:t>
            </a:r>
          </a:p>
          <a:p>
            <a:endParaRPr lang="en-GB" sz="2800" dirty="0" smtClean="0"/>
          </a:p>
          <a:p>
            <a:r>
              <a:rPr lang="en-GB" sz="2800" dirty="0" smtClean="0"/>
              <a:t>	</a:t>
            </a:r>
            <a:r>
              <a:rPr lang="en-GB" sz="2800" dirty="0" smtClean="0"/>
              <a:t>			= $1500</a:t>
            </a:r>
            <a:r>
              <a:rPr lang="en-GB" sz="2800" dirty="0" smtClean="0"/>
              <a:t>	 </a:t>
            </a:r>
            <a:r>
              <a:rPr lang="en-GB" sz="2800" dirty="0"/>
              <a:t>	</a:t>
            </a:r>
            <a:endParaRPr lang="en-GB" dirty="0"/>
          </a:p>
        </p:txBody>
      </p:sp>
      <p:graphicFrame>
        <p:nvGraphicFramePr>
          <p:cNvPr id="26627" name="Object 3"/>
          <p:cNvGraphicFramePr>
            <a:graphicFrameLocks noChangeAspect="1"/>
          </p:cNvGraphicFramePr>
          <p:nvPr/>
        </p:nvGraphicFramePr>
        <p:xfrm>
          <a:off x="4143372" y="2357430"/>
          <a:ext cx="785818" cy="858836"/>
        </p:xfrm>
        <a:graphic>
          <a:graphicData uri="http://schemas.openxmlformats.org/presentationml/2006/ole">
            <p:oleObj spid="_x0000_s27650" name="Equation" r:id="rId4" imgW="279360" imgH="393480" progId="Equation.3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193</TotalTime>
  <Words>374</Words>
  <Application>Microsoft Office PowerPoint</Application>
  <PresentationFormat>On-screen Show (4:3)</PresentationFormat>
  <Paragraphs>142</Paragraphs>
  <Slides>10</Slides>
  <Notes>10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Concourse</vt:lpstr>
      <vt:lpstr>Equation</vt:lpstr>
      <vt:lpstr>Microsoft Equation 3.0</vt:lpstr>
      <vt:lpstr>Questions</vt:lpstr>
      <vt:lpstr>Questions</vt:lpstr>
      <vt:lpstr>Percentage profit/loss</vt:lpstr>
      <vt:lpstr>Slide 4</vt:lpstr>
      <vt:lpstr>Mark up</vt:lpstr>
      <vt:lpstr>Mark up</vt:lpstr>
      <vt:lpstr>discount</vt:lpstr>
      <vt:lpstr>discount</vt:lpstr>
      <vt:lpstr>Commission</vt:lpstr>
      <vt:lpstr>Commission</vt:lpstr>
    </vt:vector>
  </TitlesOfParts>
  <Company>TOSHIBA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Questions</dc:title>
  <dc:creator>Murdo</dc:creator>
  <cp:lastModifiedBy>Murdo</cp:lastModifiedBy>
  <cp:revision>6</cp:revision>
  <dcterms:created xsi:type="dcterms:W3CDTF">2009-11-09T01:30:45Z</dcterms:created>
  <dcterms:modified xsi:type="dcterms:W3CDTF">2009-11-10T07:31:02Z</dcterms:modified>
</cp:coreProperties>
</file>