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1" r:id="rId4"/>
    <p:sldId id="262" r:id="rId5"/>
    <p:sldId id="259" r:id="rId6"/>
    <p:sldId id="260" r:id="rId7"/>
    <p:sldId id="263" r:id="rId8"/>
    <p:sldId id="264" r:id="rId9"/>
    <p:sldId id="265" r:id="rId10"/>
    <p:sldId id="269" r:id="rId11"/>
    <p:sldId id="266" r:id="rId12"/>
    <p:sldId id="267" r:id="rId13"/>
    <p:sldId id="268" r:id="rId14"/>
    <p:sldId id="271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05" autoAdjust="0"/>
    <p:restoredTop sz="94660"/>
  </p:normalViewPr>
  <p:slideViewPr>
    <p:cSldViewPr>
      <p:cViewPr varScale="1">
        <p:scale>
          <a:sx n="111" d="100"/>
          <a:sy n="111" d="100"/>
        </p:scale>
        <p:origin x="-161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60C65-C7A5-41B4-8C6F-150023F7B62B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6CB374-5FB7-4C14-AA7D-B6AC7F730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281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B0EAC8EE-2224-4A5C-845A-9D6F32A06905}" type="slidenum">
              <a:rPr lang="en-US" sz="1200"/>
              <a:pPr algn="r" eaLnBrk="1" hangingPunct="1"/>
              <a:t>4</a:t>
            </a:fld>
            <a:endParaRPr 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CB374-5FB7-4C14-AA7D-B6AC7F73050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571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AC0E-51E8-4E41-8B67-3C3B1588E238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DFA5-32E1-45E8-B4F4-2EE8AC40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29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AC0E-51E8-4E41-8B67-3C3B1588E238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DFA5-32E1-45E8-B4F4-2EE8AC40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50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AC0E-51E8-4E41-8B67-3C3B1588E238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DFA5-32E1-45E8-B4F4-2EE8AC40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342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AC0E-51E8-4E41-8B67-3C3B1588E238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DFA5-32E1-45E8-B4F4-2EE8AC40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56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AC0E-51E8-4E41-8B67-3C3B1588E238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DFA5-32E1-45E8-B4F4-2EE8AC40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87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AC0E-51E8-4E41-8B67-3C3B1588E238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DFA5-32E1-45E8-B4F4-2EE8AC40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635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AC0E-51E8-4E41-8B67-3C3B1588E238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DFA5-32E1-45E8-B4F4-2EE8AC40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7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AC0E-51E8-4E41-8B67-3C3B1588E238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DFA5-32E1-45E8-B4F4-2EE8AC40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610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AC0E-51E8-4E41-8B67-3C3B1588E238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DFA5-32E1-45E8-B4F4-2EE8AC40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20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AC0E-51E8-4E41-8B67-3C3B1588E238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DFA5-32E1-45E8-B4F4-2EE8AC40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0835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AC0E-51E8-4E41-8B67-3C3B1588E238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FDFA5-32E1-45E8-B4F4-2EE8AC40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67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9AC0E-51E8-4E41-8B67-3C3B1588E238}" type="datetimeFigureOut">
              <a:rPr lang="en-GB" smtClean="0"/>
              <a:t>13/05/2013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FDFA5-32E1-45E8-B4F4-2EE8AC40ED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92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628800"/>
            <a:ext cx="7772400" cy="1470025"/>
          </a:xfrm>
        </p:spPr>
        <p:txBody>
          <a:bodyPr>
            <a:noAutofit/>
          </a:bodyPr>
          <a:lstStyle/>
          <a:p>
            <a:r>
              <a:rPr lang="en-GB" sz="9600" dirty="0" smtClean="0">
                <a:latin typeface="Comic Sans MS" pitchFamily="66" charset="0"/>
              </a:rPr>
              <a:t>Surface Area</a:t>
            </a:r>
            <a:endParaRPr lang="en-GB" sz="9600" dirty="0">
              <a:latin typeface="Comic Sans MS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>
                <a:solidFill>
                  <a:srgbClr val="FF0000"/>
                </a:solidFill>
                <a:latin typeface="Comic Sans MS" pitchFamily="66" charset="0"/>
              </a:rPr>
              <a:t>Learning Intentions:</a:t>
            </a:r>
          </a:p>
          <a:p>
            <a:r>
              <a:rPr lang="en-GB" dirty="0" smtClean="0">
                <a:solidFill>
                  <a:srgbClr val="FF0000"/>
                </a:solidFill>
                <a:latin typeface="Comic Sans MS" pitchFamily="66" charset="0"/>
              </a:rPr>
              <a:t>To be able to calculate the surface area of cubes and cuboids</a:t>
            </a:r>
            <a:endParaRPr lang="en-GB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93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32" y="44624"/>
            <a:ext cx="8229600" cy="1143000"/>
          </a:xfrm>
        </p:spPr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Starter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7624" y="1844824"/>
            <a:ext cx="2520280" cy="1008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5580112" y="1772816"/>
            <a:ext cx="1260140" cy="10081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Isosceles Triangle 6"/>
          <p:cNvSpPr/>
          <p:nvPr/>
        </p:nvSpPr>
        <p:spPr>
          <a:xfrm>
            <a:off x="5689627" y="3933056"/>
            <a:ext cx="1656184" cy="1584176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Isosceles Triangle 7"/>
          <p:cNvSpPr/>
          <p:nvPr/>
        </p:nvSpPr>
        <p:spPr>
          <a:xfrm>
            <a:off x="1547664" y="3933056"/>
            <a:ext cx="2520280" cy="1584176"/>
          </a:xfrm>
          <a:prstGeom prst="triangle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2159732" y="2988423"/>
            <a:ext cx="756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Comic Sans MS" pitchFamily="66" charset="0"/>
              </a:rPr>
              <a:t>6cm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7544" y="2111936"/>
            <a:ext cx="756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omic Sans MS" pitchFamily="66" charset="0"/>
              </a:rPr>
              <a:t>3</a:t>
            </a:r>
            <a:r>
              <a:rPr lang="en-GB" b="1" dirty="0" smtClean="0">
                <a:latin typeface="Comic Sans MS" pitchFamily="66" charset="0"/>
              </a:rPr>
              <a:t>cm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79891" y="2096722"/>
            <a:ext cx="756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Comic Sans MS" pitchFamily="66" charset="0"/>
              </a:rPr>
              <a:t>4</a:t>
            </a:r>
            <a:r>
              <a:rPr lang="en-GB" b="1" dirty="0">
                <a:latin typeface="Comic Sans MS" pitchFamily="66" charset="0"/>
              </a:rPr>
              <a:t>m</a:t>
            </a:r>
            <a:r>
              <a:rPr lang="en-GB" b="1" dirty="0" smtClean="0">
                <a:latin typeface="Comic Sans MS" pitchFamily="66" charset="0"/>
              </a:rPr>
              <a:t>m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04148" y="2800658"/>
            <a:ext cx="756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Comic Sans MS" pitchFamily="66" charset="0"/>
              </a:rPr>
              <a:t>4</a:t>
            </a:r>
            <a:r>
              <a:rPr lang="en-GB" b="1" dirty="0">
                <a:latin typeface="Comic Sans MS" pitchFamily="66" charset="0"/>
              </a:rPr>
              <a:t>m</a:t>
            </a:r>
            <a:r>
              <a:rPr lang="en-GB" b="1" dirty="0" smtClean="0">
                <a:latin typeface="Comic Sans MS" pitchFamily="66" charset="0"/>
              </a:rPr>
              <a:t>m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65691" y="5588527"/>
            <a:ext cx="756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Comic Sans MS" pitchFamily="66" charset="0"/>
              </a:rPr>
              <a:t>6m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97539" y="4560208"/>
            <a:ext cx="756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Comic Sans MS" pitchFamily="66" charset="0"/>
              </a:rPr>
              <a:t>7m</a:t>
            </a:r>
            <a:endParaRPr lang="en-GB" b="1" dirty="0">
              <a:latin typeface="Comic Sans MS" pitchFamily="66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5617619" y="3933056"/>
            <a:ext cx="0" cy="1584176"/>
          </a:xfrm>
          <a:prstGeom prst="straightConnector1">
            <a:avLst/>
          </a:prstGeom>
          <a:ln w="381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0381" y="4509120"/>
            <a:ext cx="756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Comic Sans MS" pitchFamily="66" charset="0"/>
              </a:rPr>
              <a:t>6cm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80923" y="5672876"/>
            <a:ext cx="756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Comic Sans MS" pitchFamily="66" charset="0"/>
              </a:rPr>
              <a:t>6cm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19672" y="1052736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Comic Sans MS" pitchFamily="66" charset="0"/>
              </a:rPr>
              <a:t>Calculate the area of the shapes below!</a:t>
            </a:r>
            <a:endParaRPr lang="en-GB" sz="2400" dirty="0">
              <a:latin typeface="Comic Sans MS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46675" y="3364428"/>
            <a:ext cx="160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  <a:latin typeface="Comic Sans MS" pitchFamily="66" charset="0"/>
              </a:rPr>
              <a:t>Area = 18cm</a:t>
            </a:r>
            <a:r>
              <a:rPr lang="en-GB" baseline="30000" dirty="0" smtClean="0">
                <a:solidFill>
                  <a:srgbClr val="FF0000"/>
                </a:solidFill>
                <a:latin typeface="Comic Sans MS" pitchFamily="66" charset="0"/>
              </a:rPr>
              <a:t>2</a:t>
            </a:r>
            <a:r>
              <a:rPr lang="en-GB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endParaRPr lang="en-GB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71979" y="3173089"/>
            <a:ext cx="231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  <a:latin typeface="Comic Sans MS" pitchFamily="66" charset="0"/>
              </a:rPr>
              <a:t>Area = 16mm</a:t>
            </a:r>
            <a:r>
              <a:rPr lang="en-GB" baseline="30000" dirty="0" smtClean="0">
                <a:solidFill>
                  <a:srgbClr val="FF0000"/>
                </a:solidFill>
                <a:latin typeface="Comic Sans MS" pitchFamily="66" charset="0"/>
              </a:rPr>
              <a:t>2</a:t>
            </a:r>
            <a:r>
              <a:rPr lang="en-GB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endParaRPr lang="en-GB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73678" y="6042208"/>
            <a:ext cx="160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  <a:latin typeface="Comic Sans MS" pitchFamily="66" charset="0"/>
              </a:rPr>
              <a:t>Area = 18cm</a:t>
            </a:r>
            <a:r>
              <a:rPr lang="en-GB" baseline="30000" dirty="0" smtClean="0">
                <a:solidFill>
                  <a:srgbClr val="FF0000"/>
                </a:solidFill>
                <a:latin typeface="Comic Sans MS" pitchFamily="66" charset="0"/>
              </a:rPr>
              <a:t>2</a:t>
            </a:r>
            <a:r>
              <a:rPr lang="en-GB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endParaRPr lang="en-GB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24128" y="5996933"/>
            <a:ext cx="160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  <a:latin typeface="Comic Sans MS" pitchFamily="66" charset="0"/>
              </a:rPr>
              <a:t>Area = 21m</a:t>
            </a:r>
            <a:r>
              <a:rPr lang="en-GB" baseline="30000" dirty="0" smtClean="0">
                <a:solidFill>
                  <a:srgbClr val="FF0000"/>
                </a:solidFill>
                <a:latin typeface="Comic Sans MS" pitchFamily="66" charset="0"/>
              </a:rPr>
              <a:t>2</a:t>
            </a:r>
            <a:r>
              <a:rPr lang="en-GB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endParaRPr lang="en-GB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54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21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Surface Area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If I unfolded a cube what would it look like?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Draw what you think it looks like on your mini-white boards.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179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4" name="Title 1"/>
          <p:cNvSpPr txBox="1">
            <a:spLocks/>
          </p:cNvSpPr>
          <p:nvPr/>
        </p:nvSpPr>
        <p:spPr bwMode="auto">
          <a:xfrm>
            <a:off x="441711" y="187994"/>
            <a:ext cx="8229601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GB" sz="2800" b="1" u="sng" dirty="0">
                <a:solidFill>
                  <a:schemeClr val="tx2"/>
                </a:solidFill>
              </a:rPr>
              <a:t>NETS OF </a:t>
            </a:r>
            <a:r>
              <a:rPr lang="en-GB" sz="2800" b="1" u="sng" dirty="0" smtClean="0">
                <a:solidFill>
                  <a:schemeClr val="tx2"/>
                </a:solidFill>
              </a:rPr>
              <a:t>CUBES</a:t>
            </a:r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5146" name="AutoShape 3"/>
          <p:cNvSpPr>
            <a:spLocks noChangeArrowheads="1"/>
          </p:cNvSpPr>
          <p:nvPr/>
        </p:nvSpPr>
        <p:spPr bwMode="auto">
          <a:xfrm>
            <a:off x="34925" y="1052513"/>
            <a:ext cx="1512888" cy="1296987"/>
          </a:xfrm>
          <a:prstGeom prst="cube">
            <a:avLst>
              <a:gd name="adj" fmla="val 25000"/>
            </a:avLst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7" name="Rectangle 4"/>
          <p:cNvSpPr>
            <a:spLocks noChangeArrowheads="1"/>
          </p:cNvSpPr>
          <p:nvPr/>
        </p:nvSpPr>
        <p:spPr bwMode="auto">
          <a:xfrm>
            <a:off x="2195513" y="1557338"/>
            <a:ext cx="431800" cy="431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8" name="Rectangle 5"/>
          <p:cNvSpPr>
            <a:spLocks noChangeArrowheads="1"/>
          </p:cNvSpPr>
          <p:nvPr/>
        </p:nvSpPr>
        <p:spPr bwMode="auto">
          <a:xfrm>
            <a:off x="1763713" y="1989138"/>
            <a:ext cx="431800" cy="431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9" name="Rectangle 6"/>
          <p:cNvSpPr>
            <a:spLocks noChangeArrowheads="1"/>
          </p:cNvSpPr>
          <p:nvPr/>
        </p:nvSpPr>
        <p:spPr bwMode="auto">
          <a:xfrm>
            <a:off x="2627313" y="1989138"/>
            <a:ext cx="431800" cy="431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0" name="Rectangle 7"/>
          <p:cNvSpPr>
            <a:spLocks noChangeArrowheads="1"/>
          </p:cNvSpPr>
          <p:nvPr/>
        </p:nvSpPr>
        <p:spPr bwMode="auto">
          <a:xfrm>
            <a:off x="2195513" y="2420938"/>
            <a:ext cx="431800" cy="431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1" name="Rectangle 8"/>
          <p:cNvSpPr>
            <a:spLocks noChangeArrowheads="1"/>
          </p:cNvSpPr>
          <p:nvPr/>
        </p:nvSpPr>
        <p:spPr bwMode="auto">
          <a:xfrm>
            <a:off x="2195513" y="2852738"/>
            <a:ext cx="431800" cy="431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2" name="Rectangle 9"/>
          <p:cNvSpPr>
            <a:spLocks noChangeArrowheads="1"/>
          </p:cNvSpPr>
          <p:nvPr/>
        </p:nvSpPr>
        <p:spPr bwMode="auto">
          <a:xfrm>
            <a:off x="2195513" y="1989138"/>
            <a:ext cx="431800" cy="431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3" name="Rectangle 10"/>
          <p:cNvSpPr>
            <a:spLocks noChangeArrowheads="1"/>
          </p:cNvSpPr>
          <p:nvPr/>
        </p:nvSpPr>
        <p:spPr bwMode="auto">
          <a:xfrm>
            <a:off x="3563938" y="299720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4" name="Rectangle 11"/>
          <p:cNvSpPr>
            <a:spLocks noChangeArrowheads="1"/>
          </p:cNvSpPr>
          <p:nvPr/>
        </p:nvSpPr>
        <p:spPr bwMode="auto">
          <a:xfrm>
            <a:off x="7885113" y="38623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5" name="Rectangle 12"/>
          <p:cNvSpPr>
            <a:spLocks noChangeArrowheads="1"/>
          </p:cNvSpPr>
          <p:nvPr/>
        </p:nvSpPr>
        <p:spPr bwMode="auto">
          <a:xfrm>
            <a:off x="7451725" y="34305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6" name="Rectangle 13"/>
          <p:cNvSpPr>
            <a:spLocks noChangeArrowheads="1"/>
          </p:cNvSpPr>
          <p:nvPr/>
        </p:nvSpPr>
        <p:spPr bwMode="auto">
          <a:xfrm>
            <a:off x="5580063" y="38623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7" name="Rectangle 14"/>
          <p:cNvSpPr>
            <a:spLocks noChangeArrowheads="1"/>
          </p:cNvSpPr>
          <p:nvPr/>
        </p:nvSpPr>
        <p:spPr bwMode="auto">
          <a:xfrm>
            <a:off x="1187450" y="42941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8" name="Rectangle 15"/>
          <p:cNvSpPr>
            <a:spLocks noChangeArrowheads="1"/>
          </p:cNvSpPr>
          <p:nvPr/>
        </p:nvSpPr>
        <p:spPr bwMode="auto">
          <a:xfrm>
            <a:off x="5580063" y="47259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9" name="Rectangle 16"/>
          <p:cNvSpPr>
            <a:spLocks noChangeArrowheads="1"/>
          </p:cNvSpPr>
          <p:nvPr/>
        </p:nvSpPr>
        <p:spPr bwMode="auto">
          <a:xfrm>
            <a:off x="7019925" y="5300663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0" name="Rectangle 17"/>
          <p:cNvSpPr>
            <a:spLocks noChangeArrowheads="1"/>
          </p:cNvSpPr>
          <p:nvPr/>
        </p:nvSpPr>
        <p:spPr bwMode="auto">
          <a:xfrm>
            <a:off x="323850" y="38623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1" name="Rectangle 18"/>
          <p:cNvSpPr>
            <a:spLocks noChangeArrowheads="1"/>
          </p:cNvSpPr>
          <p:nvPr/>
        </p:nvSpPr>
        <p:spPr bwMode="auto">
          <a:xfrm>
            <a:off x="8243888" y="24209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2" name="Rectangle 19"/>
          <p:cNvSpPr>
            <a:spLocks noChangeArrowheads="1"/>
          </p:cNvSpPr>
          <p:nvPr/>
        </p:nvSpPr>
        <p:spPr bwMode="auto">
          <a:xfrm>
            <a:off x="7378700" y="19891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3" name="Rectangle 20"/>
          <p:cNvSpPr>
            <a:spLocks noChangeArrowheads="1"/>
          </p:cNvSpPr>
          <p:nvPr/>
        </p:nvSpPr>
        <p:spPr bwMode="auto">
          <a:xfrm>
            <a:off x="6154738" y="24209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4" name="Rectangle 21"/>
          <p:cNvSpPr>
            <a:spLocks noChangeArrowheads="1"/>
          </p:cNvSpPr>
          <p:nvPr/>
        </p:nvSpPr>
        <p:spPr bwMode="auto">
          <a:xfrm>
            <a:off x="4860925" y="15573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5" name="Rectangle 22"/>
          <p:cNvSpPr>
            <a:spLocks noChangeArrowheads="1"/>
          </p:cNvSpPr>
          <p:nvPr/>
        </p:nvSpPr>
        <p:spPr bwMode="auto">
          <a:xfrm>
            <a:off x="3994150" y="24209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6" name="Rectangle 23"/>
          <p:cNvSpPr>
            <a:spLocks noChangeArrowheads="1"/>
          </p:cNvSpPr>
          <p:nvPr/>
        </p:nvSpPr>
        <p:spPr bwMode="auto">
          <a:xfrm>
            <a:off x="4427538" y="28527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7" name="Rectangle 24"/>
          <p:cNvSpPr>
            <a:spLocks noChangeArrowheads="1"/>
          </p:cNvSpPr>
          <p:nvPr/>
        </p:nvSpPr>
        <p:spPr bwMode="auto">
          <a:xfrm>
            <a:off x="4427538" y="24209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8" name="Rectangle 25"/>
          <p:cNvSpPr>
            <a:spLocks noChangeArrowheads="1"/>
          </p:cNvSpPr>
          <p:nvPr/>
        </p:nvSpPr>
        <p:spPr bwMode="auto">
          <a:xfrm>
            <a:off x="4427538" y="19891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9" name="Rectangle 26"/>
          <p:cNvSpPr>
            <a:spLocks noChangeArrowheads="1"/>
          </p:cNvSpPr>
          <p:nvPr/>
        </p:nvSpPr>
        <p:spPr bwMode="auto">
          <a:xfrm>
            <a:off x="4427538" y="15573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70" name="Rectangle 28"/>
          <p:cNvSpPr>
            <a:spLocks noChangeArrowheads="1"/>
          </p:cNvSpPr>
          <p:nvPr/>
        </p:nvSpPr>
        <p:spPr bwMode="auto">
          <a:xfrm>
            <a:off x="7453313" y="5732463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71" name="Rectangle 29"/>
          <p:cNvSpPr>
            <a:spLocks noChangeArrowheads="1"/>
          </p:cNvSpPr>
          <p:nvPr/>
        </p:nvSpPr>
        <p:spPr bwMode="auto">
          <a:xfrm>
            <a:off x="2700338" y="42941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72" name="Rectangle 30"/>
          <p:cNvSpPr>
            <a:spLocks noChangeArrowheads="1"/>
          </p:cNvSpPr>
          <p:nvPr/>
        </p:nvSpPr>
        <p:spPr bwMode="auto">
          <a:xfrm>
            <a:off x="6154738" y="28527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73" name="Rectangle 31"/>
          <p:cNvSpPr>
            <a:spLocks noChangeArrowheads="1"/>
          </p:cNvSpPr>
          <p:nvPr/>
        </p:nvSpPr>
        <p:spPr bwMode="auto">
          <a:xfrm>
            <a:off x="5722938" y="15557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74" name="Rectangle 32"/>
          <p:cNvSpPr>
            <a:spLocks noChangeArrowheads="1"/>
          </p:cNvSpPr>
          <p:nvPr/>
        </p:nvSpPr>
        <p:spPr bwMode="auto">
          <a:xfrm>
            <a:off x="6154738" y="15557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75" name="Rectangle 33"/>
          <p:cNvSpPr>
            <a:spLocks noChangeArrowheads="1"/>
          </p:cNvSpPr>
          <p:nvPr/>
        </p:nvSpPr>
        <p:spPr bwMode="auto">
          <a:xfrm>
            <a:off x="6154738" y="19891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76" name="Rectangle 34"/>
          <p:cNvSpPr>
            <a:spLocks noChangeArrowheads="1"/>
          </p:cNvSpPr>
          <p:nvPr/>
        </p:nvSpPr>
        <p:spPr bwMode="auto">
          <a:xfrm>
            <a:off x="6586538" y="15557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77" name="Rectangle 35"/>
          <p:cNvSpPr>
            <a:spLocks noChangeArrowheads="1"/>
          </p:cNvSpPr>
          <p:nvPr/>
        </p:nvSpPr>
        <p:spPr bwMode="auto">
          <a:xfrm>
            <a:off x="7810500" y="24209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78" name="Rectangle 36"/>
          <p:cNvSpPr>
            <a:spLocks noChangeArrowheads="1"/>
          </p:cNvSpPr>
          <p:nvPr/>
        </p:nvSpPr>
        <p:spPr bwMode="auto">
          <a:xfrm>
            <a:off x="7810500" y="28527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79" name="Rectangle 37"/>
          <p:cNvSpPr>
            <a:spLocks noChangeArrowheads="1"/>
          </p:cNvSpPr>
          <p:nvPr/>
        </p:nvSpPr>
        <p:spPr bwMode="auto">
          <a:xfrm>
            <a:off x="7810500" y="15557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80" name="Rectangle 38"/>
          <p:cNvSpPr>
            <a:spLocks noChangeArrowheads="1"/>
          </p:cNvSpPr>
          <p:nvPr/>
        </p:nvSpPr>
        <p:spPr bwMode="auto">
          <a:xfrm>
            <a:off x="7810500" y="198913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81" name="Rectangle 39"/>
          <p:cNvSpPr>
            <a:spLocks noChangeArrowheads="1"/>
          </p:cNvSpPr>
          <p:nvPr/>
        </p:nvSpPr>
        <p:spPr bwMode="auto">
          <a:xfrm>
            <a:off x="3132138" y="38623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82" name="Rectangle 40"/>
          <p:cNvSpPr>
            <a:spLocks noChangeArrowheads="1"/>
          </p:cNvSpPr>
          <p:nvPr/>
        </p:nvSpPr>
        <p:spPr bwMode="auto">
          <a:xfrm>
            <a:off x="3132138" y="42941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83" name="Rectangle 41"/>
          <p:cNvSpPr>
            <a:spLocks noChangeArrowheads="1"/>
          </p:cNvSpPr>
          <p:nvPr/>
        </p:nvSpPr>
        <p:spPr bwMode="auto">
          <a:xfrm>
            <a:off x="3132138" y="299720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84" name="Rectangle 42"/>
          <p:cNvSpPr>
            <a:spLocks noChangeArrowheads="1"/>
          </p:cNvSpPr>
          <p:nvPr/>
        </p:nvSpPr>
        <p:spPr bwMode="auto">
          <a:xfrm>
            <a:off x="3132138" y="34305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85" name="Rectangle 43"/>
          <p:cNvSpPr>
            <a:spLocks noChangeArrowheads="1"/>
          </p:cNvSpPr>
          <p:nvPr/>
        </p:nvSpPr>
        <p:spPr bwMode="auto">
          <a:xfrm>
            <a:off x="5148263" y="38623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86" name="Rectangle 44"/>
          <p:cNvSpPr>
            <a:spLocks noChangeArrowheads="1"/>
          </p:cNvSpPr>
          <p:nvPr/>
        </p:nvSpPr>
        <p:spPr bwMode="auto">
          <a:xfrm>
            <a:off x="5580063" y="42941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87" name="Rectangle 45"/>
          <p:cNvSpPr>
            <a:spLocks noChangeArrowheads="1"/>
          </p:cNvSpPr>
          <p:nvPr/>
        </p:nvSpPr>
        <p:spPr bwMode="auto">
          <a:xfrm>
            <a:off x="5148263" y="299720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88" name="Rectangle 46"/>
          <p:cNvSpPr>
            <a:spLocks noChangeArrowheads="1"/>
          </p:cNvSpPr>
          <p:nvPr/>
        </p:nvSpPr>
        <p:spPr bwMode="auto">
          <a:xfrm>
            <a:off x="5148263" y="34305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89" name="Rectangle 47"/>
          <p:cNvSpPr>
            <a:spLocks noChangeArrowheads="1"/>
          </p:cNvSpPr>
          <p:nvPr/>
        </p:nvSpPr>
        <p:spPr bwMode="auto">
          <a:xfrm>
            <a:off x="7451725" y="38623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0" name="Rectangle 48"/>
          <p:cNvSpPr>
            <a:spLocks noChangeArrowheads="1"/>
          </p:cNvSpPr>
          <p:nvPr/>
        </p:nvSpPr>
        <p:spPr bwMode="auto">
          <a:xfrm>
            <a:off x="7451725" y="42941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1" name="Rectangle 49"/>
          <p:cNvSpPr>
            <a:spLocks noChangeArrowheads="1"/>
          </p:cNvSpPr>
          <p:nvPr/>
        </p:nvSpPr>
        <p:spPr bwMode="auto">
          <a:xfrm>
            <a:off x="7019925" y="299720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2" name="Rectangle 50"/>
          <p:cNvSpPr>
            <a:spLocks noChangeArrowheads="1"/>
          </p:cNvSpPr>
          <p:nvPr/>
        </p:nvSpPr>
        <p:spPr bwMode="auto">
          <a:xfrm>
            <a:off x="7019925" y="34305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3" name="Rectangle 51"/>
          <p:cNvSpPr>
            <a:spLocks noChangeArrowheads="1"/>
          </p:cNvSpPr>
          <p:nvPr/>
        </p:nvSpPr>
        <p:spPr bwMode="auto">
          <a:xfrm>
            <a:off x="755650" y="38623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4" name="Rectangle 52"/>
          <p:cNvSpPr>
            <a:spLocks noChangeArrowheads="1"/>
          </p:cNvSpPr>
          <p:nvPr/>
        </p:nvSpPr>
        <p:spPr bwMode="auto">
          <a:xfrm>
            <a:off x="755650" y="42941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5" name="Rectangle 53"/>
          <p:cNvSpPr>
            <a:spLocks noChangeArrowheads="1"/>
          </p:cNvSpPr>
          <p:nvPr/>
        </p:nvSpPr>
        <p:spPr bwMode="auto">
          <a:xfrm>
            <a:off x="755650" y="299720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6" name="Rectangle 54"/>
          <p:cNvSpPr>
            <a:spLocks noChangeArrowheads="1"/>
          </p:cNvSpPr>
          <p:nvPr/>
        </p:nvSpPr>
        <p:spPr bwMode="auto">
          <a:xfrm>
            <a:off x="755650" y="3430588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7" name="Rectangle 55"/>
          <p:cNvSpPr>
            <a:spLocks noChangeArrowheads="1"/>
          </p:cNvSpPr>
          <p:nvPr/>
        </p:nvSpPr>
        <p:spPr bwMode="auto">
          <a:xfrm>
            <a:off x="2051050" y="59499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8" name="Rectangle 56"/>
          <p:cNvSpPr>
            <a:spLocks noChangeArrowheads="1"/>
          </p:cNvSpPr>
          <p:nvPr/>
        </p:nvSpPr>
        <p:spPr bwMode="auto">
          <a:xfrm>
            <a:off x="2051050" y="63817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99" name="Rectangle 57"/>
          <p:cNvSpPr>
            <a:spLocks noChangeArrowheads="1"/>
          </p:cNvSpPr>
          <p:nvPr/>
        </p:nvSpPr>
        <p:spPr bwMode="auto">
          <a:xfrm>
            <a:off x="2484438" y="55181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00" name="Rectangle 58"/>
          <p:cNvSpPr>
            <a:spLocks noChangeArrowheads="1"/>
          </p:cNvSpPr>
          <p:nvPr/>
        </p:nvSpPr>
        <p:spPr bwMode="auto">
          <a:xfrm>
            <a:off x="2051050" y="55181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01" name="Rectangle 59"/>
          <p:cNvSpPr>
            <a:spLocks noChangeArrowheads="1"/>
          </p:cNvSpPr>
          <p:nvPr/>
        </p:nvSpPr>
        <p:spPr bwMode="auto">
          <a:xfrm>
            <a:off x="3779838" y="50863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02" name="Rectangle 60"/>
          <p:cNvSpPr>
            <a:spLocks noChangeArrowheads="1"/>
          </p:cNvSpPr>
          <p:nvPr/>
        </p:nvSpPr>
        <p:spPr bwMode="auto">
          <a:xfrm>
            <a:off x="4643438" y="63817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03" name="Rectangle 61"/>
          <p:cNvSpPr>
            <a:spLocks noChangeArrowheads="1"/>
          </p:cNvSpPr>
          <p:nvPr/>
        </p:nvSpPr>
        <p:spPr bwMode="auto">
          <a:xfrm>
            <a:off x="4211638" y="59499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04" name="Rectangle 62"/>
          <p:cNvSpPr>
            <a:spLocks noChangeArrowheads="1"/>
          </p:cNvSpPr>
          <p:nvPr/>
        </p:nvSpPr>
        <p:spPr bwMode="auto">
          <a:xfrm>
            <a:off x="4643438" y="59499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05" name="Rectangle 63"/>
          <p:cNvSpPr>
            <a:spLocks noChangeArrowheads="1"/>
          </p:cNvSpPr>
          <p:nvPr/>
        </p:nvSpPr>
        <p:spPr bwMode="auto">
          <a:xfrm>
            <a:off x="7453313" y="61658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06" name="Rectangle 64"/>
          <p:cNvSpPr>
            <a:spLocks noChangeArrowheads="1"/>
          </p:cNvSpPr>
          <p:nvPr/>
        </p:nvSpPr>
        <p:spPr bwMode="auto">
          <a:xfrm>
            <a:off x="7885113" y="61658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07" name="Rectangle 65"/>
          <p:cNvSpPr>
            <a:spLocks noChangeArrowheads="1"/>
          </p:cNvSpPr>
          <p:nvPr/>
        </p:nvSpPr>
        <p:spPr bwMode="auto">
          <a:xfrm>
            <a:off x="6588125" y="529907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08" name="Rectangle 66"/>
          <p:cNvSpPr>
            <a:spLocks noChangeArrowheads="1"/>
          </p:cNvSpPr>
          <p:nvPr/>
        </p:nvSpPr>
        <p:spPr bwMode="auto">
          <a:xfrm>
            <a:off x="7019925" y="5732463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09" name="Rectangle 67"/>
          <p:cNvSpPr>
            <a:spLocks noChangeArrowheads="1"/>
          </p:cNvSpPr>
          <p:nvPr/>
        </p:nvSpPr>
        <p:spPr bwMode="auto">
          <a:xfrm>
            <a:off x="1619250" y="50863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10" name="Rectangle 68"/>
          <p:cNvSpPr>
            <a:spLocks noChangeArrowheads="1"/>
          </p:cNvSpPr>
          <p:nvPr/>
        </p:nvSpPr>
        <p:spPr bwMode="auto">
          <a:xfrm>
            <a:off x="4211638" y="50863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11" name="Rectangle 69"/>
          <p:cNvSpPr>
            <a:spLocks noChangeArrowheads="1"/>
          </p:cNvSpPr>
          <p:nvPr/>
        </p:nvSpPr>
        <p:spPr bwMode="auto">
          <a:xfrm>
            <a:off x="1619250" y="55181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12" name="Rectangle 70"/>
          <p:cNvSpPr>
            <a:spLocks noChangeArrowheads="1"/>
          </p:cNvSpPr>
          <p:nvPr/>
        </p:nvSpPr>
        <p:spPr bwMode="auto">
          <a:xfrm>
            <a:off x="4211638" y="5518150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13" name="TextBox 1"/>
          <p:cNvSpPr txBox="1">
            <a:spLocks noChangeArrowheads="1"/>
          </p:cNvSpPr>
          <p:nvPr/>
        </p:nvSpPr>
        <p:spPr bwMode="auto">
          <a:xfrm>
            <a:off x="1646238" y="1042988"/>
            <a:ext cx="7605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 dirty="0"/>
              <a:t>There are eleven different ways of sketching the nets of </a:t>
            </a:r>
            <a:r>
              <a:rPr lang="en-US" b="1" u="sng" dirty="0"/>
              <a:t>cubes</a:t>
            </a:r>
            <a:r>
              <a:rPr lang="en-US" b="1" dirty="0"/>
              <a:t>.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700338" y="1343025"/>
            <a:ext cx="1800225" cy="646113"/>
            <a:chOff x="2700338" y="1342509"/>
            <a:chExt cx="1799654" cy="646331"/>
          </a:xfrm>
        </p:grpSpPr>
        <p:cxnSp>
          <p:nvCxnSpPr>
            <p:cNvPr id="3" name="Straight Arrow Connector 2"/>
            <p:cNvCxnSpPr/>
            <p:nvPr/>
          </p:nvCxnSpPr>
          <p:spPr>
            <a:xfrm flipH="1">
              <a:off x="2700338" y="1558482"/>
              <a:ext cx="647495" cy="285846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16" name="TextBox 3"/>
            <p:cNvSpPr txBox="1">
              <a:spLocks noChangeArrowheads="1"/>
            </p:cNvSpPr>
            <p:nvPr/>
          </p:nvSpPr>
          <p:spPr bwMode="auto">
            <a:xfrm>
              <a:off x="3275856" y="1342509"/>
              <a:ext cx="122413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/>
                <a:t>Most</a:t>
              </a:r>
            </a:p>
            <a:p>
              <a:pPr eaLnBrk="1" hangingPunct="1"/>
              <a:r>
                <a:rPr lang="en-US"/>
                <a:t>Common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2227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Surface Area</a:t>
            </a:r>
            <a:endParaRPr lang="en-GB" dirty="0">
              <a:latin typeface="Comic Sans MS" pitchFamily="66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314575" y="1541288"/>
            <a:ext cx="4514850" cy="602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 flipV="1">
            <a:off x="2178644" y="3789040"/>
            <a:ext cx="0" cy="14401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2664929" y="3778536"/>
            <a:ext cx="0" cy="14401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508104" y="3799728"/>
            <a:ext cx="0" cy="14401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004048" y="3789040"/>
            <a:ext cx="0" cy="14401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6423476" y="3789040"/>
            <a:ext cx="0" cy="14401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931172" y="3787082"/>
            <a:ext cx="0" cy="14401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572434" y="2412342"/>
            <a:ext cx="0" cy="424847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067944" y="2412342"/>
            <a:ext cx="0" cy="424847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3131840" y="2823658"/>
            <a:ext cx="13681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3133483" y="3284984"/>
            <a:ext cx="13681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3133483" y="5716164"/>
            <a:ext cx="13681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3133483" y="6165304"/>
            <a:ext cx="13681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670194" y="4725144"/>
            <a:ext cx="571011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1686007" y="4293096"/>
            <a:ext cx="571011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475656" y="3861048"/>
            <a:ext cx="0" cy="1285640"/>
          </a:xfrm>
          <a:prstGeom prst="straightConnector1">
            <a:avLst/>
          </a:prstGeom>
          <a:ln w="38100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759194" y="5407358"/>
            <a:ext cx="1300638" cy="0"/>
          </a:xfrm>
          <a:prstGeom prst="straightConnector1">
            <a:avLst/>
          </a:prstGeom>
          <a:ln w="38100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3568" y="4283804"/>
            <a:ext cx="914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3 cm </a:t>
            </a:r>
            <a:endParaRPr lang="en-GB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2073206" y="5531498"/>
            <a:ext cx="914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3 cm </a:t>
            </a:r>
            <a:endParaRPr lang="en-GB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51520" y="1196752"/>
            <a:ext cx="8496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latin typeface="Comic Sans MS" pitchFamily="66" charset="0"/>
              </a:rPr>
              <a:t>What types of shapes make up the faces of a cubes?</a:t>
            </a:r>
            <a:endParaRPr lang="en-GB" sz="2800" dirty="0">
              <a:latin typeface="Comic Sans MS" pitchFamily="66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04048" y="2412342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  <a:latin typeface="Comic Sans MS" pitchFamily="66" charset="0"/>
              </a:rPr>
              <a:t>3 x 3 x 6 = 54cm</a:t>
            </a:r>
            <a:r>
              <a:rPr lang="en-GB" sz="2800" baseline="30000" dirty="0" smtClean="0">
                <a:solidFill>
                  <a:srgbClr val="FF0000"/>
                </a:solidFill>
                <a:latin typeface="Comic Sans MS" pitchFamily="66" charset="0"/>
              </a:rPr>
              <a:t>2</a:t>
            </a:r>
            <a:endParaRPr lang="en-GB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91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Surface Area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4" name="Cube 3"/>
          <p:cNvSpPr/>
          <p:nvPr/>
        </p:nvSpPr>
        <p:spPr>
          <a:xfrm>
            <a:off x="1187624" y="1988840"/>
            <a:ext cx="2160240" cy="2160240"/>
          </a:xfrm>
          <a:prstGeom prst="cub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ube 4"/>
          <p:cNvSpPr/>
          <p:nvPr/>
        </p:nvSpPr>
        <p:spPr>
          <a:xfrm>
            <a:off x="5220072" y="2646784"/>
            <a:ext cx="2160240" cy="2160240"/>
          </a:xfrm>
          <a:prstGeom prst="cub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619672" y="4283804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/>
              <a:t>5 cm</a:t>
            </a:r>
            <a:endParaRPr lang="en-GB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79512" y="3068960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/>
              <a:t>5 cm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580112" y="4922004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7</a:t>
            </a:r>
            <a:r>
              <a:rPr lang="en-GB" sz="2800" b="1" dirty="0" smtClean="0"/>
              <a:t> cm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283968" y="3683582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7</a:t>
            </a:r>
            <a:r>
              <a:rPr lang="en-GB" sz="2800" b="1" dirty="0" smtClean="0"/>
              <a:t> cm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67544" y="5013176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  <a:latin typeface="Comic Sans MS" pitchFamily="66" charset="0"/>
              </a:rPr>
              <a:t>Surface Area = 150cm</a:t>
            </a:r>
            <a:r>
              <a:rPr lang="en-GB" sz="2400" b="1" baseline="30000" dirty="0" smtClean="0">
                <a:solidFill>
                  <a:srgbClr val="FF0000"/>
                </a:solidFill>
                <a:latin typeface="Comic Sans MS" pitchFamily="66" charset="0"/>
              </a:rPr>
              <a:t>2</a:t>
            </a:r>
            <a:endParaRPr lang="en-GB" sz="2400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32040" y="5474841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  <a:latin typeface="Comic Sans MS" pitchFamily="66" charset="0"/>
              </a:rPr>
              <a:t>Surface Area = 294cm</a:t>
            </a:r>
            <a:r>
              <a:rPr lang="en-GB" sz="2400" b="1" baseline="30000" dirty="0" smtClean="0">
                <a:solidFill>
                  <a:srgbClr val="FF0000"/>
                </a:solidFill>
                <a:latin typeface="Comic Sans MS" pitchFamily="66" charset="0"/>
              </a:rPr>
              <a:t>2</a:t>
            </a:r>
            <a:endParaRPr lang="en-GB" sz="2400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68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Cuboids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ube 3"/>
          <p:cNvSpPr/>
          <p:nvPr/>
        </p:nvSpPr>
        <p:spPr>
          <a:xfrm>
            <a:off x="827584" y="1772816"/>
            <a:ext cx="2520280" cy="1440160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827584" y="3429000"/>
            <a:ext cx="2088232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683568" y="2204864"/>
            <a:ext cx="0" cy="1008112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3131840" y="2920752"/>
            <a:ext cx="360040" cy="364232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-36512" y="2524254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5</a:t>
            </a:r>
            <a:r>
              <a:rPr lang="en-GB" sz="2400" b="1" dirty="0" smtClean="0"/>
              <a:t> cm</a:t>
            </a:r>
            <a:endParaRPr lang="en-GB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559257" y="3501008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10 cm</a:t>
            </a:r>
            <a:endParaRPr lang="en-GB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287449" y="2996952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4 cm</a:t>
            </a:r>
            <a:endParaRPr lang="en-GB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5436096" y="1772816"/>
            <a:ext cx="2736304" cy="9822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5436096" y="2755086"/>
            <a:ext cx="2736304" cy="7459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5435602" y="4483278"/>
            <a:ext cx="2736304" cy="7459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5436096" y="3501008"/>
            <a:ext cx="2736304" cy="9822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4644008" y="3501008"/>
            <a:ext cx="791594" cy="9822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8172400" y="3498554"/>
            <a:ext cx="791594" cy="9822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435602" y="5517232"/>
            <a:ext cx="2736304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64188" y="5661248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10 cm</a:t>
            </a:r>
            <a:endParaRPr lang="en-GB" sz="2400" b="1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644008" y="3362055"/>
            <a:ext cx="755837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44008" y="2823319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4 cm</a:t>
            </a:r>
            <a:endParaRPr lang="en-GB" sz="2400" b="1" dirty="0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4499992" y="3488087"/>
            <a:ext cx="0" cy="1008112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779912" y="3761310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5</a:t>
            </a:r>
            <a:r>
              <a:rPr lang="en-GB" sz="2400" b="1" dirty="0" smtClean="0"/>
              <a:t> cm</a:t>
            </a:r>
            <a:endParaRPr lang="en-GB" sz="2400" b="1" dirty="0"/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8316416" y="4547715"/>
            <a:ext cx="0" cy="734888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423934" y="468432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4 cm</a:t>
            </a:r>
            <a:endParaRPr lang="en-GB" sz="2400" b="1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5435602" y="1619485"/>
            <a:ext cx="2736304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00192" y="1095127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10 cm</a:t>
            </a:r>
            <a:endParaRPr lang="en-GB" sz="24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359532" y="5498068"/>
            <a:ext cx="4788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rgbClr val="FF0000"/>
                </a:solidFill>
              </a:rPr>
              <a:t>Total Surface Area = 220cm</a:t>
            </a:r>
            <a:r>
              <a:rPr lang="en-GB" sz="2800" b="1" baseline="30000" dirty="0" smtClean="0">
                <a:solidFill>
                  <a:srgbClr val="FF0000"/>
                </a:solidFill>
              </a:rPr>
              <a:t>2</a:t>
            </a:r>
            <a:endParaRPr lang="en-GB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08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/>
      <p:bldP spid="28" grpId="0"/>
      <p:bldP spid="30" grpId="0"/>
      <p:bldP spid="32" grpId="0"/>
      <p:bldP spid="35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>
                <a:latin typeface="Comic Sans MS" pitchFamily="66" charset="0"/>
              </a:rPr>
              <a:t>What about other 3D shapes?</a:t>
            </a:r>
            <a:endParaRPr lang="en-GB" b="1" dirty="0">
              <a:latin typeface="Comic Sans MS" pitchFamily="66" charset="0"/>
            </a:endParaRPr>
          </a:p>
        </p:txBody>
      </p:sp>
      <p:pic>
        <p:nvPicPr>
          <p:cNvPr id="1026" name="Picture 2" descr="http://www.narragansett.k12.ri.us/resources/necap%20support/gle_support/Math/resources_geometry/images/tri_prism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26627"/>
            <a:ext cx="3528392" cy="320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kidsmathgamesonline.com/images/pictures/shapes/squarepyrami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680938"/>
            <a:ext cx="4124325" cy="412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9552" y="5642084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latin typeface="Comic Sans MS" pitchFamily="66" charset="0"/>
              </a:rPr>
              <a:t>Triangular Prism</a:t>
            </a:r>
            <a:endParaRPr lang="en-GB" sz="2800" b="1" dirty="0"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6056" y="5661248"/>
            <a:ext cx="3240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latin typeface="Comic Sans MS" pitchFamily="66" charset="0"/>
              </a:rPr>
              <a:t>Square based pyramid</a:t>
            </a:r>
            <a:endParaRPr lang="en-GB" sz="2800" b="1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51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xplosion 2 25"/>
          <p:cNvSpPr/>
          <p:nvPr/>
        </p:nvSpPr>
        <p:spPr>
          <a:xfrm rot="20223354">
            <a:off x="4158381" y="1170412"/>
            <a:ext cx="5982679" cy="6480720"/>
          </a:xfrm>
          <a:prstGeom prst="irregularSeal2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Explosion 1 24"/>
          <p:cNvSpPr/>
          <p:nvPr/>
        </p:nvSpPr>
        <p:spPr>
          <a:xfrm>
            <a:off x="-1332656" y="1988840"/>
            <a:ext cx="6480720" cy="5256584"/>
          </a:xfrm>
          <a:prstGeom prst="irregularSeal1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Surface Area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11087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>
                <a:latin typeface="Comic Sans MS" pitchFamily="66" charset="0"/>
              </a:rPr>
              <a:t>Work out the surface area of the shapes on your worksheet.</a:t>
            </a:r>
          </a:p>
          <a:p>
            <a:pPr marL="0" indent="0">
              <a:buNone/>
            </a:pPr>
            <a:endParaRPr lang="en-GB" dirty="0">
              <a:latin typeface="Comic Sans MS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5536" y="3615407"/>
            <a:ext cx="3024336" cy="1584176"/>
          </a:xfrm>
          <a:prstGeom prst="rect">
            <a:avLst/>
          </a:prstGeom>
          <a:noFill/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Isosceles Triangle 7"/>
          <p:cNvSpPr/>
          <p:nvPr/>
        </p:nvSpPr>
        <p:spPr>
          <a:xfrm>
            <a:off x="5652120" y="2972851"/>
            <a:ext cx="2520280" cy="1656184"/>
          </a:xfrm>
          <a:prstGeom prst="triangle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395536" y="3615407"/>
            <a:ext cx="28803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Comic Sans MS" pitchFamily="66" charset="0"/>
              </a:rPr>
              <a:t>Area of rectangle =</a:t>
            </a:r>
            <a:endParaRPr lang="en-GB" sz="2400" b="1" dirty="0">
              <a:latin typeface="Comic Sans MS" pitchFamily="66" charset="0"/>
            </a:endParaRPr>
          </a:p>
          <a:p>
            <a:pPr algn="ctr"/>
            <a:r>
              <a:rPr lang="en-GB" sz="2400" b="1" dirty="0" smtClean="0">
                <a:latin typeface="Comic Sans MS" pitchFamily="66" charset="0"/>
              </a:rPr>
              <a:t>Length (L) x Height (H)</a:t>
            </a:r>
            <a:endParaRPr lang="en-GB" sz="2400" b="1" dirty="0"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16016" y="5085184"/>
            <a:ext cx="4536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Comic Sans MS" pitchFamily="66" charset="0"/>
              </a:rPr>
              <a:t>Area of Triangle</a:t>
            </a:r>
            <a:br>
              <a:rPr lang="en-GB" sz="2400" b="1" dirty="0" smtClean="0">
                <a:latin typeface="Comic Sans MS" pitchFamily="66" charset="0"/>
              </a:rPr>
            </a:br>
            <a:r>
              <a:rPr lang="en-GB" sz="2400" b="1" dirty="0" smtClean="0">
                <a:latin typeface="Comic Sans MS" pitchFamily="66" charset="0"/>
              </a:rPr>
              <a:t> =</a:t>
            </a:r>
            <a:endParaRPr lang="en-GB" sz="2400" b="1" dirty="0">
              <a:latin typeface="Comic Sans MS" pitchFamily="66" charset="0"/>
            </a:endParaRPr>
          </a:p>
          <a:p>
            <a:r>
              <a:rPr lang="en-GB" sz="2400" b="1" dirty="0" smtClean="0">
                <a:latin typeface="Comic Sans MS" pitchFamily="66" charset="0"/>
              </a:rPr>
              <a:t>(Base (B) x Height (H)) ÷ 2</a:t>
            </a:r>
            <a:endParaRPr lang="en-GB" sz="2400" b="1" dirty="0">
              <a:latin typeface="Comic Sans MS" pitchFamily="66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652120" y="4797152"/>
            <a:ext cx="2520280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912260" y="3094718"/>
            <a:ext cx="0" cy="144016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95536" y="5441821"/>
            <a:ext cx="3024336" cy="21693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635896" y="3615407"/>
            <a:ext cx="0" cy="1584176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91680" y="5271591"/>
            <a:ext cx="57606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Comic Sans MS" pitchFamily="66" charset="0"/>
              </a:rPr>
              <a:t>L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91880" y="4233862"/>
            <a:ext cx="57606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omic Sans MS" pitchFamily="66" charset="0"/>
              </a:rPr>
              <a:t>H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60232" y="4695527"/>
            <a:ext cx="57606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omic Sans MS" pitchFamily="66" charset="0"/>
              </a:rPr>
              <a:t>B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24228" y="3630215"/>
            <a:ext cx="57606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Comic Sans MS" pitchFamily="66" charset="0"/>
              </a:rPr>
              <a:t>H</a:t>
            </a:r>
            <a:endParaRPr lang="en-GB" b="1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62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5" grpId="0" animBg="1"/>
      <p:bldP spid="7" grpId="0" animBg="1"/>
      <p:bldP spid="8" grpId="0" animBg="1"/>
      <p:bldP spid="9" grpId="0"/>
      <p:bldP spid="10" grpId="0"/>
      <p:bldP spid="20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 smtClean="0">
                <a:latin typeface="Comic Sans MS" pitchFamily="66" charset="0"/>
              </a:rPr>
              <a:t>Answers</a:t>
            </a:r>
            <a:endParaRPr lang="en-GB" sz="5400" dirty="0"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Green:</a:t>
            </a:r>
          </a:p>
          <a:p>
            <a:r>
              <a:rPr lang="en-GB" dirty="0" smtClean="0"/>
              <a:t>1. 216cm</a:t>
            </a:r>
            <a:r>
              <a:rPr lang="en-GB" baseline="30000" dirty="0" smtClean="0"/>
              <a:t>2</a:t>
            </a:r>
            <a:r>
              <a:rPr lang="en-GB" dirty="0" smtClean="0"/>
              <a:t>	2. 384mm</a:t>
            </a:r>
            <a:r>
              <a:rPr lang="en-GB" baseline="30000" dirty="0" smtClean="0"/>
              <a:t>2</a:t>
            </a:r>
            <a:r>
              <a:rPr lang="en-GB" dirty="0" smtClean="0"/>
              <a:t>		3. 1350m</a:t>
            </a:r>
            <a:r>
              <a:rPr lang="en-GB" baseline="30000" dirty="0" smtClean="0"/>
              <a:t>2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Amber:</a:t>
            </a:r>
          </a:p>
          <a:p>
            <a:r>
              <a:rPr lang="en-GB" dirty="0" smtClean="0"/>
              <a:t>1. 62m</a:t>
            </a:r>
            <a:r>
              <a:rPr lang="en-GB" baseline="30000" dirty="0" smtClean="0"/>
              <a:t>2</a:t>
            </a:r>
            <a:r>
              <a:rPr lang="en-GB" dirty="0" smtClean="0"/>
              <a:t>		2. 64cm</a:t>
            </a:r>
            <a:r>
              <a:rPr lang="en-GB" baseline="30000" dirty="0" smtClean="0"/>
              <a:t>2</a:t>
            </a:r>
            <a:r>
              <a:rPr lang="en-GB" dirty="0" smtClean="0"/>
              <a:t>		3. 154m</a:t>
            </a:r>
            <a:r>
              <a:rPr lang="en-GB" baseline="30000" dirty="0" smtClean="0"/>
              <a:t>2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Red</a:t>
            </a:r>
          </a:p>
          <a:p>
            <a:r>
              <a:rPr lang="en-GB" dirty="0" smtClean="0"/>
              <a:t>1. 144cm</a:t>
            </a:r>
            <a:r>
              <a:rPr lang="en-GB" baseline="30000" dirty="0" smtClean="0"/>
              <a:t>2</a:t>
            </a:r>
            <a:r>
              <a:rPr lang="en-GB" dirty="0" smtClean="0"/>
              <a:t>	2. 616m</a:t>
            </a:r>
            <a:r>
              <a:rPr lang="en-GB" baseline="30000" dirty="0" smtClean="0"/>
              <a:t>2		</a:t>
            </a:r>
            <a:r>
              <a:rPr lang="en-GB" dirty="0" smtClean="0"/>
              <a:t>3. 268cm</a:t>
            </a:r>
            <a:r>
              <a:rPr lang="en-GB" baseline="30000" dirty="0" smtClean="0"/>
              <a:t>2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95536" y="1412776"/>
            <a:ext cx="8064896" cy="144016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95536" y="3140968"/>
            <a:ext cx="8064896" cy="144016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95536" y="4797152"/>
            <a:ext cx="8064896" cy="14401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35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9512" y="1556792"/>
            <a:ext cx="8136904" cy="15121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79512" y="3284984"/>
            <a:ext cx="8155916" cy="1512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79512" y="5022304"/>
            <a:ext cx="8135199" cy="151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229600" cy="4525963"/>
          </a:xfrm>
        </p:spPr>
        <p:txBody>
          <a:bodyPr>
            <a:noAutofit/>
          </a:bodyPr>
          <a:lstStyle/>
          <a:p>
            <a:r>
              <a:rPr lang="en-GB" dirty="0" smtClean="0">
                <a:latin typeface="Comic Sans MS" pitchFamily="66" charset="0"/>
              </a:rPr>
              <a:t>Investigation:</a:t>
            </a:r>
          </a:p>
          <a:p>
            <a:r>
              <a:rPr lang="en-GB" sz="2000" dirty="0" smtClean="0">
                <a:latin typeface="Comic Sans MS" pitchFamily="66" charset="0"/>
              </a:rPr>
              <a:t>PART ONE</a:t>
            </a:r>
            <a:endParaRPr lang="en-GB" sz="2000" dirty="0">
              <a:latin typeface="Comic Sans MS" pitchFamily="66" charset="0"/>
            </a:endParaRPr>
          </a:p>
          <a:p>
            <a:r>
              <a:rPr lang="en-GB" sz="2000" dirty="0" smtClean="0">
                <a:latin typeface="Comic Sans MS" pitchFamily="66" charset="0"/>
              </a:rPr>
              <a:t>Find out the total surface area of all four walls in this classroom.</a:t>
            </a:r>
          </a:p>
          <a:p>
            <a:pPr marL="0" indent="0">
              <a:buNone/>
            </a:pPr>
            <a:endParaRPr lang="en-GB" sz="2000" dirty="0">
              <a:latin typeface="Comic Sans MS" pitchFamily="66" charset="0"/>
            </a:endParaRPr>
          </a:p>
          <a:p>
            <a:pPr marL="0" indent="0">
              <a:buNone/>
            </a:pPr>
            <a:endParaRPr lang="en-GB" sz="2000" dirty="0">
              <a:latin typeface="Comic Sans MS" pitchFamily="66" charset="0"/>
            </a:endParaRPr>
          </a:p>
          <a:p>
            <a:r>
              <a:rPr lang="en-GB" sz="2000" dirty="0" smtClean="0">
                <a:latin typeface="Comic Sans MS" pitchFamily="66" charset="0"/>
              </a:rPr>
              <a:t>PART TWO</a:t>
            </a:r>
          </a:p>
          <a:p>
            <a:r>
              <a:rPr lang="en-GB" sz="2000" dirty="0" smtClean="0">
                <a:latin typeface="Comic Sans MS" pitchFamily="66" charset="0"/>
              </a:rPr>
              <a:t>Calculate how many tins of paint will be needed</a:t>
            </a:r>
          </a:p>
          <a:p>
            <a:r>
              <a:rPr lang="en-GB" sz="2000" dirty="0" smtClean="0">
                <a:latin typeface="Comic Sans MS" pitchFamily="66" charset="0"/>
              </a:rPr>
              <a:t>Each tin of paint covers exactly 12m</a:t>
            </a:r>
            <a:r>
              <a:rPr lang="en-GB" sz="2000" baseline="30000" dirty="0" smtClean="0">
                <a:latin typeface="Comic Sans MS" pitchFamily="66" charset="0"/>
              </a:rPr>
              <a:t>2</a:t>
            </a:r>
          </a:p>
          <a:p>
            <a:r>
              <a:rPr lang="en-GB" sz="2000" baseline="30000" dirty="0" smtClean="0">
                <a:latin typeface="Comic Sans MS" pitchFamily="66" charset="0"/>
              </a:rPr>
              <a:t/>
            </a:r>
            <a:br>
              <a:rPr lang="en-GB" sz="2000" baseline="30000" dirty="0" smtClean="0">
                <a:latin typeface="Comic Sans MS" pitchFamily="66" charset="0"/>
              </a:rPr>
            </a:br>
            <a:endParaRPr lang="en-GB" sz="2000" baseline="30000" dirty="0" smtClean="0">
              <a:latin typeface="Comic Sans MS" pitchFamily="66" charset="0"/>
            </a:endParaRPr>
          </a:p>
          <a:p>
            <a:endParaRPr lang="en-GB" sz="2000" baseline="30000" dirty="0">
              <a:latin typeface="Comic Sans MS" pitchFamily="66" charset="0"/>
            </a:endParaRPr>
          </a:p>
          <a:p>
            <a:r>
              <a:rPr lang="en-GB" sz="2000" dirty="0" smtClean="0">
                <a:latin typeface="Comic Sans MS" pitchFamily="66" charset="0"/>
              </a:rPr>
              <a:t>PART THREE</a:t>
            </a:r>
          </a:p>
          <a:p>
            <a:r>
              <a:rPr lang="en-GB" sz="2000" dirty="0" smtClean="0">
                <a:latin typeface="Comic Sans MS" pitchFamily="66" charset="0"/>
              </a:rPr>
              <a:t>Each tin of paint costs £11</a:t>
            </a:r>
          </a:p>
          <a:p>
            <a:r>
              <a:rPr lang="en-GB" sz="2000" dirty="0" smtClean="0">
                <a:latin typeface="Comic Sans MS" pitchFamily="66" charset="0"/>
              </a:rPr>
              <a:t>How much will it cost to paint this entire room</a:t>
            </a:r>
          </a:p>
          <a:p>
            <a:pPr marL="0" indent="0">
              <a:buNone/>
            </a:pPr>
            <a:r>
              <a:rPr lang="en-GB" dirty="0" smtClean="0">
                <a:latin typeface="Comic Sans MS" pitchFamily="66" charset="0"/>
              </a:rPr>
              <a:t>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67544" y="4462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>
                <a:latin typeface="Comic Sans MS" pitchFamily="66" charset="0"/>
              </a:rPr>
              <a:t>Surface Area</a:t>
            </a:r>
            <a:endParaRPr lang="en-GB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Answers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>
                <a:latin typeface="Comic Sans MS" pitchFamily="66" charset="0"/>
              </a:rPr>
              <a:t>Part One:</a:t>
            </a:r>
          </a:p>
          <a:p>
            <a:r>
              <a:rPr lang="en-GB" dirty="0" smtClean="0">
                <a:latin typeface="Comic Sans MS" pitchFamily="66" charset="0"/>
              </a:rPr>
              <a:t>Total Surface Area to painted:	</a:t>
            </a:r>
            <a:r>
              <a:rPr lang="en-GB" b="1" dirty="0" smtClean="0">
                <a:solidFill>
                  <a:srgbClr val="FF0000"/>
                </a:solidFill>
                <a:latin typeface="Comic Sans MS" pitchFamily="66" charset="0"/>
              </a:rPr>
              <a:t>55m</a:t>
            </a:r>
            <a:r>
              <a:rPr lang="en-GB" b="1" baseline="30000" dirty="0" smtClean="0">
                <a:solidFill>
                  <a:srgbClr val="FF0000"/>
                </a:solidFill>
                <a:latin typeface="Comic Sans MS" pitchFamily="66" charset="0"/>
              </a:rPr>
              <a:t>2</a:t>
            </a:r>
            <a:endParaRPr lang="en-GB" b="1" dirty="0" smtClean="0">
              <a:solidFill>
                <a:srgbClr val="FF0000"/>
              </a:solidFill>
              <a:latin typeface="Comic Sans MS" pitchFamily="66" charset="0"/>
            </a:endParaRPr>
          </a:p>
          <a:p>
            <a:endParaRPr lang="en-GB" dirty="0" smtClean="0">
              <a:latin typeface="Comic Sans MS" pitchFamily="66" charset="0"/>
            </a:endParaRPr>
          </a:p>
          <a:p>
            <a:endParaRPr lang="en-GB" dirty="0">
              <a:latin typeface="Comic Sans MS" pitchFamily="66" charset="0"/>
            </a:endParaRPr>
          </a:p>
          <a:p>
            <a:r>
              <a:rPr lang="en-GB" dirty="0" smtClean="0">
                <a:latin typeface="Comic Sans MS" pitchFamily="66" charset="0"/>
              </a:rPr>
              <a:t>Part Two:</a:t>
            </a:r>
          </a:p>
          <a:p>
            <a:r>
              <a:rPr lang="en-GB" dirty="0" smtClean="0">
                <a:latin typeface="Comic Sans MS" pitchFamily="66" charset="0"/>
              </a:rPr>
              <a:t>Total Number of Paint Cans Needed:	</a:t>
            </a:r>
            <a:r>
              <a:rPr lang="en-GB" b="1" dirty="0" smtClean="0">
                <a:solidFill>
                  <a:srgbClr val="FF0000"/>
                </a:solidFill>
                <a:latin typeface="Comic Sans MS" pitchFamily="66" charset="0"/>
              </a:rPr>
              <a:t>5</a:t>
            </a:r>
          </a:p>
          <a:p>
            <a:endParaRPr lang="en-GB" dirty="0" smtClean="0">
              <a:latin typeface="Comic Sans MS" pitchFamily="66" charset="0"/>
            </a:endParaRPr>
          </a:p>
          <a:p>
            <a:endParaRPr lang="en-GB" dirty="0">
              <a:latin typeface="Comic Sans MS" pitchFamily="66" charset="0"/>
            </a:endParaRPr>
          </a:p>
          <a:p>
            <a:r>
              <a:rPr lang="en-GB" dirty="0" smtClean="0">
                <a:latin typeface="Comic Sans MS" pitchFamily="66" charset="0"/>
              </a:rPr>
              <a:t>Part Three:</a:t>
            </a:r>
          </a:p>
          <a:p>
            <a:r>
              <a:rPr lang="en-GB" dirty="0" smtClean="0">
                <a:latin typeface="Comic Sans MS" pitchFamily="66" charset="0"/>
              </a:rPr>
              <a:t>Cost: 	</a:t>
            </a:r>
            <a:r>
              <a:rPr lang="en-GB" b="1" dirty="0" smtClean="0">
                <a:solidFill>
                  <a:srgbClr val="FF0000"/>
                </a:solidFill>
                <a:latin typeface="Comic Sans MS" pitchFamily="66" charset="0"/>
              </a:rPr>
              <a:t>£55</a:t>
            </a:r>
          </a:p>
          <a:p>
            <a:pPr marL="0" indent="0">
              <a:buNone/>
            </a:pPr>
            <a:r>
              <a:rPr lang="en-GB" dirty="0" smtClean="0">
                <a:latin typeface="Comic Sans MS" pitchFamily="66" charset="0"/>
              </a:rPr>
              <a:t> </a:t>
            </a:r>
            <a:endParaRPr lang="en-GB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62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Surface Area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4" name="Cube 3"/>
          <p:cNvSpPr/>
          <p:nvPr/>
        </p:nvSpPr>
        <p:spPr>
          <a:xfrm>
            <a:off x="1835696" y="2060848"/>
            <a:ext cx="5256584" cy="2448272"/>
          </a:xfrm>
          <a:prstGeom prst="cub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835696" y="4725144"/>
            <a:ext cx="4536504" cy="0"/>
          </a:xfrm>
          <a:prstGeom prst="straightConnector1">
            <a:avLst/>
          </a:prstGeom>
          <a:ln w="38100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1619672" y="2780928"/>
            <a:ext cx="0" cy="1728192"/>
          </a:xfrm>
          <a:prstGeom prst="straightConnector1">
            <a:avLst/>
          </a:prstGeom>
          <a:ln w="38100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6660232" y="4077072"/>
            <a:ext cx="504056" cy="504056"/>
          </a:xfrm>
          <a:prstGeom prst="straightConnector1">
            <a:avLst/>
          </a:prstGeom>
          <a:ln w="38100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63888" y="4941168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>
                <a:latin typeface="Comic Sans MS" pitchFamily="66" charset="0"/>
              </a:rPr>
              <a:t>12 cm</a:t>
            </a:r>
            <a:endParaRPr lang="en-GB" sz="3200" b="1" dirty="0">
              <a:latin typeface="Comic Sans MS" pitchFamily="66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3348281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Comic Sans MS" pitchFamily="66" charset="0"/>
              </a:rPr>
              <a:t>8</a:t>
            </a:r>
            <a:r>
              <a:rPr lang="en-GB" sz="3200" b="1" dirty="0" smtClean="0">
                <a:latin typeface="Comic Sans MS" pitchFamily="66" charset="0"/>
              </a:rPr>
              <a:t> cm</a:t>
            </a:r>
            <a:endParaRPr lang="en-GB" sz="3200" b="1" dirty="0">
              <a:latin typeface="Comic Sans MS" pitchFamily="66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64288" y="4216732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>
                <a:latin typeface="Comic Sans MS" pitchFamily="66" charset="0"/>
              </a:rPr>
              <a:t>5 cm</a:t>
            </a:r>
            <a:endParaRPr lang="en-GB" sz="3200" b="1" dirty="0"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8418" y="5895275"/>
            <a:ext cx="5472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  <a:latin typeface="Comic Sans MS" pitchFamily="66" charset="0"/>
              </a:rPr>
              <a:t>Total Surface Area = 392cm</a:t>
            </a:r>
            <a:r>
              <a:rPr lang="en-GB" sz="2800" baseline="30000" dirty="0" smtClean="0">
                <a:solidFill>
                  <a:srgbClr val="FF0000"/>
                </a:solidFill>
                <a:latin typeface="Comic Sans MS" pitchFamily="66" charset="0"/>
              </a:rPr>
              <a:t>2</a:t>
            </a:r>
            <a:endParaRPr lang="en-GB" sz="2800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512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New </a:t>
            </a:r>
            <a:r>
              <a:rPr lang="en-GB" dirty="0" err="1" smtClean="0">
                <a:latin typeface="Comic Sans MS" pitchFamily="66" charset="0"/>
              </a:rPr>
              <a:t>Toblerone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 err="1" smtClean="0">
                <a:latin typeface="Comic Sans MS" pitchFamily="66" charset="0"/>
              </a:rPr>
              <a:t>Toblerone</a:t>
            </a:r>
            <a:r>
              <a:rPr lang="en-GB" sz="2000" dirty="0" smtClean="0">
                <a:latin typeface="Comic Sans MS" pitchFamily="66" charset="0"/>
              </a:rPr>
              <a:t> are making a new family sized bar:</a:t>
            </a:r>
          </a:p>
          <a:p>
            <a:pPr marL="0" indent="0">
              <a:buNone/>
            </a:pPr>
            <a:r>
              <a:rPr lang="en-GB" sz="2000" dirty="0" smtClean="0">
                <a:latin typeface="Comic Sans MS" pitchFamily="66" charset="0"/>
              </a:rPr>
              <a:t/>
            </a:r>
            <a:br>
              <a:rPr lang="en-GB" sz="2000" dirty="0" smtClean="0">
                <a:latin typeface="Comic Sans MS" pitchFamily="66" charset="0"/>
              </a:rPr>
            </a:br>
            <a:r>
              <a:rPr lang="en-GB" sz="2000" dirty="0" smtClean="0">
                <a:latin typeface="Comic Sans MS" pitchFamily="66" charset="0"/>
              </a:rPr>
              <a:t>Each piece will have the following dimensions</a:t>
            </a:r>
            <a:endParaRPr lang="en-GB" sz="2000" dirty="0">
              <a:latin typeface="Comic Sans MS" pitchFamily="66" charset="0"/>
            </a:endParaRPr>
          </a:p>
          <a:p>
            <a:pPr marL="0" indent="0">
              <a:buNone/>
            </a:pPr>
            <a:r>
              <a:rPr lang="en-GB" dirty="0" smtClean="0">
                <a:latin typeface="Comic Sans MS" pitchFamily="66" charset="0"/>
              </a:rPr>
              <a:t> 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1115616" y="3284984"/>
            <a:ext cx="1944216" cy="1656184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/>
          <p:cNvCxnSpPr>
            <a:stCxn id="4" idx="4"/>
          </p:cNvCxnSpPr>
          <p:nvPr/>
        </p:nvCxnSpPr>
        <p:spPr>
          <a:xfrm flipV="1">
            <a:off x="3059832" y="4581128"/>
            <a:ext cx="288032" cy="3600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075470" y="2924944"/>
            <a:ext cx="288032" cy="3600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363502" y="2924944"/>
            <a:ext cx="984362" cy="16561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115616" y="5157192"/>
            <a:ext cx="194421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976946" y="3284984"/>
            <a:ext cx="0" cy="165618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203848" y="4653136"/>
            <a:ext cx="288032" cy="43204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38076" y="530120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Comic Sans MS" pitchFamily="66" charset="0"/>
              </a:rPr>
              <a:t>4cm 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5536" y="3764385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Comic Sans MS" pitchFamily="66" charset="0"/>
              </a:rPr>
              <a:t>4cm 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0530" y="476114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Comic Sans MS" pitchFamily="66" charset="0"/>
              </a:rPr>
              <a:t>1cm </a:t>
            </a:r>
            <a:endParaRPr lang="en-GB" b="1" dirty="0">
              <a:latin typeface="Comic Sans MS" pitchFamily="66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83968" y="3324950"/>
            <a:ext cx="41764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Comic Sans MS" pitchFamily="66" charset="0"/>
              </a:rPr>
              <a:t>The bar will consist of 12 equal pieces.</a:t>
            </a:r>
          </a:p>
          <a:p>
            <a:endParaRPr lang="en-GB" dirty="0">
              <a:latin typeface="Comic Sans MS" pitchFamily="66" charset="0"/>
            </a:endParaRPr>
          </a:p>
          <a:p>
            <a:endParaRPr lang="en-GB" dirty="0" smtClean="0">
              <a:latin typeface="Comic Sans MS" pitchFamily="66" charset="0"/>
            </a:endParaRPr>
          </a:p>
          <a:p>
            <a:r>
              <a:rPr lang="en-GB" dirty="0" smtClean="0">
                <a:latin typeface="Comic Sans MS" pitchFamily="66" charset="0"/>
              </a:rPr>
              <a:t>QUESTION:</a:t>
            </a:r>
          </a:p>
          <a:p>
            <a:endParaRPr lang="en-GB" dirty="0">
              <a:latin typeface="Comic Sans MS" pitchFamily="66" charset="0"/>
            </a:endParaRPr>
          </a:p>
          <a:p>
            <a:r>
              <a:rPr lang="en-GB" dirty="0" smtClean="0">
                <a:latin typeface="Comic Sans MS" pitchFamily="66" charset="0"/>
              </a:rPr>
              <a:t>What will the total surface area of the wrapper need to be?</a:t>
            </a:r>
            <a:endParaRPr lang="en-GB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80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382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305</Words>
  <Application>Microsoft Office PowerPoint</Application>
  <PresentationFormat>On-screen Show (4:3)</PresentationFormat>
  <Paragraphs>116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Surface Area</vt:lpstr>
      <vt:lpstr>Starter</vt:lpstr>
      <vt:lpstr>Surface Area</vt:lpstr>
      <vt:lpstr>PowerPoint Presentation</vt:lpstr>
      <vt:lpstr>Surface Area</vt:lpstr>
      <vt:lpstr>Surface Area</vt:lpstr>
      <vt:lpstr>Cuboids</vt:lpstr>
      <vt:lpstr>What about other 3D shapes?</vt:lpstr>
      <vt:lpstr>Surface Area</vt:lpstr>
      <vt:lpstr>Answers</vt:lpstr>
      <vt:lpstr>PowerPoint Presentation</vt:lpstr>
      <vt:lpstr>Answers</vt:lpstr>
      <vt:lpstr>Surface Area</vt:lpstr>
      <vt:lpstr>New Toblerone</vt:lpstr>
      <vt:lpstr>PowerPoint Presentation</vt:lpstr>
    </vt:vector>
  </TitlesOfParts>
  <Company>RM plc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Surface Area</dc:title>
  <dc:creator>PMurphy</dc:creator>
  <cp:lastModifiedBy>PMurphy</cp:lastModifiedBy>
  <cp:revision>23</cp:revision>
  <dcterms:created xsi:type="dcterms:W3CDTF">2013-05-10T14:37:28Z</dcterms:created>
  <dcterms:modified xsi:type="dcterms:W3CDTF">2013-05-13T08:20:20Z</dcterms:modified>
</cp:coreProperties>
</file>