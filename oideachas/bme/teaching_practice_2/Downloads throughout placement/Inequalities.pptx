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43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02EC-D98F-4705-A18F-C71A2755C022}" type="datetimeFigureOut">
              <a:rPr lang="en-GB" smtClean="0"/>
              <a:t>17/04/2013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1BF47-7338-48E8-9346-F1122892D6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80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02EC-D98F-4705-A18F-C71A2755C022}" type="datetimeFigureOut">
              <a:rPr lang="en-GB" smtClean="0"/>
              <a:t>17/04/2013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1BF47-7338-48E8-9346-F1122892D6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2471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02EC-D98F-4705-A18F-C71A2755C022}" type="datetimeFigureOut">
              <a:rPr lang="en-GB" smtClean="0"/>
              <a:t>17/04/2013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1BF47-7338-48E8-9346-F1122892D6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784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02EC-D98F-4705-A18F-C71A2755C022}" type="datetimeFigureOut">
              <a:rPr lang="en-GB" smtClean="0"/>
              <a:t>17/04/2013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1BF47-7338-48E8-9346-F1122892D6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9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02EC-D98F-4705-A18F-C71A2755C022}" type="datetimeFigureOut">
              <a:rPr lang="en-GB" smtClean="0"/>
              <a:t>17/04/2013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1BF47-7338-48E8-9346-F1122892D6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26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02EC-D98F-4705-A18F-C71A2755C022}" type="datetimeFigureOut">
              <a:rPr lang="en-GB" smtClean="0"/>
              <a:t>17/04/2013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1BF47-7338-48E8-9346-F1122892D6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680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02EC-D98F-4705-A18F-C71A2755C022}" type="datetimeFigureOut">
              <a:rPr lang="en-GB" smtClean="0"/>
              <a:t>17/04/2013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1BF47-7338-48E8-9346-F1122892D6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86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02EC-D98F-4705-A18F-C71A2755C022}" type="datetimeFigureOut">
              <a:rPr lang="en-GB" smtClean="0"/>
              <a:t>17/04/2013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1BF47-7338-48E8-9346-F1122892D6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9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02EC-D98F-4705-A18F-C71A2755C022}" type="datetimeFigureOut">
              <a:rPr lang="en-GB" smtClean="0"/>
              <a:t>17/04/2013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1BF47-7338-48E8-9346-F1122892D6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065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02EC-D98F-4705-A18F-C71A2755C022}" type="datetimeFigureOut">
              <a:rPr lang="en-GB" smtClean="0"/>
              <a:t>17/04/2013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1BF47-7338-48E8-9346-F1122892D6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56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02EC-D98F-4705-A18F-C71A2755C022}" type="datetimeFigureOut">
              <a:rPr lang="en-GB" smtClean="0"/>
              <a:t>17/04/2013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1BF47-7338-48E8-9346-F1122892D6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67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802EC-D98F-4705-A18F-C71A2755C022}" type="datetimeFigureOut">
              <a:rPr lang="en-GB" smtClean="0"/>
              <a:t>17/04/2013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1BF47-7338-48E8-9346-F1122892D6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41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>
                <a:solidFill>
                  <a:schemeClr val="bg1"/>
                </a:solidFill>
              </a:rPr>
              <a:t>Inequalities</a:t>
            </a:r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</a:rPr>
              <a:t>Learning Objectives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Understand the inequality symbols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Able to list integers that satisfy an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smtClean="0">
                <a:solidFill>
                  <a:schemeClr val="bg1"/>
                </a:solidFill>
              </a:rPr>
              <a:t>   inequality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Able to represent an inequality on a number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smtClean="0">
                <a:solidFill>
                  <a:schemeClr val="bg1"/>
                </a:solidFill>
              </a:rPr>
              <a:t>   line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8264" y="61139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E0901B6-C24D-4F60-92E4-18210A359D87}" type="datetime1">
              <a:rPr lang="en-GB" u="sng" smtClean="0">
                <a:solidFill>
                  <a:schemeClr val="bg1"/>
                </a:solidFill>
              </a:rPr>
              <a:t>17/04/2013</a:t>
            </a:fld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9552" y="61139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 smtClean="0">
                <a:solidFill>
                  <a:schemeClr val="bg1"/>
                </a:solidFill>
              </a:rPr>
              <a:t>Level 7</a:t>
            </a:r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95536" y="2492896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95536" y="3429000"/>
            <a:ext cx="432048" cy="43204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95536" y="4725144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7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Inequalities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&lt;  means “less than”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&gt;  means “greater than”</a:t>
            </a:r>
          </a:p>
          <a:p>
            <a:pPr>
              <a:buFont typeface="Wingdings"/>
              <a:buChar char="Ø"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≤  means “less than or equal to”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≥  means “greater than or equal to”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405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Inequalities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GB" dirty="0" smtClean="0"/>
                  <a:t>What do these inequalities mean?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  <m:r>
                      <a:rPr lang="en-GB" i="1" dirty="0" smtClean="0">
                        <a:latin typeface="Cambria Math"/>
                      </a:rPr>
                      <m:t> &gt; 7</m:t>
                    </m:r>
                  </m:oMath>
                </a14:m>
                <a:endParaRPr lang="en-GB" dirty="0" smtClean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  <m:r>
                      <a:rPr lang="en-GB" i="1" dirty="0" smtClean="0">
                        <a:latin typeface="Cambria Math"/>
                      </a:rPr>
                      <m:t> ≤3</m:t>
                    </m:r>
                  </m:oMath>
                </a14:m>
                <a:endParaRPr lang="en-GB" b="0" dirty="0" smtClean="0">
                  <a:ea typeface="Cambria Math"/>
                </a:endParaRPr>
              </a:p>
              <a:p>
                <a:endParaRPr lang="en-GB" dirty="0" smtClean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5&lt;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&lt;9</m:t>
                    </m:r>
                  </m:oMath>
                </a14:m>
                <a:endParaRPr lang="en-GB" b="0" dirty="0" smtClean="0"/>
              </a:p>
              <a:p>
                <a:endParaRPr lang="en-GB" dirty="0" smtClean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0.3&lt;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≤3.6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35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23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08112"/>
          </a:xfrm>
        </p:spPr>
        <p:txBody>
          <a:bodyPr/>
          <a:lstStyle/>
          <a:p>
            <a:r>
              <a:rPr lang="en-GB" dirty="0" smtClean="0"/>
              <a:t>Inequalities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760"/>
                <a:ext cx="8229600" cy="54006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GB" dirty="0" smtClean="0"/>
                  <a:t>An </a:t>
                </a:r>
                <a:r>
                  <a:rPr lang="en-GB" b="1" dirty="0" smtClean="0"/>
                  <a:t>integer</a:t>
                </a:r>
                <a:r>
                  <a:rPr lang="en-GB" dirty="0" smtClean="0"/>
                  <a:t> is a whole number.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 smtClean="0"/>
                  <a:t>What integers satisfy these inequalities?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0&lt;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&lt;6</m:t>
                    </m:r>
                  </m:oMath>
                </a14:m>
                <a:endParaRPr lang="en-GB" b="0" dirty="0" smtClean="0"/>
              </a:p>
              <a:p>
                <a:endParaRPr lang="en-GB" dirty="0" smtClean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−4&lt;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≤3</m:t>
                    </m:r>
                  </m:oMath>
                </a14:m>
                <a:endParaRPr lang="en-GB" b="0" dirty="0" smtClean="0">
                  <a:ea typeface="Cambria Math"/>
                </a:endParaRPr>
              </a:p>
              <a:p>
                <a:endParaRPr lang="en-GB" dirty="0" smtClean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−7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≤−1</m:t>
                    </m:r>
                  </m:oMath>
                </a14:m>
                <a:endParaRPr lang="en-GB" b="0" dirty="0" smtClean="0">
                  <a:ea typeface="Cambria Math"/>
                </a:endParaRPr>
              </a:p>
              <a:p>
                <a:endParaRPr lang="en-GB" dirty="0" smtClean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3.4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&lt;7</m:t>
                    </m:r>
                  </m:oMath>
                </a14:m>
                <a:endParaRPr lang="en-GB" b="0" dirty="0" smtClean="0">
                  <a:ea typeface="Cambria Math"/>
                </a:endParaRPr>
              </a:p>
              <a:p>
                <a:endParaRPr lang="en-GB" dirty="0" smtClean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−2.1&lt;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&lt;3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760"/>
                <a:ext cx="8229600" cy="5400600"/>
              </a:xfrm>
              <a:blipFill rotWithShape="1">
                <a:blip r:embed="rId2"/>
                <a:stretch>
                  <a:fillRect l="-1185" t="-2032" b="-12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58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Inequalities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You will often be asked to represent an inequality on a number line.</a:t>
            </a:r>
          </a:p>
          <a:p>
            <a:endParaRPr lang="en-GB" dirty="0"/>
          </a:p>
          <a:p>
            <a:r>
              <a:rPr lang="en-GB" dirty="0" smtClean="0"/>
              <a:t>To do this we use circles to signify the start and end points and a line to represent the range of possible values</a:t>
            </a:r>
          </a:p>
          <a:p>
            <a:endParaRPr lang="en-GB" dirty="0"/>
          </a:p>
          <a:p>
            <a:r>
              <a:rPr lang="en-GB" dirty="0" smtClean="0"/>
              <a:t>You need to learn the following key:</a:t>
            </a:r>
          </a:p>
          <a:p>
            <a:pPr marL="0" indent="0">
              <a:buNone/>
            </a:pPr>
            <a:r>
              <a:rPr lang="en-GB" dirty="0" smtClean="0"/>
              <a:t>	 means that value isn’t included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smtClean="0"/>
              <a:t> means that value is included</a:t>
            </a:r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1115616" y="5055688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1115616" y="5517232"/>
            <a:ext cx="288032" cy="2880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76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Inequalities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For example: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&gt;5 </m:t>
                    </m:r>
                  </m:oMath>
                </a14:m>
                <a:r>
                  <a:rPr lang="en-GB" dirty="0" smtClean="0"/>
                  <a:t>means that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can take any value greater than 5. This would be shown on a number line as: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1331640" y="4797152"/>
            <a:ext cx="5400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331640" y="4538616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103154" y="4547458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874668" y="4547458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646182" y="4547458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417696" y="4547458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189210" y="4547458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960724" y="4547458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732240" y="4538616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43608" y="504627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3331" y="504627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5</a:t>
            </a:r>
            <a:endParaRPr lang="en-GB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2586636" y="504627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6</a:t>
            </a:r>
            <a:endParaRPr lang="en-GB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3358150" y="504627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7</a:t>
            </a:r>
            <a:endParaRPr lang="en-GB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4129664" y="504627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8</a:t>
            </a:r>
            <a:endParaRPr lang="en-GB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4901178" y="504627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9</a:t>
            </a:r>
            <a:endParaRPr lang="en-GB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5672692" y="504627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10</a:t>
            </a:r>
            <a:endParaRPr lang="en-GB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6444208" y="504627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11</a:t>
            </a:r>
            <a:endParaRPr lang="en-GB" sz="2800" dirty="0"/>
          </a:p>
        </p:txBody>
      </p:sp>
      <p:sp>
        <p:nvSpPr>
          <p:cNvPr id="24" name="Oval 23"/>
          <p:cNvSpPr/>
          <p:nvPr/>
        </p:nvSpPr>
        <p:spPr>
          <a:xfrm>
            <a:off x="1962599" y="4005064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Arrow Connector 25"/>
          <p:cNvCxnSpPr>
            <a:stCxn id="24" idx="6"/>
          </p:cNvCxnSpPr>
          <p:nvPr/>
        </p:nvCxnSpPr>
        <p:spPr>
          <a:xfrm>
            <a:off x="2250631" y="4149080"/>
            <a:ext cx="4481609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1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Inequalities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−2&lt;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≤4</m:t>
                    </m:r>
                  </m:oMath>
                </a14:m>
                <a:r>
                  <a:rPr lang="en-GB" dirty="0" smtClean="0"/>
                  <a:t> means that x can take values which are greater than -2 and up to and including 4.</a:t>
                </a:r>
              </a:p>
              <a:p>
                <a:endParaRPr lang="en-GB" dirty="0"/>
              </a:p>
              <a:p>
                <a:r>
                  <a:rPr lang="en-GB" dirty="0" smtClean="0"/>
                  <a:t>This would be represented on a number line as: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1403648" y="5536980"/>
            <a:ext cx="5400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403648" y="5278444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75162" y="5287286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946676" y="5287286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718190" y="5287286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489704" y="5287286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261218" y="5287286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32732" y="5287286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804248" y="5278444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15616" y="57861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-3</a:t>
            </a:r>
            <a:endParaRPr lang="en-GB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1905339" y="57861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-2</a:t>
            </a:r>
            <a:endParaRPr lang="en-GB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2658644" y="57861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-1</a:t>
            </a:r>
            <a:endParaRPr lang="en-GB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3430158" y="57861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0</a:t>
            </a:r>
            <a:endParaRPr lang="en-GB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4201672" y="57861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1</a:t>
            </a:r>
            <a:endParaRPr lang="en-GB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4973186" y="57861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2</a:t>
            </a:r>
            <a:endParaRPr lang="en-GB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5744700" y="57861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3</a:t>
            </a:r>
            <a:endParaRPr lang="en-GB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6516216" y="57861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4</a:t>
            </a:r>
            <a:endParaRPr lang="en-GB" sz="2800" dirty="0"/>
          </a:p>
        </p:txBody>
      </p:sp>
      <p:sp>
        <p:nvSpPr>
          <p:cNvPr id="21" name="Oval 20"/>
          <p:cNvSpPr/>
          <p:nvPr/>
        </p:nvSpPr>
        <p:spPr>
          <a:xfrm>
            <a:off x="2034607" y="4744892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/>
          <p:cNvCxnSpPr>
            <a:stCxn id="21" idx="6"/>
          </p:cNvCxnSpPr>
          <p:nvPr/>
        </p:nvCxnSpPr>
        <p:spPr>
          <a:xfrm>
            <a:off x="2322639" y="4888908"/>
            <a:ext cx="448160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660232" y="4752908"/>
            <a:ext cx="288032" cy="2880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29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Inequalities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On your whiteboards, draw a number line from -5 to 5. On your number line, draw the following inequalities:</a:t>
            </a:r>
          </a:p>
          <a:p>
            <a:endParaRPr lang="en-GB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51720" y="3789040"/>
                <a:ext cx="50405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𝑥</m:t>
                      </m:r>
                      <m:r>
                        <a:rPr lang="en-GB" sz="3600" b="0" i="1" smtClean="0">
                          <a:latin typeface="Cambria Math"/>
                        </a:rPr>
                        <m:t>&lt;4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3789040"/>
                <a:ext cx="5040560" cy="6463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47664" y="5301208"/>
                <a:ext cx="50405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𝑥</m:t>
                      </m:r>
                      <m:r>
                        <a:rPr lang="en-GB" sz="3600" b="0" i="1" smtClean="0">
                          <a:latin typeface="Cambria Math"/>
                        </a:rPr>
                        <m:t>&lt;0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5301208"/>
                <a:ext cx="5040560" cy="64633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55776" y="4654877"/>
                <a:ext cx="50405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𝑥</m:t>
                      </m:r>
                      <m:r>
                        <a:rPr lang="en-GB" sz="3600" b="0" i="1" smtClean="0">
                          <a:latin typeface="Cambria Math"/>
                        </a:rPr>
                        <m:t>&gt;−3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4654877"/>
                <a:ext cx="5040560" cy="64633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3568" y="3500608"/>
                <a:ext cx="50405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𝑥</m:t>
                      </m:r>
                      <m:r>
                        <a:rPr lang="en-GB" sz="3600" b="0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n-GB" sz="36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500608"/>
                <a:ext cx="504056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13842" y="4331711"/>
                <a:ext cx="50405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0&lt;</m:t>
                      </m:r>
                      <m:r>
                        <a:rPr lang="en-GB" sz="3600" b="0" i="1" smtClean="0">
                          <a:latin typeface="Cambria Math"/>
                        </a:rPr>
                        <m:t>𝑥</m:t>
                      </m:r>
                      <m:r>
                        <a:rPr lang="en-GB" sz="3600" b="0" i="1" smtClean="0">
                          <a:latin typeface="Cambria Math"/>
                        </a:rPr>
                        <m:t>&lt;5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842" y="4331711"/>
                <a:ext cx="5040560" cy="64633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491880" y="3177442"/>
                <a:ext cx="50405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−4</m:t>
                      </m:r>
                      <m:r>
                        <a:rPr lang="en-GB" sz="3600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GB" sz="3600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GB" sz="3600" b="0" i="1" smtClean="0">
                          <a:latin typeface="Cambria Math"/>
                          <a:ea typeface="Cambria Math"/>
                        </a:rPr>
                        <m:t>&lt;4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3177442"/>
                <a:ext cx="5040560" cy="64633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644280" y="5301208"/>
                <a:ext cx="50405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−5</m:t>
                      </m:r>
                      <m:r>
                        <a:rPr lang="en-GB" sz="3600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GB" sz="3600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GB" sz="3600" b="0" i="1" smtClean="0">
                          <a:latin typeface="Cambria Math"/>
                          <a:ea typeface="Cambria Math"/>
                        </a:rPr>
                        <m:t>≤−1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280" y="5301208"/>
                <a:ext cx="5040560" cy="64633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27584" y="4435371"/>
                <a:ext cx="50405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−−2&lt;</m:t>
                      </m:r>
                      <m:r>
                        <a:rPr lang="en-GB" sz="3600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GB" sz="3600" b="0" i="1" smtClean="0">
                          <a:latin typeface="Cambria Math"/>
                          <a:ea typeface="Cambria Math"/>
                        </a:rPr>
                        <m:t>≤5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435371"/>
                <a:ext cx="5040560" cy="64633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103440" y="4146939"/>
                <a:ext cx="50405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−3.5</m:t>
                      </m:r>
                      <m:r>
                        <a:rPr lang="en-GB" sz="3600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GB" sz="3600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GB" sz="3600" b="0" i="1" smtClean="0">
                          <a:latin typeface="Cambria Math"/>
                          <a:ea typeface="Cambria Math"/>
                        </a:rPr>
                        <m:t>&lt;0.5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440" y="4146939"/>
                <a:ext cx="5040560" cy="646331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601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Starter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Match the inequalities to the number lines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5845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Inequalities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You solve an inequality in exactly the same way as you do an equation except:</a:t>
            </a:r>
          </a:p>
          <a:p>
            <a:endParaRPr lang="en-GB" dirty="0"/>
          </a:p>
          <a:p>
            <a:pPr lvl="1"/>
            <a:r>
              <a:rPr lang="en-GB" dirty="0" smtClean="0"/>
              <a:t>you use an inequality symbol rather than equal sign</a:t>
            </a:r>
          </a:p>
          <a:p>
            <a:pPr lvl="1"/>
            <a:r>
              <a:rPr lang="en-GB" dirty="0" smtClean="0"/>
              <a:t>you </a:t>
            </a:r>
            <a:r>
              <a:rPr lang="en-GB" b="1" u="sng" dirty="0" smtClean="0"/>
              <a:t>must</a:t>
            </a:r>
            <a:r>
              <a:rPr lang="en-GB" dirty="0" smtClean="0"/>
              <a:t> flip the sign if you </a:t>
            </a:r>
            <a:r>
              <a:rPr lang="en-GB" b="1" u="sng" dirty="0" smtClean="0"/>
              <a:t>multiply or divide</a:t>
            </a:r>
            <a:r>
              <a:rPr lang="en-GB" b="1" dirty="0" smtClean="0"/>
              <a:t> </a:t>
            </a:r>
            <a:r>
              <a:rPr lang="en-GB" dirty="0" smtClean="0"/>
              <a:t>by a negative number</a:t>
            </a:r>
          </a:p>
        </p:txBody>
      </p:sp>
    </p:spTree>
    <p:extLst>
      <p:ext uri="{BB962C8B-B14F-4D97-AF65-F5344CB8AC3E}">
        <p14:creationId xmlns:p14="http://schemas.microsoft.com/office/powerpoint/2010/main" val="61312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Inequalities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3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– 5 &gt; 13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3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&gt; 18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&gt; 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27584" y="2708920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rgbClr val="FF0000"/>
                </a:solidFill>
              </a:rPr>
              <a:t>(+ 5)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64288" y="2701331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rgbClr val="FF0000"/>
                </a:solidFill>
              </a:rPr>
              <a:t>(+ 5)</a:t>
            </a:r>
            <a:endParaRPr lang="en-GB" sz="2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27584" y="3769876"/>
                <a:ext cx="12241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 smtClean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𝟑</m:t>
                    </m:r>
                  </m:oMath>
                </a14:m>
                <a:r>
                  <a:rPr lang="en-GB" sz="2800" b="1" dirty="0" smtClean="0">
                    <a:solidFill>
                      <a:srgbClr val="FF0000"/>
                    </a:solidFill>
                  </a:rPr>
                  <a:t>)</a:t>
                </a:r>
                <a:endParaRPr lang="en-GB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769876"/>
                <a:ext cx="1224136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0448"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164288" y="3762287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rgbClr val="FF0000"/>
                </a:solidFill>
              </a:rPr>
              <a:t>(÷ 3)</a:t>
            </a:r>
            <a:endParaRPr lang="en-GB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13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Inequalities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6(2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+ 7) ≤ 150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12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+ 42 ≤ 150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12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≤ 108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≤ 9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27584" y="3724621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rgbClr val="FF0000"/>
                </a:solidFill>
              </a:rPr>
              <a:t>(- 42)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64288" y="3717032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rgbClr val="FF0000"/>
                </a:solidFill>
              </a:rPr>
              <a:t>(- 42)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4740322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rgbClr val="FF0000"/>
                </a:solidFill>
              </a:rPr>
              <a:t>(÷ 12)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64288" y="4732733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rgbClr val="FF0000"/>
                </a:solidFill>
              </a:rPr>
              <a:t>(÷ 12)</a:t>
            </a:r>
            <a:endParaRPr lang="en-GB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89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Inequalities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514350" indent="-514350">
                  <a:buAutoNum type="alphaLcParenR"/>
                </a:pPr>
                <a:r>
                  <a:rPr lang="en-GB" dirty="0" smtClean="0"/>
                  <a:t>Solve the inequality     4x + 11 ≥ 35 </a:t>
                </a:r>
              </a:p>
              <a:p>
                <a:pPr marL="514350" indent="-514350">
                  <a:buAutoNum type="alphaLcParenR"/>
                </a:pPr>
                <a:endParaRPr lang="en-GB" dirty="0"/>
              </a:p>
              <a:p>
                <a:pPr marL="514350" indent="-514350">
                  <a:buAutoNum type="alphaLcParenR"/>
                </a:pPr>
                <a:r>
                  <a:rPr lang="en-GB" dirty="0" smtClean="0"/>
                  <a:t>Represent the solution on a number line</a:t>
                </a:r>
              </a:p>
              <a:p>
                <a:pPr marL="514350" indent="-514350">
                  <a:buAutoNum type="alphaLcParenR"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4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+ 11 ≥ 35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4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≥ 24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≥ 6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 smtClean="0"/>
                  <a:t> 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28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3131840" y="5753004"/>
            <a:ext cx="31597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131840" y="5494468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903354" y="5503310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674868" y="5503310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446382" y="5503310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217896" y="5503310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43808" y="600212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3531" y="600212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6</a:t>
            </a:r>
            <a:endParaRPr lang="en-GB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4386836" y="600212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8350" y="600212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9864" y="600212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21" name="Oval 20"/>
          <p:cNvSpPr/>
          <p:nvPr/>
        </p:nvSpPr>
        <p:spPr>
          <a:xfrm>
            <a:off x="3762799" y="5157192"/>
            <a:ext cx="288032" cy="2880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/>
          <p:cNvCxnSpPr>
            <a:stCxn id="21" idx="6"/>
          </p:cNvCxnSpPr>
          <p:nvPr/>
        </p:nvCxnSpPr>
        <p:spPr>
          <a:xfrm>
            <a:off x="4050831" y="5301208"/>
            <a:ext cx="224080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7544" y="3451066"/>
            <a:ext cx="11521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 smtClean="0"/>
              <a:t>a)</a:t>
            </a:r>
            <a:endParaRPr lang="en-GB" sz="3000" dirty="0"/>
          </a:p>
        </p:txBody>
      </p:sp>
      <p:sp>
        <p:nvSpPr>
          <p:cNvPr id="26" name="TextBox 25"/>
          <p:cNvSpPr txBox="1"/>
          <p:nvPr/>
        </p:nvSpPr>
        <p:spPr>
          <a:xfrm>
            <a:off x="467544" y="5035242"/>
            <a:ext cx="11521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b</a:t>
            </a:r>
            <a:r>
              <a:rPr lang="en-GB" sz="3000" dirty="0" smtClean="0"/>
              <a:t>)</a:t>
            </a:r>
            <a:endParaRPr lang="en-GB" sz="3000" dirty="0"/>
          </a:p>
        </p:txBody>
      </p:sp>
      <p:sp>
        <p:nvSpPr>
          <p:cNvPr id="27" name="TextBox 26"/>
          <p:cNvSpPr txBox="1"/>
          <p:nvPr/>
        </p:nvSpPr>
        <p:spPr>
          <a:xfrm>
            <a:off x="1403648" y="3978311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(- 11)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51851" y="3998482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(- 11)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03648" y="4437112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(÷ 4)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36361" y="4437112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(÷ 4)</a:t>
            </a:r>
            <a:endParaRPr lang="en-GB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6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14" grpId="0"/>
      <p:bldP spid="15" grpId="0"/>
      <p:bldP spid="16" grpId="0"/>
      <p:bldP spid="17" grpId="0"/>
      <p:bldP spid="21" grpId="0" animBg="1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Inequalities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On your whiteboards, solve the following inequalities and represent the solution on a number line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483768" y="3789040"/>
                <a:ext cx="4392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 dirty="0" smtClean="0">
                          <a:latin typeface="Cambria Math"/>
                        </a:rPr>
                        <m:t>2</m:t>
                      </m:r>
                      <m:r>
                        <a:rPr lang="en-GB" sz="3600" i="1" dirty="0" smtClean="0">
                          <a:latin typeface="Cambria Math"/>
                        </a:rPr>
                        <m:t>𝑥</m:t>
                      </m:r>
                      <m:r>
                        <a:rPr lang="en-GB" sz="3600" i="1" dirty="0" smtClean="0">
                          <a:latin typeface="Cambria Math"/>
                        </a:rPr>
                        <m:t> + 3 &gt; 11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3789040"/>
                <a:ext cx="4392488" cy="6463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19872" y="3128983"/>
                <a:ext cx="4392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dirty="0" smtClean="0">
                          <a:latin typeface="Cambria Math"/>
                        </a:rPr>
                        <m:t>5</m:t>
                      </m:r>
                      <m:r>
                        <a:rPr lang="en-GB" sz="3600" b="0" i="1" dirty="0" smtClean="0">
                          <a:latin typeface="Cambria Math"/>
                        </a:rPr>
                        <m:t>𝑥</m:t>
                      </m:r>
                      <m:r>
                        <a:rPr lang="en-GB" sz="3600" b="0" i="1" dirty="0" smtClean="0">
                          <a:latin typeface="Cambria Math"/>
                        </a:rPr>
                        <m:t>+5&lt;30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3128983"/>
                <a:ext cx="4392488" cy="64633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27584" y="4653136"/>
                <a:ext cx="4392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dirty="0" smtClean="0">
                          <a:latin typeface="Cambria Math"/>
                        </a:rPr>
                        <m:t>4</m:t>
                      </m:r>
                      <m:r>
                        <a:rPr lang="en-GB" sz="3600" b="0" i="1" dirty="0" smtClean="0">
                          <a:latin typeface="Cambria Math"/>
                        </a:rPr>
                        <m:t>𝑥</m:t>
                      </m:r>
                      <m:r>
                        <a:rPr lang="en-GB" sz="3600" b="0" i="1" dirty="0" smtClean="0">
                          <a:latin typeface="Cambria Math"/>
                        </a:rPr>
                        <m:t> −9&lt;11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653136"/>
                <a:ext cx="4392488" cy="64633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72000" y="4672527"/>
                <a:ext cx="4392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dirty="0" smtClean="0">
                          <a:latin typeface="Cambria Math"/>
                        </a:rPr>
                        <m:t>10</m:t>
                      </m:r>
                      <m:r>
                        <a:rPr lang="en-GB" sz="3600" b="0" i="1" dirty="0" smtClean="0">
                          <a:latin typeface="Cambria Math"/>
                        </a:rPr>
                        <m:t>𝑥</m:t>
                      </m:r>
                      <m:r>
                        <a:rPr lang="en-GB" sz="3600" b="0" i="1" dirty="0" smtClean="0">
                          <a:latin typeface="Cambria Math"/>
                        </a:rPr>
                        <m:t> −7 ≤−17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672527"/>
                <a:ext cx="4392488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9671" y="3405585"/>
                <a:ext cx="4392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 dirty="0" smtClean="0">
                          <a:latin typeface="Cambria Math"/>
                        </a:rPr>
                        <m:t>7</m:t>
                      </m:r>
                      <m:r>
                        <a:rPr lang="en-GB" sz="3600" b="0" i="1" dirty="0" smtClean="0">
                          <a:latin typeface="Cambria Math"/>
                        </a:rPr>
                        <m:t>𝑥</m:t>
                      </m:r>
                      <m:r>
                        <a:rPr lang="en-GB" sz="3600" b="0" i="1" dirty="0" smtClean="0">
                          <a:latin typeface="Cambria Math"/>
                        </a:rPr>
                        <m:t>+3≥0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71" y="3405585"/>
                <a:ext cx="4392488" cy="64633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67744" y="5382495"/>
                <a:ext cx="43924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dirty="0" smtClean="0">
                          <a:latin typeface="Cambria Math"/>
                        </a:rPr>
                        <m:t>15−2</m:t>
                      </m:r>
                      <m:r>
                        <a:rPr lang="en-GB" sz="3600" b="0" i="1" dirty="0" smtClean="0">
                          <a:latin typeface="Cambria Math"/>
                        </a:rPr>
                        <m:t>𝑥</m:t>
                      </m:r>
                      <m:r>
                        <a:rPr lang="en-GB" sz="3600" b="0" i="1" dirty="0" smtClean="0">
                          <a:latin typeface="Cambria Math"/>
                        </a:rPr>
                        <m:t>&gt;3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5382495"/>
                <a:ext cx="4392488" cy="64633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25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Inequalities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Solve the inequality:</a:t>
                </a:r>
              </a:p>
              <a:p>
                <a:endParaRPr lang="en-GB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−8 ≤ 3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– 17 &lt; 19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9 ≤ 3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&lt; 36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3 ≤ 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&lt; 12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921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Inequalities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2 &lt; 12 – 5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&lt; 27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−10 &lt; −5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&lt; 15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2 &gt; 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&gt; −3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−3 &lt; 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&lt; 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34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Starter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GB" dirty="0" smtClean="0"/>
                  <a:t>Solve the inequalities: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5</m:t>
                    </m:r>
                    <m:r>
                      <a:rPr lang="en-GB" i="1" dirty="0" smtClean="0">
                        <a:latin typeface="Cambria Math"/>
                      </a:rPr>
                      <m:t>𝑥</m:t>
                    </m:r>
                    <m:r>
                      <a:rPr lang="en-GB" i="1" dirty="0" smtClean="0">
                        <a:latin typeface="Cambria Math"/>
                      </a:rPr>
                      <m:t> – 1 &gt; 14</m:t>
                    </m:r>
                  </m:oMath>
                </a14:m>
                <a:endParaRPr lang="en-GB" dirty="0" smtClean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2</m:t>
                    </m:r>
                    <m:r>
                      <a:rPr lang="en-GB" i="1" dirty="0" smtClean="0">
                        <a:latin typeface="Cambria Math"/>
                      </a:rPr>
                      <m:t>𝑥</m:t>
                    </m:r>
                    <m:r>
                      <a:rPr lang="en-GB" i="1" dirty="0" smtClean="0">
                        <a:latin typeface="Cambria Math"/>
                      </a:rPr>
                      <m:t> – 7 &lt; 8</m:t>
                    </m:r>
                    <m:r>
                      <a:rPr lang="en-GB" i="1" dirty="0" smtClean="0">
                        <a:latin typeface="Cambria Math"/>
                      </a:rPr>
                      <m:t>𝑥</m:t>
                    </m:r>
                    <m:r>
                      <a:rPr lang="en-GB" i="1" dirty="0" smtClean="0">
                        <a:latin typeface="Cambria Math"/>
                      </a:rPr>
                      <m:t> + 11</m:t>
                    </m:r>
                  </m:oMath>
                </a14:m>
                <a:endParaRPr lang="en-GB" dirty="0" smtClean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31 &lt; 3</m:t>
                    </m:r>
                    <m:r>
                      <a:rPr lang="en-GB" i="1" dirty="0" smtClean="0">
                        <a:latin typeface="Cambria Math"/>
                      </a:rPr>
                      <m:t>𝑥</m:t>
                    </m:r>
                    <m:r>
                      <a:rPr lang="en-GB" i="1" dirty="0" smtClean="0">
                        <a:latin typeface="Cambria Math"/>
                      </a:rPr>
                      <m:t> + 13 ≤ 46</m:t>
                    </m:r>
                  </m:oMath>
                </a14:m>
                <a:endParaRPr lang="en-GB" dirty="0" smtClean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−6 ≤ 14 – 10</m:t>
                    </m:r>
                    <m:r>
                      <a:rPr lang="en-GB" i="1" dirty="0" smtClean="0">
                        <a:latin typeface="Cambria Math"/>
                      </a:rPr>
                      <m:t>𝑥</m:t>
                    </m:r>
                    <m:r>
                      <a:rPr lang="en-GB" i="1" dirty="0" smtClean="0">
                        <a:latin typeface="Cambria Math"/>
                      </a:rPr>
                      <m:t> &lt; 17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35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395536" y="2636912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95536" y="5589240"/>
            <a:ext cx="360040" cy="36004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95536" y="4581128"/>
            <a:ext cx="360040" cy="36004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395536" y="3645024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5-Point Star 7"/>
          <p:cNvSpPr/>
          <p:nvPr/>
        </p:nvSpPr>
        <p:spPr>
          <a:xfrm>
            <a:off x="431540" y="5625244"/>
            <a:ext cx="288032" cy="288032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2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>
                <a:solidFill>
                  <a:schemeClr val="bg1"/>
                </a:solidFill>
              </a:rPr>
              <a:t>Solving Inequalities</a:t>
            </a:r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</a:rPr>
              <a:t>Learning Objectives: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Able to solve simple linear inequalities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Able to solve more complex linear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smtClean="0">
                <a:solidFill>
                  <a:schemeClr val="bg1"/>
                </a:solidFill>
              </a:rPr>
              <a:t>   inequalities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Able to solve non-linear inequalities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36296" y="61139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642F92C-A635-44E3-AB25-264B7BA2E61D}" type="datetime1">
              <a:rPr lang="en-GB" u="sng" smtClean="0">
                <a:solidFill>
                  <a:schemeClr val="bg1"/>
                </a:solidFill>
              </a:rPr>
              <a:t>17/04/2013</a:t>
            </a:fld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552" y="683404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 smtClean="0">
                <a:solidFill>
                  <a:schemeClr val="bg1"/>
                </a:solidFill>
              </a:rPr>
              <a:t>Level 7</a:t>
            </a:r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467544" y="270892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67544" y="5415728"/>
            <a:ext cx="360040" cy="36004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467544" y="3789040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82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Inequalities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GB" b="0" dirty="0" smtClean="0"/>
              </a:p>
              <a:p>
                <a:pPr marL="0" indent="0" algn="ctr">
                  <a:buNone/>
                </a:pPr>
                <a:endParaRPr lang="en-GB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=3  </m:t>
                      </m:r>
                      <m:r>
                        <a:rPr lang="en-GB" b="0" i="1" smtClean="0">
                          <a:latin typeface="Cambria Math"/>
                        </a:rPr>
                        <m:t>𝑜𝑟</m:t>
                      </m:r>
                      <m:r>
                        <a:rPr lang="en-GB" b="0" i="1" smtClean="0">
                          <a:latin typeface="Cambria Math"/>
                        </a:rPr>
                        <m:t>  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=−3</m:t>
                      </m:r>
                    </m:oMath>
                  </m:oMathPara>
                </a14:m>
                <a:endParaRPr lang="en-GB" b="0" dirty="0" smtClean="0"/>
              </a:p>
              <a:p>
                <a:pPr marL="0" indent="0" algn="ctr">
                  <a:buNone/>
                </a:pPr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487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Inequalities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&lt;9</m:t>
                      </m:r>
                    </m:oMath>
                  </m:oMathPara>
                </a14:m>
                <a:endParaRPr lang="en-GB" b="0" dirty="0" smtClean="0"/>
              </a:p>
              <a:p>
                <a:pPr marL="0" indent="0" algn="ctr">
                  <a:buNone/>
                </a:pPr>
                <a:endParaRPr lang="en-GB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&lt; 3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 smtClean="0"/>
                  <a:t>This </a:t>
                </a:r>
                <a:r>
                  <a:rPr lang="en-GB" dirty="0" smtClean="0"/>
                  <a:t>satisfies </a:t>
                </a:r>
                <a:r>
                  <a:rPr lang="en-GB" dirty="0" smtClean="0"/>
                  <a:t>the inequality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 smtClean="0"/>
                  <a:t>Does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  <m:r>
                      <a:rPr lang="en-GB" b="0" i="1" dirty="0" smtClean="0">
                        <a:latin typeface="Cambria Math"/>
                      </a:rPr>
                      <m:t>&lt;</m:t>
                    </m:r>
                    <m:r>
                      <a:rPr lang="en-GB" i="1" dirty="0" smtClean="0">
                        <a:latin typeface="Cambria Math"/>
                      </a:rPr>
                      <m:t> −3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dirty="0" smtClean="0"/>
                  <a:t>?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 smtClean="0"/>
                  <a:t>It must be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  <m:r>
                      <a:rPr lang="en-GB" i="1" dirty="0" smtClean="0">
                        <a:latin typeface="Cambria Math"/>
                      </a:rPr>
                      <m:t> &gt; −3</m:t>
                    </m:r>
                  </m:oMath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 smtClean="0"/>
                  <a:t>So:  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−3 &lt; </m:t>
                    </m:r>
                    <m:r>
                      <a:rPr lang="en-GB" i="1" dirty="0" smtClean="0">
                        <a:latin typeface="Cambria Math"/>
                      </a:rPr>
                      <m:t>𝑥</m:t>
                    </m:r>
                    <m:r>
                      <a:rPr lang="en-GB" i="1" dirty="0" smtClean="0">
                        <a:latin typeface="Cambria Math"/>
                      </a:rPr>
                      <m:t> &lt; 3</m:t>
                    </m:r>
                  </m:oMath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34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Inequalities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&gt;9</m:t>
                      </m:r>
                    </m:oMath>
                  </m:oMathPara>
                </a14:m>
                <a:endParaRPr lang="en-GB" b="0" dirty="0" smtClean="0"/>
              </a:p>
              <a:p>
                <a:pPr marL="0" indent="0" algn="ctr">
                  <a:buNone/>
                </a:pPr>
                <a:endParaRPr lang="en-GB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&gt; 3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Does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𝑥</m:t>
                    </m:r>
                    <m:r>
                      <a:rPr lang="en-GB" b="0" i="1" dirty="0" smtClean="0">
                        <a:latin typeface="Cambria Math"/>
                      </a:rPr>
                      <m:t>&gt;</m:t>
                    </m:r>
                    <m:r>
                      <a:rPr lang="en-GB" i="1" dirty="0">
                        <a:latin typeface="Cambria Math"/>
                      </a:rPr>
                      <m:t> −3 </m:t>
                    </m:r>
                  </m:oMath>
                </a14:m>
                <a:r>
                  <a:rPr lang="en-GB" dirty="0"/>
                  <a:t>?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It must be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𝑥</m:t>
                    </m:r>
                    <m:r>
                      <a:rPr lang="en-GB" b="0" i="1" dirty="0" smtClean="0">
                        <a:latin typeface="Cambria Math"/>
                      </a:rPr>
                      <m:t>&lt;</m:t>
                    </m:r>
                    <m:r>
                      <a:rPr lang="en-GB" i="1" dirty="0">
                        <a:latin typeface="Cambria Math"/>
                      </a:rPr>
                      <m:t> −3</m:t>
                    </m:r>
                  </m:oMath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So:  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  <m:r>
                      <a:rPr lang="en-GB" b="0" i="1" dirty="0" smtClean="0">
                        <a:latin typeface="Cambria Math"/>
                      </a:rPr>
                      <m:t>&lt;−3</m:t>
                    </m:r>
                    <m:r>
                      <a:rPr lang="en-GB" b="0" i="1" dirty="0" smtClean="0">
                        <a:latin typeface="Cambria Math"/>
                      </a:rPr>
                      <m:t>,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</a:rPr>
                      <m:t>𝑥</m:t>
                    </m:r>
                    <m:r>
                      <a:rPr lang="en-GB" b="0" i="1" dirty="0" smtClean="0">
                        <a:latin typeface="Cambria Math"/>
                      </a:rPr>
                      <m:t>&gt;3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49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Inequalities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Solve the inequalities and match them to the answers to form a large hexagon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742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755</Words>
  <Application>Microsoft Office PowerPoint</Application>
  <PresentationFormat>On-screen Show (4:3)</PresentationFormat>
  <Paragraphs>209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Inequalities</vt:lpstr>
      <vt:lpstr>Inequalities</vt:lpstr>
      <vt:lpstr>Inequalities</vt:lpstr>
      <vt:lpstr>Inequalities</vt:lpstr>
      <vt:lpstr>Inequalities</vt:lpstr>
      <vt:lpstr>Inequalities</vt:lpstr>
      <vt:lpstr>Inequalities</vt:lpstr>
      <vt:lpstr>Inequalities</vt:lpstr>
      <vt:lpstr>Starter</vt:lpstr>
      <vt:lpstr>Solving Inequalities</vt:lpstr>
      <vt:lpstr>Solving Inequalities</vt:lpstr>
      <vt:lpstr>Solving Inequalities</vt:lpstr>
      <vt:lpstr>Solving Inequalities</vt:lpstr>
      <vt:lpstr>Solving Inequalities</vt:lpstr>
      <vt:lpstr>Solving Inequalities</vt:lpstr>
      <vt:lpstr>Solving Inequalities</vt:lpstr>
      <vt:lpstr>Starter</vt:lpstr>
      <vt:lpstr>Solving Inequalities</vt:lpstr>
      <vt:lpstr>Solving Inequalities</vt:lpstr>
      <vt:lpstr>Solving Inequalities</vt:lpstr>
      <vt:lpstr>Solving Inequalities</vt:lpstr>
      <vt:lpstr>Solving Inequalities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Inequalities</dc:title>
  <dc:creator>Daniel Burke</dc:creator>
  <cp:lastModifiedBy>Ringwood School</cp:lastModifiedBy>
  <cp:revision>16</cp:revision>
  <dcterms:created xsi:type="dcterms:W3CDTF">2013-03-17T18:29:21Z</dcterms:created>
  <dcterms:modified xsi:type="dcterms:W3CDTF">2013-04-17T09:56:22Z</dcterms:modified>
</cp:coreProperties>
</file>