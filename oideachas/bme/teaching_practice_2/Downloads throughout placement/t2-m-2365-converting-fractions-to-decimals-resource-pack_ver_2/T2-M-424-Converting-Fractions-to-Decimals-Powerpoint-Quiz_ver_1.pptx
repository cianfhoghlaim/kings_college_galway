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8" r:id="rId2"/>
    <p:sldId id="264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67" r:id="rId13"/>
  </p:sldIdLst>
  <p:sldSz cx="9144000" cy="6858000" type="screen4x3"/>
  <p:notesSz cx="6858000" cy="9144000"/>
  <p:embeddedFontLst>
    <p:embeddedFont>
      <p:font typeface="Twinkl" pitchFamily="2" charset="0"/>
      <p:regular r:id="rId16"/>
      <p:bold r:id="rId17"/>
    </p:embeddedFont>
    <p:embeddedFont>
      <p:font typeface="Twinkl SemiBold" pitchFamily="2" charset="0"/>
      <p:bold r:id="rId18"/>
    </p:embeddedFont>
    <p:embeddedFont>
      <p:font typeface="Sassoon Infant Rg" panose="02000503030000020003" pitchFamily="50" charset="0"/>
      <p:regular r:id="rId19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4" pos="340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pos="5420" userDrawn="1">
          <p15:clr>
            <a:srgbClr val="A4A3A4"/>
          </p15:clr>
        </p15:guide>
        <p15:guide id="7" orient="horz" pos="346" userDrawn="1">
          <p15:clr>
            <a:srgbClr val="A4A3A4"/>
          </p15:clr>
        </p15:guide>
        <p15:guide id="8" pos="476" userDrawn="1">
          <p15:clr>
            <a:srgbClr val="A4A3A4"/>
          </p15:clr>
        </p15:guide>
        <p15:guide id="9" orient="horz" pos="482" userDrawn="1">
          <p15:clr>
            <a:srgbClr val="A4A3A4"/>
          </p15:clr>
        </p15:guide>
        <p15:guide id="10" orient="horz" pos="3838" userDrawn="1">
          <p15:clr>
            <a:srgbClr val="A4A3A4"/>
          </p15:clr>
        </p15:guide>
        <p15:guide id="11" pos="52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18A0DB"/>
    <a:srgbClr val="BC0105"/>
    <a:srgbClr val="4DB1E3"/>
    <a:srgbClr val="DE1E5A"/>
    <a:srgbClr val="80C1EB"/>
    <a:srgbClr val="ACDDFC"/>
    <a:srgbClr val="FFFFFF"/>
    <a:srgbClr val="4AA1D9"/>
    <a:srgbClr val="21A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09" autoAdjust="0"/>
    <p:restoredTop sz="94660"/>
  </p:normalViewPr>
  <p:slideViewPr>
    <p:cSldViewPr snapToGrid="0" showGuides="1">
      <p:cViewPr varScale="1">
        <p:scale>
          <a:sx n="40" d="100"/>
          <a:sy n="40" d="100"/>
        </p:scale>
        <p:origin x="48" y="708"/>
      </p:cViewPr>
      <p:guideLst>
        <p:guide orient="horz" pos="2160"/>
        <p:guide pos="2880"/>
        <p:guide pos="340"/>
        <p:guide orient="horz" pos="3974"/>
        <p:guide pos="5420"/>
        <p:guide orient="horz" pos="346"/>
        <p:guide pos="476"/>
        <p:guide orient="horz" pos="482"/>
        <p:guide orient="horz" pos="3838"/>
        <p:guide pos="528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7" d="100"/>
          <a:sy n="77" d="100"/>
        </p:scale>
        <p:origin x="264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4F151-63AC-41CE-96F5-7702E930870C}" type="datetimeFigureOut">
              <a:rPr lang="en-GB" smtClean="0"/>
              <a:t>18/01/2017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76B846-B279-40AC-BFF5-DBC4013370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3970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2C5D1-7818-41B5-ABAD-5E4B38A5388F}" type="datetimeFigureOut">
              <a:rPr lang="en-GB" smtClean="0"/>
              <a:t>18/01/2017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21341-850D-40E1-BB3D-87946DC9B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04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767" y="6196125"/>
            <a:ext cx="576495" cy="58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4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497" y="5734211"/>
            <a:ext cx="576495" cy="58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71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>
            <a:lvl1pPr>
              <a:defRPr>
                <a:latin typeface="Twinkl SemiBold" pitchFamily="2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079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ms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 userDrawn="1"/>
        </p:nvSpPr>
        <p:spPr bwMode="auto">
          <a:xfrm>
            <a:off x="503239" y="2930434"/>
            <a:ext cx="8137524" cy="3414803"/>
          </a:xfrm>
          <a:prstGeom prst="roundRect">
            <a:avLst>
              <a:gd name="adj" fmla="val 6409"/>
            </a:avLst>
          </a:prstGeom>
          <a:solidFill>
            <a:srgbClr val="FFF9E7"/>
          </a:solidFill>
          <a:ln w="25400" cap="rnd">
            <a:solidFill>
              <a:srgbClr val="FEFB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sp>
        <p:nvSpPr>
          <p:cNvPr id="8" name="Rounded Rectangle 7"/>
          <p:cNvSpPr/>
          <p:nvPr userDrawn="1"/>
        </p:nvSpPr>
        <p:spPr bwMode="auto">
          <a:xfrm>
            <a:off x="503239" y="512763"/>
            <a:ext cx="8137524" cy="2193019"/>
          </a:xfrm>
          <a:prstGeom prst="roundRect">
            <a:avLst>
              <a:gd name="adj" fmla="val 6409"/>
            </a:avLst>
          </a:prstGeom>
          <a:solidFill>
            <a:srgbClr val="FFF9E7"/>
          </a:solidFill>
          <a:ln w="25400" cap="rnd">
            <a:solidFill>
              <a:srgbClr val="FEFB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628650" y="3071286"/>
            <a:ext cx="7886700" cy="540000"/>
          </a:xfrm>
          <a:prstGeom prst="rect">
            <a:avLst/>
          </a:prstGeom>
        </p:spPr>
        <p:txBody>
          <a:bodyPr lIns="0" tIns="0" rIns="0" bIns="0" anchor="ctr" anchorCtr="1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Sassoon Infant Md" panose="02000603050000020003" pitchFamily="50" charset="0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Twinkl" pitchFamily="50" charset="0"/>
              </a:rPr>
              <a:t>Success Criteria</a:t>
            </a:r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628648" y="734785"/>
            <a:ext cx="7886700" cy="540000"/>
          </a:xfrm>
          <a:prstGeom prst="rect">
            <a:avLst/>
          </a:prstGeom>
        </p:spPr>
        <p:txBody>
          <a:bodyPr lIns="0" tIns="0" rIns="0" bIns="0" anchor="ctr" anchorCtr="1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Sassoon Infant Md" panose="02000603050000020003" pitchFamily="50" charset="0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Twinkl" pitchFamily="50" charset="0"/>
              </a:rPr>
              <a:t>Aim</a:t>
            </a:r>
          </a:p>
        </p:txBody>
      </p:sp>
      <p:sp>
        <p:nvSpPr>
          <p:cNvPr id="11" name="Content Placeholder 15"/>
          <p:cNvSpPr>
            <a:spLocks noGrp="1"/>
          </p:cNvSpPr>
          <p:nvPr>
            <p:ph idx="1"/>
          </p:nvPr>
        </p:nvSpPr>
        <p:spPr>
          <a:xfrm>
            <a:off x="628650" y="1127760"/>
            <a:ext cx="7886700" cy="1409700"/>
          </a:xfrm>
        </p:spPr>
        <p:txBody>
          <a:bodyPr>
            <a:normAutofit fontScale="92500" lnSpcReduction="10000"/>
          </a:bodyPr>
          <a:lstStyle>
            <a:lvl1pPr>
              <a:defRPr>
                <a:latin typeface="Twinkl" pitchFamily="50" charset="0"/>
              </a:defRPr>
            </a:lvl1pPr>
            <a:lvl2pPr>
              <a:defRPr/>
            </a:lvl2pPr>
          </a:lstStyle>
          <a:p>
            <a:r>
              <a:rPr lang="en-GB" dirty="0"/>
              <a:t>Statement 1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  <a:p>
            <a:r>
              <a:rPr lang="en-GB" dirty="0"/>
              <a:t>Statement 2</a:t>
            </a:r>
          </a:p>
          <a:p>
            <a:pPr lvl="1"/>
            <a:r>
              <a:rPr lang="en-GB" dirty="0"/>
              <a:t>Sub statement</a:t>
            </a:r>
          </a:p>
        </p:txBody>
      </p:sp>
      <p:sp>
        <p:nvSpPr>
          <p:cNvPr id="12" name="Content Placeholder 15"/>
          <p:cNvSpPr txBox="1">
            <a:spLocks/>
          </p:cNvSpPr>
          <p:nvPr userDrawn="1"/>
        </p:nvSpPr>
        <p:spPr>
          <a:xfrm>
            <a:off x="628650" y="3466803"/>
            <a:ext cx="7886700" cy="1409700"/>
          </a:xfrm>
          <a:prstGeom prst="rect">
            <a:avLst/>
          </a:prstGeom>
          <a:noFill/>
          <a:ln w="25400">
            <a:noFill/>
          </a:ln>
        </p:spPr>
        <p:txBody>
          <a:bodyPr vert="horz" lIns="180000" tIns="252000" rIns="252000" bIns="180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Twinkl" pitchFamily="50" charset="0"/>
              </a:rPr>
              <a:t>Statement 1 Lorem ipsum </a:t>
            </a:r>
            <a:r>
              <a:rPr lang="en-GB" dirty="0" err="1">
                <a:latin typeface="Twinkl" pitchFamily="50" charset="0"/>
              </a:rPr>
              <a:t>dolor</a:t>
            </a:r>
            <a:r>
              <a:rPr lang="en-GB" dirty="0">
                <a:latin typeface="Twinkl" pitchFamily="50" charset="0"/>
              </a:rPr>
              <a:t> sit </a:t>
            </a:r>
            <a:r>
              <a:rPr lang="en-GB" dirty="0" err="1">
                <a:latin typeface="Twinkl" pitchFamily="50" charset="0"/>
              </a:rPr>
              <a:t>amet</a:t>
            </a:r>
            <a:r>
              <a:rPr lang="en-GB" dirty="0">
                <a:latin typeface="Twinkl" pitchFamily="50" charset="0"/>
              </a:rPr>
              <a:t>, </a:t>
            </a:r>
            <a:r>
              <a:rPr lang="en-GB" dirty="0" err="1">
                <a:latin typeface="Twinkl" pitchFamily="50" charset="0"/>
              </a:rPr>
              <a:t>consectetur</a:t>
            </a:r>
            <a:r>
              <a:rPr lang="en-GB" dirty="0">
                <a:latin typeface="Twinkl" pitchFamily="50" charset="0"/>
              </a:rPr>
              <a:t> </a:t>
            </a:r>
            <a:r>
              <a:rPr lang="en-GB" dirty="0" err="1">
                <a:latin typeface="Twinkl" pitchFamily="50" charset="0"/>
              </a:rPr>
              <a:t>adipiscing</a:t>
            </a:r>
            <a:r>
              <a:rPr lang="en-GB" dirty="0">
                <a:latin typeface="Twinkl" pitchFamily="50" charset="0"/>
              </a:rPr>
              <a:t> </a:t>
            </a:r>
            <a:r>
              <a:rPr lang="en-GB" dirty="0" err="1">
                <a:latin typeface="Twinkl" pitchFamily="50" charset="0"/>
              </a:rPr>
              <a:t>elit</a:t>
            </a:r>
            <a:r>
              <a:rPr lang="en-GB" dirty="0">
                <a:latin typeface="Twinkl" pitchFamily="50" charset="0"/>
              </a:rPr>
              <a:t>.</a:t>
            </a:r>
          </a:p>
          <a:p>
            <a:r>
              <a:rPr lang="en-GB" dirty="0">
                <a:latin typeface="Twinkl" pitchFamily="50" charset="0"/>
              </a:rPr>
              <a:t>Statement 2</a:t>
            </a:r>
          </a:p>
          <a:p>
            <a:pPr lvl="1"/>
            <a:r>
              <a:rPr lang="en-GB" dirty="0">
                <a:latin typeface="Twinkl" pitchFamily="50" charset="0"/>
              </a:rPr>
              <a:t>Sub statement</a:t>
            </a:r>
          </a:p>
        </p:txBody>
      </p:sp>
    </p:spTree>
    <p:extLst>
      <p:ext uri="{BB962C8B-B14F-4D97-AF65-F5344CB8AC3E}">
        <p14:creationId xmlns:p14="http://schemas.microsoft.com/office/powerpoint/2010/main" val="2257523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767" y="6196125"/>
            <a:ext cx="576495" cy="58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97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A0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9745" y="695325"/>
            <a:ext cx="8164510" cy="1150938"/>
          </a:xfrm>
          <a:prstGeom prst="roundRect">
            <a:avLst>
              <a:gd name="adj" fmla="val 9641"/>
            </a:avLst>
          </a:prstGeom>
          <a:noFill/>
          <a:ln w="25400">
            <a:noFill/>
          </a:ln>
        </p:spPr>
        <p:txBody>
          <a:bodyPr vert="horz" lIns="252000" tIns="252000" rIns="252000" bIns="252000" rtlCol="0" anchor="ctr" anchorCtr="1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745" y="1957386"/>
            <a:ext cx="8164510" cy="4387851"/>
          </a:xfrm>
          <a:prstGeom prst="roundRect">
            <a:avLst>
              <a:gd name="adj" fmla="val 2585"/>
            </a:avLst>
          </a:prstGeom>
          <a:noFill/>
          <a:ln w="25400">
            <a:noFill/>
          </a:ln>
        </p:spPr>
        <p:txBody>
          <a:bodyPr vert="horz" lIns="252000" tIns="252000" rIns="252000" bIns="2520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89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2" r:id="rId3"/>
    <p:sldLayoutId id="2147483663" r:id="rId4"/>
    <p:sldLayoutId id="214748366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1C1C1C"/>
          </a:solidFill>
          <a:latin typeface="Twinkl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188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 Answer"/>
          <p:cNvSpPr/>
          <p:nvPr/>
        </p:nvSpPr>
        <p:spPr>
          <a:xfrm>
            <a:off x="2629877" y="3611543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0.25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12" name="C Answer"/>
          <p:cNvSpPr/>
          <p:nvPr/>
        </p:nvSpPr>
        <p:spPr>
          <a:xfrm>
            <a:off x="2629877" y="4963605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0.5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7" name="A Answer"/>
          <p:cNvSpPr/>
          <p:nvPr/>
        </p:nvSpPr>
        <p:spPr>
          <a:xfrm>
            <a:off x="2629877" y="2259482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0.75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457198" y="757546"/>
            <a:ext cx="8220075" cy="994306"/>
          </a:xfrm>
        </p:spPr>
        <p:txBody>
          <a:bodyPr/>
          <a:lstStyle/>
          <a:p>
            <a:pPr algn="ctr"/>
            <a:r>
              <a:rPr lang="en-GB" sz="3600" dirty="0" smtClean="0"/>
              <a:t>What is      as a decimal?</a:t>
            </a:r>
            <a:endParaRPr lang="en-GB" sz="3600" dirty="0"/>
          </a:p>
        </p:txBody>
      </p:sp>
      <p:sp>
        <p:nvSpPr>
          <p:cNvPr id="5" name="Rectangle 4"/>
          <p:cNvSpPr/>
          <p:nvPr/>
        </p:nvSpPr>
        <p:spPr>
          <a:xfrm>
            <a:off x="3772388" y="827926"/>
            <a:ext cx="369765" cy="884070"/>
          </a:xfrm>
          <a:prstGeom prst="rect">
            <a:avLst/>
          </a:prstGeom>
        </p:spPr>
        <p:txBody>
          <a:bodyPr wrap="square" lIns="0" tIns="72000" rIns="0" bIns="72000">
            <a:spAutoFit/>
          </a:bodyPr>
          <a:lstStyle/>
          <a:p>
            <a:pPr algn="ctr"/>
            <a:r>
              <a:rPr lang="en-GB" sz="2400" b="1" dirty="0" smtClean="0"/>
              <a:t>1</a:t>
            </a:r>
          </a:p>
          <a:p>
            <a:pPr algn="ctr"/>
            <a:r>
              <a:rPr lang="en-GB" sz="2400" b="1" dirty="0"/>
              <a:t>2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3772388" y="1239069"/>
            <a:ext cx="369765" cy="4571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"/>
          <p:cNvSpPr/>
          <p:nvPr/>
        </p:nvSpPr>
        <p:spPr>
          <a:xfrm>
            <a:off x="2071077" y="2074006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A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8" name="B"/>
          <p:cNvSpPr/>
          <p:nvPr/>
        </p:nvSpPr>
        <p:spPr>
          <a:xfrm>
            <a:off x="2071076" y="3439607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B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9" name="C"/>
          <p:cNvSpPr/>
          <p:nvPr/>
        </p:nvSpPr>
        <p:spPr>
          <a:xfrm>
            <a:off x="2071076" y="4791668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C</a:t>
            </a:r>
            <a:endParaRPr lang="en-GB" sz="2800" b="1" dirty="0">
              <a:solidFill>
                <a:schemeClr val="tx1"/>
              </a:solidFill>
            </a:endParaRPr>
          </a:p>
        </p:txBody>
      </p:sp>
      <p:grpSp>
        <p:nvGrpSpPr>
          <p:cNvPr id="32" name="Correct"/>
          <p:cNvGrpSpPr/>
          <p:nvPr/>
        </p:nvGrpSpPr>
        <p:grpSpPr>
          <a:xfrm>
            <a:off x="2046800" y="4774301"/>
            <a:ext cx="4799904" cy="1039713"/>
            <a:chOff x="2046800" y="4774301"/>
            <a:chExt cx="4799904" cy="1039713"/>
          </a:xfrm>
        </p:grpSpPr>
        <p:sp>
          <p:nvSpPr>
            <p:cNvPr id="14" name="Rounded Rectangle 13"/>
            <p:cNvSpPr/>
            <p:nvPr/>
          </p:nvSpPr>
          <p:spPr>
            <a:xfrm>
              <a:off x="2430345" y="4968753"/>
              <a:ext cx="4416359" cy="68007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Yay, that’s correct!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2046800" y="4774301"/>
              <a:ext cx="1039713" cy="103971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 rot="20730365">
              <a:off x="2208257" y="5116133"/>
              <a:ext cx="751345" cy="498708"/>
            </a:xfrm>
            <a:custGeom>
              <a:avLst/>
              <a:gdLst>
                <a:gd name="connsiteX0" fmla="*/ 1009804 w 1009804"/>
                <a:gd name="connsiteY0" fmla="*/ 0 h 670261"/>
                <a:gd name="connsiteX1" fmla="*/ 273397 w 1009804"/>
                <a:gd name="connsiteY1" fmla="*/ 662722 h 670261"/>
                <a:gd name="connsiteX2" fmla="*/ 273397 w 1009804"/>
                <a:gd name="connsiteY2" fmla="*/ 669467 h 670261"/>
                <a:gd name="connsiteX3" fmla="*/ 270631 w 1009804"/>
                <a:gd name="connsiteY3" fmla="*/ 665212 h 670261"/>
                <a:gd name="connsiteX4" fmla="*/ 265020 w 1009804"/>
                <a:gd name="connsiteY4" fmla="*/ 670261 h 670261"/>
                <a:gd name="connsiteX5" fmla="*/ 265020 w 1009804"/>
                <a:gd name="connsiteY5" fmla="*/ 656578 h 670261"/>
                <a:gd name="connsiteX6" fmla="*/ 0 w 1009804"/>
                <a:gd name="connsiteY6" fmla="*/ 248802 h 670261"/>
                <a:gd name="connsiteX7" fmla="*/ 166570 w 1009804"/>
                <a:gd name="connsiteY7" fmla="*/ 248802 h 670261"/>
                <a:gd name="connsiteX8" fmla="*/ 273143 w 1009804"/>
                <a:gd name="connsiteY8" fmla="*/ 412783 h 670261"/>
                <a:gd name="connsiteX9" fmla="*/ 731821 w 1009804"/>
                <a:gd name="connsiteY9" fmla="*/ 0 h 67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9804" h="670261">
                  <a:moveTo>
                    <a:pt x="1009804" y="0"/>
                  </a:moveTo>
                  <a:lnTo>
                    <a:pt x="273397" y="662722"/>
                  </a:lnTo>
                  <a:lnTo>
                    <a:pt x="273397" y="669467"/>
                  </a:lnTo>
                  <a:lnTo>
                    <a:pt x="270631" y="665212"/>
                  </a:lnTo>
                  <a:lnTo>
                    <a:pt x="265020" y="670261"/>
                  </a:lnTo>
                  <a:lnTo>
                    <a:pt x="265020" y="656578"/>
                  </a:lnTo>
                  <a:lnTo>
                    <a:pt x="0" y="248802"/>
                  </a:lnTo>
                  <a:lnTo>
                    <a:pt x="166570" y="248802"/>
                  </a:lnTo>
                  <a:lnTo>
                    <a:pt x="273143" y="412783"/>
                  </a:lnTo>
                  <a:lnTo>
                    <a:pt x="73182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Incorrect 2"/>
          <p:cNvGrpSpPr/>
          <p:nvPr/>
        </p:nvGrpSpPr>
        <p:grpSpPr>
          <a:xfrm>
            <a:off x="2046800" y="3422417"/>
            <a:ext cx="4795569" cy="1039713"/>
            <a:chOff x="2046800" y="3422417"/>
            <a:chExt cx="4795569" cy="1039713"/>
          </a:xfrm>
        </p:grpSpPr>
        <p:sp>
          <p:nvSpPr>
            <p:cNvPr id="15" name="Rounded Rectangle 14"/>
            <p:cNvSpPr/>
            <p:nvPr/>
          </p:nvSpPr>
          <p:spPr>
            <a:xfrm>
              <a:off x="2426010" y="3586715"/>
              <a:ext cx="4416359" cy="680070"/>
            </a:xfrm>
            <a:prstGeom prst="roundRect">
              <a:avLst/>
            </a:prstGeom>
            <a:solidFill>
              <a:srgbClr val="FF5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Never mind. Keep trying!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2046800" y="3422417"/>
              <a:ext cx="1039713" cy="10397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Multiply 19"/>
            <p:cNvSpPr/>
            <p:nvPr/>
          </p:nvSpPr>
          <p:spPr>
            <a:xfrm>
              <a:off x="2127966" y="3503583"/>
              <a:ext cx="877383" cy="877383"/>
            </a:xfrm>
            <a:prstGeom prst="mathMultiply">
              <a:avLst>
                <a:gd name="adj1" fmla="val 172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4" name="Incorrect 1"/>
          <p:cNvGrpSpPr/>
          <p:nvPr/>
        </p:nvGrpSpPr>
        <p:grpSpPr>
          <a:xfrm>
            <a:off x="2046800" y="2043017"/>
            <a:ext cx="4795569" cy="1039713"/>
            <a:chOff x="2046800" y="2052849"/>
            <a:chExt cx="4795569" cy="1039713"/>
          </a:xfrm>
        </p:grpSpPr>
        <p:sp>
          <p:nvSpPr>
            <p:cNvPr id="24" name="Rounded Rectangle 23"/>
            <p:cNvSpPr/>
            <p:nvPr/>
          </p:nvSpPr>
          <p:spPr>
            <a:xfrm>
              <a:off x="2426010" y="2248071"/>
              <a:ext cx="4416359" cy="680070"/>
            </a:xfrm>
            <a:prstGeom prst="roundRect">
              <a:avLst/>
            </a:prstGeom>
            <a:solidFill>
              <a:srgbClr val="FF5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Never mind. Keep trying!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2046800" y="2052849"/>
              <a:ext cx="1039713" cy="10397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Multiply 25"/>
            <p:cNvSpPr/>
            <p:nvPr/>
          </p:nvSpPr>
          <p:spPr>
            <a:xfrm>
              <a:off x="2127966" y="2134015"/>
              <a:ext cx="877383" cy="877383"/>
            </a:xfrm>
            <a:prstGeom prst="mathMultiply">
              <a:avLst>
                <a:gd name="adj1" fmla="val 172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1" name="Right Arrow 30">
            <a:hlinkClick r:id="" action="ppaction://hlinkshowjump?jump=nextslide"/>
          </p:cNvPr>
          <p:cNvSpPr/>
          <p:nvPr/>
        </p:nvSpPr>
        <p:spPr>
          <a:xfrm>
            <a:off x="7788582" y="5773554"/>
            <a:ext cx="599768" cy="448699"/>
          </a:xfrm>
          <a:prstGeom prst="rightArrow">
            <a:avLst/>
          </a:prstGeom>
          <a:solidFill>
            <a:schemeClr val="accent4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23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7" grpId="0" animBg="1"/>
      <p:bldP spid="4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 Answer"/>
          <p:cNvSpPr/>
          <p:nvPr/>
        </p:nvSpPr>
        <p:spPr>
          <a:xfrm>
            <a:off x="2629877" y="3611543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0.5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12" name="C Answer"/>
          <p:cNvSpPr/>
          <p:nvPr/>
        </p:nvSpPr>
        <p:spPr>
          <a:xfrm>
            <a:off x="2629877" y="4963605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0.75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7" name="A Answer"/>
          <p:cNvSpPr/>
          <p:nvPr/>
        </p:nvSpPr>
        <p:spPr>
          <a:xfrm>
            <a:off x="2629877" y="2259482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0.25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457198" y="757546"/>
            <a:ext cx="8220075" cy="994306"/>
          </a:xfrm>
        </p:spPr>
        <p:txBody>
          <a:bodyPr/>
          <a:lstStyle/>
          <a:p>
            <a:pPr algn="ctr"/>
            <a:r>
              <a:rPr lang="en-GB" sz="3600" dirty="0" smtClean="0"/>
              <a:t>What is      as a decimal?</a:t>
            </a:r>
            <a:endParaRPr lang="en-GB" sz="3600" dirty="0"/>
          </a:p>
        </p:txBody>
      </p:sp>
      <p:sp>
        <p:nvSpPr>
          <p:cNvPr id="5" name="Rectangle 4"/>
          <p:cNvSpPr/>
          <p:nvPr/>
        </p:nvSpPr>
        <p:spPr>
          <a:xfrm>
            <a:off x="3772388" y="827926"/>
            <a:ext cx="369765" cy="884070"/>
          </a:xfrm>
          <a:prstGeom prst="rect">
            <a:avLst/>
          </a:prstGeom>
        </p:spPr>
        <p:txBody>
          <a:bodyPr wrap="square" lIns="0" tIns="72000" rIns="0" bIns="72000">
            <a:spAutoFit/>
          </a:bodyPr>
          <a:lstStyle/>
          <a:p>
            <a:pPr algn="ctr"/>
            <a:r>
              <a:rPr lang="en-GB" sz="2400" b="1" dirty="0" smtClean="0"/>
              <a:t>1</a:t>
            </a:r>
          </a:p>
          <a:p>
            <a:pPr algn="ctr"/>
            <a:r>
              <a:rPr lang="en-GB" sz="2400" b="1" dirty="0" smtClean="0"/>
              <a:t>4</a:t>
            </a:r>
            <a:endParaRPr lang="en-GB" sz="2400" b="1" dirty="0"/>
          </a:p>
        </p:txBody>
      </p:sp>
      <p:sp>
        <p:nvSpPr>
          <p:cNvPr id="2" name="Rounded Rectangle 1"/>
          <p:cNvSpPr/>
          <p:nvPr/>
        </p:nvSpPr>
        <p:spPr>
          <a:xfrm>
            <a:off x="3772388" y="1239069"/>
            <a:ext cx="369765" cy="4571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"/>
          <p:cNvSpPr/>
          <p:nvPr/>
        </p:nvSpPr>
        <p:spPr>
          <a:xfrm>
            <a:off x="2071077" y="2074006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A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8" name="B"/>
          <p:cNvSpPr/>
          <p:nvPr/>
        </p:nvSpPr>
        <p:spPr>
          <a:xfrm>
            <a:off x="2071076" y="3439607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B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9" name="C"/>
          <p:cNvSpPr/>
          <p:nvPr/>
        </p:nvSpPr>
        <p:spPr>
          <a:xfrm>
            <a:off x="2071076" y="4791668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C</a:t>
            </a:r>
            <a:endParaRPr lang="en-GB" sz="2800" b="1" dirty="0">
              <a:solidFill>
                <a:schemeClr val="tx1"/>
              </a:solidFill>
            </a:endParaRPr>
          </a:p>
        </p:txBody>
      </p:sp>
      <p:grpSp>
        <p:nvGrpSpPr>
          <p:cNvPr id="32" name="Correct"/>
          <p:cNvGrpSpPr/>
          <p:nvPr/>
        </p:nvGrpSpPr>
        <p:grpSpPr>
          <a:xfrm>
            <a:off x="2046800" y="2057392"/>
            <a:ext cx="4799904" cy="1039713"/>
            <a:chOff x="2046800" y="4774301"/>
            <a:chExt cx="4799904" cy="1039713"/>
          </a:xfrm>
        </p:grpSpPr>
        <p:sp>
          <p:nvSpPr>
            <p:cNvPr id="14" name="Rounded Rectangle 13"/>
            <p:cNvSpPr/>
            <p:nvPr/>
          </p:nvSpPr>
          <p:spPr>
            <a:xfrm>
              <a:off x="2430345" y="4968753"/>
              <a:ext cx="4416359" cy="68007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Yay, that’s correct!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2046800" y="4774301"/>
              <a:ext cx="1039713" cy="103971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 rot="20730365">
              <a:off x="2208257" y="5116133"/>
              <a:ext cx="751345" cy="498708"/>
            </a:xfrm>
            <a:custGeom>
              <a:avLst/>
              <a:gdLst>
                <a:gd name="connsiteX0" fmla="*/ 1009804 w 1009804"/>
                <a:gd name="connsiteY0" fmla="*/ 0 h 670261"/>
                <a:gd name="connsiteX1" fmla="*/ 273397 w 1009804"/>
                <a:gd name="connsiteY1" fmla="*/ 662722 h 670261"/>
                <a:gd name="connsiteX2" fmla="*/ 273397 w 1009804"/>
                <a:gd name="connsiteY2" fmla="*/ 669467 h 670261"/>
                <a:gd name="connsiteX3" fmla="*/ 270631 w 1009804"/>
                <a:gd name="connsiteY3" fmla="*/ 665212 h 670261"/>
                <a:gd name="connsiteX4" fmla="*/ 265020 w 1009804"/>
                <a:gd name="connsiteY4" fmla="*/ 670261 h 670261"/>
                <a:gd name="connsiteX5" fmla="*/ 265020 w 1009804"/>
                <a:gd name="connsiteY5" fmla="*/ 656578 h 670261"/>
                <a:gd name="connsiteX6" fmla="*/ 0 w 1009804"/>
                <a:gd name="connsiteY6" fmla="*/ 248802 h 670261"/>
                <a:gd name="connsiteX7" fmla="*/ 166570 w 1009804"/>
                <a:gd name="connsiteY7" fmla="*/ 248802 h 670261"/>
                <a:gd name="connsiteX8" fmla="*/ 273143 w 1009804"/>
                <a:gd name="connsiteY8" fmla="*/ 412783 h 670261"/>
                <a:gd name="connsiteX9" fmla="*/ 731821 w 1009804"/>
                <a:gd name="connsiteY9" fmla="*/ 0 h 67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9804" h="670261">
                  <a:moveTo>
                    <a:pt x="1009804" y="0"/>
                  </a:moveTo>
                  <a:lnTo>
                    <a:pt x="273397" y="662722"/>
                  </a:lnTo>
                  <a:lnTo>
                    <a:pt x="273397" y="669467"/>
                  </a:lnTo>
                  <a:lnTo>
                    <a:pt x="270631" y="665212"/>
                  </a:lnTo>
                  <a:lnTo>
                    <a:pt x="265020" y="670261"/>
                  </a:lnTo>
                  <a:lnTo>
                    <a:pt x="265020" y="656578"/>
                  </a:lnTo>
                  <a:lnTo>
                    <a:pt x="0" y="248802"/>
                  </a:lnTo>
                  <a:lnTo>
                    <a:pt x="166570" y="248802"/>
                  </a:lnTo>
                  <a:lnTo>
                    <a:pt x="273143" y="412783"/>
                  </a:lnTo>
                  <a:lnTo>
                    <a:pt x="73182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Incorrect 2"/>
          <p:cNvGrpSpPr/>
          <p:nvPr/>
        </p:nvGrpSpPr>
        <p:grpSpPr>
          <a:xfrm>
            <a:off x="2046800" y="3422417"/>
            <a:ext cx="4795569" cy="1039713"/>
            <a:chOff x="2046800" y="3422417"/>
            <a:chExt cx="4795569" cy="1039713"/>
          </a:xfrm>
        </p:grpSpPr>
        <p:sp>
          <p:nvSpPr>
            <p:cNvPr id="15" name="Rounded Rectangle 14"/>
            <p:cNvSpPr/>
            <p:nvPr/>
          </p:nvSpPr>
          <p:spPr>
            <a:xfrm>
              <a:off x="2426010" y="3586715"/>
              <a:ext cx="4416359" cy="680070"/>
            </a:xfrm>
            <a:prstGeom prst="roundRect">
              <a:avLst/>
            </a:prstGeom>
            <a:solidFill>
              <a:srgbClr val="FF5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Never mind. Keep trying!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2046800" y="3422417"/>
              <a:ext cx="1039713" cy="10397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Multiply 19"/>
            <p:cNvSpPr/>
            <p:nvPr/>
          </p:nvSpPr>
          <p:spPr>
            <a:xfrm>
              <a:off x="2127966" y="3503583"/>
              <a:ext cx="877383" cy="877383"/>
            </a:xfrm>
            <a:prstGeom prst="mathMultiply">
              <a:avLst>
                <a:gd name="adj1" fmla="val 172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4" name="Incorrect 1"/>
          <p:cNvGrpSpPr/>
          <p:nvPr/>
        </p:nvGrpSpPr>
        <p:grpSpPr>
          <a:xfrm>
            <a:off x="2046800" y="4767670"/>
            <a:ext cx="4795569" cy="1039713"/>
            <a:chOff x="2046800" y="2052849"/>
            <a:chExt cx="4795569" cy="1039713"/>
          </a:xfrm>
        </p:grpSpPr>
        <p:sp>
          <p:nvSpPr>
            <p:cNvPr id="24" name="Rounded Rectangle 23"/>
            <p:cNvSpPr/>
            <p:nvPr/>
          </p:nvSpPr>
          <p:spPr>
            <a:xfrm>
              <a:off x="2426010" y="2248071"/>
              <a:ext cx="4416359" cy="680070"/>
            </a:xfrm>
            <a:prstGeom prst="roundRect">
              <a:avLst/>
            </a:prstGeom>
            <a:solidFill>
              <a:srgbClr val="FF5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Never mind. Keep trying!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2046800" y="2052849"/>
              <a:ext cx="1039713" cy="10397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Multiply 25"/>
            <p:cNvSpPr/>
            <p:nvPr/>
          </p:nvSpPr>
          <p:spPr>
            <a:xfrm>
              <a:off x="2127966" y="2134015"/>
              <a:ext cx="877383" cy="877383"/>
            </a:xfrm>
            <a:prstGeom prst="mathMultiply">
              <a:avLst>
                <a:gd name="adj1" fmla="val 172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1" name="Right Arrow 30">
            <a:hlinkClick r:id="" action="ppaction://hlinkshowjump?jump=nextslide"/>
          </p:cNvPr>
          <p:cNvSpPr/>
          <p:nvPr/>
        </p:nvSpPr>
        <p:spPr>
          <a:xfrm>
            <a:off x="7788582" y="5773554"/>
            <a:ext cx="599768" cy="448699"/>
          </a:xfrm>
          <a:prstGeom prst="rightArrow">
            <a:avLst/>
          </a:prstGeom>
          <a:solidFill>
            <a:schemeClr val="accent4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59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7" grpId="0" animBg="1"/>
      <p:bldP spid="4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 Answer"/>
          <p:cNvSpPr/>
          <p:nvPr/>
        </p:nvSpPr>
        <p:spPr>
          <a:xfrm>
            <a:off x="2629877" y="3611543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0.1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12" name="C Answer"/>
          <p:cNvSpPr/>
          <p:nvPr/>
        </p:nvSpPr>
        <p:spPr>
          <a:xfrm>
            <a:off x="2629877" y="4963605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0.2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7" name="A Answer"/>
          <p:cNvSpPr/>
          <p:nvPr/>
        </p:nvSpPr>
        <p:spPr>
          <a:xfrm>
            <a:off x="2629877" y="2259482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0.3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457198" y="757546"/>
            <a:ext cx="8220075" cy="994306"/>
          </a:xfrm>
        </p:spPr>
        <p:txBody>
          <a:bodyPr/>
          <a:lstStyle/>
          <a:p>
            <a:pPr algn="ctr"/>
            <a:r>
              <a:rPr lang="en-GB" sz="3600" dirty="0" smtClean="0"/>
              <a:t>What is      as a decimal?</a:t>
            </a:r>
            <a:endParaRPr lang="en-GB" sz="3600" dirty="0"/>
          </a:p>
        </p:txBody>
      </p:sp>
      <p:sp>
        <p:nvSpPr>
          <p:cNvPr id="5" name="Rectangle 4"/>
          <p:cNvSpPr/>
          <p:nvPr/>
        </p:nvSpPr>
        <p:spPr>
          <a:xfrm>
            <a:off x="3772388" y="827926"/>
            <a:ext cx="369765" cy="884070"/>
          </a:xfrm>
          <a:prstGeom prst="rect">
            <a:avLst/>
          </a:prstGeom>
        </p:spPr>
        <p:txBody>
          <a:bodyPr wrap="square" lIns="0" tIns="72000" rIns="0" bIns="72000">
            <a:spAutoFit/>
          </a:bodyPr>
          <a:lstStyle/>
          <a:p>
            <a:pPr algn="ctr"/>
            <a:r>
              <a:rPr lang="en-GB" sz="2400" b="1" dirty="0"/>
              <a:t>2</a:t>
            </a:r>
            <a:endParaRPr lang="en-GB" sz="2400" b="1" dirty="0" smtClean="0"/>
          </a:p>
          <a:p>
            <a:pPr algn="ctr"/>
            <a:r>
              <a:rPr lang="en-GB" sz="2400" b="1" dirty="0" smtClean="0"/>
              <a:t>10</a:t>
            </a:r>
            <a:endParaRPr lang="en-GB" sz="2400" b="1" dirty="0"/>
          </a:p>
        </p:txBody>
      </p:sp>
      <p:sp>
        <p:nvSpPr>
          <p:cNvPr id="2" name="Rounded Rectangle 1"/>
          <p:cNvSpPr/>
          <p:nvPr/>
        </p:nvSpPr>
        <p:spPr>
          <a:xfrm>
            <a:off x="3772388" y="1239069"/>
            <a:ext cx="369765" cy="4571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"/>
          <p:cNvSpPr/>
          <p:nvPr/>
        </p:nvSpPr>
        <p:spPr>
          <a:xfrm>
            <a:off x="2071077" y="2074006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A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8" name="B"/>
          <p:cNvSpPr/>
          <p:nvPr/>
        </p:nvSpPr>
        <p:spPr>
          <a:xfrm>
            <a:off x="2071076" y="3439607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B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9" name="C"/>
          <p:cNvSpPr/>
          <p:nvPr/>
        </p:nvSpPr>
        <p:spPr>
          <a:xfrm>
            <a:off x="2071076" y="4791668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C</a:t>
            </a:r>
            <a:endParaRPr lang="en-GB" sz="2800" b="1" dirty="0">
              <a:solidFill>
                <a:schemeClr val="tx1"/>
              </a:solidFill>
            </a:endParaRPr>
          </a:p>
        </p:txBody>
      </p:sp>
      <p:grpSp>
        <p:nvGrpSpPr>
          <p:cNvPr id="32" name="Correct"/>
          <p:cNvGrpSpPr/>
          <p:nvPr/>
        </p:nvGrpSpPr>
        <p:grpSpPr>
          <a:xfrm>
            <a:off x="2046800" y="4774301"/>
            <a:ext cx="4799904" cy="1039713"/>
            <a:chOff x="2046800" y="4774301"/>
            <a:chExt cx="4799904" cy="1039713"/>
          </a:xfrm>
        </p:grpSpPr>
        <p:sp>
          <p:nvSpPr>
            <p:cNvPr id="14" name="Rounded Rectangle 13"/>
            <p:cNvSpPr/>
            <p:nvPr/>
          </p:nvSpPr>
          <p:spPr>
            <a:xfrm>
              <a:off x="2430345" y="4968753"/>
              <a:ext cx="4416359" cy="68007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Yay, that’s correct!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2046800" y="4774301"/>
              <a:ext cx="1039713" cy="103971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 rot="20730365">
              <a:off x="2208257" y="5116133"/>
              <a:ext cx="751345" cy="498708"/>
            </a:xfrm>
            <a:custGeom>
              <a:avLst/>
              <a:gdLst>
                <a:gd name="connsiteX0" fmla="*/ 1009804 w 1009804"/>
                <a:gd name="connsiteY0" fmla="*/ 0 h 670261"/>
                <a:gd name="connsiteX1" fmla="*/ 273397 w 1009804"/>
                <a:gd name="connsiteY1" fmla="*/ 662722 h 670261"/>
                <a:gd name="connsiteX2" fmla="*/ 273397 w 1009804"/>
                <a:gd name="connsiteY2" fmla="*/ 669467 h 670261"/>
                <a:gd name="connsiteX3" fmla="*/ 270631 w 1009804"/>
                <a:gd name="connsiteY3" fmla="*/ 665212 h 670261"/>
                <a:gd name="connsiteX4" fmla="*/ 265020 w 1009804"/>
                <a:gd name="connsiteY4" fmla="*/ 670261 h 670261"/>
                <a:gd name="connsiteX5" fmla="*/ 265020 w 1009804"/>
                <a:gd name="connsiteY5" fmla="*/ 656578 h 670261"/>
                <a:gd name="connsiteX6" fmla="*/ 0 w 1009804"/>
                <a:gd name="connsiteY6" fmla="*/ 248802 h 670261"/>
                <a:gd name="connsiteX7" fmla="*/ 166570 w 1009804"/>
                <a:gd name="connsiteY7" fmla="*/ 248802 h 670261"/>
                <a:gd name="connsiteX8" fmla="*/ 273143 w 1009804"/>
                <a:gd name="connsiteY8" fmla="*/ 412783 h 670261"/>
                <a:gd name="connsiteX9" fmla="*/ 731821 w 1009804"/>
                <a:gd name="connsiteY9" fmla="*/ 0 h 67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9804" h="670261">
                  <a:moveTo>
                    <a:pt x="1009804" y="0"/>
                  </a:moveTo>
                  <a:lnTo>
                    <a:pt x="273397" y="662722"/>
                  </a:lnTo>
                  <a:lnTo>
                    <a:pt x="273397" y="669467"/>
                  </a:lnTo>
                  <a:lnTo>
                    <a:pt x="270631" y="665212"/>
                  </a:lnTo>
                  <a:lnTo>
                    <a:pt x="265020" y="670261"/>
                  </a:lnTo>
                  <a:lnTo>
                    <a:pt x="265020" y="656578"/>
                  </a:lnTo>
                  <a:lnTo>
                    <a:pt x="0" y="248802"/>
                  </a:lnTo>
                  <a:lnTo>
                    <a:pt x="166570" y="248802"/>
                  </a:lnTo>
                  <a:lnTo>
                    <a:pt x="273143" y="412783"/>
                  </a:lnTo>
                  <a:lnTo>
                    <a:pt x="73182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Incorrect 2"/>
          <p:cNvGrpSpPr/>
          <p:nvPr/>
        </p:nvGrpSpPr>
        <p:grpSpPr>
          <a:xfrm>
            <a:off x="2046800" y="3422417"/>
            <a:ext cx="4795569" cy="1039713"/>
            <a:chOff x="2046800" y="3422417"/>
            <a:chExt cx="4795569" cy="1039713"/>
          </a:xfrm>
        </p:grpSpPr>
        <p:sp>
          <p:nvSpPr>
            <p:cNvPr id="15" name="Rounded Rectangle 14"/>
            <p:cNvSpPr/>
            <p:nvPr/>
          </p:nvSpPr>
          <p:spPr>
            <a:xfrm>
              <a:off x="2426010" y="3586715"/>
              <a:ext cx="4416359" cy="680070"/>
            </a:xfrm>
            <a:prstGeom prst="roundRect">
              <a:avLst/>
            </a:prstGeom>
            <a:solidFill>
              <a:srgbClr val="FF5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Never mind. Keep trying!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2046800" y="3422417"/>
              <a:ext cx="1039713" cy="10397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Multiply 19"/>
            <p:cNvSpPr/>
            <p:nvPr/>
          </p:nvSpPr>
          <p:spPr>
            <a:xfrm>
              <a:off x="2127966" y="3503583"/>
              <a:ext cx="877383" cy="877383"/>
            </a:xfrm>
            <a:prstGeom prst="mathMultiply">
              <a:avLst>
                <a:gd name="adj1" fmla="val 172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4" name="Incorrect 1"/>
          <p:cNvGrpSpPr/>
          <p:nvPr/>
        </p:nvGrpSpPr>
        <p:grpSpPr>
          <a:xfrm>
            <a:off x="2046800" y="2043017"/>
            <a:ext cx="4795569" cy="1039713"/>
            <a:chOff x="2046800" y="2052849"/>
            <a:chExt cx="4795569" cy="1039713"/>
          </a:xfrm>
        </p:grpSpPr>
        <p:sp>
          <p:nvSpPr>
            <p:cNvPr id="24" name="Rounded Rectangle 23"/>
            <p:cNvSpPr/>
            <p:nvPr/>
          </p:nvSpPr>
          <p:spPr>
            <a:xfrm>
              <a:off x="2426010" y="2248071"/>
              <a:ext cx="4416359" cy="680070"/>
            </a:xfrm>
            <a:prstGeom prst="roundRect">
              <a:avLst/>
            </a:prstGeom>
            <a:solidFill>
              <a:srgbClr val="FF5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Never mind. Keep trying!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2046800" y="2052849"/>
              <a:ext cx="1039713" cy="10397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Multiply 25"/>
            <p:cNvSpPr/>
            <p:nvPr/>
          </p:nvSpPr>
          <p:spPr>
            <a:xfrm>
              <a:off x="2127966" y="2134015"/>
              <a:ext cx="877383" cy="877383"/>
            </a:xfrm>
            <a:prstGeom prst="mathMultiply">
              <a:avLst>
                <a:gd name="adj1" fmla="val 172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1" name="Right Arrow 30">
            <a:hlinkClick r:id="" action="ppaction://hlinkshowjump?jump=nextslide"/>
          </p:cNvPr>
          <p:cNvSpPr/>
          <p:nvPr/>
        </p:nvSpPr>
        <p:spPr>
          <a:xfrm>
            <a:off x="7788582" y="5773554"/>
            <a:ext cx="599768" cy="448699"/>
          </a:xfrm>
          <a:prstGeom prst="rightArrow">
            <a:avLst/>
          </a:prstGeom>
          <a:solidFill>
            <a:schemeClr val="accent4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400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7" grpId="0" animBg="1"/>
      <p:bldP spid="4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 Answer"/>
          <p:cNvSpPr/>
          <p:nvPr/>
        </p:nvSpPr>
        <p:spPr>
          <a:xfrm>
            <a:off x="2629877" y="3611543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0.3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12" name="C Answer"/>
          <p:cNvSpPr/>
          <p:nvPr/>
        </p:nvSpPr>
        <p:spPr>
          <a:xfrm>
            <a:off x="2629877" y="4963605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0.1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7" name="A Answer"/>
          <p:cNvSpPr/>
          <p:nvPr/>
        </p:nvSpPr>
        <p:spPr>
          <a:xfrm>
            <a:off x="2629877" y="2259482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0.25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457198" y="757546"/>
            <a:ext cx="8220075" cy="994306"/>
          </a:xfrm>
        </p:spPr>
        <p:txBody>
          <a:bodyPr/>
          <a:lstStyle/>
          <a:p>
            <a:pPr algn="ctr"/>
            <a:r>
              <a:rPr lang="en-GB" sz="3600" dirty="0" smtClean="0"/>
              <a:t>What is      as a decimal?</a:t>
            </a:r>
            <a:endParaRPr lang="en-GB" sz="3600" dirty="0"/>
          </a:p>
        </p:txBody>
      </p:sp>
      <p:sp>
        <p:nvSpPr>
          <p:cNvPr id="5" name="Rectangle 4"/>
          <p:cNvSpPr/>
          <p:nvPr/>
        </p:nvSpPr>
        <p:spPr>
          <a:xfrm>
            <a:off x="3772388" y="827926"/>
            <a:ext cx="369765" cy="884070"/>
          </a:xfrm>
          <a:prstGeom prst="rect">
            <a:avLst/>
          </a:prstGeom>
        </p:spPr>
        <p:txBody>
          <a:bodyPr wrap="square" lIns="0" tIns="72000" rIns="0" bIns="72000">
            <a:spAutoFit/>
          </a:bodyPr>
          <a:lstStyle/>
          <a:p>
            <a:pPr algn="ctr"/>
            <a:r>
              <a:rPr lang="en-GB" sz="2400" b="1" dirty="0" smtClean="0"/>
              <a:t>5</a:t>
            </a:r>
          </a:p>
          <a:p>
            <a:pPr algn="ctr"/>
            <a:r>
              <a:rPr lang="en-GB" sz="2400" b="1" dirty="0"/>
              <a:t>2</a:t>
            </a:r>
            <a:r>
              <a:rPr lang="en-GB" sz="2400" b="1" dirty="0" smtClean="0"/>
              <a:t>0</a:t>
            </a:r>
            <a:endParaRPr lang="en-GB" sz="2400" b="1" dirty="0"/>
          </a:p>
        </p:txBody>
      </p:sp>
      <p:sp>
        <p:nvSpPr>
          <p:cNvPr id="2" name="Rounded Rectangle 1"/>
          <p:cNvSpPr/>
          <p:nvPr/>
        </p:nvSpPr>
        <p:spPr>
          <a:xfrm>
            <a:off x="3772388" y="1239069"/>
            <a:ext cx="369765" cy="4571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"/>
          <p:cNvSpPr/>
          <p:nvPr/>
        </p:nvSpPr>
        <p:spPr>
          <a:xfrm>
            <a:off x="2071077" y="2074006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A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8" name="B"/>
          <p:cNvSpPr/>
          <p:nvPr/>
        </p:nvSpPr>
        <p:spPr>
          <a:xfrm>
            <a:off x="2071076" y="3439607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B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9" name="C"/>
          <p:cNvSpPr/>
          <p:nvPr/>
        </p:nvSpPr>
        <p:spPr>
          <a:xfrm>
            <a:off x="2071076" y="4791668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C</a:t>
            </a:r>
            <a:endParaRPr lang="en-GB" sz="2800" b="1" dirty="0">
              <a:solidFill>
                <a:schemeClr val="tx1"/>
              </a:solidFill>
            </a:endParaRPr>
          </a:p>
        </p:txBody>
      </p:sp>
      <p:grpSp>
        <p:nvGrpSpPr>
          <p:cNvPr id="32" name="Correct"/>
          <p:cNvGrpSpPr/>
          <p:nvPr/>
        </p:nvGrpSpPr>
        <p:grpSpPr>
          <a:xfrm>
            <a:off x="2046800" y="2050784"/>
            <a:ext cx="4799904" cy="1039713"/>
            <a:chOff x="2046800" y="4774301"/>
            <a:chExt cx="4799904" cy="1039713"/>
          </a:xfrm>
        </p:grpSpPr>
        <p:sp>
          <p:nvSpPr>
            <p:cNvPr id="14" name="Rounded Rectangle 13"/>
            <p:cNvSpPr/>
            <p:nvPr/>
          </p:nvSpPr>
          <p:spPr>
            <a:xfrm>
              <a:off x="2430345" y="4968753"/>
              <a:ext cx="4416359" cy="68007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Yay, that’s correct!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2046800" y="4774301"/>
              <a:ext cx="1039713" cy="103971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 rot="20730365">
              <a:off x="2208257" y="5116133"/>
              <a:ext cx="751345" cy="498708"/>
            </a:xfrm>
            <a:custGeom>
              <a:avLst/>
              <a:gdLst>
                <a:gd name="connsiteX0" fmla="*/ 1009804 w 1009804"/>
                <a:gd name="connsiteY0" fmla="*/ 0 h 670261"/>
                <a:gd name="connsiteX1" fmla="*/ 273397 w 1009804"/>
                <a:gd name="connsiteY1" fmla="*/ 662722 h 670261"/>
                <a:gd name="connsiteX2" fmla="*/ 273397 w 1009804"/>
                <a:gd name="connsiteY2" fmla="*/ 669467 h 670261"/>
                <a:gd name="connsiteX3" fmla="*/ 270631 w 1009804"/>
                <a:gd name="connsiteY3" fmla="*/ 665212 h 670261"/>
                <a:gd name="connsiteX4" fmla="*/ 265020 w 1009804"/>
                <a:gd name="connsiteY4" fmla="*/ 670261 h 670261"/>
                <a:gd name="connsiteX5" fmla="*/ 265020 w 1009804"/>
                <a:gd name="connsiteY5" fmla="*/ 656578 h 670261"/>
                <a:gd name="connsiteX6" fmla="*/ 0 w 1009804"/>
                <a:gd name="connsiteY6" fmla="*/ 248802 h 670261"/>
                <a:gd name="connsiteX7" fmla="*/ 166570 w 1009804"/>
                <a:gd name="connsiteY7" fmla="*/ 248802 h 670261"/>
                <a:gd name="connsiteX8" fmla="*/ 273143 w 1009804"/>
                <a:gd name="connsiteY8" fmla="*/ 412783 h 670261"/>
                <a:gd name="connsiteX9" fmla="*/ 731821 w 1009804"/>
                <a:gd name="connsiteY9" fmla="*/ 0 h 67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9804" h="670261">
                  <a:moveTo>
                    <a:pt x="1009804" y="0"/>
                  </a:moveTo>
                  <a:lnTo>
                    <a:pt x="273397" y="662722"/>
                  </a:lnTo>
                  <a:lnTo>
                    <a:pt x="273397" y="669467"/>
                  </a:lnTo>
                  <a:lnTo>
                    <a:pt x="270631" y="665212"/>
                  </a:lnTo>
                  <a:lnTo>
                    <a:pt x="265020" y="670261"/>
                  </a:lnTo>
                  <a:lnTo>
                    <a:pt x="265020" y="656578"/>
                  </a:lnTo>
                  <a:lnTo>
                    <a:pt x="0" y="248802"/>
                  </a:lnTo>
                  <a:lnTo>
                    <a:pt x="166570" y="248802"/>
                  </a:lnTo>
                  <a:lnTo>
                    <a:pt x="273143" y="412783"/>
                  </a:lnTo>
                  <a:lnTo>
                    <a:pt x="73182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Incorrect 2"/>
          <p:cNvGrpSpPr/>
          <p:nvPr/>
        </p:nvGrpSpPr>
        <p:grpSpPr>
          <a:xfrm>
            <a:off x="2046800" y="3422417"/>
            <a:ext cx="4795569" cy="1039713"/>
            <a:chOff x="2046800" y="3422417"/>
            <a:chExt cx="4795569" cy="1039713"/>
          </a:xfrm>
        </p:grpSpPr>
        <p:sp>
          <p:nvSpPr>
            <p:cNvPr id="15" name="Rounded Rectangle 14"/>
            <p:cNvSpPr/>
            <p:nvPr/>
          </p:nvSpPr>
          <p:spPr>
            <a:xfrm>
              <a:off x="2426010" y="3586715"/>
              <a:ext cx="4416359" cy="680070"/>
            </a:xfrm>
            <a:prstGeom prst="roundRect">
              <a:avLst/>
            </a:prstGeom>
            <a:solidFill>
              <a:srgbClr val="FF5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Never mind. Keep trying!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2046800" y="3422417"/>
              <a:ext cx="1039713" cy="10397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Multiply 19"/>
            <p:cNvSpPr/>
            <p:nvPr/>
          </p:nvSpPr>
          <p:spPr>
            <a:xfrm>
              <a:off x="2127966" y="3503583"/>
              <a:ext cx="877383" cy="877383"/>
            </a:xfrm>
            <a:prstGeom prst="mathMultiply">
              <a:avLst>
                <a:gd name="adj1" fmla="val 172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4" name="Incorrect 1"/>
          <p:cNvGrpSpPr/>
          <p:nvPr/>
        </p:nvGrpSpPr>
        <p:grpSpPr>
          <a:xfrm>
            <a:off x="2046800" y="4767670"/>
            <a:ext cx="4795569" cy="1039713"/>
            <a:chOff x="2046800" y="2052849"/>
            <a:chExt cx="4795569" cy="1039713"/>
          </a:xfrm>
        </p:grpSpPr>
        <p:sp>
          <p:nvSpPr>
            <p:cNvPr id="24" name="Rounded Rectangle 23"/>
            <p:cNvSpPr/>
            <p:nvPr/>
          </p:nvSpPr>
          <p:spPr>
            <a:xfrm>
              <a:off x="2426010" y="2248071"/>
              <a:ext cx="4416359" cy="680070"/>
            </a:xfrm>
            <a:prstGeom prst="roundRect">
              <a:avLst/>
            </a:prstGeom>
            <a:solidFill>
              <a:srgbClr val="FF5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Never mind. Keep trying!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2046800" y="2052849"/>
              <a:ext cx="1039713" cy="10397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Multiply 25"/>
            <p:cNvSpPr/>
            <p:nvPr/>
          </p:nvSpPr>
          <p:spPr>
            <a:xfrm>
              <a:off x="2127966" y="2134015"/>
              <a:ext cx="877383" cy="877383"/>
            </a:xfrm>
            <a:prstGeom prst="mathMultiply">
              <a:avLst>
                <a:gd name="adj1" fmla="val 172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1" name="Right Arrow 30">
            <a:hlinkClick r:id="" action="ppaction://hlinkshowjump?jump=nextslide"/>
          </p:cNvPr>
          <p:cNvSpPr/>
          <p:nvPr/>
        </p:nvSpPr>
        <p:spPr>
          <a:xfrm>
            <a:off x="7788582" y="5773554"/>
            <a:ext cx="599768" cy="448699"/>
          </a:xfrm>
          <a:prstGeom prst="rightArrow">
            <a:avLst/>
          </a:prstGeom>
          <a:solidFill>
            <a:schemeClr val="accent4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97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7" grpId="0" animBg="1"/>
      <p:bldP spid="4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 Answer"/>
          <p:cNvSpPr/>
          <p:nvPr/>
        </p:nvSpPr>
        <p:spPr>
          <a:xfrm>
            <a:off x="2629877" y="3611543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latin typeface="Twinkl SemiBold" pitchFamily="2" charset="0"/>
              </a:rPr>
              <a:t>1</a:t>
            </a:r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.7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12" name="C Answer"/>
          <p:cNvSpPr/>
          <p:nvPr/>
        </p:nvSpPr>
        <p:spPr>
          <a:xfrm>
            <a:off x="2629877" y="4963605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0.7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7" name="A Answer"/>
          <p:cNvSpPr/>
          <p:nvPr/>
        </p:nvSpPr>
        <p:spPr>
          <a:xfrm>
            <a:off x="2629877" y="2259482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0.1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457198" y="757546"/>
            <a:ext cx="8220075" cy="994306"/>
          </a:xfrm>
        </p:spPr>
        <p:txBody>
          <a:bodyPr/>
          <a:lstStyle/>
          <a:p>
            <a:pPr algn="ctr"/>
            <a:r>
              <a:rPr lang="en-GB" sz="3600" dirty="0" smtClean="0"/>
              <a:t>What is      as a decimal?</a:t>
            </a:r>
            <a:endParaRPr lang="en-GB" sz="3600" dirty="0"/>
          </a:p>
        </p:txBody>
      </p:sp>
      <p:sp>
        <p:nvSpPr>
          <p:cNvPr id="5" name="Rectangle 4"/>
          <p:cNvSpPr/>
          <p:nvPr/>
        </p:nvSpPr>
        <p:spPr>
          <a:xfrm>
            <a:off x="3772388" y="827926"/>
            <a:ext cx="369765" cy="884070"/>
          </a:xfrm>
          <a:prstGeom prst="rect">
            <a:avLst/>
          </a:prstGeom>
        </p:spPr>
        <p:txBody>
          <a:bodyPr wrap="square" lIns="0" tIns="72000" rIns="0" bIns="72000">
            <a:spAutoFit/>
          </a:bodyPr>
          <a:lstStyle/>
          <a:p>
            <a:pPr algn="ctr"/>
            <a:r>
              <a:rPr lang="en-GB" sz="2400" b="1" dirty="0"/>
              <a:t>7</a:t>
            </a:r>
            <a:endParaRPr lang="en-GB" sz="2400" b="1" dirty="0" smtClean="0"/>
          </a:p>
          <a:p>
            <a:pPr algn="ctr"/>
            <a:r>
              <a:rPr lang="en-GB" sz="2400" b="1" dirty="0" smtClean="0"/>
              <a:t>10</a:t>
            </a:r>
            <a:endParaRPr lang="en-GB" sz="2400" b="1" dirty="0"/>
          </a:p>
        </p:txBody>
      </p:sp>
      <p:sp>
        <p:nvSpPr>
          <p:cNvPr id="2" name="Rounded Rectangle 1"/>
          <p:cNvSpPr/>
          <p:nvPr/>
        </p:nvSpPr>
        <p:spPr>
          <a:xfrm>
            <a:off x="3772388" y="1239069"/>
            <a:ext cx="369765" cy="4571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"/>
          <p:cNvSpPr/>
          <p:nvPr/>
        </p:nvSpPr>
        <p:spPr>
          <a:xfrm>
            <a:off x="2071077" y="2074006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A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8" name="B"/>
          <p:cNvSpPr/>
          <p:nvPr/>
        </p:nvSpPr>
        <p:spPr>
          <a:xfrm>
            <a:off x="2071076" y="3439607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B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9" name="C"/>
          <p:cNvSpPr/>
          <p:nvPr/>
        </p:nvSpPr>
        <p:spPr>
          <a:xfrm>
            <a:off x="2071076" y="4791668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C</a:t>
            </a:r>
            <a:endParaRPr lang="en-GB" sz="2800" b="1" dirty="0">
              <a:solidFill>
                <a:schemeClr val="tx1"/>
              </a:solidFill>
            </a:endParaRPr>
          </a:p>
        </p:txBody>
      </p:sp>
      <p:grpSp>
        <p:nvGrpSpPr>
          <p:cNvPr id="32" name="Correct"/>
          <p:cNvGrpSpPr/>
          <p:nvPr/>
        </p:nvGrpSpPr>
        <p:grpSpPr>
          <a:xfrm>
            <a:off x="2046800" y="4774301"/>
            <a:ext cx="4799904" cy="1039713"/>
            <a:chOff x="2046800" y="4774301"/>
            <a:chExt cx="4799904" cy="1039713"/>
          </a:xfrm>
        </p:grpSpPr>
        <p:sp>
          <p:nvSpPr>
            <p:cNvPr id="14" name="Rounded Rectangle 13"/>
            <p:cNvSpPr/>
            <p:nvPr/>
          </p:nvSpPr>
          <p:spPr>
            <a:xfrm>
              <a:off x="2430345" y="4968753"/>
              <a:ext cx="4416359" cy="68007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Yay, that’s correct!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2046800" y="4774301"/>
              <a:ext cx="1039713" cy="103971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 rot="20730365">
              <a:off x="2208257" y="5116133"/>
              <a:ext cx="751345" cy="498708"/>
            </a:xfrm>
            <a:custGeom>
              <a:avLst/>
              <a:gdLst>
                <a:gd name="connsiteX0" fmla="*/ 1009804 w 1009804"/>
                <a:gd name="connsiteY0" fmla="*/ 0 h 670261"/>
                <a:gd name="connsiteX1" fmla="*/ 273397 w 1009804"/>
                <a:gd name="connsiteY1" fmla="*/ 662722 h 670261"/>
                <a:gd name="connsiteX2" fmla="*/ 273397 w 1009804"/>
                <a:gd name="connsiteY2" fmla="*/ 669467 h 670261"/>
                <a:gd name="connsiteX3" fmla="*/ 270631 w 1009804"/>
                <a:gd name="connsiteY3" fmla="*/ 665212 h 670261"/>
                <a:gd name="connsiteX4" fmla="*/ 265020 w 1009804"/>
                <a:gd name="connsiteY4" fmla="*/ 670261 h 670261"/>
                <a:gd name="connsiteX5" fmla="*/ 265020 w 1009804"/>
                <a:gd name="connsiteY5" fmla="*/ 656578 h 670261"/>
                <a:gd name="connsiteX6" fmla="*/ 0 w 1009804"/>
                <a:gd name="connsiteY6" fmla="*/ 248802 h 670261"/>
                <a:gd name="connsiteX7" fmla="*/ 166570 w 1009804"/>
                <a:gd name="connsiteY7" fmla="*/ 248802 h 670261"/>
                <a:gd name="connsiteX8" fmla="*/ 273143 w 1009804"/>
                <a:gd name="connsiteY8" fmla="*/ 412783 h 670261"/>
                <a:gd name="connsiteX9" fmla="*/ 731821 w 1009804"/>
                <a:gd name="connsiteY9" fmla="*/ 0 h 67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9804" h="670261">
                  <a:moveTo>
                    <a:pt x="1009804" y="0"/>
                  </a:moveTo>
                  <a:lnTo>
                    <a:pt x="273397" y="662722"/>
                  </a:lnTo>
                  <a:lnTo>
                    <a:pt x="273397" y="669467"/>
                  </a:lnTo>
                  <a:lnTo>
                    <a:pt x="270631" y="665212"/>
                  </a:lnTo>
                  <a:lnTo>
                    <a:pt x="265020" y="670261"/>
                  </a:lnTo>
                  <a:lnTo>
                    <a:pt x="265020" y="656578"/>
                  </a:lnTo>
                  <a:lnTo>
                    <a:pt x="0" y="248802"/>
                  </a:lnTo>
                  <a:lnTo>
                    <a:pt x="166570" y="248802"/>
                  </a:lnTo>
                  <a:lnTo>
                    <a:pt x="273143" y="412783"/>
                  </a:lnTo>
                  <a:lnTo>
                    <a:pt x="73182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Incorrect 2"/>
          <p:cNvGrpSpPr/>
          <p:nvPr/>
        </p:nvGrpSpPr>
        <p:grpSpPr>
          <a:xfrm>
            <a:off x="2046800" y="3422417"/>
            <a:ext cx="4795569" cy="1039713"/>
            <a:chOff x="2046800" y="3422417"/>
            <a:chExt cx="4795569" cy="1039713"/>
          </a:xfrm>
        </p:grpSpPr>
        <p:sp>
          <p:nvSpPr>
            <p:cNvPr id="15" name="Rounded Rectangle 14"/>
            <p:cNvSpPr/>
            <p:nvPr/>
          </p:nvSpPr>
          <p:spPr>
            <a:xfrm>
              <a:off x="2426010" y="3586715"/>
              <a:ext cx="4416359" cy="680070"/>
            </a:xfrm>
            <a:prstGeom prst="roundRect">
              <a:avLst/>
            </a:prstGeom>
            <a:solidFill>
              <a:srgbClr val="FF5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Never mind. Keep trying!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2046800" y="3422417"/>
              <a:ext cx="1039713" cy="10397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Multiply 19"/>
            <p:cNvSpPr/>
            <p:nvPr/>
          </p:nvSpPr>
          <p:spPr>
            <a:xfrm>
              <a:off x="2127966" y="3503583"/>
              <a:ext cx="877383" cy="877383"/>
            </a:xfrm>
            <a:prstGeom prst="mathMultiply">
              <a:avLst>
                <a:gd name="adj1" fmla="val 172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4" name="Incorrect 1"/>
          <p:cNvGrpSpPr/>
          <p:nvPr/>
        </p:nvGrpSpPr>
        <p:grpSpPr>
          <a:xfrm>
            <a:off x="2046800" y="2043017"/>
            <a:ext cx="4795569" cy="1039713"/>
            <a:chOff x="2046800" y="2052849"/>
            <a:chExt cx="4795569" cy="1039713"/>
          </a:xfrm>
        </p:grpSpPr>
        <p:sp>
          <p:nvSpPr>
            <p:cNvPr id="24" name="Rounded Rectangle 23"/>
            <p:cNvSpPr/>
            <p:nvPr/>
          </p:nvSpPr>
          <p:spPr>
            <a:xfrm>
              <a:off x="2426010" y="2248071"/>
              <a:ext cx="4416359" cy="680070"/>
            </a:xfrm>
            <a:prstGeom prst="roundRect">
              <a:avLst/>
            </a:prstGeom>
            <a:solidFill>
              <a:srgbClr val="FF5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Never mind. Keep trying!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2046800" y="2052849"/>
              <a:ext cx="1039713" cy="10397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Multiply 25"/>
            <p:cNvSpPr/>
            <p:nvPr/>
          </p:nvSpPr>
          <p:spPr>
            <a:xfrm>
              <a:off x="2127966" y="2134015"/>
              <a:ext cx="877383" cy="877383"/>
            </a:xfrm>
            <a:prstGeom prst="mathMultiply">
              <a:avLst>
                <a:gd name="adj1" fmla="val 172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1" name="Right Arrow 30">
            <a:hlinkClick r:id="" action="ppaction://hlinkshowjump?jump=nextslide"/>
          </p:cNvPr>
          <p:cNvSpPr/>
          <p:nvPr/>
        </p:nvSpPr>
        <p:spPr>
          <a:xfrm>
            <a:off x="7788582" y="5773554"/>
            <a:ext cx="599768" cy="448699"/>
          </a:xfrm>
          <a:prstGeom prst="rightArrow">
            <a:avLst/>
          </a:prstGeom>
          <a:solidFill>
            <a:schemeClr val="accent4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722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7" grpId="0" animBg="1"/>
      <p:bldP spid="4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 Answer"/>
          <p:cNvSpPr/>
          <p:nvPr/>
        </p:nvSpPr>
        <p:spPr>
          <a:xfrm>
            <a:off x="2629877" y="3611543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1</a:t>
            </a:r>
          </a:p>
          <a:p>
            <a:pPr algn="ctr"/>
            <a:r>
              <a:rPr lang="en-GB" sz="2400" dirty="0">
                <a:solidFill>
                  <a:sysClr val="windowText" lastClr="000000"/>
                </a:solidFill>
                <a:latin typeface="Twinkl SemiBold" pitchFamily="2" charset="0"/>
              </a:rPr>
              <a:t>4</a:t>
            </a:r>
          </a:p>
        </p:txBody>
      </p:sp>
      <p:sp>
        <p:nvSpPr>
          <p:cNvPr id="12" name="C Answer"/>
          <p:cNvSpPr/>
          <p:nvPr/>
        </p:nvSpPr>
        <p:spPr>
          <a:xfrm>
            <a:off x="2629877" y="4963605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2</a:t>
            </a:r>
          </a:p>
          <a:p>
            <a:pPr algn="ctr"/>
            <a:r>
              <a:rPr lang="en-GB" sz="2400" dirty="0">
                <a:solidFill>
                  <a:sysClr val="windowText" lastClr="000000"/>
                </a:solidFill>
                <a:latin typeface="Twinkl SemiBold" pitchFamily="2" charset="0"/>
              </a:rPr>
              <a:t>4</a:t>
            </a:r>
          </a:p>
        </p:txBody>
      </p:sp>
      <p:sp>
        <p:nvSpPr>
          <p:cNvPr id="7" name="A Answer"/>
          <p:cNvSpPr/>
          <p:nvPr/>
        </p:nvSpPr>
        <p:spPr>
          <a:xfrm>
            <a:off x="2629877" y="2259482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3</a:t>
            </a:r>
          </a:p>
          <a:p>
            <a:pPr algn="ctr"/>
            <a:r>
              <a:rPr lang="en-GB" sz="2400" dirty="0">
                <a:solidFill>
                  <a:sysClr val="windowText" lastClr="000000"/>
                </a:solidFill>
                <a:latin typeface="Twinkl SemiBold" pitchFamily="2" charset="0"/>
              </a:rPr>
              <a:t>4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457198" y="757546"/>
            <a:ext cx="8220075" cy="994306"/>
          </a:xfrm>
        </p:spPr>
        <p:txBody>
          <a:bodyPr/>
          <a:lstStyle/>
          <a:p>
            <a:pPr algn="ctr"/>
            <a:r>
              <a:rPr lang="en-GB" sz="3600" dirty="0" smtClean="0"/>
              <a:t>What is 0.75 as a fraction?</a:t>
            </a:r>
            <a:endParaRPr lang="en-GB" sz="3600" dirty="0"/>
          </a:p>
        </p:txBody>
      </p:sp>
      <p:sp>
        <p:nvSpPr>
          <p:cNvPr id="2" name="Rounded Rectangle 1"/>
          <p:cNvSpPr/>
          <p:nvPr/>
        </p:nvSpPr>
        <p:spPr>
          <a:xfrm>
            <a:off x="4551240" y="2575078"/>
            <a:ext cx="369765" cy="4571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"/>
          <p:cNvSpPr/>
          <p:nvPr/>
        </p:nvSpPr>
        <p:spPr>
          <a:xfrm>
            <a:off x="2071077" y="2074006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A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8" name="B"/>
          <p:cNvSpPr/>
          <p:nvPr/>
        </p:nvSpPr>
        <p:spPr>
          <a:xfrm>
            <a:off x="2071076" y="3439607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B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9" name="C"/>
          <p:cNvSpPr/>
          <p:nvPr/>
        </p:nvSpPr>
        <p:spPr>
          <a:xfrm>
            <a:off x="2071076" y="4791668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C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31" name="Right Arrow 30">
            <a:hlinkClick r:id="" action="ppaction://hlinkshowjump?jump=nextslide"/>
          </p:cNvPr>
          <p:cNvSpPr/>
          <p:nvPr/>
        </p:nvSpPr>
        <p:spPr>
          <a:xfrm>
            <a:off x="7788582" y="5773554"/>
            <a:ext cx="599768" cy="448699"/>
          </a:xfrm>
          <a:prstGeom prst="rightArrow">
            <a:avLst/>
          </a:prstGeom>
          <a:solidFill>
            <a:schemeClr val="accent4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ounded Rectangle 26"/>
          <p:cNvSpPr/>
          <p:nvPr/>
        </p:nvSpPr>
        <p:spPr>
          <a:xfrm>
            <a:off x="4551240" y="3920672"/>
            <a:ext cx="369765" cy="4571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ounded Rectangle 27"/>
          <p:cNvSpPr/>
          <p:nvPr/>
        </p:nvSpPr>
        <p:spPr>
          <a:xfrm>
            <a:off x="4551240" y="5279292"/>
            <a:ext cx="369765" cy="4571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2" name="Correct"/>
          <p:cNvGrpSpPr/>
          <p:nvPr/>
        </p:nvGrpSpPr>
        <p:grpSpPr>
          <a:xfrm>
            <a:off x="2046800" y="2052168"/>
            <a:ext cx="4799904" cy="1039713"/>
            <a:chOff x="2046800" y="4774301"/>
            <a:chExt cx="4799904" cy="1039713"/>
          </a:xfrm>
        </p:grpSpPr>
        <p:sp>
          <p:nvSpPr>
            <p:cNvPr id="14" name="Rounded Rectangle 13"/>
            <p:cNvSpPr/>
            <p:nvPr/>
          </p:nvSpPr>
          <p:spPr>
            <a:xfrm>
              <a:off x="2430345" y="4968753"/>
              <a:ext cx="4416359" cy="68007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Yay, that’s correct!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2046800" y="4774301"/>
              <a:ext cx="1039713" cy="103971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 rot="20730365">
              <a:off x="2208257" y="5116133"/>
              <a:ext cx="751345" cy="498708"/>
            </a:xfrm>
            <a:custGeom>
              <a:avLst/>
              <a:gdLst>
                <a:gd name="connsiteX0" fmla="*/ 1009804 w 1009804"/>
                <a:gd name="connsiteY0" fmla="*/ 0 h 670261"/>
                <a:gd name="connsiteX1" fmla="*/ 273397 w 1009804"/>
                <a:gd name="connsiteY1" fmla="*/ 662722 h 670261"/>
                <a:gd name="connsiteX2" fmla="*/ 273397 w 1009804"/>
                <a:gd name="connsiteY2" fmla="*/ 669467 h 670261"/>
                <a:gd name="connsiteX3" fmla="*/ 270631 w 1009804"/>
                <a:gd name="connsiteY3" fmla="*/ 665212 h 670261"/>
                <a:gd name="connsiteX4" fmla="*/ 265020 w 1009804"/>
                <a:gd name="connsiteY4" fmla="*/ 670261 h 670261"/>
                <a:gd name="connsiteX5" fmla="*/ 265020 w 1009804"/>
                <a:gd name="connsiteY5" fmla="*/ 656578 h 670261"/>
                <a:gd name="connsiteX6" fmla="*/ 0 w 1009804"/>
                <a:gd name="connsiteY6" fmla="*/ 248802 h 670261"/>
                <a:gd name="connsiteX7" fmla="*/ 166570 w 1009804"/>
                <a:gd name="connsiteY7" fmla="*/ 248802 h 670261"/>
                <a:gd name="connsiteX8" fmla="*/ 273143 w 1009804"/>
                <a:gd name="connsiteY8" fmla="*/ 412783 h 670261"/>
                <a:gd name="connsiteX9" fmla="*/ 731821 w 1009804"/>
                <a:gd name="connsiteY9" fmla="*/ 0 h 67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9804" h="670261">
                  <a:moveTo>
                    <a:pt x="1009804" y="0"/>
                  </a:moveTo>
                  <a:lnTo>
                    <a:pt x="273397" y="662722"/>
                  </a:lnTo>
                  <a:lnTo>
                    <a:pt x="273397" y="669467"/>
                  </a:lnTo>
                  <a:lnTo>
                    <a:pt x="270631" y="665212"/>
                  </a:lnTo>
                  <a:lnTo>
                    <a:pt x="265020" y="670261"/>
                  </a:lnTo>
                  <a:lnTo>
                    <a:pt x="265020" y="656578"/>
                  </a:lnTo>
                  <a:lnTo>
                    <a:pt x="0" y="248802"/>
                  </a:lnTo>
                  <a:lnTo>
                    <a:pt x="166570" y="248802"/>
                  </a:lnTo>
                  <a:lnTo>
                    <a:pt x="273143" y="412783"/>
                  </a:lnTo>
                  <a:lnTo>
                    <a:pt x="73182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Incorrect 2"/>
          <p:cNvGrpSpPr/>
          <p:nvPr/>
        </p:nvGrpSpPr>
        <p:grpSpPr>
          <a:xfrm>
            <a:off x="2046800" y="3422417"/>
            <a:ext cx="4795569" cy="1039713"/>
            <a:chOff x="2046800" y="3422417"/>
            <a:chExt cx="4795569" cy="1039713"/>
          </a:xfrm>
        </p:grpSpPr>
        <p:sp>
          <p:nvSpPr>
            <p:cNvPr id="15" name="Rounded Rectangle 14"/>
            <p:cNvSpPr/>
            <p:nvPr/>
          </p:nvSpPr>
          <p:spPr>
            <a:xfrm>
              <a:off x="2426010" y="3586715"/>
              <a:ext cx="4416359" cy="680070"/>
            </a:xfrm>
            <a:prstGeom prst="roundRect">
              <a:avLst/>
            </a:prstGeom>
            <a:solidFill>
              <a:srgbClr val="FF5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Never mind. Keep trying!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2046800" y="3422417"/>
              <a:ext cx="1039713" cy="10397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Multiply 19"/>
            <p:cNvSpPr/>
            <p:nvPr/>
          </p:nvSpPr>
          <p:spPr>
            <a:xfrm>
              <a:off x="2127966" y="3503583"/>
              <a:ext cx="877383" cy="877383"/>
            </a:xfrm>
            <a:prstGeom prst="mathMultiply">
              <a:avLst>
                <a:gd name="adj1" fmla="val 172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4" name="Incorrect 1"/>
          <p:cNvGrpSpPr/>
          <p:nvPr/>
        </p:nvGrpSpPr>
        <p:grpSpPr>
          <a:xfrm>
            <a:off x="2046800" y="4759435"/>
            <a:ext cx="4795569" cy="1039713"/>
            <a:chOff x="2046800" y="2052849"/>
            <a:chExt cx="4795569" cy="1039713"/>
          </a:xfrm>
        </p:grpSpPr>
        <p:sp>
          <p:nvSpPr>
            <p:cNvPr id="24" name="Rounded Rectangle 23"/>
            <p:cNvSpPr/>
            <p:nvPr/>
          </p:nvSpPr>
          <p:spPr>
            <a:xfrm>
              <a:off x="2426010" y="2248071"/>
              <a:ext cx="4416359" cy="680070"/>
            </a:xfrm>
            <a:prstGeom prst="roundRect">
              <a:avLst/>
            </a:prstGeom>
            <a:solidFill>
              <a:srgbClr val="FF5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Never mind. Keep trying!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2046800" y="2052849"/>
              <a:ext cx="1039713" cy="10397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Multiply 25"/>
            <p:cNvSpPr/>
            <p:nvPr/>
          </p:nvSpPr>
          <p:spPr>
            <a:xfrm>
              <a:off x="2127966" y="2134015"/>
              <a:ext cx="877383" cy="877383"/>
            </a:xfrm>
            <a:prstGeom prst="mathMultiply">
              <a:avLst>
                <a:gd name="adj1" fmla="val 172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242601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7" grpId="0" animBg="1"/>
      <p:bldP spid="2" grpId="0" animBg="1"/>
      <p:bldP spid="4" grpId="0" animBg="1"/>
      <p:bldP spid="8" grpId="0" animBg="1"/>
      <p:bldP spid="9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 Answer"/>
          <p:cNvSpPr/>
          <p:nvPr/>
        </p:nvSpPr>
        <p:spPr>
          <a:xfrm>
            <a:off x="2629877" y="3611543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latin typeface="Twinkl SemiBold" pitchFamily="2" charset="0"/>
              </a:rPr>
              <a:t>0</a:t>
            </a:r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.3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12" name="C Answer"/>
          <p:cNvSpPr/>
          <p:nvPr/>
        </p:nvSpPr>
        <p:spPr>
          <a:xfrm>
            <a:off x="2629877" y="4963605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0.2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7" name="A Answer"/>
          <p:cNvSpPr/>
          <p:nvPr/>
        </p:nvSpPr>
        <p:spPr>
          <a:xfrm>
            <a:off x="2629877" y="2259482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0.4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457198" y="757546"/>
            <a:ext cx="8220075" cy="994306"/>
          </a:xfrm>
        </p:spPr>
        <p:txBody>
          <a:bodyPr/>
          <a:lstStyle/>
          <a:p>
            <a:pPr algn="ctr"/>
            <a:r>
              <a:rPr lang="en-GB" sz="3600" dirty="0" smtClean="0"/>
              <a:t>What is      as a decimal?</a:t>
            </a:r>
            <a:endParaRPr lang="en-GB" sz="3600" dirty="0"/>
          </a:p>
        </p:txBody>
      </p:sp>
      <p:sp>
        <p:nvSpPr>
          <p:cNvPr id="5" name="Rectangle 4"/>
          <p:cNvSpPr/>
          <p:nvPr/>
        </p:nvSpPr>
        <p:spPr>
          <a:xfrm>
            <a:off x="3772388" y="827926"/>
            <a:ext cx="369765" cy="884070"/>
          </a:xfrm>
          <a:prstGeom prst="rect">
            <a:avLst/>
          </a:prstGeom>
        </p:spPr>
        <p:txBody>
          <a:bodyPr wrap="square" lIns="0" tIns="72000" rIns="0" bIns="72000">
            <a:spAutoFit/>
          </a:bodyPr>
          <a:lstStyle/>
          <a:p>
            <a:pPr algn="ctr"/>
            <a:r>
              <a:rPr lang="en-GB" sz="2400" b="1" dirty="0" smtClean="0"/>
              <a:t>1</a:t>
            </a:r>
          </a:p>
          <a:p>
            <a:pPr algn="ctr"/>
            <a:r>
              <a:rPr lang="en-GB" sz="2400" b="1" dirty="0"/>
              <a:t>5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3772388" y="1239069"/>
            <a:ext cx="369765" cy="4571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"/>
          <p:cNvSpPr/>
          <p:nvPr/>
        </p:nvSpPr>
        <p:spPr>
          <a:xfrm>
            <a:off x="2071077" y="2074006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A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8" name="B"/>
          <p:cNvSpPr/>
          <p:nvPr/>
        </p:nvSpPr>
        <p:spPr>
          <a:xfrm>
            <a:off x="2071076" y="3439607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B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9" name="C"/>
          <p:cNvSpPr/>
          <p:nvPr/>
        </p:nvSpPr>
        <p:spPr>
          <a:xfrm>
            <a:off x="2071076" y="4791668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C</a:t>
            </a:r>
            <a:endParaRPr lang="en-GB" sz="2800" b="1" dirty="0">
              <a:solidFill>
                <a:schemeClr val="tx1"/>
              </a:solidFill>
            </a:endParaRPr>
          </a:p>
        </p:txBody>
      </p:sp>
      <p:grpSp>
        <p:nvGrpSpPr>
          <p:cNvPr id="32" name="Correct"/>
          <p:cNvGrpSpPr/>
          <p:nvPr/>
        </p:nvGrpSpPr>
        <p:grpSpPr>
          <a:xfrm>
            <a:off x="2046800" y="4774301"/>
            <a:ext cx="4799904" cy="1039713"/>
            <a:chOff x="2046800" y="4774301"/>
            <a:chExt cx="4799904" cy="1039713"/>
          </a:xfrm>
        </p:grpSpPr>
        <p:sp>
          <p:nvSpPr>
            <p:cNvPr id="14" name="Rounded Rectangle 13"/>
            <p:cNvSpPr/>
            <p:nvPr/>
          </p:nvSpPr>
          <p:spPr>
            <a:xfrm>
              <a:off x="2430345" y="4968753"/>
              <a:ext cx="4416359" cy="68007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Yay, that’s correct!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2046800" y="4774301"/>
              <a:ext cx="1039713" cy="103971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 rot="20730365">
              <a:off x="2208257" y="5116133"/>
              <a:ext cx="751345" cy="498708"/>
            </a:xfrm>
            <a:custGeom>
              <a:avLst/>
              <a:gdLst>
                <a:gd name="connsiteX0" fmla="*/ 1009804 w 1009804"/>
                <a:gd name="connsiteY0" fmla="*/ 0 h 670261"/>
                <a:gd name="connsiteX1" fmla="*/ 273397 w 1009804"/>
                <a:gd name="connsiteY1" fmla="*/ 662722 h 670261"/>
                <a:gd name="connsiteX2" fmla="*/ 273397 w 1009804"/>
                <a:gd name="connsiteY2" fmla="*/ 669467 h 670261"/>
                <a:gd name="connsiteX3" fmla="*/ 270631 w 1009804"/>
                <a:gd name="connsiteY3" fmla="*/ 665212 h 670261"/>
                <a:gd name="connsiteX4" fmla="*/ 265020 w 1009804"/>
                <a:gd name="connsiteY4" fmla="*/ 670261 h 670261"/>
                <a:gd name="connsiteX5" fmla="*/ 265020 w 1009804"/>
                <a:gd name="connsiteY5" fmla="*/ 656578 h 670261"/>
                <a:gd name="connsiteX6" fmla="*/ 0 w 1009804"/>
                <a:gd name="connsiteY6" fmla="*/ 248802 h 670261"/>
                <a:gd name="connsiteX7" fmla="*/ 166570 w 1009804"/>
                <a:gd name="connsiteY7" fmla="*/ 248802 h 670261"/>
                <a:gd name="connsiteX8" fmla="*/ 273143 w 1009804"/>
                <a:gd name="connsiteY8" fmla="*/ 412783 h 670261"/>
                <a:gd name="connsiteX9" fmla="*/ 731821 w 1009804"/>
                <a:gd name="connsiteY9" fmla="*/ 0 h 67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9804" h="670261">
                  <a:moveTo>
                    <a:pt x="1009804" y="0"/>
                  </a:moveTo>
                  <a:lnTo>
                    <a:pt x="273397" y="662722"/>
                  </a:lnTo>
                  <a:lnTo>
                    <a:pt x="273397" y="669467"/>
                  </a:lnTo>
                  <a:lnTo>
                    <a:pt x="270631" y="665212"/>
                  </a:lnTo>
                  <a:lnTo>
                    <a:pt x="265020" y="670261"/>
                  </a:lnTo>
                  <a:lnTo>
                    <a:pt x="265020" y="656578"/>
                  </a:lnTo>
                  <a:lnTo>
                    <a:pt x="0" y="248802"/>
                  </a:lnTo>
                  <a:lnTo>
                    <a:pt x="166570" y="248802"/>
                  </a:lnTo>
                  <a:lnTo>
                    <a:pt x="273143" y="412783"/>
                  </a:lnTo>
                  <a:lnTo>
                    <a:pt x="73182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Incorrect 2"/>
          <p:cNvGrpSpPr/>
          <p:nvPr/>
        </p:nvGrpSpPr>
        <p:grpSpPr>
          <a:xfrm>
            <a:off x="2046800" y="3422417"/>
            <a:ext cx="4795569" cy="1039713"/>
            <a:chOff x="2046800" y="3422417"/>
            <a:chExt cx="4795569" cy="1039713"/>
          </a:xfrm>
        </p:grpSpPr>
        <p:sp>
          <p:nvSpPr>
            <p:cNvPr id="15" name="Rounded Rectangle 14"/>
            <p:cNvSpPr/>
            <p:nvPr/>
          </p:nvSpPr>
          <p:spPr>
            <a:xfrm>
              <a:off x="2426010" y="3586715"/>
              <a:ext cx="4416359" cy="680070"/>
            </a:xfrm>
            <a:prstGeom prst="roundRect">
              <a:avLst/>
            </a:prstGeom>
            <a:solidFill>
              <a:srgbClr val="FF5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Never mind. Keep trying!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2046800" y="3422417"/>
              <a:ext cx="1039713" cy="10397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Multiply 19"/>
            <p:cNvSpPr/>
            <p:nvPr/>
          </p:nvSpPr>
          <p:spPr>
            <a:xfrm>
              <a:off x="2127966" y="3503583"/>
              <a:ext cx="877383" cy="877383"/>
            </a:xfrm>
            <a:prstGeom prst="mathMultiply">
              <a:avLst>
                <a:gd name="adj1" fmla="val 172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4" name="Incorrect 1"/>
          <p:cNvGrpSpPr/>
          <p:nvPr/>
        </p:nvGrpSpPr>
        <p:grpSpPr>
          <a:xfrm>
            <a:off x="2046800" y="2043017"/>
            <a:ext cx="4795569" cy="1039713"/>
            <a:chOff x="2046800" y="2052849"/>
            <a:chExt cx="4795569" cy="1039713"/>
          </a:xfrm>
        </p:grpSpPr>
        <p:sp>
          <p:nvSpPr>
            <p:cNvPr id="24" name="Rounded Rectangle 23"/>
            <p:cNvSpPr/>
            <p:nvPr/>
          </p:nvSpPr>
          <p:spPr>
            <a:xfrm>
              <a:off x="2426010" y="2248071"/>
              <a:ext cx="4416359" cy="680070"/>
            </a:xfrm>
            <a:prstGeom prst="roundRect">
              <a:avLst/>
            </a:prstGeom>
            <a:solidFill>
              <a:srgbClr val="FF5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Never mind. Keep trying!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2046800" y="2052849"/>
              <a:ext cx="1039713" cy="10397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Multiply 25"/>
            <p:cNvSpPr/>
            <p:nvPr/>
          </p:nvSpPr>
          <p:spPr>
            <a:xfrm>
              <a:off x="2127966" y="2134015"/>
              <a:ext cx="877383" cy="877383"/>
            </a:xfrm>
            <a:prstGeom prst="mathMultiply">
              <a:avLst>
                <a:gd name="adj1" fmla="val 172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1" name="Right Arrow 30">
            <a:hlinkClick r:id="" action="ppaction://hlinkshowjump?jump=nextslide"/>
          </p:cNvPr>
          <p:cNvSpPr/>
          <p:nvPr/>
        </p:nvSpPr>
        <p:spPr>
          <a:xfrm>
            <a:off x="7788582" y="5773554"/>
            <a:ext cx="599768" cy="448699"/>
          </a:xfrm>
          <a:prstGeom prst="rightArrow">
            <a:avLst/>
          </a:prstGeom>
          <a:solidFill>
            <a:schemeClr val="accent4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978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7" grpId="0" animBg="1"/>
      <p:bldP spid="4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 Answer"/>
          <p:cNvSpPr/>
          <p:nvPr/>
        </p:nvSpPr>
        <p:spPr>
          <a:xfrm>
            <a:off x="2629877" y="3611543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0.5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12" name="C Answer"/>
          <p:cNvSpPr/>
          <p:nvPr/>
        </p:nvSpPr>
        <p:spPr>
          <a:xfrm>
            <a:off x="2629877" y="4963605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0.7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7" name="A Answer"/>
          <p:cNvSpPr/>
          <p:nvPr/>
        </p:nvSpPr>
        <p:spPr>
          <a:xfrm>
            <a:off x="2629877" y="2259482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0.8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457198" y="757546"/>
            <a:ext cx="8220075" cy="994306"/>
          </a:xfrm>
        </p:spPr>
        <p:txBody>
          <a:bodyPr/>
          <a:lstStyle/>
          <a:p>
            <a:pPr algn="ctr"/>
            <a:r>
              <a:rPr lang="en-GB" sz="3600" dirty="0" smtClean="0"/>
              <a:t>What is      as a decimal?</a:t>
            </a:r>
            <a:endParaRPr lang="en-GB" sz="3600" dirty="0"/>
          </a:p>
        </p:txBody>
      </p:sp>
      <p:sp>
        <p:nvSpPr>
          <p:cNvPr id="5" name="Rectangle 4"/>
          <p:cNvSpPr/>
          <p:nvPr/>
        </p:nvSpPr>
        <p:spPr>
          <a:xfrm>
            <a:off x="3772388" y="827926"/>
            <a:ext cx="369765" cy="884070"/>
          </a:xfrm>
          <a:prstGeom prst="rect">
            <a:avLst/>
          </a:prstGeom>
        </p:spPr>
        <p:txBody>
          <a:bodyPr wrap="square" lIns="0" tIns="72000" rIns="0" bIns="72000">
            <a:spAutoFit/>
          </a:bodyPr>
          <a:lstStyle/>
          <a:p>
            <a:pPr algn="ctr"/>
            <a:r>
              <a:rPr lang="en-GB" sz="2400" b="1" dirty="0"/>
              <a:t>4</a:t>
            </a:r>
            <a:endParaRPr lang="en-GB" sz="2400" b="1" dirty="0" smtClean="0"/>
          </a:p>
          <a:p>
            <a:pPr algn="ctr"/>
            <a:r>
              <a:rPr lang="en-GB" sz="2400" b="1" dirty="0"/>
              <a:t>5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3772388" y="1239069"/>
            <a:ext cx="369765" cy="4571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"/>
          <p:cNvSpPr/>
          <p:nvPr/>
        </p:nvSpPr>
        <p:spPr>
          <a:xfrm>
            <a:off x="2071077" y="2074006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A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8" name="B"/>
          <p:cNvSpPr/>
          <p:nvPr/>
        </p:nvSpPr>
        <p:spPr>
          <a:xfrm>
            <a:off x="2071076" y="3439607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B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9" name="C"/>
          <p:cNvSpPr/>
          <p:nvPr/>
        </p:nvSpPr>
        <p:spPr>
          <a:xfrm>
            <a:off x="2071076" y="4791668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C</a:t>
            </a:r>
            <a:endParaRPr lang="en-GB" sz="2800" b="1" dirty="0">
              <a:solidFill>
                <a:schemeClr val="tx1"/>
              </a:solidFill>
            </a:endParaRPr>
          </a:p>
        </p:txBody>
      </p:sp>
      <p:grpSp>
        <p:nvGrpSpPr>
          <p:cNvPr id="32" name="Correct"/>
          <p:cNvGrpSpPr/>
          <p:nvPr/>
        </p:nvGrpSpPr>
        <p:grpSpPr>
          <a:xfrm>
            <a:off x="2046800" y="2050008"/>
            <a:ext cx="4799904" cy="1039713"/>
            <a:chOff x="2046800" y="4774301"/>
            <a:chExt cx="4799904" cy="1039713"/>
          </a:xfrm>
        </p:grpSpPr>
        <p:sp>
          <p:nvSpPr>
            <p:cNvPr id="14" name="Rounded Rectangle 13"/>
            <p:cNvSpPr/>
            <p:nvPr/>
          </p:nvSpPr>
          <p:spPr>
            <a:xfrm>
              <a:off x="2430345" y="4968753"/>
              <a:ext cx="4416359" cy="68007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Yay, that’s correct!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2046800" y="4774301"/>
              <a:ext cx="1039713" cy="103971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 rot="20730365">
              <a:off x="2208257" y="5116133"/>
              <a:ext cx="751345" cy="498708"/>
            </a:xfrm>
            <a:custGeom>
              <a:avLst/>
              <a:gdLst>
                <a:gd name="connsiteX0" fmla="*/ 1009804 w 1009804"/>
                <a:gd name="connsiteY0" fmla="*/ 0 h 670261"/>
                <a:gd name="connsiteX1" fmla="*/ 273397 w 1009804"/>
                <a:gd name="connsiteY1" fmla="*/ 662722 h 670261"/>
                <a:gd name="connsiteX2" fmla="*/ 273397 w 1009804"/>
                <a:gd name="connsiteY2" fmla="*/ 669467 h 670261"/>
                <a:gd name="connsiteX3" fmla="*/ 270631 w 1009804"/>
                <a:gd name="connsiteY3" fmla="*/ 665212 h 670261"/>
                <a:gd name="connsiteX4" fmla="*/ 265020 w 1009804"/>
                <a:gd name="connsiteY4" fmla="*/ 670261 h 670261"/>
                <a:gd name="connsiteX5" fmla="*/ 265020 w 1009804"/>
                <a:gd name="connsiteY5" fmla="*/ 656578 h 670261"/>
                <a:gd name="connsiteX6" fmla="*/ 0 w 1009804"/>
                <a:gd name="connsiteY6" fmla="*/ 248802 h 670261"/>
                <a:gd name="connsiteX7" fmla="*/ 166570 w 1009804"/>
                <a:gd name="connsiteY7" fmla="*/ 248802 h 670261"/>
                <a:gd name="connsiteX8" fmla="*/ 273143 w 1009804"/>
                <a:gd name="connsiteY8" fmla="*/ 412783 h 670261"/>
                <a:gd name="connsiteX9" fmla="*/ 731821 w 1009804"/>
                <a:gd name="connsiteY9" fmla="*/ 0 h 67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9804" h="670261">
                  <a:moveTo>
                    <a:pt x="1009804" y="0"/>
                  </a:moveTo>
                  <a:lnTo>
                    <a:pt x="273397" y="662722"/>
                  </a:lnTo>
                  <a:lnTo>
                    <a:pt x="273397" y="669467"/>
                  </a:lnTo>
                  <a:lnTo>
                    <a:pt x="270631" y="665212"/>
                  </a:lnTo>
                  <a:lnTo>
                    <a:pt x="265020" y="670261"/>
                  </a:lnTo>
                  <a:lnTo>
                    <a:pt x="265020" y="656578"/>
                  </a:lnTo>
                  <a:lnTo>
                    <a:pt x="0" y="248802"/>
                  </a:lnTo>
                  <a:lnTo>
                    <a:pt x="166570" y="248802"/>
                  </a:lnTo>
                  <a:lnTo>
                    <a:pt x="273143" y="412783"/>
                  </a:lnTo>
                  <a:lnTo>
                    <a:pt x="73182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Incorrect 2"/>
          <p:cNvGrpSpPr/>
          <p:nvPr/>
        </p:nvGrpSpPr>
        <p:grpSpPr>
          <a:xfrm>
            <a:off x="2046800" y="3422417"/>
            <a:ext cx="4795569" cy="1039713"/>
            <a:chOff x="2046800" y="3422417"/>
            <a:chExt cx="4795569" cy="1039713"/>
          </a:xfrm>
        </p:grpSpPr>
        <p:sp>
          <p:nvSpPr>
            <p:cNvPr id="15" name="Rounded Rectangle 14"/>
            <p:cNvSpPr/>
            <p:nvPr/>
          </p:nvSpPr>
          <p:spPr>
            <a:xfrm>
              <a:off x="2426010" y="3586715"/>
              <a:ext cx="4416359" cy="680070"/>
            </a:xfrm>
            <a:prstGeom prst="roundRect">
              <a:avLst/>
            </a:prstGeom>
            <a:solidFill>
              <a:srgbClr val="FF5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Never mind. Keep trying!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2046800" y="3422417"/>
              <a:ext cx="1039713" cy="10397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Multiply 19"/>
            <p:cNvSpPr/>
            <p:nvPr/>
          </p:nvSpPr>
          <p:spPr>
            <a:xfrm>
              <a:off x="2127966" y="3503583"/>
              <a:ext cx="877383" cy="877383"/>
            </a:xfrm>
            <a:prstGeom prst="mathMultiply">
              <a:avLst>
                <a:gd name="adj1" fmla="val 172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4" name="Incorrect 1"/>
          <p:cNvGrpSpPr/>
          <p:nvPr/>
        </p:nvGrpSpPr>
        <p:grpSpPr>
          <a:xfrm>
            <a:off x="2046800" y="4756856"/>
            <a:ext cx="4795569" cy="1039713"/>
            <a:chOff x="2046800" y="2052849"/>
            <a:chExt cx="4795569" cy="1039713"/>
          </a:xfrm>
        </p:grpSpPr>
        <p:sp>
          <p:nvSpPr>
            <p:cNvPr id="24" name="Rounded Rectangle 23"/>
            <p:cNvSpPr/>
            <p:nvPr/>
          </p:nvSpPr>
          <p:spPr>
            <a:xfrm>
              <a:off x="2426010" y="2248071"/>
              <a:ext cx="4416359" cy="680070"/>
            </a:xfrm>
            <a:prstGeom prst="roundRect">
              <a:avLst/>
            </a:prstGeom>
            <a:solidFill>
              <a:srgbClr val="FF5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Never mind. Keep trying!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2046800" y="2052849"/>
              <a:ext cx="1039713" cy="10397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Multiply 25"/>
            <p:cNvSpPr/>
            <p:nvPr/>
          </p:nvSpPr>
          <p:spPr>
            <a:xfrm>
              <a:off x="2127966" y="2134015"/>
              <a:ext cx="877383" cy="877383"/>
            </a:xfrm>
            <a:prstGeom prst="mathMultiply">
              <a:avLst>
                <a:gd name="adj1" fmla="val 172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1" name="Right Arrow 30">
            <a:hlinkClick r:id="" action="ppaction://hlinkshowjump?jump=nextslide"/>
          </p:cNvPr>
          <p:cNvSpPr/>
          <p:nvPr/>
        </p:nvSpPr>
        <p:spPr>
          <a:xfrm>
            <a:off x="7788582" y="5773554"/>
            <a:ext cx="599768" cy="448699"/>
          </a:xfrm>
          <a:prstGeom prst="rightArrow">
            <a:avLst/>
          </a:prstGeom>
          <a:solidFill>
            <a:schemeClr val="accent4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27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7" grpId="0" animBg="1"/>
      <p:bldP spid="4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 Answer"/>
          <p:cNvSpPr/>
          <p:nvPr/>
        </p:nvSpPr>
        <p:spPr>
          <a:xfrm>
            <a:off x="2629877" y="3611543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0.3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12" name="C Answer"/>
          <p:cNvSpPr/>
          <p:nvPr/>
        </p:nvSpPr>
        <p:spPr>
          <a:xfrm>
            <a:off x="2629877" y="4963605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0.2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7" name="A Answer"/>
          <p:cNvSpPr/>
          <p:nvPr/>
        </p:nvSpPr>
        <p:spPr>
          <a:xfrm>
            <a:off x="2629877" y="2259482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0.4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457198" y="757546"/>
            <a:ext cx="8220075" cy="994306"/>
          </a:xfrm>
        </p:spPr>
        <p:txBody>
          <a:bodyPr/>
          <a:lstStyle/>
          <a:p>
            <a:pPr algn="ctr"/>
            <a:r>
              <a:rPr lang="en-GB" sz="3600" dirty="0" smtClean="0"/>
              <a:t>What is      as a decimal?</a:t>
            </a:r>
            <a:endParaRPr lang="en-GB" sz="3600" dirty="0"/>
          </a:p>
        </p:txBody>
      </p:sp>
      <p:sp>
        <p:nvSpPr>
          <p:cNvPr id="5" name="Rectangle 4"/>
          <p:cNvSpPr/>
          <p:nvPr/>
        </p:nvSpPr>
        <p:spPr>
          <a:xfrm>
            <a:off x="3772388" y="827926"/>
            <a:ext cx="369765" cy="884070"/>
          </a:xfrm>
          <a:prstGeom prst="rect">
            <a:avLst/>
          </a:prstGeom>
        </p:spPr>
        <p:txBody>
          <a:bodyPr wrap="square" lIns="0" tIns="72000" rIns="0" bIns="72000">
            <a:spAutoFit/>
          </a:bodyPr>
          <a:lstStyle/>
          <a:p>
            <a:pPr algn="ctr"/>
            <a:r>
              <a:rPr lang="en-GB" sz="2400" b="1" dirty="0" smtClean="0"/>
              <a:t>2</a:t>
            </a:r>
          </a:p>
          <a:p>
            <a:pPr algn="ctr"/>
            <a:r>
              <a:rPr lang="en-GB" sz="2400" b="1" dirty="0"/>
              <a:t>5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3772388" y="1239069"/>
            <a:ext cx="369765" cy="4571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"/>
          <p:cNvSpPr/>
          <p:nvPr/>
        </p:nvSpPr>
        <p:spPr>
          <a:xfrm>
            <a:off x="2071077" y="2074006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A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8" name="B"/>
          <p:cNvSpPr/>
          <p:nvPr/>
        </p:nvSpPr>
        <p:spPr>
          <a:xfrm>
            <a:off x="2071076" y="3439607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B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9" name="C"/>
          <p:cNvSpPr/>
          <p:nvPr/>
        </p:nvSpPr>
        <p:spPr>
          <a:xfrm>
            <a:off x="2071076" y="4791668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C</a:t>
            </a:r>
            <a:endParaRPr lang="en-GB" sz="2800" b="1" dirty="0">
              <a:solidFill>
                <a:schemeClr val="tx1"/>
              </a:solidFill>
            </a:endParaRPr>
          </a:p>
        </p:txBody>
      </p:sp>
      <p:grpSp>
        <p:nvGrpSpPr>
          <p:cNvPr id="32" name="Correct"/>
          <p:cNvGrpSpPr/>
          <p:nvPr/>
        </p:nvGrpSpPr>
        <p:grpSpPr>
          <a:xfrm>
            <a:off x="2046800" y="2051274"/>
            <a:ext cx="4799904" cy="1039713"/>
            <a:chOff x="2046800" y="4774301"/>
            <a:chExt cx="4799904" cy="1039713"/>
          </a:xfrm>
        </p:grpSpPr>
        <p:sp>
          <p:nvSpPr>
            <p:cNvPr id="14" name="Rounded Rectangle 13"/>
            <p:cNvSpPr/>
            <p:nvPr/>
          </p:nvSpPr>
          <p:spPr>
            <a:xfrm>
              <a:off x="2430345" y="4968753"/>
              <a:ext cx="4416359" cy="68007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Yay, that’s correct!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2046800" y="4774301"/>
              <a:ext cx="1039713" cy="103971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 rot="20730365">
              <a:off x="2208257" y="5116133"/>
              <a:ext cx="751345" cy="498708"/>
            </a:xfrm>
            <a:custGeom>
              <a:avLst/>
              <a:gdLst>
                <a:gd name="connsiteX0" fmla="*/ 1009804 w 1009804"/>
                <a:gd name="connsiteY0" fmla="*/ 0 h 670261"/>
                <a:gd name="connsiteX1" fmla="*/ 273397 w 1009804"/>
                <a:gd name="connsiteY1" fmla="*/ 662722 h 670261"/>
                <a:gd name="connsiteX2" fmla="*/ 273397 w 1009804"/>
                <a:gd name="connsiteY2" fmla="*/ 669467 h 670261"/>
                <a:gd name="connsiteX3" fmla="*/ 270631 w 1009804"/>
                <a:gd name="connsiteY3" fmla="*/ 665212 h 670261"/>
                <a:gd name="connsiteX4" fmla="*/ 265020 w 1009804"/>
                <a:gd name="connsiteY4" fmla="*/ 670261 h 670261"/>
                <a:gd name="connsiteX5" fmla="*/ 265020 w 1009804"/>
                <a:gd name="connsiteY5" fmla="*/ 656578 h 670261"/>
                <a:gd name="connsiteX6" fmla="*/ 0 w 1009804"/>
                <a:gd name="connsiteY6" fmla="*/ 248802 h 670261"/>
                <a:gd name="connsiteX7" fmla="*/ 166570 w 1009804"/>
                <a:gd name="connsiteY7" fmla="*/ 248802 h 670261"/>
                <a:gd name="connsiteX8" fmla="*/ 273143 w 1009804"/>
                <a:gd name="connsiteY8" fmla="*/ 412783 h 670261"/>
                <a:gd name="connsiteX9" fmla="*/ 731821 w 1009804"/>
                <a:gd name="connsiteY9" fmla="*/ 0 h 67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9804" h="670261">
                  <a:moveTo>
                    <a:pt x="1009804" y="0"/>
                  </a:moveTo>
                  <a:lnTo>
                    <a:pt x="273397" y="662722"/>
                  </a:lnTo>
                  <a:lnTo>
                    <a:pt x="273397" y="669467"/>
                  </a:lnTo>
                  <a:lnTo>
                    <a:pt x="270631" y="665212"/>
                  </a:lnTo>
                  <a:lnTo>
                    <a:pt x="265020" y="670261"/>
                  </a:lnTo>
                  <a:lnTo>
                    <a:pt x="265020" y="656578"/>
                  </a:lnTo>
                  <a:lnTo>
                    <a:pt x="0" y="248802"/>
                  </a:lnTo>
                  <a:lnTo>
                    <a:pt x="166570" y="248802"/>
                  </a:lnTo>
                  <a:lnTo>
                    <a:pt x="273143" y="412783"/>
                  </a:lnTo>
                  <a:lnTo>
                    <a:pt x="73182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Incorrect 2"/>
          <p:cNvGrpSpPr/>
          <p:nvPr/>
        </p:nvGrpSpPr>
        <p:grpSpPr>
          <a:xfrm>
            <a:off x="2046800" y="4763337"/>
            <a:ext cx="4795569" cy="1039713"/>
            <a:chOff x="2046800" y="3422417"/>
            <a:chExt cx="4795569" cy="1039713"/>
          </a:xfrm>
        </p:grpSpPr>
        <p:sp>
          <p:nvSpPr>
            <p:cNvPr id="15" name="Rounded Rectangle 14"/>
            <p:cNvSpPr/>
            <p:nvPr/>
          </p:nvSpPr>
          <p:spPr>
            <a:xfrm>
              <a:off x="2426010" y="3586715"/>
              <a:ext cx="4416359" cy="680070"/>
            </a:xfrm>
            <a:prstGeom prst="roundRect">
              <a:avLst/>
            </a:prstGeom>
            <a:solidFill>
              <a:srgbClr val="FF5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Never mind. Keep trying!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2046800" y="3422417"/>
              <a:ext cx="1039713" cy="10397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Multiply 19"/>
            <p:cNvSpPr/>
            <p:nvPr/>
          </p:nvSpPr>
          <p:spPr>
            <a:xfrm>
              <a:off x="2127966" y="3503583"/>
              <a:ext cx="877383" cy="877383"/>
            </a:xfrm>
            <a:prstGeom prst="mathMultiply">
              <a:avLst>
                <a:gd name="adj1" fmla="val 172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4" name="Incorrect 1"/>
          <p:cNvGrpSpPr/>
          <p:nvPr/>
        </p:nvGrpSpPr>
        <p:grpSpPr>
          <a:xfrm>
            <a:off x="2046800" y="3413433"/>
            <a:ext cx="4795569" cy="1039713"/>
            <a:chOff x="2046800" y="2052849"/>
            <a:chExt cx="4795569" cy="1039713"/>
          </a:xfrm>
        </p:grpSpPr>
        <p:sp>
          <p:nvSpPr>
            <p:cNvPr id="24" name="Rounded Rectangle 23"/>
            <p:cNvSpPr/>
            <p:nvPr/>
          </p:nvSpPr>
          <p:spPr>
            <a:xfrm>
              <a:off x="2426010" y="2248071"/>
              <a:ext cx="4416359" cy="680070"/>
            </a:xfrm>
            <a:prstGeom prst="roundRect">
              <a:avLst/>
            </a:prstGeom>
            <a:solidFill>
              <a:srgbClr val="FF5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Never mind. Keep trying!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2046800" y="2052849"/>
              <a:ext cx="1039713" cy="10397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Multiply 25"/>
            <p:cNvSpPr/>
            <p:nvPr/>
          </p:nvSpPr>
          <p:spPr>
            <a:xfrm>
              <a:off x="2127966" y="2134015"/>
              <a:ext cx="877383" cy="877383"/>
            </a:xfrm>
            <a:prstGeom prst="mathMultiply">
              <a:avLst>
                <a:gd name="adj1" fmla="val 172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1" name="Right Arrow 30">
            <a:hlinkClick r:id="" action="ppaction://hlinkshowjump?jump=nextslide"/>
          </p:cNvPr>
          <p:cNvSpPr/>
          <p:nvPr/>
        </p:nvSpPr>
        <p:spPr>
          <a:xfrm>
            <a:off x="7788582" y="5773554"/>
            <a:ext cx="599768" cy="448699"/>
          </a:xfrm>
          <a:prstGeom prst="rightArrow">
            <a:avLst/>
          </a:prstGeom>
          <a:solidFill>
            <a:schemeClr val="accent4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652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7" grpId="0" animBg="1"/>
      <p:bldP spid="4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 Answer"/>
          <p:cNvSpPr/>
          <p:nvPr/>
        </p:nvSpPr>
        <p:spPr>
          <a:xfrm>
            <a:off x="2629877" y="3611543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0.6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12" name="C Answer"/>
          <p:cNvSpPr/>
          <p:nvPr/>
        </p:nvSpPr>
        <p:spPr>
          <a:xfrm>
            <a:off x="2629877" y="4963605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0.7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7" name="A Answer"/>
          <p:cNvSpPr/>
          <p:nvPr/>
        </p:nvSpPr>
        <p:spPr>
          <a:xfrm>
            <a:off x="2629877" y="2259482"/>
            <a:ext cx="4212492" cy="6486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ysClr val="windowText" lastClr="000000"/>
                </a:solidFill>
                <a:latin typeface="Twinkl SemiBold" pitchFamily="2" charset="0"/>
              </a:rPr>
              <a:t>0.8</a:t>
            </a:r>
            <a:endParaRPr lang="en-GB" sz="2400" dirty="0">
              <a:solidFill>
                <a:sysClr val="windowText" lastClr="000000"/>
              </a:solidFill>
              <a:latin typeface="Twinkl SemiBold" pitchFamily="2" charset="0"/>
            </a:endParaRP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457198" y="757546"/>
            <a:ext cx="8220075" cy="994306"/>
          </a:xfrm>
        </p:spPr>
        <p:txBody>
          <a:bodyPr/>
          <a:lstStyle/>
          <a:p>
            <a:pPr algn="ctr"/>
            <a:r>
              <a:rPr lang="en-GB" sz="3600" dirty="0" smtClean="0"/>
              <a:t>What is      as a decimal?</a:t>
            </a:r>
            <a:endParaRPr lang="en-GB" sz="3600" dirty="0"/>
          </a:p>
        </p:txBody>
      </p:sp>
      <p:sp>
        <p:nvSpPr>
          <p:cNvPr id="5" name="Rectangle 4"/>
          <p:cNvSpPr/>
          <p:nvPr/>
        </p:nvSpPr>
        <p:spPr>
          <a:xfrm>
            <a:off x="3772388" y="827926"/>
            <a:ext cx="369765" cy="884070"/>
          </a:xfrm>
          <a:prstGeom prst="rect">
            <a:avLst/>
          </a:prstGeom>
        </p:spPr>
        <p:txBody>
          <a:bodyPr wrap="square" lIns="0" tIns="72000" rIns="0" bIns="72000">
            <a:spAutoFit/>
          </a:bodyPr>
          <a:lstStyle/>
          <a:p>
            <a:pPr algn="ctr"/>
            <a:r>
              <a:rPr lang="en-GB" sz="2400" b="1" dirty="0" smtClean="0"/>
              <a:t>30</a:t>
            </a:r>
          </a:p>
          <a:p>
            <a:pPr algn="ctr"/>
            <a:r>
              <a:rPr lang="en-GB" sz="2400" b="1" dirty="0" smtClean="0"/>
              <a:t>50</a:t>
            </a:r>
            <a:endParaRPr lang="en-GB" sz="2400" b="1" dirty="0"/>
          </a:p>
        </p:txBody>
      </p:sp>
      <p:sp>
        <p:nvSpPr>
          <p:cNvPr id="2" name="Rounded Rectangle 1"/>
          <p:cNvSpPr/>
          <p:nvPr/>
        </p:nvSpPr>
        <p:spPr>
          <a:xfrm>
            <a:off x="3772388" y="1239069"/>
            <a:ext cx="369765" cy="4571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"/>
          <p:cNvSpPr/>
          <p:nvPr/>
        </p:nvSpPr>
        <p:spPr>
          <a:xfrm>
            <a:off x="2071077" y="2074006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A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8" name="B"/>
          <p:cNvSpPr/>
          <p:nvPr/>
        </p:nvSpPr>
        <p:spPr>
          <a:xfrm>
            <a:off x="2071076" y="3439607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B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9" name="C"/>
          <p:cNvSpPr/>
          <p:nvPr/>
        </p:nvSpPr>
        <p:spPr>
          <a:xfrm>
            <a:off x="2071076" y="4791668"/>
            <a:ext cx="991718" cy="9917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tx1"/>
                </a:solidFill>
              </a:rPr>
              <a:t>C</a:t>
            </a:r>
            <a:endParaRPr lang="en-GB" sz="2800" b="1" dirty="0">
              <a:solidFill>
                <a:schemeClr val="tx1"/>
              </a:solidFill>
            </a:endParaRPr>
          </a:p>
        </p:txBody>
      </p:sp>
      <p:grpSp>
        <p:nvGrpSpPr>
          <p:cNvPr id="32" name="Correct"/>
          <p:cNvGrpSpPr/>
          <p:nvPr/>
        </p:nvGrpSpPr>
        <p:grpSpPr>
          <a:xfrm>
            <a:off x="2046800" y="3417342"/>
            <a:ext cx="4799904" cy="1039713"/>
            <a:chOff x="2046800" y="4774301"/>
            <a:chExt cx="4799904" cy="1039713"/>
          </a:xfrm>
        </p:grpSpPr>
        <p:sp>
          <p:nvSpPr>
            <p:cNvPr id="14" name="Rounded Rectangle 13"/>
            <p:cNvSpPr/>
            <p:nvPr/>
          </p:nvSpPr>
          <p:spPr>
            <a:xfrm>
              <a:off x="2430345" y="4968753"/>
              <a:ext cx="4416359" cy="68007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Yay, that’s correct!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2046800" y="4774301"/>
              <a:ext cx="1039713" cy="103971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 rot="20730365">
              <a:off x="2208257" y="5116133"/>
              <a:ext cx="751345" cy="498708"/>
            </a:xfrm>
            <a:custGeom>
              <a:avLst/>
              <a:gdLst>
                <a:gd name="connsiteX0" fmla="*/ 1009804 w 1009804"/>
                <a:gd name="connsiteY0" fmla="*/ 0 h 670261"/>
                <a:gd name="connsiteX1" fmla="*/ 273397 w 1009804"/>
                <a:gd name="connsiteY1" fmla="*/ 662722 h 670261"/>
                <a:gd name="connsiteX2" fmla="*/ 273397 w 1009804"/>
                <a:gd name="connsiteY2" fmla="*/ 669467 h 670261"/>
                <a:gd name="connsiteX3" fmla="*/ 270631 w 1009804"/>
                <a:gd name="connsiteY3" fmla="*/ 665212 h 670261"/>
                <a:gd name="connsiteX4" fmla="*/ 265020 w 1009804"/>
                <a:gd name="connsiteY4" fmla="*/ 670261 h 670261"/>
                <a:gd name="connsiteX5" fmla="*/ 265020 w 1009804"/>
                <a:gd name="connsiteY5" fmla="*/ 656578 h 670261"/>
                <a:gd name="connsiteX6" fmla="*/ 0 w 1009804"/>
                <a:gd name="connsiteY6" fmla="*/ 248802 h 670261"/>
                <a:gd name="connsiteX7" fmla="*/ 166570 w 1009804"/>
                <a:gd name="connsiteY7" fmla="*/ 248802 h 670261"/>
                <a:gd name="connsiteX8" fmla="*/ 273143 w 1009804"/>
                <a:gd name="connsiteY8" fmla="*/ 412783 h 670261"/>
                <a:gd name="connsiteX9" fmla="*/ 731821 w 1009804"/>
                <a:gd name="connsiteY9" fmla="*/ 0 h 67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9804" h="670261">
                  <a:moveTo>
                    <a:pt x="1009804" y="0"/>
                  </a:moveTo>
                  <a:lnTo>
                    <a:pt x="273397" y="662722"/>
                  </a:lnTo>
                  <a:lnTo>
                    <a:pt x="273397" y="669467"/>
                  </a:lnTo>
                  <a:lnTo>
                    <a:pt x="270631" y="665212"/>
                  </a:lnTo>
                  <a:lnTo>
                    <a:pt x="265020" y="670261"/>
                  </a:lnTo>
                  <a:lnTo>
                    <a:pt x="265020" y="656578"/>
                  </a:lnTo>
                  <a:lnTo>
                    <a:pt x="0" y="248802"/>
                  </a:lnTo>
                  <a:lnTo>
                    <a:pt x="166570" y="248802"/>
                  </a:lnTo>
                  <a:lnTo>
                    <a:pt x="273143" y="412783"/>
                  </a:lnTo>
                  <a:lnTo>
                    <a:pt x="73182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Incorrect 2"/>
          <p:cNvGrpSpPr/>
          <p:nvPr/>
        </p:nvGrpSpPr>
        <p:grpSpPr>
          <a:xfrm>
            <a:off x="2046800" y="4763337"/>
            <a:ext cx="4795569" cy="1039713"/>
            <a:chOff x="2046800" y="3422417"/>
            <a:chExt cx="4795569" cy="1039713"/>
          </a:xfrm>
        </p:grpSpPr>
        <p:sp>
          <p:nvSpPr>
            <p:cNvPr id="15" name="Rounded Rectangle 14"/>
            <p:cNvSpPr/>
            <p:nvPr/>
          </p:nvSpPr>
          <p:spPr>
            <a:xfrm>
              <a:off x="2426010" y="3586715"/>
              <a:ext cx="4416359" cy="680070"/>
            </a:xfrm>
            <a:prstGeom prst="roundRect">
              <a:avLst/>
            </a:prstGeom>
            <a:solidFill>
              <a:srgbClr val="FF5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Never mind. Keep trying!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2046800" y="3422417"/>
              <a:ext cx="1039713" cy="10397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Multiply 19"/>
            <p:cNvSpPr/>
            <p:nvPr/>
          </p:nvSpPr>
          <p:spPr>
            <a:xfrm>
              <a:off x="2127966" y="3503583"/>
              <a:ext cx="877383" cy="877383"/>
            </a:xfrm>
            <a:prstGeom prst="mathMultiply">
              <a:avLst>
                <a:gd name="adj1" fmla="val 172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4" name="Incorrect 1"/>
          <p:cNvGrpSpPr/>
          <p:nvPr/>
        </p:nvGrpSpPr>
        <p:grpSpPr>
          <a:xfrm>
            <a:off x="2046800" y="2043017"/>
            <a:ext cx="4795569" cy="1039713"/>
            <a:chOff x="2046800" y="2052849"/>
            <a:chExt cx="4795569" cy="1039713"/>
          </a:xfrm>
        </p:grpSpPr>
        <p:sp>
          <p:nvSpPr>
            <p:cNvPr id="24" name="Rounded Rectangle 23"/>
            <p:cNvSpPr/>
            <p:nvPr/>
          </p:nvSpPr>
          <p:spPr>
            <a:xfrm>
              <a:off x="2426010" y="2248071"/>
              <a:ext cx="4416359" cy="680070"/>
            </a:xfrm>
            <a:prstGeom prst="roundRect">
              <a:avLst/>
            </a:prstGeom>
            <a:solidFill>
              <a:srgbClr val="FF5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rtlCol="0" anchor="ctr"/>
            <a:lstStyle/>
            <a:p>
              <a:pPr algn="ctr"/>
              <a:r>
                <a:rPr lang="en-GB" sz="2400" dirty="0" smtClean="0">
                  <a:solidFill>
                    <a:sysClr val="windowText" lastClr="000000"/>
                  </a:solidFill>
                  <a:latin typeface="Twinkl SemiBold" pitchFamily="2" charset="0"/>
                </a:rPr>
                <a:t>Never mind. Keep trying!</a:t>
              </a:r>
              <a:endParaRPr lang="en-GB" sz="2400" dirty="0">
                <a:solidFill>
                  <a:sysClr val="windowText" lastClr="000000"/>
                </a:solidFill>
                <a:latin typeface="Twinkl SemiBold" pitchFamily="2" charset="0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2046800" y="2052849"/>
              <a:ext cx="1039713" cy="10397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Multiply 25"/>
            <p:cNvSpPr/>
            <p:nvPr/>
          </p:nvSpPr>
          <p:spPr>
            <a:xfrm>
              <a:off x="2127966" y="2134015"/>
              <a:ext cx="877383" cy="877383"/>
            </a:xfrm>
            <a:prstGeom prst="mathMultiply">
              <a:avLst>
                <a:gd name="adj1" fmla="val 172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1" name="Right Arrow 30">
            <a:hlinkClick r:id="" action="ppaction://hlinkshowjump?jump=nextslide"/>
          </p:cNvPr>
          <p:cNvSpPr/>
          <p:nvPr/>
        </p:nvSpPr>
        <p:spPr>
          <a:xfrm>
            <a:off x="7788582" y="5773554"/>
            <a:ext cx="599768" cy="448699"/>
          </a:xfrm>
          <a:prstGeom prst="rightArrow">
            <a:avLst/>
          </a:prstGeom>
          <a:solidFill>
            <a:schemeClr val="accent4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03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7" grpId="0" animBg="1"/>
      <p:bldP spid="4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8075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Twinkl Template">
      <a:dk1>
        <a:srgbClr val="1C1C1C"/>
      </a:dk1>
      <a:lt1>
        <a:sysClr val="window" lastClr="FFFFFF"/>
      </a:lt1>
      <a:dk2>
        <a:srgbClr val="4A4A4A"/>
      </a:dk2>
      <a:lt2>
        <a:srgbClr val="F4F2F2"/>
      </a:lt2>
      <a:accent1>
        <a:srgbClr val="E34192"/>
      </a:accent1>
      <a:accent2>
        <a:srgbClr val="EB8634"/>
      </a:accent2>
      <a:accent3>
        <a:srgbClr val="E6C734"/>
      </a:accent3>
      <a:accent4>
        <a:srgbClr val="79AD42"/>
      </a:accent4>
      <a:accent5>
        <a:srgbClr val="23A7F9"/>
      </a:accent5>
      <a:accent6>
        <a:srgbClr val="954EBE"/>
      </a:accent6>
      <a:hlink>
        <a:srgbClr val="23A7F9"/>
      </a:hlink>
      <a:folHlink>
        <a:srgbClr val="757070"/>
      </a:folHlink>
    </a:clrScheme>
    <a:fontScheme name="Custom 1">
      <a:majorFont>
        <a:latin typeface="Twinkl Sb"/>
        <a:ea typeface=""/>
        <a:cs typeface=""/>
      </a:majorFont>
      <a:minorFont>
        <a:latin typeface="Twink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8A0D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1358</TotalTime>
  <Words>312</Words>
  <Application>Microsoft Office PowerPoint</Application>
  <PresentationFormat>On-screen Show (4:3)</PresentationFormat>
  <Paragraphs>121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Twinkl</vt:lpstr>
      <vt:lpstr>Arial</vt:lpstr>
      <vt:lpstr>Twinkl SemiBold</vt:lpstr>
      <vt:lpstr>Sassoon Infant Rg</vt:lpstr>
      <vt:lpstr>Calibri</vt:lpstr>
      <vt:lpstr>Office Theme</vt:lpstr>
      <vt:lpstr>PowerPoint Presentation</vt:lpstr>
      <vt:lpstr>What is      as a decimal?</vt:lpstr>
      <vt:lpstr>What is      as a decimal?</vt:lpstr>
      <vt:lpstr>What is      as a decimal?</vt:lpstr>
      <vt:lpstr>What is      as a decimal?</vt:lpstr>
      <vt:lpstr>What is      as a decimal?</vt:lpstr>
      <vt:lpstr>What is 0.75 as a fraction?</vt:lpstr>
      <vt:lpstr>What is      as a decimal?</vt:lpstr>
      <vt:lpstr>What is      as a decimal?</vt:lpstr>
      <vt:lpstr>What is      as a decimal?</vt:lpstr>
      <vt:lpstr>What is      as a decimal?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Geography</dc:title>
  <dc:creator>Twinkl</dc:creator>
  <cp:lastModifiedBy>Twinkl</cp:lastModifiedBy>
  <cp:revision>138</cp:revision>
  <dcterms:created xsi:type="dcterms:W3CDTF">2014-10-01T16:09:27Z</dcterms:created>
  <dcterms:modified xsi:type="dcterms:W3CDTF">2017-01-18T09:27:38Z</dcterms:modified>
</cp:coreProperties>
</file>