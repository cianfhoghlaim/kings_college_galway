
<file path=[Content_Types].xml><?xml version="1.0" encoding="utf-8"?>
<Types xmlns="http://schemas.openxmlformats.org/package/2006/content-types">
  <Override PartName="/ppt/slides/slide18.xml" ContentType="application/vnd.openxmlformats-officedocument.presentationml.slide+xml"/>
  <Override PartName="/ppt/slides/slide9.xml" ContentType="application/vnd.openxmlformats-officedocument.presentationml.slide+xml"/>
  <Override PartName="/ppt/slides/slide14.xml" ContentType="application/vnd.openxmlformats-officedocument.presentationml.slide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s/slide5.xml" ContentType="application/vnd.openxmlformats-officedocument.presentationml.slide+xml"/>
  <Default Extension="rels" ContentType="application/vnd.openxmlformats-package.relationships+xml"/>
  <Default Extension="jpeg" ContentType="image/jpeg"/>
  <Override PartName="/ppt/slides/slide10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6.xml" ContentType="application/vnd.openxmlformats-officedocument.presentationml.slide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s/slide22.xml" ContentType="application/vnd.openxmlformats-officedocument.presentationml.slide+xml"/>
  <Override PartName="/ppt/slides/slide30.xml" ContentType="application/vnd.openxmlformats-officedocument.presentationml.slide+xml"/>
  <Default Extension="xml" ContentType="application/xml"/>
  <Override PartName="/ppt/slides/slide19.xml" ContentType="application/vnd.openxmlformats-officedocument.presentationml.slide+xml"/>
  <Override PartName="/ppt/tableStyles.xml" ContentType="application/vnd.openxmlformats-officedocument.presentationml.tableStyles+xml"/>
  <Override PartName="/ppt/slides/slide15.xml" ContentType="application/vnd.openxmlformats-officedocument.presentationml.slide+xml"/>
  <Override PartName="/ppt/slides/slide6.xml" ContentType="application/vnd.openxmlformats-officedocument.presentationml.slide+xml"/>
  <Override PartName="/docProps/core.xml" ContentType="application/vnd.openxmlformats-package.core-properties+xml"/>
  <Override PartName="/ppt/slides/slide11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27.xml" ContentType="application/vnd.openxmlformats-officedocument.presentationml.slide+xml"/>
  <Override PartName="/ppt/slides/slide2.xml" ContentType="application/vnd.openxmlformats-officedocument.presentationml.slide+xml"/>
  <Default Extension="png" ContentType="image/png"/>
  <Override PartName="/ppt/slideLayouts/slideLayout2.xml" ContentType="application/vnd.openxmlformats-officedocument.presentationml.slideLayout+xml"/>
  <Override PartName="/ppt/slides/slide23.xml" ContentType="application/vnd.openxmlformats-officedocument.presentationml.slide+xml"/>
  <Override PartName="/ppt/slides/slide16.xml" ContentType="application/vnd.openxmlformats-officedocument.presentationml.slide+xml"/>
  <Override PartName="/ppt/slides/slide7.xml" ContentType="application/vnd.openxmlformats-officedocument.presentationml.slide+xml"/>
  <Override PartName="/ppt/presentation.xml" ContentType="application/vnd.openxmlformats-officedocument.presentationml.presentation.main+xml"/>
  <Override PartName="/ppt/slides/slide12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3.xml" ContentType="application/vnd.openxmlformats-officedocument.presentationml.slide+xml"/>
  <Override PartName="/ppt/slides/slide28.xml" ContentType="application/vnd.openxmlformats-officedocument.presentationml.slide+xml"/>
  <Override PartName="/ppt/slideLayouts/slideLayout3.xml" ContentType="application/vnd.openxmlformats-officedocument.presentationml.slideLayout+xml"/>
  <Override PartName="/ppt/slides/slide24.xml" ContentType="application/vnd.openxmlformats-officedocument.presentationml.slide+xml"/>
  <Override PartName="/ppt/slides/slide20.xml" ContentType="application/vnd.openxmlformats-officedocument.presentationml.slide+xml"/>
  <Override PartName="/ppt/slides/slide17.xml" ContentType="application/vnd.openxmlformats-officedocument.presentationml.slide+xml"/>
  <Default Extension="wdp" ContentType="image/vnd.ms-photo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slides/slide13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4.xml" ContentType="application/vnd.openxmlformats-officedocument.presentationml.slide+xml"/>
  <Override PartName="/ppt/slides/slide29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25.xml" ContentType="application/vnd.openxmlformats-officedocument.presentationml.slide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s/slide21.xml" ContentType="application/vnd.openxmlformats-officedocument.presentationml.slide+xml"/>
  <Default Extension="bin" ContentType="application/vnd.openxmlformats-officedocument.presentationml.printerSettings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aveSubsetFonts="1">
  <p:sldMasterIdLst>
    <p:sldMasterId id="2147483648" r:id="rId1"/>
  </p:sldMasterIdLst>
  <p:sldIdLst>
    <p:sldId id="256" r:id="rId2"/>
    <p:sldId id="275" r:id="rId3"/>
    <p:sldId id="274" r:id="rId4"/>
    <p:sldId id="269" r:id="rId5"/>
    <p:sldId id="270" r:id="rId6"/>
    <p:sldId id="267" r:id="rId7"/>
    <p:sldId id="278" r:id="rId8"/>
    <p:sldId id="266" r:id="rId9"/>
    <p:sldId id="276" r:id="rId10"/>
    <p:sldId id="277" r:id="rId11"/>
    <p:sldId id="279" r:id="rId12"/>
    <p:sldId id="265" r:id="rId13"/>
    <p:sldId id="280" r:id="rId14"/>
    <p:sldId id="257" r:id="rId15"/>
    <p:sldId id="261" r:id="rId16"/>
    <p:sldId id="258" r:id="rId17"/>
    <p:sldId id="262" r:id="rId18"/>
    <p:sldId id="259" r:id="rId19"/>
    <p:sldId id="271" r:id="rId20"/>
    <p:sldId id="263" r:id="rId21"/>
    <p:sldId id="264" r:id="rId22"/>
    <p:sldId id="260" r:id="rId23"/>
    <p:sldId id="272" r:id="rId24"/>
    <p:sldId id="281" r:id="rId25"/>
    <p:sldId id="273" r:id="rId26"/>
    <p:sldId id="282" r:id="rId27"/>
    <p:sldId id="284" r:id="rId28"/>
    <p:sldId id="285" r:id="rId29"/>
    <p:sldId id="286" r:id="rId30"/>
    <p:sldId id="287" r:id="rId3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extLst>
    <p:ext uri="{E76CE94A-603C-4142-B9EB-6D1370010A27}">
      <p14:discardImageEditData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0"/>
    </p:ext>
    <p:ext uri="{D31A062A-798A-4329-ABDD-BBA856620510}">
      <p14:defaultImageDpi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normalViewPr showOutlineIcons="0">
    <p:restoredLeft sz="15620"/>
    <p:restoredTop sz="94660"/>
  </p:normalViewPr>
  <p:slideViewPr>
    <p:cSldViewPr>
      <p:cViewPr varScale="1">
        <p:scale>
          <a:sx n="93" d="100"/>
          <a:sy n="93" d="100"/>
        </p:scale>
        <p:origin x="-78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printerSettings" Target="printerSettings/printerSettings1.bin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AAED7-E849-42F9-8BD1-BD9BCFE645A5}" type="datetimeFigureOut">
              <a:rPr lang="en-AU" smtClean="0"/>
              <a:pPr/>
              <a:t>8/29/14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6DF24-DE28-456D-A6A0-5D1AB95938F8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7789093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AAED7-E849-42F9-8BD1-BD9BCFE645A5}" type="datetimeFigureOut">
              <a:rPr lang="en-AU" smtClean="0"/>
              <a:pPr/>
              <a:t>8/29/14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6DF24-DE28-456D-A6A0-5D1AB95938F8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29636119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AAED7-E849-42F9-8BD1-BD9BCFE645A5}" type="datetimeFigureOut">
              <a:rPr lang="en-AU" smtClean="0"/>
              <a:pPr/>
              <a:t>8/29/14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6DF24-DE28-456D-A6A0-5D1AB95938F8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23171638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AAED7-E849-42F9-8BD1-BD9BCFE645A5}" type="datetimeFigureOut">
              <a:rPr lang="en-AU" smtClean="0"/>
              <a:pPr/>
              <a:t>8/29/14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6DF24-DE28-456D-A6A0-5D1AB95938F8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40013843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AAED7-E849-42F9-8BD1-BD9BCFE645A5}" type="datetimeFigureOut">
              <a:rPr lang="en-AU" smtClean="0"/>
              <a:pPr/>
              <a:t>8/29/14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6DF24-DE28-456D-A6A0-5D1AB95938F8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13729780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AAED7-E849-42F9-8BD1-BD9BCFE645A5}" type="datetimeFigureOut">
              <a:rPr lang="en-AU" smtClean="0"/>
              <a:pPr/>
              <a:t>8/29/14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6DF24-DE28-456D-A6A0-5D1AB95938F8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22821272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AAED7-E849-42F9-8BD1-BD9BCFE645A5}" type="datetimeFigureOut">
              <a:rPr lang="en-AU" smtClean="0"/>
              <a:pPr/>
              <a:t>8/29/14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6DF24-DE28-456D-A6A0-5D1AB95938F8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2350185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AAED7-E849-42F9-8BD1-BD9BCFE645A5}" type="datetimeFigureOut">
              <a:rPr lang="en-AU" smtClean="0"/>
              <a:pPr/>
              <a:t>8/29/14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6DF24-DE28-456D-A6A0-5D1AB95938F8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13483178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AAED7-E849-42F9-8BD1-BD9BCFE645A5}" type="datetimeFigureOut">
              <a:rPr lang="en-AU" smtClean="0"/>
              <a:pPr/>
              <a:t>8/29/14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6DF24-DE28-456D-A6A0-5D1AB95938F8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26145046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AAED7-E849-42F9-8BD1-BD9BCFE645A5}" type="datetimeFigureOut">
              <a:rPr lang="en-AU" smtClean="0"/>
              <a:pPr/>
              <a:t>8/29/14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6DF24-DE28-456D-A6A0-5D1AB95938F8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3613865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AAED7-E849-42F9-8BD1-BD9BCFE645A5}" type="datetimeFigureOut">
              <a:rPr lang="en-AU" smtClean="0"/>
              <a:pPr/>
              <a:t>8/29/14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6DF24-DE28-456D-A6A0-5D1AB95938F8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3766494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8AAED7-E849-42F9-8BD1-BD9BCFE645A5}" type="datetimeFigureOut">
              <a:rPr lang="en-AU" smtClean="0"/>
              <a:pPr/>
              <a:t>8/29/14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F6DF24-DE28-456D-A6A0-5D1AB95938F8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594335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2" Type="http://schemas.openxmlformats.org/officeDocument/2006/relationships/hyperlink" Target="http://www.ted.com/talks/terry_moore_why_is_x_the_unknown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://h3maths.edublogs.org/2012/02/10/x-journey-into-the-unknown/" TargetMode="External"/><Relationship Id="rId3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://www.danicamckellar.com/hotx/book/" TargetMode="External"/><Relationship Id="rId3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PPOLguI4Eq0" TargetMode="External"/><Relationship Id="rId4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.png"/><Relationship Id="rId3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0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0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599" y="1196752"/>
            <a:ext cx="6400800" cy="576064"/>
          </a:xfrm>
          <a:solidFill>
            <a:schemeClr val="accent2">
              <a:lumMod val="75000"/>
            </a:schemeClr>
          </a:solidFill>
        </p:spPr>
        <p:txBody>
          <a:bodyPr>
            <a:normAutofit fontScale="92500"/>
          </a:bodyPr>
          <a:lstStyle/>
          <a:p>
            <a:r>
              <a:rPr lang="en-AU" dirty="0" smtClean="0">
                <a:solidFill>
                  <a:schemeClr val="accent1">
                    <a:lumMod val="20000"/>
                    <a:lumOff val="80000"/>
                  </a:schemeClr>
                </a:solidFill>
              </a:rPr>
              <a:t>Language uses symbols and words</a:t>
            </a:r>
            <a:endParaRPr lang="en-AU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043608" y="2091328"/>
            <a:ext cx="5057775" cy="319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2018774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599" y="1196752"/>
            <a:ext cx="6400800" cy="576064"/>
          </a:xfrm>
          <a:solidFill>
            <a:schemeClr val="accent2">
              <a:lumMod val="75000"/>
            </a:schemeClr>
          </a:solidFill>
        </p:spPr>
        <p:txBody>
          <a:bodyPr>
            <a:normAutofit lnSpcReduction="10000"/>
          </a:bodyPr>
          <a:lstStyle/>
          <a:p>
            <a:r>
              <a:rPr lang="en-AU" dirty="0" smtClean="0">
                <a:solidFill>
                  <a:schemeClr val="accent1">
                    <a:lumMod val="20000"/>
                    <a:lumOff val="80000"/>
                  </a:schemeClr>
                </a:solidFill>
              </a:rPr>
              <a:t>The Cool Language of Algebra…</a:t>
            </a:r>
            <a:endParaRPr lang="en-AU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14:imgLayer r:embed="rId3">
                    <a14:imgEffect>
                      <a14:brightnessContrast bright="-25000" contrast="-7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043608" y="2091328"/>
            <a:ext cx="5057775" cy="319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909894" y="3434354"/>
            <a:ext cx="2150142" cy="18501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112172" y="2091328"/>
            <a:ext cx="923925" cy="1343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077815" y="2091328"/>
            <a:ext cx="1000125" cy="1343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Subtitle 2"/>
          <p:cNvSpPr txBox="1">
            <a:spLocks/>
          </p:cNvSpPr>
          <p:nvPr/>
        </p:nvSpPr>
        <p:spPr>
          <a:xfrm>
            <a:off x="1500767" y="5445224"/>
            <a:ext cx="6400800" cy="576064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dirty="0" smtClean="0">
                <a:solidFill>
                  <a:schemeClr val="accent1">
                    <a:lumMod val="20000"/>
                    <a:lumOff val="80000"/>
                  </a:schemeClr>
                </a:solidFill>
              </a:rPr>
              <a:t>…also uses symbols and words!</a:t>
            </a:r>
            <a:endParaRPr lang="en-AU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963856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599" y="1196752"/>
            <a:ext cx="6400800" cy="576064"/>
          </a:xfrm>
          <a:solidFill>
            <a:schemeClr val="accent2">
              <a:lumMod val="75000"/>
            </a:schemeClr>
          </a:solidFill>
        </p:spPr>
        <p:txBody>
          <a:bodyPr>
            <a:normAutofit lnSpcReduction="10000"/>
          </a:bodyPr>
          <a:lstStyle/>
          <a:p>
            <a:r>
              <a:rPr lang="en-AU" dirty="0" smtClean="0">
                <a:solidFill>
                  <a:schemeClr val="accent1">
                    <a:lumMod val="20000"/>
                    <a:lumOff val="80000"/>
                  </a:schemeClr>
                </a:solidFill>
              </a:rPr>
              <a:t>The Cool Language of Algebra!</a:t>
            </a:r>
            <a:endParaRPr lang="en-AU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mc:AlternateContent>
        <mc:Choice xmlns:mc="http://schemas.openxmlformats.org/markup-compatibility/2006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Requires="a14">
          <p:sp>
            <p:nvSpPr>
              <p:cNvPr id="4" name="Rectangle 3"/>
              <p:cNvSpPr/>
              <p:nvPr/>
            </p:nvSpPr>
            <p:spPr>
              <a:xfrm>
                <a:off x="611560" y="2708920"/>
                <a:ext cx="8103757" cy="156966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800" b="0" i="1" smtClean="0">
                          <a:latin typeface="Cambria Math"/>
                        </a:rPr>
                        <m:t>𝐴𝑙𝑔𝑒𝑏𝑟𝑎</m:t>
                      </m:r>
                      <m:r>
                        <a:rPr lang="en-AU" sz="4800" b="0" i="1" smtClean="0">
                          <a:latin typeface="Cambria Math"/>
                        </a:rPr>
                        <m:t> </m:t>
                      </m:r>
                      <m:r>
                        <a:rPr lang="en-AU" sz="4800" b="0" i="1" smtClean="0">
                          <a:latin typeface="Cambria Math"/>
                        </a:rPr>
                        <m:t>𝑖𝑠</m:t>
                      </m:r>
                      <m:r>
                        <a:rPr lang="en-AU" sz="4800" b="0" i="1" smtClean="0">
                          <a:latin typeface="Cambria Math"/>
                        </a:rPr>
                        <m:t> </m:t>
                      </m:r>
                      <m:r>
                        <a:rPr lang="en-AU" sz="4800" b="0" i="1" smtClean="0">
                          <a:latin typeface="Cambria Math"/>
                        </a:rPr>
                        <m:t>𝑡h𝑒</m:t>
                      </m:r>
                      <m:r>
                        <a:rPr lang="en-AU" sz="4800" b="0" i="1" smtClean="0">
                          <a:latin typeface="Cambria Math"/>
                        </a:rPr>
                        <m:t> </m:t>
                      </m:r>
                      <m:r>
                        <a:rPr lang="en-AU" sz="4800" b="0" i="1" smtClean="0">
                          <a:latin typeface="Cambria Math"/>
                        </a:rPr>
                        <m:t>𝑙𝑎𝑛𝑔𝑢𝑎𝑔𝑒</m:t>
                      </m:r>
                      <m:r>
                        <a:rPr lang="en-AU" sz="4800" b="0" i="1" smtClean="0">
                          <a:latin typeface="Cambria Math"/>
                        </a:rPr>
                        <m:t> </m:t>
                      </m:r>
                      <m:r>
                        <a:rPr lang="en-AU" sz="4800" b="0" i="1" smtClean="0">
                          <a:latin typeface="Cambria Math"/>
                        </a:rPr>
                        <m:t>𝑜𝑓</m:t>
                      </m:r>
                      <m:r>
                        <a:rPr lang="en-AU" sz="4800" b="0" i="1" smtClean="0">
                          <a:latin typeface="Cambria Math"/>
                        </a:rPr>
                        <m:t> </m:t>
                      </m:r>
                    </m:oMath>
                  </m:oMathPara>
                </a14:m>
                <a:endParaRPr lang="en-AU" sz="4800" b="0" dirty="0" smtClean="0"/>
              </a:p>
              <a:p>
                <a:r>
                  <a:rPr lang="en-AU" sz="4800" b="1" dirty="0" smtClean="0">
                    <a:solidFill>
                      <a:srgbClr val="FF0000"/>
                    </a:solidFill>
                  </a:rPr>
                  <a:t>Variables</a:t>
                </a:r>
                <a:r>
                  <a:rPr lang="en-AU" sz="4800" dirty="0" smtClean="0"/>
                  <a:t>, such as </a:t>
                </a:r>
                <a:r>
                  <a:rPr lang="en-AU" sz="4800" i="1" dirty="0" smtClean="0">
                    <a:solidFill>
                      <a:srgbClr val="FF0000"/>
                    </a:solidFill>
                  </a:rPr>
                  <a:t>x</a:t>
                </a:r>
                <a:r>
                  <a:rPr lang="en-AU" sz="4800" dirty="0" smtClean="0"/>
                  <a:t>, </a:t>
                </a:r>
                <a:r>
                  <a:rPr lang="en-AU" sz="4800" i="1" dirty="0" smtClean="0">
                    <a:solidFill>
                      <a:srgbClr val="FF0000"/>
                    </a:solidFill>
                  </a:rPr>
                  <a:t>y</a:t>
                </a:r>
                <a:r>
                  <a:rPr lang="en-AU" sz="4800" dirty="0" smtClean="0"/>
                  <a:t>, </a:t>
                </a:r>
                <a:r>
                  <a:rPr lang="en-AU" sz="4800" i="1" dirty="0" smtClean="0">
                    <a:solidFill>
                      <a:srgbClr val="FF0000"/>
                    </a:solidFill>
                  </a:rPr>
                  <a:t>m</a:t>
                </a:r>
                <a:r>
                  <a:rPr lang="en-AU" sz="4800" dirty="0" smtClean="0"/>
                  <a:t>, </a:t>
                </a:r>
                <a:r>
                  <a:rPr lang="en-AU" sz="4800" i="1" dirty="0" smtClean="0">
                    <a:solidFill>
                      <a:srgbClr val="FF0000"/>
                    </a:solidFill>
                  </a:rPr>
                  <a:t>a</a:t>
                </a:r>
                <a:r>
                  <a:rPr lang="en-AU" sz="4800" dirty="0" smtClean="0"/>
                  <a:t>, </a:t>
                </a:r>
                <a:r>
                  <a:rPr lang="en-AU" sz="4800" i="1" dirty="0" smtClean="0">
                    <a:solidFill>
                      <a:srgbClr val="FF0000"/>
                    </a:solidFill>
                  </a:rPr>
                  <a:t>k</a:t>
                </a:r>
                <a:endParaRPr lang="en-AU" sz="4800" i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2708920"/>
                <a:ext cx="8103757" cy="1569660"/>
              </a:xfrm>
              <a:prstGeom prst="rect">
                <a:avLst/>
              </a:prstGeom>
              <a:blipFill rotWithShape="1">
                <a:blip r:embed="rId2"/>
                <a:stretch>
                  <a:fillRect l="-3383" b="-197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984375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03648" y="476672"/>
            <a:ext cx="6400800" cy="576064"/>
          </a:xfrm>
          <a:solidFill>
            <a:schemeClr val="accent2">
              <a:lumMod val="75000"/>
            </a:schemeClr>
          </a:solidFill>
        </p:spPr>
        <p:txBody>
          <a:bodyPr>
            <a:normAutofit lnSpcReduction="10000"/>
          </a:bodyPr>
          <a:lstStyle/>
          <a:p>
            <a:r>
              <a:rPr lang="en-AU" dirty="0" smtClean="0">
                <a:solidFill>
                  <a:schemeClr val="accent1">
                    <a:lumMod val="20000"/>
                    <a:lumOff val="80000"/>
                  </a:schemeClr>
                </a:solidFill>
              </a:rPr>
              <a:t>The Cool Language of Algebra!</a:t>
            </a:r>
            <a:endParaRPr lang="en-AU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771800" y="2014537"/>
            <a:ext cx="3550890" cy="3611693"/>
          </a:xfrm>
          <a:prstGeom prst="rect">
            <a:avLst/>
          </a:prstGeom>
          <a:noFill/>
          <a:ln>
            <a:noFill/>
          </a:ln>
          <a:effectLst>
            <a:outerShdw blurRad="685800" dist="50800" dir="5400000" algn="ctr" rotWithShape="0">
              <a:schemeClr val="tx2"/>
            </a:outerShdw>
          </a:effectLst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655730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03648" y="476672"/>
            <a:ext cx="6400800" cy="576064"/>
          </a:xfrm>
          <a:solidFill>
            <a:schemeClr val="accent2">
              <a:lumMod val="75000"/>
            </a:schemeClr>
          </a:solidFill>
        </p:spPr>
        <p:txBody>
          <a:bodyPr>
            <a:normAutofit lnSpcReduction="10000"/>
          </a:bodyPr>
          <a:lstStyle/>
          <a:p>
            <a:r>
              <a:rPr lang="en-AU" dirty="0" smtClean="0">
                <a:solidFill>
                  <a:schemeClr val="accent1">
                    <a:lumMod val="20000"/>
                    <a:lumOff val="80000"/>
                  </a:schemeClr>
                </a:solidFill>
              </a:rPr>
              <a:t>The Cool Language of Algebra!</a:t>
            </a:r>
            <a:endParaRPr lang="en-AU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67544" y="1556434"/>
            <a:ext cx="3834426" cy="3900084"/>
          </a:xfrm>
          <a:prstGeom prst="rect">
            <a:avLst/>
          </a:prstGeom>
          <a:noFill/>
          <a:ln>
            <a:noFill/>
          </a:ln>
          <a:effectLst>
            <a:outerShdw blurRad="685800" dist="50800" dir="5400000" algn="ctr" rotWithShape="0">
              <a:schemeClr val="tx2"/>
            </a:outerShdw>
          </a:effectLst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4499992" y="2132856"/>
            <a:ext cx="396044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b="1" dirty="0" smtClean="0"/>
              <a:t>Algebra</a:t>
            </a:r>
            <a:endParaRPr lang="en-AU" sz="3600" b="1" dirty="0"/>
          </a:p>
          <a:p>
            <a:r>
              <a:rPr lang="en-AU" sz="3600" b="1" dirty="0" smtClean="0"/>
              <a:t>Solves real Problems…</a:t>
            </a:r>
          </a:p>
          <a:p>
            <a:endParaRPr lang="en-AU" sz="3600" b="1" dirty="0"/>
          </a:p>
          <a:p>
            <a:endParaRPr lang="en-AU" sz="3600" b="1" dirty="0" smtClean="0"/>
          </a:p>
          <a:p>
            <a:endParaRPr lang="en-AU" sz="3600" b="1" dirty="0" smtClean="0"/>
          </a:p>
          <a:p>
            <a:r>
              <a:rPr lang="en-AU" sz="3600" b="1" dirty="0" smtClean="0"/>
              <a:t>…using variables!</a:t>
            </a:r>
            <a:endParaRPr lang="en-AU" sz="3600" b="1" dirty="0"/>
          </a:p>
        </p:txBody>
      </p:sp>
      <p:cxnSp>
        <p:nvCxnSpPr>
          <p:cNvPr id="7" name="Straight Arrow Connector 6"/>
          <p:cNvCxnSpPr/>
          <p:nvPr/>
        </p:nvCxnSpPr>
        <p:spPr>
          <a:xfrm flipH="1">
            <a:off x="3275856" y="3284984"/>
            <a:ext cx="1224136" cy="1440160"/>
          </a:xfrm>
          <a:prstGeom prst="straightConnector1">
            <a:avLst/>
          </a:prstGeom>
          <a:ln w="444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H="1" flipV="1">
            <a:off x="2537774" y="5472356"/>
            <a:ext cx="1962218" cy="836964"/>
          </a:xfrm>
          <a:prstGeom prst="straightConnector1">
            <a:avLst/>
          </a:prstGeom>
          <a:ln w="50800">
            <a:solidFill>
              <a:srgbClr val="002060"/>
            </a:solidFill>
            <a:tailEnd type="arrow"/>
          </a:ln>
          <a:effectLst>
            <a:outerShdw blurRad="177800" dist="50800" dir="5400000" sx="102000" sy="102000" algn="ctr" rotWithShape="0">
              <a:schemeClr val="bg1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1922944" y="4823440"/>
            <a:ext cx="1728192" cy="360040"/>
          </a:xfrm>
          <a:prstGeom prst="rect">
            <a:avLst/>
          </a:prstGeom>
          <a:solidFill>
            <a:srgbClr val="FFFF00">
              <a:alpha val="6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827179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03648" y="476672"/>
            <a:ext cx="6400800" cy="576064"/>
          </a:xfrm>
          <a:solidFill>
            <a:schemeClr val="accent2">
              <a:lumMod val="75000"/>
            </a:schemeClr>
          </a:solidFill>
        </p:spPr>
        <p:txBody>
          <a:bodyPr>
            <a:normAutofit lnSpcReduction="10000"/>
          </a:bodyPr>
          <a:lstStyle/>
          <a:p>
            <a:r>
              <a:rPr lang="en-AU" dirty="0" smtClean="0">
                <a:solidFill>
                  <a:schemeClr val="accent1">
                    <a:lumMod val="20000"/>
                    <a:lumOff val="80000"/>
                  </a:schemeClr>
                </a:solidFill>
              </a:rPr>
              <a:t>The Cool Language of Algebra!</a:t>
            </a:r>
            <a:endParaRPr lang="en-AU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mc:AlternateContent>
        <mc:Choice xmlns:mc="http://schemas.openxmlformats.org/markup-compatibility/2006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Requires="a14">
          <p:sp>
            <p:nvSpPr>
              <p:cNvPr id="4" name="Rectangle 3"/>
              <p:cNvSpPr/>
              <p:nvPr/>
            </p:nvSpPr>
            <p:spPr>
              <a:xfrm>
                <a:off x="755576" y="1700808"/>
                <a:ext cx="7704856" cy="378565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800" b="0" i="1" smtClean="0">
                          <a:latin typeface="Cambria Math"/>
                        </a:rPr>
                        <m:t>𝑥</m:t>
                      </m:r>
                      <m:r>
                        <a:rPr lang="en-AU" sz="4800" b="0" i="1" smtClean="0">
                          <a:latin typeface="Cambria Math"/>
                        </a:rPr>
                        <m:t> </m:t>
                      </m:r>
                      <m:r>
                        <a:rPr lang="en-AU" sz="4800" b="0" i="1" smtClean="0">
                          <a:latin typeface="Cambria Math"/>
                        </a:rPr>
                        <m:t>𝑐𝑎𝑛</m:t>
                      </m:r>
                      <m:r>
                        <a:rPr lang="en-AU" sz="4800" b="0" i="1" smtClean="0">
                          <a:latin typeface="Cambria Math"/>
                        </a:rPr>
                        <m:t> </m:t>
                      </m:r>
                      <m:r>
                        <a:rPr lang="en-AU" sz="4800" b="0" i="1" smtClean="0">
                          <a:latin typeface="Cambria Math"/>
                        </a:rPr>
                        <m:t>𝑠𝑡𝑎𝑛𝑑</m:t>
                      </m:r>
                      <m:r>
                        <a:rPr lang="en-AU" sz="4800" b="0" i="1" smtClean="0">
                          <a:latin typeface="Cambria Math"/>
                        </a:rPr>
                        <m:t> </m:t>
                      </m:r>
                      <m:r>
                        <a:rPr lang="en-AU" sz="4800" b="0" i="1" smtClean="0">
                          <a:latin typeface="Cambria Math"/>
                        </a:rPr>
                        <m:t>𝑓𝑜𝑟</m:t>
                      </m:r>
                      <m:r>
                        <a:rPr lang="en-AU" sz="4800" b="0" i="1" smtClean="0">
                          <a:latin typeface="Cambria Math"/>
                        </a:rPr>
                        <m:t> </m:t>
                      </m:r>
                      <m:r>
                        <a:rPr lang="en-AU" sz="4800" b="0" i="1" smtClean="0">
                          <a:latin typeface="Cambria Math"/>
                        </a:rPr>
                        <m:t>𝑎𝑛𝑦𝑡h𝑖𝑛𝑔</m:t>
                      </m:r>
                      <m:r>
                        <a:rPr lang="en-AU" sz="4800" b="0" i="1" smtClean="0">
                          <a:latin typeface="Cambria Math"/>
                        </a:rPr>
                        <m:t>!</m:t>
                      </m:r>
                    </m:oMath>
                  </m:oMathPara>
                </a14:m>
                <a:endParaRPr lang="en-AU" sz="4800" b="0" i="1" dirty="0" smtClean="0"/>
              </a:p>
              <a:p>
                <a:pPr marL="685800" indent="-685800">
                  <a:buFont typeface="Arial" panose="020B0604020202020204" pitchFamily="34" charset="0"/>
                  <a:buChar char="•"/>
                </a:pPr>
                <a:r>
                  <a:rPr lang="en-AU" sz="4800" i="1" dirty="0" smtClean="0">
                    <a:solidFill>
                      <a:srgbClr val="FF0000"/>
                    </a:solidFill>
                  </a:rPr>
                  <a:t>the height of an avatar</a:t>
                </a:r>
              </a:p>
              <a:p>
                <a:pPr marL="685800" indent="-685800">
                  <a:buFont typeface="Arial" panose="020B0604020202020204" pitchFamily="34" charset="0"/>
                  <a:buChar char="•"/>
                </a:pPr>
                <a:r>
                  <a:rPr lang="en-AU" sz="4800" i="1" dirty="0">
                    <a:solidFill>
                      <a:srgbClr val="FF0000"/>
                    </a:solidFill>
                  </a:rPr>
                  <a:t>t</a:t>
                </a:r>
                <a:r>
                  <a:rPr lang="en-AU" sz="4800" i="1" dirty="0" smtClean="0">
                    <a:solidFill>
                      <a:srgbClr val="FF0000"/>
                    </a:solidFill>
                  </a:rPr>
                  <a:t>ime in seconds</a:t>
                </a:r>
              </a:p>
              <a:p>
                <a:pPr marL="685800" indent="-685800">
                  <a:buFont typeface="Arial" panose="020B0604020202020204" pitchFamily="34" charset="0"/>
                  <a:buChar char="•"/>
                </a:pPr>
                <a:r>
                  <a:rPr lang="en-AU" sz="4800" i="1" dirty="0">
                    <a:solidFill>
                      <a:srgbClr val="FF0000"/>
                    </a:solidFill>
                  </a:rPr>
                  <a:t>t</a:t>
                </a:r>
                <a:r>
                  <a:rPr lang="en-AU" sz="4800" i="1" dirty="0" smtClean="0">
                    <a:solidFill>
                      <a:srgbClr val="FF0000"/>
                    </a:solidFill>
                  </a:rPr>
                  <a:t>he depth of a pool</a:t>
                </a:r>
              </a:p>
              <a:p>
                <a:pPr marL="685800" indent="-685800">
                  <a:buFont typeface="Arial" panose="020B0604020202020204" pitchFamily="34" charset="0"/>
                  <a:buChar char="•"/>
                </a:pPr>
                <a:r>
                  <a:rPr lang="en-AU" sz="4800" i="1" dirty="0">
                    <a:solidFill>
                      <a:srgbClr val="FF0000"/>
                    </a:solidFill>
                  </a:rPr>
                  <a:t>m</a:t>
                </a:r>
                <a:r>
                  <a:rPr lang="en-AU" sz="4800" i="1" dirty="0" smtClean="0">
                    <a:solidFill>
                      <a:srgbClr val="FF0000"/>
                    </a:solidFill>
                  </a:rPr>
                  <a:t>y maths mark</a:t>
                </a:r>
                <a:endParaRPr lang="en-AU" sz="4800" i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1700808"/>
                <a:ext cx="7704856" cy="3785652"/>
              </a:xfrm>
              <a:prstGeom prst="rect">
                <a:avLst/>
              </a:prstGeom>
              <a:blipFill rotWithShape="1">
                <a:blip r:embed="rId2"/>
                <a:stretch>
                  <a:fillRect l="-3323" b="-772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856301" y="3429000"/>
            <a:ext cx="1613611" cy="2944424"/>
          </a:xfrm>
          <a:prstGeom prst="rect">
            <a:avLst/>
          </a:prstGeom>
          <a:noFill/>
          <a:ln>
            <a:noFill/>
          </a:ln>
          <a:effectLst>
            <a:outerShdw sx="118000" sy="118000" algn="ctr" rotWithShape="0">
              <a:srgbClr val="FFFF00"/>
            </a:outerShdw>
          </a:effectLst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34770538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03648" y="476672"/>
            <a:ext cx="6400800" cy="576064"/>
          </a:xfrm>
          <a:solidFill>
            <a:schemeClr val="accent2">
              <a:lumMod val="75000"/>
            </a:schemeClr>
          </a:solidFill>
        </p:spPr>
        <p:txBody>
          <a:bodyPr>
            <a:normAutofit lnSpcReduction="10000"/>
          </a:bodyPr>
          <a:lstStyle/>
          <a:p>
            <a:r>
              <a:rPr lang="en-AU" dirty="0" smtClean="0">
                <a:solidFill>
                  <a:schemeClr val="accent1">
                    <a:lumMod val="20000"/>
                    <a:lumOff val="80000"/>
                  </a:schemeClr>
                </a:solidFill>
              </a:rPr>
              <a:t>The Cool Language of Algebra!</a:t>
            </a:r>
            <a:endParaRPr lang="en-AU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mc:AlternateContent>
        <mc:Choice xmlns:mc="http://schemas.openxmlformats.org/markup-compatibility/2006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Requires="a14">
          <p:sp>
            <p:nvSpPr>
              <p:cNvPr id="4" name="Rectangle 3"/>
              <p:cNvSpPr/>
              <p:nvPr/>
            </p:nvSpPr>
            <p:spPr>
              <a:xfrm>
                <a:off x="755576" y="1700808"/>
                <a:ext cx="7704856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800" b="0" i="1" smtClean="0">
                          <a:latin typeface="Cambria Math"/>
                        </a:rPr>
                        <m:t>𝑥</m:t>
                      </m:r>
                      <m:r>
                        <a:rPr lang="en-AU" sz="4800" b="0" i="1" smtClean="0">
                          <a:latin typeface="Cambria Math"/>
                        </a:rPr>
                        <m:t> </m:t>
                      </m:r>
                      <m:r>
                        <a:rPr lang="en-AU" sz="4800" b="0" i="1" smtClean="0">
                          <a:latin typeface="Cambria Math"/>
                        </a:rPr>
                        <m:t>𝑐𝑎𝑛</m:t>
                      </m:r>
                      <m:r>
                        <a:rPr lang="en-AU" sz="4800" b="0" i="1" smtClean="0">
                          <a:latin typeface="Cambria Math"/>
                        </a:rPr>
                        <m:t> </m:t>
                      </m:r>
                      <m:r>
                        <a:rPr lang="en-AU" sz="4800" b="0" i="1" smtClean="0">
                          <a:latin typeface="Cambria Math"/>
                        </a:rPr>
                        <m:t>𝑠𝑡𝑎𝑛𝑑</m:t>
                      </m:r>
                      <m:r>
                        <a:rPr lang="en-AU" sz="4800" b="0" i="1" smtClean="0">
                          <a:latin typeface="Cambria Math"/>
                        </a:rPr>
                        <m:t> </m:t>
                      </m:r>
                      <m:r>
                        <a:rPr lang="en-AU" sz="4800" b="0" i="1" smtClean="0">
                          <a:latin typeface="Cambria Math"/>
                        </a:rPr>
                        <m:t>𝑓𝑜𝑟</m:t>
                      </m:r>
                      <m:r>
                        <a:rPr lang="en-AU" sz="4800" b="0" i="1" smtClean="0">
                          <a:latin typeface="Cambria Math"/>
                        </a:rPr>
                        <m:t> </m:t>
                      </m:r>
                      <m:r>
                        <a:rPr lang="en-AU" sz="4800" b="0" i="1" smtClean="0">
                          <a:latin typeface="Cambria Math"/>
                        </a:rPr>
                        <m:t>𝑎𝑛𝑦𝑡h𝑖𝑛𝑔</m:t>
                      </m:r>
                      <m:r>
                        <a:rPr lang="en-AU" sz="4800" b="0" i="1" smtClean="0">
                          <a:latin typeface="Cambria Math"/>
                        </a:rPr>
                        <m:t>!</m:t>
                      </m:r>
                    </m:oMath>
                  </m:oMathPara>
                </a14:m>
                <a:endParaRPr lang="en-AU" sz="4800" b="0" i="1" dirty="0" smtClean="0"/>
              </a:p>
            </p:txBody>
          </p:sp>
        </mc:Choice>
        <mc:Fallback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1700808"/>
                <a:ext cx="7704856" cy="830997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131840" y="2602984"/>
            <a:ext cx="2592288" cy="3938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13867656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599" y="1196752"/>
            <a:ext cx="6400800" cy="576064"/>
          </a:xfrm>
          <a:solidFill>
            <a:schemeClr val="accent2">
              <a:lumMod val="75000"/>
            </a:schemeClr>
          </a:solidFill>
        </p:spPr>
        <p:txBody>
          <a:bodyPr>
            <a:normAutofit lnSpcReduction="10000"/>
          </a:bodyPr>
          <a:lstStyle/>
          <a:p>
            <a:r>
              <a:rPr lang="en-AU" dirty="0" smtClean="0">
                <a:solidFill>
                  <a:schemeClr val="accent1">
                    <a:lumMod val="20000"/>
                    <a:lumOff val="80000"/>
                  </a:schemeClr>
                </a:solidFill>
              </a:rPr>
              <a:t>The Cool Language of Algebra!</a:t>
            </a:r>
            <a:endParaRPr lang="en-AU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mc:AlternateContent>
        <mc:Choice xmlns:mc="http://schemas.openxmlformats.org/markup-compatibility/2006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Requires="a14">
          <p:sp>
            <p:nvSpPr>
              <p:cNvPr id="4" name="Rectangle 3"/>
              <p:cNvSpPr/>
              <p:nvPr/>
            </p:nvSpPr>
            <p:spPr>
              <a:xfrm>
                <a:off x="611560" y="2640082"/>
                <a:ext cx="7704856" cy="230832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800" b="0" i="1" smtClean="0">
                          <a:latin typeface="Cambria Math"/>
                        </a:rPr>
                        <m:t>7</m:t>
                      </m:r>
                      <m:r>
                        <a:rPr lang="en-AU" sz="4800" b="0" i="1" smtClean="0">
                          <a:latin typeface="Cambria Math"/>
                        </a:rPr>
                        <m:t>𝑥</m:t>
                      </m:r>
                      <m:r>
                        <a:rPr lang="en-AU" sz="4800" b="0" i="1" smtClean="0">
                          <a:latin typeface="Cambria Math"/>
                        </a:rPr>
                        <m:t> </m:t>
                      </m:r>
                      <m:r>
                        <a:rPr lang="en-AU" sz="4800" b="0" i="1" smtClean="0">
                          <a:latin typeface="Cambria Math"/>
                        </a:rPr>
                        <m:t>𝑚𝑒𝑎𝑛𝑠</m:t>
                      </m:r>
                      <m:r>
                        <a:rPr lang="en-AU" sz="4800" b="0" i="1" smtClean="0">
                          <a:latin typeface="Cambria Math"/>
                        </a:rPr>
                        <m:t> </m:t>
                      </m:r>
                      <m:r>
                        <m:rPr>
                          <m:nor/>
                        </m:rPr>
                        <a:rPr lang="en-AU" sz="4800" b="0" i="0" smtClean="0">
                          <a:latin typeface="Cambria Math"/>
                        </a:rPr>
                        <m:t>"7 </m:t>
                      </m:r>
                      <m:r>
                        <m:rPr>
                          <m:nor/>
                        </m:rPr>
                        <a:rPr lang="en-AU" sz="4800" b="0" i="0" smtClean="0">
                          <a:latin typeface="Cambria Math"/>
                        </a:rPr>
                        <m:t>times</m:t>
                      </m:r>
                      <m:r>
                        <m:rPr>
                          <m:nor/>
                        </m:rPr>
                        <a:rPr lang="en-AU" sz="4800" b="0" i="0" smtClean="0">
                          <a:latin typeface="Cambria Math"/>
                        </a:rPr>
                        <m:t> </m:t>
                      </m:r>
                      <m:r>
                        <m:rPr>
                          <m:nor/>
                        </m:rPr>
                        <a:rPr lang="en-AU" sz="4800" b="0" i="0" smtClean="0">
                          <a:latin typeface="Cambria Math"/>
                        </a:rPr>
                        <m:t>x</m:t>
                      </m:r>
                      <m:r>
                        <m:rPr>
                          <m:nor/>
                        </m:rPr>
                        <a:rPr lang="en-AU" sz="4800" b="0" i="0" smtClean="0">
                          <a:latin typeface="Cambria Math"/>
                        </a:rPr>
                        <m:t>" </m:t>
                      </m:r>
                      <m:r>
                        <m:rPr>
                          <m:nor/>
                        </m:rPr>
                        <a:rPr lang="en-AU" sz="4800" b="0" i="0" smtClean="0">
                          <a:latin typeface="Cambria Math"/>
                        </a:rPr>
                        <m:t>or</m:t>
                      </m:r>
                      <m:r>
                        <m:rPr>
                          <m:nor/>
                        </m:rPr>
                        <a:rPr lang="en-AU" sz="4800" b="0" i="0" smtClean="0">
                          <a:latin typeface="Cambria Math"/>
                        </a:rPr>
                        <m:t>;</m:t>
                      </m:r>
                    </m:oMath>
                  </m:oMathPara>
                </a14:m>
                <a:endParaRPr lang="en-AU" sz="4800" b="0" i="1" dirty="0" smtClean="0"/>
              </a:p>
              <a:p>
                <a:pPr algn="ctr"/>
                <a:r>
                  <a:rPr lang="en-AU" sz="4800" i="1" dirty="0" err="1" smtClean="0">
                    <a:solidFill>
                      <a:srgbClr val="FF0000"/>
                    </a:solidFill>
                  </a:rPr>
                  <a:t>x</a:t>
                </a:r>
                <a:r>
                  <a:rPr lang="en-AU" sz="4800" dirty="0" err="1" smtClean="0"/>
                  <a:t>+</a:t>
                </a:r>
                <a:r>
                  <a:rPr lang="en-AU" sz="4800" i="1" dirty="0" err="1" smtClean="0">
                    <a:solidFill>
                      <a:srgbClr val="FF0000"/>
                    </a:solidFill>
                  </a:rPr>
                  <a:t>x</a:t>
                </a:r>
                <a:r>
                  <a:rPr lang="en-AU" sz="4800" dirty="0" err="1" smtClean="0"/>
                  <a:t>+</a:t>
                </a:r>
                <a:r>
                  <a:rPr lang="en-AU" sz="4800" i="1" dirty="0" err="1" smtClean="0">
                    <a:solidFill>
                      <a:srgbClr val="FF0000"/>
                    </a:solidFill>
                  </a:rPr>
                  <a:t>x</a:t>
                </a:r>
                <a:r>
                  <a:rPr lang="en-AU" sz="4800" dirty="0" err="1" smtClean="0"/>
                  <a:t>+</a:t>
                </a:r>
                <a:r>
                  <a:rPr lang="en-AU" sz="4800" i="1" dirty="0" err="1" smtClean="0">
                    <a:solidFill>
                      <a:srgbClr val="FF0000"/>
                    </a:solidFill>
                  </a:rPr>
                  <a:t>x</a:t>
                </a:r>
                <a:r>
                  <a:rPr lang="en-AU" sz="4800" dirty="0" err="1" smtClean="0"/>
                  <a:t>+</a:t>
                </a:r>
                <a:r>
                  <a:rPr lang="en-AU" sz="4800" i="1" dirty="0" err="1" smtClean="0">
                    <a:solidFill>
                      <a:srgbClr val="FF0000"/>
                    </a:solidFill>
                  </a:rPr>
                  <a:t>x</a:t>
                </a:r>
                <a:r>
                  <a:rPr lang="en-AU" sz="4800" dirty="0" err="1" smtClean="0"/>
                  <a:t>+</a:t>
                </a:r>
                <a:r>
                  <a:rPr lang="en-AU" sz="4800" i="1" dirty="0" err="1" smtClean="0">
                    <a:solidFill>
                      <a:srgbClr val="FF0000"/>
                    </a:solidFill>
                  </a:rPr>
                  <a:t>x</a:t>
                </a:r>
                <a:r>
                  <a:rPr lang="en-AU" sz="4800" dirty="0" err="1" smtClean="0"/>
                  <a:t>+</a:t>
                </a:r>
                <a:r>
                  <a:rPr lang="en-AU" sz="4800" i="1" dirty="0" err="1" smtClean="0">
                    <a:solidFill>
                      <a:srgbClr val="FF0000"/>
                    </a:solidFill>
                  </a:rPr>
                  <a:t>x</a:t>
                </a:r>
                <a:endParaRPr lang="en-AU" sz="4800" i="1" dirty="0" smtClean="0">
                  <a:solidFill>
                    <a:srgbClr val="FF0000"/>
                  </a:solidFill>
                </a:endParaRPr>
              </a:p>
              <a:p>
                <a:pPr algn="ctr"/>
                <a:r>
                  <a:rPr lang="en-AU" sz="3200" i="1" dirty="0"/>
                  <a:t>a</a:t>
                </a:r>
                <a:r>
                  <a:rPr lang="en-AU" sz="3200" i="1" dirty="0" smtClean="0"/>
                  <a:t>nd can be read as </a:t>
                </a:r>
                <a:r>
                  <a:rPr lang="en-AU" sz="4800" i="1" dirty="0" smtClean="0">
                    <a:solidFill>
                      <a:srgbClr val="FF0000"/>
                    </a:solidFill>
                  </a:rPr>
                  <a:t>“seven x’s”</a:t>
                </a:r>
                <a:endParaRPr lang="en-AU" sz="4800" i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2640082"/>
                <a:ext cx="7704856" cy="2308324"/>
              </a:xfrm>
              <a:prstGeom prst="rect">
                <a:avLst/>
              </a:prstGeom>
              <a:blipFill rotWithShape="1">
                <a:blip r:embed="rId2"/>
                <a:stretch>
                  <a:fillRect b="-1319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19453623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599" y="1196752"/>
            <a:ext cx="6400800" cy="576064"/>
          </a:xfrm>
          <a:solidFill>
            <a:schemeClr val="accent2">
              <a:lumMod val="75000"/>
            </a:schemeClr>
          </a:solidFill>
        </p:spPr>
        <p:txBody>
          <a:bodyPr>
            <a:normAutofit fontScale="92500"/>
          </a:bodyPr>
          <a:lstStyle/>
          <a:p>
            <a:r>
              <a:rPr lang="en-AU" dirty="0" smtClean="0">
                <a:solidFill>
                  <a:schemeClr val="accent1">
                    <a:lumMod val="20000"/>
                    <a:lumOff val="80000"/>
                  </a:schemeClr>
                </a:solidFill>
              </a:rPr>
              <a:t>Where did the idea of </a:t>
            </a:r>
            <a:r>
              <a:rPr lang="en-AU" b="1" i="1" dirty="0">
                <a:solidFill>
                  <a:srgbClr val="FFFF00"/>
                </a:solidFill>
              </a:rPr>
              <a:t>x</a:t>
            </a:r>
            <a:r>
              <a:rPr lang="en-AU" dirty="0" smtClean="0">
                <a:solidFill>
                  <a:schemeClr val="accent1">
                    <a:lumMod val="20000"/>
                    <a:lumOff val="80000"/>
                  </a:schemeClr>
                </a:solidFill>
              </a:rPr>
              <a:t> come from?</a:t>
            </a:r>
            <a:endParaRPr lang="en-AU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5" name="Picture 2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57213" y="2171700"/>
            <a:ext cx="8029575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347864" y="4217670"/>
            <a:ext cx="1752600" cy="438150"/>
          </a:xfrm>
          <a:prstGeom prst="rect">
            <a:avLst/>
          </a:prstGeom>
          <a:solidFill>
            <a:srgbClr val="FFFF00">
              <a:alpha val="51000"/>
            </a:srgbClr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36662775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599" y="1196752"/>
            <a:ext cx="6400800" cy="576064"/>
          </a:xfrm>
          <a:solidFill>
            <a:schemeClr val="accent2">
              <a:lumMod val="75000"/>
            </a:schemeClr>
          </a:solidFill>
        </p:spPr>
        <p:txBody>
          <a:bodyPr>
            <a:normAutofit fontScale="92500"/>
          </a:bodyPr>
          <a:lstStyle/>
          <a:p>
            <a:r>
              <a:rPr lang="en-AU" dirty="0" smtClean="0">
                <a:solidFill>
                  <a:schemeClr val="accent1">
                    <a:lumMod val="20000"/>
                    <a:lumOff val="80000"/>
                  </a:schemeClr>
                </a:solidFill>
              </a:rPr>
              <a:t>Understanding </a:t>
            </a:r>
            <a:r>
              <a:rPr lang="en-AU" b="1" i="1" dirty="0" smtClean="0">
                <a:solidFill>
                  <a:srgbClr val="FFFF00"/>
                </a:solidFill>
              </a:rPr>
              <a:t>x as buried treasure</a:t>
            </a:r>
            <a:endParaRPr lang="en-AU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4098" name="Picture 2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483768" y="2276872"/>
            <a:ext cx="4035024" cy="23134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6228266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599" y="1196752"/>
            <a:ext cx="6400800" cy="576064"/>
          </a:xfrm>
          <a:solidFill>
            <a:schemeClr val="tx1">
              <a:lumMod val="50000"/>
              <a:lumOff val="50000"/>
            </a:schemeClr>
          </a:solidFill>
        </p:spPr>
        <p:txBody>
          <a:bodyPr>
            <a:normAutofit lnSpcReduction="10000"/>
          </a:bodyPr>
          <a:lstStyle/>
          <a:p>
            <a:r>
              <a:rPr lang="en-AU" b="1" dirty="0" smtClean="0">
                <a:solidFill>
                  <a:schemeClr val="accent1">
                    <a:lumMod val="20000"/>
                    <a:lumOff val="80000"/>
                  </a:schemeClr>
                </a:solidFill>
              </a:rPr>
              <a:t>Finding</a:t>
            </a:r>
            <a:r>
              <a:rPr lang="en-AU" b="1" i="1" dirty="0" smtClean="0">
                <a:solidFill>
                  <a:srgbClr val="FF0000"/>
                </a:solidFill>
              </a:rPr>
              <a:t> x </a:t>
            </a:r>
            <a:r>
              <a:rPr lang="en-AU" b="1" i="1" dirty="0" smtClean="0">
                <a:solidFill>
                  <a:srgbClr val="FFFF00"/>
                </a:solidFill>
              </a:rPr>
              <a:t>is for your future!</a:t>
            </a:r>
            <a:endParaRPr lang="en-AU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95536" y="1988840"/>
            <a:ext cx="8208912" cy="3724096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US" sz="2400" dirty="0"/>
              <a:t>“In </a:t>
            </a:r>
            <a:r>
              <a:rPr lang="en-US" sz="2400" dirty="0" smtClean="0"/>
              <a:t>algebra (as in real life), </a:t>
            </a:r>
            <a:r>
              <a:rPr lang="en-US" sz="2800" b="1" i="1" dirty="0">
                <a:solidFill>
                  <a:srgbClr val="FF0000"/>
                </a:solidFill>
              </a:rPr>
              <a:t>x</a:t>
            </a:r>
            <a:r>
              <a:rPr lang="en-US" sz="2800" b="1" i="1" dirty="0">
                <a:solidFill>
                  <a:srgbClr val="FF0000"/>
                </a:solidFill>
                <a:latin typeface="Arial Narrow" panose="020B0606020202030204" pitchFamily="34" charset="0"/>
              </a:rPr>
              <a:t> </a:t>
            </a:r>
            <a:r>
              <a:rPr lang="en-US" sz="2400" dirty="0"/>
              <a:t>can be anything: 12, -47, a billion—the sky’s the </a:t>
            </a:r>
            <a:r>
              <a:rPr lang="en-US" sz="2400" dirty="0" smtClean="0"/>
              <a:t>limit… But </a:t>
            </a:r>
            <a:r>
              <a:rPr lang="en-US" sz="2400" dirty="0"/>
              <a:t>can you imagine </a:t>
            </a:r>
            <a:r>
              <a:rPr lang="en-US" sz="2400" dirty="0" smtClean="0"/>
              <a:t>if, </a:t>
            </a:r>
            <a:r>
              <a:rPr lang="en-US" sz="2400" dirty="0"/>
              <a:t>when we solved for</a:t>
            </a:r>
            <a:r>
              <a:rPr lang="en-US" sz="2800" b="1" i="1" dirty="0"/>
              <a:t> </a:t>
            </a:r>
            <a:r>
              <a:rPr lang="en-US" sz="2800" b="1" i="1" dirty="0">
                <a:solidFill>
                  <a:srgbClr val="FF0000"/>
                </a:solidFill>
              </a:rPr>
              <a:t>x</a:t>
            </a:r>
            <a:r>
              <a:rPr lang="en-US" sz="2400" dirty="0"/>
              <a:t>, we started by stereotyping it, shutting out a whole range of possible solutions? Like, “Hmm, I just don’t think </a:t>
            </a:r>
            <a:r>
              <a:rPr lang="en-US" sz="2800" b="1" i="1" dirty="0">
                <a:solidFill>
                  <a:srgbClr val="FF0000"/>
                </a:solidFill>
              </a:rPr>
              <a:t>x</a:t>
            </a:r>
            <a:r>
              <a:rPr lang="en-US" sz="2400" dirty="0"/>
              <a:t> could be a very big number; I mean look, it’s so little</a:t>
            </a:r>
            <a:r>
              <a:rPr lang="en-US" sz="2400" dirty="0" smtClean="0"/>
              <a:t>.”</a:t>
            </a:r>
          </a:p>
          <a:p>
            <a:endParaRPr lang="en-US" sz="2400" dirty="0"/>
          </a:p>
          <a:p>
            <a:r>
              <a:rPr lang="en-US" sz="2400" dirty="0"/>
              <a:t>I know it sounds crazy, but this happens all the </a:t>
            </a:r>
            <a:r>
              <a:rPr lang="en-US" sz="2400" dirty="0" smtClean="0"/>
              <a:t>time</a:t>
            </a:r>
          </a:p>
          <a:p>
            <a:r>
              <a:rPr lang="en-US" sz="2400" dirty="0" smtClean="0"/>
              <a:t> </a:t>
            </a:r>
            <a:r>
              <a:rPr lang="en-US" sz="2400" dirty="0"/>
              <a:t>in life. The </a:t>
            </a:r>
            <a:r>
              <a:rPr lang="en-US" sz="2800" b="1" i="1" dirty="0">
                <a:solidFill>
                  <a:srgbClr val="FF0000"/>
                </a:solidFill>
              </a:rPr>
              <a:t>x</a:t>
            </a:r>
            <a:r>
              <a:rPr lang="en-US" sz="2400" dirty="0"/>
              <a:t> you’re solving for is your future, and it</a:t>
            </a:r>
            <a:r>
              <a:rPr lang="en-US" sz="2400" dirty="0" smtClean="0"/>
              <a:t>,</a:t>
            </a:r>
          </a:p>
          <a:p>
            <a:r>
              <a:rPr lang="en-US" sz="2400" dirty="0" smtClean="0"/>
              <a:t> </a:t>
            </a:r>
            <a:r>
              <a:rPr lang="en-US" sz="2400" dirty="0"/>
              <a:t>too, can be anything</a:t>
            </a:r>
            <a:r>
              <a:rPr lang="en-US" sz="2400" dirty="0" smtClean="0"/>
              <a:t>.”</a:t>
            </a:r>
            <a:endParaRPr lang="en-US" sz="2400" dirty="0">
              <a:effectLst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835696" y="5877272"/>
            <a:ext cx="5832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extract from </a:t>
            </a:r>
            <a:r>
              <a:rPr lang="en-US" dirty="0">
                <a:hlinkClick r:id="rId2"/>
              </a:rPr>
              <a:t>Algebra Exposed</a:t>
            </a:r>
            <a:r>
              <a:rPr lang="en-US" dirty="0"/>
              <a:t> by Danica McKellar</a:t>
            </a:r>
            <a:endParaRPr lang="en-AU" dirty="0"/>
          </a:p>
        </p:txBody>
      </p:sp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092280" y="4608785"/>
            <a:ext cx="1704975" cy="1990725"/>
          </a:xfrm>
          <a:prstGeom prst="rect">
            <a:avLst/>
          </a:prstGeom>
          <a:noFill/>
          <a:ln>
            <a:noFill/>
          </a:ln>
          <a:effectLst>
            <a:outerShdw blurRad="190500" dist="50800" dir="1440000" sx="103000" sy="103000" algn="ctr" rotWithShape="0">
              <a:srgbClr val="000000"/>
            </a:outerShdw>
          </a:effectLst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39609505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599" y="1196752"/>
            <a:ext cx="6400800" cy="576064"/>
          </a:xfrm>
          <a:solidFill>
            <a:schemeClr val="accent2">
              <a:lumMod val="75000"/>
            </a:schemeClr>
          </a:solidFill>
        </p:spPr>
        <p:txBody>
          <a:bodyPr>
            <a:normAutofit lnSpcReduction="10000"/>
          </a:bodyPr>
          <a:lstStyle/>
          <a:p>
            <a:r>
              <a:rPr lang="en-AU" dirty="0" smtClean="0">
                <a:solidFill>
                  <a:schemeClr val="accent1">
                    <a:lumMod val="20000"/>
                    <a:lumOff val="80000"/>
                  </a:schemeClr>
                </a:solidFill>
              </a:rPr>
              <a:t>Stop Making Mistakes!!!</a:t>
            </a:r>
            <a:endParaRPr lang="en-AU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mc:AlternateContent>
        <mc:Choice xmlns:mc="http://schemas.openxmlformats.org/markup-compatibility/2006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Requires="a14">
          <p:sp>
            <p:nvSpPr>
              <p:cNvPr id="4" name="Rectangle 3"/>
              <p:cNvSpPr/>
              <p:nvPr/>
            </p:nvSpPr>
            <p:spPr>
              <a:xfrm>
                <a:off x="2699792" y="3244333"/>
                <a:ext cx="3487301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800" i="1">
                          <a:latin typeface="Cambria Math"/>
                        </a:rPr>
                        <m:t>3</m:t>
                      </m:r>
                      <m:r>
                        <a:rPr lang="en-AU" sz="4800" i="1">
                          <a:latin typeface="Cambria Math"/>
                        </a:rPr>
                        <m:t>𝑥</m:t>
                      </m:r>
                      <m:r>
                        <a:rPr lang="en-AU" sz="4800" i="1">
                          <a:latin typeface="Cambria Math"/>
                        </a:rPr>
                        <m:t>−2</m:t>
                      </m:r>
                      <m:r>
                        <a:rPr lang="en-AU" sz="4800" i="1">
                          <a:latin typeface="Cambria Math"/>
                        </a:rPr>
                        <m:t>𝑦</m:t>
                      </m:r>
                      <m:r>
                        <a:rPr lang="en-AU" sz="4800" i="1">
                          <a:latin typeface="Cambria Math"/>
                        </a:rPr>
                        <m:t>+7</m:t>
                      </m:r>
                    </m:oMath>
                  </m:oMathPara>
                </a14:m>
                <a:endParaRPr lang="en-AU" sz="4800" dirty="0"/>
              </a:p>
            </p:txBody>
          </p:sp>
        </mc:Choice>
        <mc:Fallback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9792" y="3244333"/>
                <a:ext cx="3487301" cy="830997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1" name="Picture 3">
            <a:hlinkClick r:id="rId3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749772" y="2040581"/>
            <a:ext cx="5753100" cy="3238500"/>
          </a:xfrm>
          <a:prstGeom prst="rect">
            <a:avLst/>
          </a:prstGeom>
          <a:noFill/>
          <a:ln>
            <a:noFill/>
          </a:ln>
          <a:effectLst>
            <a:outerShdw blurRad="50800" dist="50800" sx="101000" sy="101000" algn="ctr" rotWithShape="0">
              <a:srgbClr val="C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8226693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>
        <mc:Choice xmlns:mc="http://schemas.openxmlformats.org/markup-compatibility/2006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Requires="a14">
          <p:sp>
            <p:nvSpPr>
              <p:cNvPr id="4" name="Rectangle 3"/>
              <p:cNvSpPr/>
              <p:nvPr/>
            </p:nvSpPr>
            <p:spPr>
              <a:xfrm>
                <a:off x="2699792" y="3244333"/>
                <a:ext cx="3487301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800" i="1">
                          <a:latin typeface="Cambria Math"/>
                        </a:rPr>
                        <m:t>3</m:t>
                      </m:r>
                      <m:r>
                        <a:rPr lang="en-AU" sz="4800" i="1">
                          <a:latin typeface="Cambria Math"/>
                        </a:rPr>
                        <m:t>𝑥</m:t>
                      </m:r>
                      <m:r>
                        <a:rPr lang="en-AU" sz="4800" i="1">
                          <a:latin typeface="Cambria Math"/>
                        </a:rPr>
                        <m:t>−2</m:t>
                      </m:r>
                      <m:r>
                        <a:rPr lang="en-AU" sz="4800" i="1">
                          <a:latin typeface="Cambria Math"/>
                        </a:rPr>
                        <m:t>𝑦</m:t>
                      </m:r>
                      <m:r>
                        <a:rPr lang="en-AU" sz="4800" i="1">
                          <a:latin typeface="Cambria Math"/>
                        </a:rPr>
                        <m:t>+7</m:t>
                      </m:r>
                    </m:oMath>
                  </m:oMathPara>
                </a14:m>
                <a:endParaRPr lang="en-AU" sz="4800" dirty="0"/>
              </a:p>
            </p:txBody>
          </p:sp>
        </mc:Choice>
        <mc:Fallback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9792" y="3244333"/>
                <a:ext cx="3487301" cy="830997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1371599" y="1196752"/>
            <a:ext cx="6400800" cy="576064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vert="horz" lIns="91440" tIns="45720" rIns="91440" bIns="45720" rtlCol="0">
            <a:normAutofit fontScale="85000" lnSpcReduction="1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AU" sz="3200" b="0" i="0" u="none" strike="noStrike" kern="1200" cap="none" spc="0" normalizeH="0" baseline="0" noProof="0" smtClean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Name parts of an Algebraic Expression</a:t>
            </a:r>
            <a:endParaRPr kumimoji="0" lang="en-AU" sz="3200" b="0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20000"/>
                  <a:lumOff val="8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5526510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599" y="1196752"/>
            <a:ext cx="6400800" cy="576064"/>
          </a:xfrm>
          <a:solidFill>
            <a:schemeClr val="accent2">
              <a:lumMod val="75000"/>
            </a:schemeClr>
          </a:solidFill>
        </p:spPr>
        <p:txBody>
          <a:bodyPr>
            <a:normAutofit fontScale="85000" lnSpcReduction="10000"/>
          </a:bodyPr>
          <a:lstStyle/>
          <a:p>
            <a:r>
              <a:rPr lang="en-AU" dirty="0" smtClean="0">
                <a:solidFill>
                  <a:schemeClr val="accent1">
                    <a:lumMod val="20000"/>
                    <a:lumOff val="80000"/>
                  </a:schemeClr>
                </a:solidFill>
              </a:rPr>
              <a:t>Name parts of an Algebraic Expression</a:t>
            </a:r>
            <a:endParaRPr lang="en-AU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mc:AlternateContent>
        <mc:Choice xmlns:mc="http://schemas.openxmlformats.org/markup-compatibility/2006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Requires="a14">
          <p:sp>
            <p:nvSpPr>
              <p:cNvPr id="4" name="Rectangle 3"/>
              <p:cNvSpPr/>
              <p:nvPr/>
            </p:nvSpPr>
            <p:spPr>
              <a:xfrm>
                <a:off x="2699792" y="3244333"/>
                <a:ext cx="3487301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800" i="1">
                          <a:latin typeface="Cambria Math"/>
                        </a:rPr>
                        <m:t>3</m:t>
                      </m:r>
                      <m:r>
                        <a:rPr lang="en-AU" sz="4800" i="1">
                          <a:latin typeface="Cambria Math"/>
                        </a:rPr>
                        <m:t>𝑥</m:t>
                      </m:r>
                      <m:r>
                        <a:rPr lang="en-AU" sz="4800" i="1">
                          <a:latin typeface="Cambria Math"/>
                        </a:rPr>
                        <m:t>−2</m:t>
                      </m:r>
                      <m:r>
                        <a:rPr lang="en-AU" sz="4800" i="1">
                          <a:latin typeface="Cambria Math"/>
                        </a:rPr>
                        <m:t>𝑦</m:t>
                      </m:r>
                      <m:r>
                        <a:rPr lang="en-AU" sz="4800" i="1">
                          <a:latin typeface="Cambria Math"/>
                        </a:rPr>
                        <m:t>+7</m:t>
                      </m:r>
                    </m:oMath>
                  </m:oMathPara>
                </a14:m>
                <a:endParaRPr lang="en-AU" sz="4800" dirty="0"/>
              </a:p>
            </p:txBody>
          </p:sp>
        </mc:Choice>
        <mc:Fallback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9792" y="3244333"/>
                <a:ext cx="3487301" cy="830997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Oval 1"/>
          <p:cNvSpPr/>
          <p:nvPr/>
        </p:nvSpPr>
        <p:spPr>
          <a:xfrm>
            <a:off x="2771800" y="3244333"/>
            <a:ext cx="864096" cy="830997"/>
          </a:xfrm>
          <a:prstGeom prst="ellipse">
            <a:avLst/>
          </a:prstGeom>
          <a:solidFill>
            <a:srgbClr val="FF0000">
              <a:alpha val="45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TextBox 5"/>
          <p:cNvSpPr txBox="1"/>
          <p:nvPr/>
        </p:nvSpPr>
        <p:spPr>
          <a:xfrm>
            <a:off x="3642008" y="2097722"/>
            <a:ext cx="12961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dirty="0" smtClean="0"/>
              <a:t>Term</a:t>
            </a:r>
            <a:endParaRPr lang="en-AU" sz="3600" dirty="0"/>
          </a:p>
        </p:txBody>
      </p:sp>
      <p:cxnSp>
        <p:nvCxnSpPr>
          <p:cNvPr id="8" name="Straight Connector 7"/>
          <p:cNvCxnSpPr/>
          <p:nvPr/>
        </p:nvCxnSpPr>
        <p:spPr>
          <a:xfrm flipH="1">
            <a:off x="3491880" y="2744053"/>
            <a:ext cx="360040" cy="500280"/>
          </a:xfrm>
          <a:prstGeom prst="line">
            <a:avLst/>
          </a:prstGeom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25951983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599" y="1196752"/>
            <a:ext cx="6400800" cy="576064"/>
          </a:xfrm>
          <a:solidFill>
            <a:schemeClr val="accent2">
              <a:lumMod val="75000"/>
            </a:schemeClr>
          </a:solidFill>
        </p:spPr>
        <p:txBody>
          <a:bodyPr>
            <a:normAutofit fontScale="85000" lnSpcReduction="10000"/>
          </a:bodyPr>
          <a:lstStyle/>
          <a:p>
            <a:r>
              <a:rPr lang="en-AU" dirty="0" smtClean="0">
                <a:solidFill>
                  <a:schemeClr val="accent1">
                    <a:lumMod val="20000"/>
                    <a:lumOff val="80000"/>
                  </a:schemeClr>
                </a:solidFill>
              </a:rPr>
              <a:t>Name parts of an Algebraic Expression</a:t>
            </a:r>
            <a:endParaRPr lang="en-AU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mc:AlternateContent>
        <mc:Choice xmlns:mc="http://schemas.openxmlformats.org/markup-compatibility/2006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Requires="a14">
          <p:sp>
            <p:nvSpPr>
              <p:cNvPr id="4" name="Rectangle 3"/>
              <p:cNvSpPr/>
              <p:nvPr/>
            </p:nvSpPr>
            <p:spPr>
              <a:xfrm>
                <a:off x="2699792" y="3244333"/>
                <a:ext cx="3487301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800" i="1">
                          <a:latin typeface="Cambria Math"/>
                        </a:rPr>
                        <m:t>3</m:t>
                      </m:r>
                      <m:r>
                        <a:rPr lang="en-AU" sz="4800" i="1">
                          <a:latin typeface="Cambria Math"/>
                        </a:rPr>
                        <m:t>𝑥</m:t>
                      </m:r>
                      <m:r>
                        <a:rPr lang="en-AU" sz="4800" i="1">
                          <a:latin typeface="Cambria Math"/>
                        </a:rPr>
                        <m:t>−2</m:t>
                      </m:r>
                      <m:r>
                        <a:rPr lang="en-AU" sz="4800" i="1">
                          <a:latin typeface="Cambria Math"/>
                        </a:rPr>
                        <m:t>𝑦</m:t>
                      </m:r>
                      <m:r>
                        <a:rPr lang="en-AU" sz="4800" i="1">
                          <a:latin typeface="Cambria Math"/>
                        </a:rPr>
                        <m:t>+7</m:t>
                      </m:r>
                    </m:oMath>
                  </m:oMathPara>
                </a14:m>
                <a:endParaRPr lang="en-AU" sz="4800" dirty="0"/>
              </a:p>
            </p:txBody>
          </p:sp>
        </mc:Choice>
        <mc:Fallback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9792" y="3244333"/>
                <a:ext cx="3487301" cy="830997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Oval 1"/>
          <p:cNvSpPr/>
          <p:nvPr/>
        </p:nvSpPr>
        <p:spPr>
          <a:xfrm>
            <a:off x="2771800" y="3244333"/>
            <a:ext cx="864096" cy="830997"/>
          </a:xfrm>
          <a:prstGeom prst="ellipse">
            <a:avLst/>
          </a:prstGeom>
          <a:solidFill>
            <a:srgbClr val="FF0000">
              <a:alpha val="45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TextBox 5"/>
          <p:cNvSpPr txBox="1"/>
          <p:nvPr/>
        </p:nvSpPr>
        <p:spPr>
          <a:xfrm>
            <a:off x="3642008" y="2097722"/>
            <a:ext cx="16919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dirty="0" smtClean="0"/>
              <a:t>Terms</a:t>
            </a:r>
            <a:endParaRPr lang="en-AU" sz="3600" dirty="0"/>
          </a:p>
        </p:txBody>
      </p:sp>
      <p:cxnSp>
        <p:nvCxnSpPr>
          <p:cNvPr id="8" name="Straight Connector 7"/>
          <p:cNvCxnSpPr/>
          <p:nvPr/>
        </p:nvCxnSpPr>
        <p:spPr>
          <a:xfrm flipH="1">
            <a:off x="3491880" y="2744053"/>
            <a:ext cx="360040" cy="500280"/>
          </a:xfrm>
          <a:prstGeom prst="line">
            <a:avLst/>
          </a:prstGeom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4147200" y="2708920"/>
            <a:ext cx="296243" cy="498538"/>
          </a:xfrm>
          <a:prstGeom prst="line">
            <a:avLst/>
          </a:prstGeom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4120168" y="3246075"/>
            <a:ext cx="864096" cy="830997"/>
          </a:xfrm>
          <a:prstGeom prst="ellipse">
            <a:avLst/>
          </a:prstGeom>
          <a:solidFill>
            <a:srgbClr val="FF0000">
              <a:alpha val="45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0" name="Straight Connector 9"/>
          <p:cNvCxnSpPr/>
          <p:nvPr/>
        </p:nvCxnSpPr>
        <p:spPr>
          <a:xfrm>
            <a:off x="4711864" y="2745795"/>
            <a:ext cx="940256" cy="498538"/>
          </a:xfrm>
          <a:prstGeom prst="line">
            <a:avLst/>
          </a:prstGeom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5451336" y="3243456"/>
            <a:ext cx="864096" cy="830997"/>
          </a:xfrm>
          <a:prstGeom prst="ellipse">
            <a:avLst/>
          </a:prstGeom>
          <a:solidFill>
            <a:srgbClr val="FF0000">
              <a:alpha val="45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12100825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599" y="1196752"/>
            <a:ext cx="6400800" cy="576064"/>
          </a:xfrm>
          <a:solidFill>
            <a:schemeClr val="accent2">
              <a:lumMod val="75000"/>
            </a:schemeClr>
          </a:solidFill>
        </p:spPr>
        <p:txBody>
          <a:bodyPr>
            <a:normAutofit fontScale="85000" lnSpcReduction="10000"/>
          </a:bodyPr>
          <a:lstStyle/>
          <a:p>
            <a:r>
              <a:rPr lang="en-AU" dirty="0" smtClean="0">
                <a:solidFill>
                  <a:schemeClr val="accent1">
                    <a:lumMod val="20000"/>
                    <a:lumOff val="80000"/>
                  </a:schemeClr>
                </a:solidFill>
              </a:rPr>
              <a:t>Name parts of an Algebraic Expression</a:t>
            </a:r>
            <a:endParaRPr lang="en-AU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mc:AlternateContent>
        <mc:Choice xmlns:mc="http://schemas.openxmlformats.org/markup-compatibility/2006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Requires="a14">
          <p:sp>
            <p:nvSpPr>
              <p:cNvPr id="4" name="Rectangle 3"/>
              <p:cNvSpPr/>
              <p:nvPr/>
            </p:nvSpPr>
            <p:spPr>
              <a:xfrm>
                <a:off x="2699792" y="3244333"/>
                <a:ext cx="3487301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800" i="1">
                          <a:latin typeface="Cambria Math"/>
                        </a:rPr>
                        <m:t>3</m:t>
                      </m:r>
                      <m:r>
                        <a:rPr lang="en-AU" sz="4800" i="1">
                          <a:latin typeface="Cambria Math"/>
                        </a:rPr>
                        <m:t>𝑥</m:t>
                      </m:r>
                      <m:r>
                        <a:rPr lang="en-AU" sz="4800" i="1">
                          <a:latin typeface="Cambria Math"/>
                        </a:rPr>
                        <m:t>−2</m:t>
                      </m:r>
                      <m:r>
                        <a:rPr lang="en-AU" sz="4800" i="1">
                          <a:latin typeface="Cambria Math"/>
                        </a:rPr>
                        <m:t>𝑦</m:t>
                      </m:r>
                      <m:r>
                        <a:rPr lang="en-AU" sz="4800" i="1">
                          <a:latin typeface="Cambria Math"/>
                        </a:rPr>
                        <m:t>+7</m:t>
                      </m:r>
                    </m:oMath>
                  </m:oMathPara>
                </a14:m>
                <a:endParaRPr lang="en-AU" sz="4800" dirty="0"/>
              </a:p>
            </p:txBody>
          </p:sp>
        </mc:Choice>
        <mc:Fallback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9792" y="3244333"/>
                <a:ext cx="3487301" cy="830997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3642008" y="2097722"/>
            <a:ext cx="55019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dirty="0" smtClean="0"/>
              <a:t>Variables or </a:t>
            </a:r>
            <a:r>
              <a:rPr lang="en-AU" sz="3600" dirty="0" err="1" smtClean="0"/>
              <a:t>Pronumerals</a:t>
            </a:r>
            <a:endParaRPr lang="en-AU" sz="3600" dirty="0"/>
          </a:p>
        </p:txBody>
      </p:sp>
      <p:sp>
        <p:nvSpPr>
          <p:cNvPr id="6" name="Oval 5"/>
          <p:cNvSpPr/>
          <p:nvPr/>
        </p:nvSpPr>
        <p:spPr>
          <a:xfrm>
            <a:off x="3162320" y="3372232"/>
            <a:ext cx="432048" cy="646330"/>
          </a:xfrm>
          <a:prstGeom prst="ellipse">
            <a:avLst/>
          </a:prstGeom>
          <a:solidFill>
            <a:srgbClr val="FFC000">
              <a:alpha val="45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Oval 6"/>
          <p:cNvSpPr/>
          <p:nvPr/>
        </p:nvSpPr>
        <p:spPr>
          <a:xfrm>
            <a:off x="4572000" y="3387472"/>
            <a:ext cx="432048" cy="646330"/>
          </a:xfrm>
          <a:prstGeom prst="ellipse">
            <a:avLst/>
          </a:prstGeom>
          <a:solidFill>
            <a:srgbClr val="FFC000">
              <a:alpha val="45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H="1">
            <a:off x="3491880" y="2744053"/>
            <a:ext cx="360040" cy="500280"/>
          </a:xfrm>
          <a:prstGeom prst="line">
            <a:avLst/>
          </a:prstGeom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4526280" y="2744053"/>
            <a:ext cx="120784" cy="500280"/>
          </a:xfrm>
          <a:prstGeom prst="line">
            <a:avLst/>
          </a:prstGeom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25951983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599" y="1196752"/>
            <a:ext cx="6400800" cy="576064"/>
          </a:xfrm>
          <a:solidFill>
            <a:schemeClr val="accent2">
              <a:lumMod val="75000"/>
            </a:schemeClr>
          </a:solidFill>
        </p:spPr>
        <p:txBody>
          <a:bodyPr>
            <a:normAutofit fontScale="85000" lnSpcReduction="10000"/>
          </a:bodyPr>
          <a:lstStyle/>
          <a:p>
            <a:r>
              <a:rPr lang="en-AU" dirty="0" smtClean="0">
                <a:solidFill>
                  <a:schemeClr val="accent1">
                    <a:lumMod val="20000"/>
                    <a:lumOff val="80000"/>
                  </a:schemeClr>
                </a:solidFill>
              </a:rPr>
              <a:t>Name parts of an Algebraic Expression</a:t>
            </a:r>
            <a:endParaRPr lang="en-AU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mc:AlternateContent>
        <mc:Choice xmlns:mc="http://schemas.openxmlformats.org/markup-compatibility/2006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Requires="a14">
          <p:sp>
            <p:nvSpPr>
              <p:cNvPr id="4" name="Rectangle 3"/>
              <p:cNvSpPr/>
              <p:nvPr/>
            </p:nvSpPr>
            <p:spPr>
              <a:xfrm>
                <a:off x="2699792" y="3244333"/>
                <a:ext cx="3487301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800" i="1">
                          <a:latin typeface="Cambria Math"/>
                        </a:rPr>
                        <m:t>3</m:t>
                      </m:r>
                      <m:r>
                        <a:rPr lang="en-AU" sz="4800" i="1">
                          <a:latin typeface="Cambria Math"/>
                        </a:rPr>
                        <m:t>𝑥</m:t>
                      </m:r>
                      <m:r>
                        <a:rPr lang="en-AU" sz="4800" i="1">
                          <a:latin typeface="Cambria Math"/>
                        </a:rPr>
                        <m:t>−2</m:t>
                      </m:r>
                      <m:r>
                        <a:rPr lang="en-AU" sz="4800" i="1">
                          <a:latin typeface="Cambria Math"/>
                        </a:rPr>
                        <m:t>𝑦</m:t>
                      </m:r>
                      <m:r>
                        <a:rPr lang="en-AU" sz="4800" i="1">
                          <a:latin typeface="Cambria Math"/>
                        </a:rPr>
                        <m:t>+7</m:t>
                      </m:r>
                    </m:oMath>
                  </m:oMathPara>
                </a14:m>
                <a:endParaRPr lang="en-AU" sz="4800" dirty="0"/>
              </a:p>
            </p:txBody>
          </p:sp>
        </mc:Choice>
        <mc:Fallback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9792" y="3244333"/>
                <a:ext cx="3487301" cy="830997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3200400" y="2097722"/>
            <a:ext cx="24517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dirty="0" smtClean="0"/>
              <a:t>Variables</a:t>
            </a:r>
            <a:endParaRPr lang="en-AU" sz="3600" dirty="0"/>
          </a:p>
        </p:txBody>
      </p:sp>
      <p:sp>
        <p:nvSpPr>
          <p:cNvPr id="6" name="Oval 5"/>
          <p:cNvSpPr/>
          <p:nvPr/>
        </p:nvSpPr>
        <p:spPr>
          <a:xfrm>
            <a:off x="3162320" y="3372232"/>
            <a:ext cx="432048" cy="646330"/>
          </a:xfrm>
          <a:prstGeom prst="ellipse">
            <a:avLst/>
          </a:prstGeom>
          <a:solidFill>
            <a:srgbClr val="FFC000">
              <a:alpha val="45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Oval 6"/>
          <p:cNvSpPr/>
          <p:nvPr/>
        </p:nvSpPr>
        <p:spPr>
          <a:xfrm>
            <a:off x="4572000" y="3387472"/>
            <a:ext cx="432048" cy="646330"/>
          </a:xfrm>
          <a:prstGeom prst="ellipse">
            <a:avLst/>
          </a:prstGeom>
          <a:solidFill>
            <a:srgbClr val="FFC000">
              <a:alpha val="45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H="1">
            <a:off x="3491880" y="2744053"/>
            <a:ext cx="360040" cy="500280"/>
          </a:xfrm>
          <a:prstGeom prst="line">
            <a:avLst/>
          </a:prstGeom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4526280" y="2744053"/>
            <a:ext cx="120784" cy="500280"/>
          </a:xfrm>
          <a:prstGeom prst="line">
            <a:avLst/>
          </a:prstGeom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1331640" y="4725144"/>
            <a:ext cx="69127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000" dirty="0" smtClean="0"/>
              <a:t>Variable = vary (the x and y values change or are variable)</a:t>
            </a:r>
            <a:endParaRPr lang="en-AU" sz="2000" dirty="0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42558202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599" y="1196752"/>
            <a:ext cx="6400800" cy="576064"/>
          </a:xfrm>
          <a:solidFill>
            <a:schemeClr val="accent2">
              <a:lumMod val="75000"/>
            </a:schemeClr>
          </a:solidFill>
        </p:spPr>
        <p:txBody>
          <a:bodyPr>
            <a:normAutofit fontScale="85000" lnSpcReduction="10000"/>
          </a:bodyPr>
          <a:lstStyle/>
          <a:p>
            <a:r>
              <a:rPr lang="en-AU" dirty="0" smtClean="0">
                <a:solidFill>
                  <a:schemeClr val="accent1">
                    <a:lumMod val="20000"/>
                    <a:lumOff val="80000"/>
                  </a:schemeClr>
                </a:solidFill>
              </a:rPr>
              <a:t>Name parts of an Algebraic Expression</a:t>
            </a:r>
            <a:endParaRPr lang="en-AU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mc:AlternateContent>
        <mc:Choice xmlns:mc="http://schemas.openxmlformats.org/markup-compatibility/2006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Requires="a14">
          <p:sp>
            <p:nvSpPr>
              <p:cNvPr id="4" name="Rectangle 3"/>
              <p:cNvSpPr/>
              <p:nvPr/>
            </p:nvSpPr>
            <p:spPr>
              <a:xfrm>
                <a:off x="2699792" y="3244333"/>
                <a:ext cx="3487301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800" i="1">
                          <a:latin typeface="Cambria Math"/>
                        </a:rPr>
                        <m:t>3</m:t>
                      </m:r>
                      <m:r>
                        <a:rPr lang="en-AU" sz="4800" i="1">
                          <a:latin typeface="Cambria Math"/>
                        </a:rPr>
                        <m:t>𝑥</m:t>
                      </m:r>
                      <m:r>
                        <a:rPr lang="en-AU" sz="4800" i="1">
                          <a:latin typeface="Cambria Math"/>
                        </a:rPr>
                        <m:t>−2</m:t>
                      </m:r>
                      <m:r>
                        <a:rPr lang="en-AU" sz="4800" i="1">
                          <a:latin typeface="Cambria Math"/>
                        </a:rPr>
                        <m:t>𝑦</m:t>
                      </m:r>
                      <m:r>
                        <a:rPr lang="en-AU" sz="4800" i="1">
                          <a:latin typeface="Cambria Math"/>
                        </a:rPr>
                        <m:t>+7</m:t>
                      </m:r>
                    </m:oMath>
                  </m:oMathPara>
                </a14:m>
                <a:endParaRPr lang="en-AU" sz="4800" dirty="0"/>
              </a:p>
            </p:txBody>
          </p:sp>
        </mc:Choice>
        <mc:Fallback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9792" y="3244333"/>
                <a:ext cx="3487301" cy="830997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3642008" y="2097722"/>
            <a:ext cx="20101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dirty="0" smtClean="0"/>
              <a:t>Constant</a:t>
            </a:r>
            <a:endParaRPr lang="en-AU" sz="3600" dirty="0"/>
          </a:p>
        </p:txBody>
      </p:sp>
      <p:cxnSp>
        <p:nvCxnSpPr>
          <p:cNvPr id="6" name="Straight Connector 5"/>
          <p:cNvCxnSpPr>
            <a:stCxn id="5" idx="2"/>
          </p:cNvCxnSpPr>
          <p:nvPr/>
        </p:nvCxnSpPr>
        <p:spPr>
          <a:xfrm>
            <a:off x="4647064" y="2744053"/>
            <a:ext cx="1005056" cy="500280"/>
          </a:xfrm>
          <a:prstGeom prst="line">
            <a:avLst/>
          </a:prstGeom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331640" y="4725144"/>
            <a:ext cx="69127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000" dirty="0" smtClean="0"/>
              <a:t>Constant doesn’t change at all – it remains constant!</a:t>
            </a:r>
            <a:endParaRPr lang="en-AU" sz="2000" dirty="0"/>
          </a:p>
        </p:txBody>
      </p:sp>
      <p:sp>
        <p:nvSpPr>
          <p:cNvPr id="9" name="Oval 8"/>
          <p:cNvSpPr/>
          <p:nvPr/>
        </p:nvSpPr>
        <p:spPr>
          <a:xfrm>
            <a:off x="5451336" y="3243456"/>
            <a:ext cx="864096" cy="830997"/>
          </a:xfrm>
          <a:prstGeom prst="ellipse">
            <a:avLst/>
          </a:prstGeom>
          <a:solidFill>
            <a:schemeClr val="accent3">
              <a:lumMod val="75000"/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25951983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599" y="1196752"/>
            <a:ext cx="6400800" cy="576064"/>
          </a:xfrm>
          <a:solidFill>
            <a:schemeClr val="accent2">
              <a:lumMod val="75000"/>
            </a:schemeClr>
          </a:solidFill>
        </p:spPr>
        <p:txBody>
          <a:bodyPr>
            <a:normAutofit fontScale="85000" lnSpcReduction="10000"/>
          </a:bodyPr>
          <a:lstStyle/>
          <a:p>
            <a:r>
              <a:rPr lang="en-AU" dirty="0" smtClean="0">
                <a:solidFill>
                  <a:schemeClr val="accent1">
                    <a:lumMod val="20000"/>
                    <a:lumOff val="80000"/>
                  </a:schemeClr>
                </a:solidFill>
              </a:rPr>
              <a:t>Name parts of an Algebraic Expression</a:t>
            </a:r>
            <a:endParaRPr lang="en-AU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mc:AlternateContent>
        <mc:Choice xmlns:mc="http://schemas.openxmlformats.org/markup-compatibility/2006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Requires="a14">
          <p:sp>
            <p:nvSpPr>
              <p:cNvPr id="4" name="Rectangle 3"/>
              <p:cNvSpPr/>
              <p:nvPr/>
            </p:nvSpPr>
            <p:spPr>
              <a:xfrm>
                <a:off x="2699792" y="3244333"/>
                <a:ext cx="3487301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800" i="1">
                          <a:latin typeface="Cambria Math"/>
                        </a:rPr>
                        <m:t>3</m:t>
                      </m:r>
                      <m:r>
                        <a:rPr lang="en-AU" sz="4800" i="1">
                          <a:latin typeface="Cambria Math"/>
                        </a:rPr>
                        <m:t>𝑥</m:t>
                      </m:r>
                      <m:r>
                        <a:rPr lang="en-AU" sz="4800" i="1">
                          <a:latin typeface="Cambria Math"/>
                        </a:rPr>
                        <m:t>−2</m:t>
                      </m:r>
                      <m:r>
                        <a:rPr lang="en-AU" sz="4800" i="1">
                          <a:latin typeface="Cambria Math"/>
                        </a:rPr>
                        <m:t>𝑦</m:t>
                      </m:r>
                      <m:r>
                        <a:rPr lang="en-AU" sz="4800" i="1">
                          <a:latin typeface="Cambria Math"/>
                        </a:rPr>
                        <m:t>+7</m:t>
                      </m:r>
                    </m:oMath>
                  </m:oMathPara>
                </a14:m>
                <a:endParaRPr lang="en-AU" sz="4800" dirty="0"/>
              </a:p>
            </p:txBody>
          </p:sp>
        </mc:Choice>
        <mc:Fallback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9792" y="3244333"/>
                <a:ext cx="3487301" cy="830997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3642008" y="2097722"/>
            <a:ext cx="20101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dirty="0" smtClean="0"/>
              <a:t>Constant</a:t>
            </a:r>
            <a:endParaRPr lang="en-AU" sz="3600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4647064" y="2636912"/>
            <a:ext cx="1005056" cy="607421"/>
          </a:xfrm>
          <a:prstGeom prst="line">
            <a:avLst/>
          </a:prstGeom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331640" y="4725144"/>
            <a:ext cx="69127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000" dirty="0" smtClean="0"/>
              <a:t>Constant doesn’t change at all – it remains constant!</a:t>
            </a:r>
            <a:endParaRPr lang="en-AU" sz="2000" dirty="0"/>
          </a:p>
        </p:txBody>
      </p:sp>
      <p:sp>
        <p:nvSpPr>
          <p:cNvPr id="9" name="Oval 8"/>
          <p:cNvSpPr/>
          <p:nvPr/>
        </p:nvSpPr>
        <p:spPr>
          <a:xfrm>
            <a:off x="5508104" y="3243456"/>
            <a:ext cx="864096" cy="830997"/>
          </a:xfrm>
          <a:prstGeom prst="ellipse">
            <a:avLst/>
          </a:prstGeom>
          <a:solidFill>
            <a:schemeClr val="accent3">
              <a:lumMod val="75000"/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extBox 1"/>
          <p:cNvSpPr txBox="1"/>
          <p:nvPr/>
        </p:nvSpPr>
        <p:spPr>
          <a:xfrm>
            <a:off x="6019800" y="1905000"/>
            <a:ext cx="2217008" cy="1200328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A value that doesn’t change!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20510080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599" y="1196752"/>
            <a:ext cx="6400800" cy="576064"/>
          </a:xfrm>
          <a:solidFill>
            <a:schemeClr val="accent2">
              <a:lumMod val="75000"/>
            </a:schemeClr>
          </a:solidFill>
        </p:spPr>
        <p:txBody>
          <a:bodyPr>
            <a:normAutofit fontScale="85000" lnSpcReduction="10000"/>
          </a:bodyPr>
          <a:lstStyle/>
          <a:p>
            <a:r>
              <a:rPr lang="en-AU" dirty="0" smtClean="0">
                <a:solidFill>
                  <a:schemeClr val="accent1">
                    <a:lumMod val="20000"/>
                    <a:lumOff val="80000"/>
                  </a:schemeClr>
                </a:solidFill>
              </a:rPr>
              <a:t>Name parts of an Algebraic Expression</a:t>
            </a:r>
            <a:endParaRPr lang="en-AU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mc:AlternateContent>
        <mc:Choice xmlns:mc="http://schemas.openxmlformats.org/markup-compatibility/2006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Requires="a14">
          <p:sp>
            <p:nvSpPr>
              <p:cNvPr id="4" name="Rectangle 3"/>
              <p:cNvSpPr/>
              <p:nvPr/>
            </p:nvSpPr>
            <p:spPr>
              <a:xfrm>
                <a:off x="2699792" y="3244333"/>
                <a:ext cx="3487301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800" i="1">
                          <a:latin typeface="Cambria Math"/>
                        </a:rPr>
                        <m:t>3</m:t>
                      </m:r>
                      <m:r>
                        <a:rPr lang="en-AU" sz="4800" i="1">
                          <a:latin typeface="Cambria Math"/>
                        </a:rPr>
                        <m:t>𝑥</m:t>
                      </m:r>
                      <m:r>
                        <a:rPr lang="en-AU" sz="4800" i="1">
                          <a:latin typeface="Cambria Math"/>
                        </a:rPr>
                        <m:t>−2</m:t>
                      </m:r>
                      <m:r>
                        <a:rPr lang="en-AU" sz="4800" i="1">
                          <a:latin typeface="Cambria Math"/>
                        </a:rPr>
                        <m:t>𝑦</m:t>
                      </m:r>
                      <m:r>
                        <a:rPr lang="en-AU" sz="4800" i="1">
                          <a:latin typeface="Cambria Math"/>
                        </a:rPr>
                        <m:t>+7</m:t>
                      </m:r>
                    </m:oMath>
                  </m:oMathPara>
                </a14:m>
                <a:endParaRPr lang="en-AU" sz="4800" dirty="0"/>
              </a:p>
            </p:txBody>
          </p:sp>
        </mc:Choice>
        <mc:Fallback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9792" y="3244333"/>
                <a:ext cx="3487301" cy="830997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3481616" y="2097722"/>
            <a:ext cx="23701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dirty="0" smtClean="0"/>
              <a:t>Coefficient</a:t>
            </a:r>
            <a:endParaRPr lang="en-AU" sz="3600" dirty="0"/>
          </a:p>
        </p:txBody>
      </p:sp>
      <p:cxnSp>
        <p:nvCxnSpPr>
          <p:cNvPr id="6" name="Straight Connector 5"/>
          <p:cNvCxnSpPr/>
          <p:nvPr/>
        </p:nvCxnSpPr>
        <p:spPr>
          <a:xfrm flipH="1">
            <a:off x="3234328" y="2743176"/>
            <a:ext cx="1121648" cy="613817"/>
          </a:xfrm>
          <a:prstGeom prst="line">
            <a:avLst/>
          </a:prstGeom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2745512" y="3413761"/>
            <a:ext cx="504056" cy="576063"/>
          </a:xfrm>
          <a:prstGeom prst="ellipse">
            <a:avLst/>
          </a:prstGeom>
          <a:solidFill>
            <a:srgbClr val="0070C0">
              <a:alpha val="45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18398073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599" y="1196752"/>
            <a:ext cx="6400800" cy="576064"/>
          </a:xfrm>
          <a:solidFill>
            <a:schemeClr val="accent2">
              <a:lumMod val="75000"/>
            </a:schemeClr>
          </a:solidFill>
        </p:spPr>
        <p:txBody>
          <a:bodyPr>
            <a:normAutofit fontScale="85000" lnSpcReduction="10000"/>
          </a:bodyPr>
          <a:lstStyle/>
          <a:p>
            <a:r>
              <a:rPr lang="en-AU" dirty="0" smtClean="0">
                <a:solidFill>
                  <a:schemeClr val="accent1">
                    <a:lumMod val="20000"/>
                    <a:lumOff val="80000"/>
                  </a:schemeClr>
                </a:solidFill>
              </a:rPr>
              <a:t>Name parts of an Algebraic Expression</a:t>
            </a:r>
            <a:endParaRPr lang="en-AU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mc:AlternateContent>
        <mc:Choice xmlns:mc="http://schemas.openxmlformats.org/markup-compatibility/2006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Requires="a14">
          <p:sp>
            <p:nvSpPr>
              <p:cNvPr id="4" name="Rectangle 3"/>
              <p:cNvSpPr/>
              <p:nvPr/>
            </p:nvSpPr>
            <p:spPr>
              <a:xfrm>
                <a:off x="2699792" y="3244333"/>
                <a:ext cx="3487301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800" i="1">
                          <a:latin typeface="Cambria Math"/>
                        </a:rPr>
                        <m:t>3</m:t>
                      </m:r>
                      <m:r>
                        <a:rPr lang="en-AU" sz="4800" i="1">
                          <a:latin typeface="Cambria Math"/>
                        </a:rPr>
                        <m:t>𝑥</m:t>
                      </m:r>
                      <m:r>
                        <a:rPr lang="en-AU" sz="4800" i="1">
                          <a:latin typeface="Cambria Math"/>
                        </a:rPr>
                        <m:t>−2</m:t>
                      </m:r>
                      <m:r>
                        <a:rPr lang="en-AU" sz="4800" i="1">
                          <a:latin typeface="Cambria Math"/>
                        </a:rPr>
                        <m:t>𝑦</m:t>
                      </m:r>
                      <m:r>
                        <a:rPr lang="en-AU" sz="4800" i="1">
                          <a:latin typeface="Cambria Math"/>
                        </a:rPr>
                        <m:t>+7</m:t>
                      </m:r>
                    </m:oMath>
                  </m:oMathPara>
                </a14:m>
                <a:endParaRPr lang="en-AU" sz="4800" dirty="0"/>
              </a:p>
            </p:txBody>
          </p:sp>
        </mc:Choice>
        <mc:Fallback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9792" y="3244333"/>
                <a:ext cx="3487301" cy="830997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3481616" y="2097722"/>
            <a:ext cx="26143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dirty="0" smtClean="0"/>
              <a:t>Coefficients</a:t>
            </a:r>
            <a:endParaRPr lang="en-AU" sz="3600" dirty="0"/>
          </a:p>
        </p:txBody>
      </p:sp>
      <p:cxnSp>
        <p:nvCxnSpPr>
          <p:cNvPr id="6" name="Straight Connector 5"/>
          <p:cNvCxnSpPr/>
          <p:nvPr/>
        </p:nvCxnSpPr>
        <p:spPr>
          <a:xfrm flipH="1">
            <a:off x="3234328" y="2743176"/>
            <a:ext cx="1121648" cy="613817"/>
          </a:xfrm>
          <a:prstGeom prst="line">
            <a:avLst/>
          </a:prstGeom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>
        <mc:Choice xmlns:mc="http://schemas.openxmlformats.org/markup-compatibility/2006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Requires="a14">
          <p:sp>
            <p:nvSpPr>
              <p:cNvPr id="8" name="TextBox 7"/>
              <p:cNvSpPr txBox="1"/>
              <p:nvPr/>
            </p:nvSpPr>
            <p:spPr>
              <a:xfrm>
                <a:off x="1331640" y="4725144"/>
                <a:ext cx="6624736" cy="527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2000" dirty="0" smtClean="0"/>
                  <a:t>Note: Coefficient could be a fraction too! e.g.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00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sz="2000" b="0" i="1" smtClean="0">
                            <a:latin typeface="Cambria Math"/>
                          </a:rPr>
                          <m:t>3</m:t>
                        </m:r>
                      </m:num>
                      <m:den>
                        <m:r>
                          <a:rPr lang="en-AU" sz="2000" b="0" i="1" smtClean="0">
                            <a:latin typeface="Cambria Math"/>
                          </a:rPr>
                          <m:t>5</m:t>
                        </m:r>
                      </m:den>
                    </m:f>
                    <m:r>
                      <a:rPr lang="en-AU" sz="2000" b="0" i="1" smtClean="0">
                        <a:latin typeface="Cambria Math"/>
                      </a:rPr>
                      <m:t> </m:t>
                    </m:r>
                    <m:r>
                      <a:rPr lang="en-AU" sz="2000" b="0" i="1" smtClean="0">
                        <a:latin typeface="Cambria Math"/>
                      </a:rPr>
                      <m:t>𝑥</m:t>
                    </m:r>
                  </m:oMath>
                </a14:m>
                <a:endParaRPr lang="en-AU" sz="2000" dirty="0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1640" y="4725144"/>
                <a:ext cx="6624736" cy="527580"/>
              </a:xfrm>
              <a:prstGeom prst="rect">
                <a:avLst/>
              </a:prstGeom>
              <a:blipFill rotWithShape="1">
                <a:blip r:embed="rId3"/>
                <a:stretch>
                  <a:fillRect b="-804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Oval 8"/>
          <p:cNvSpPr/>
          <p:nvPr/>
        </p:nvSpPr>
        <p:spPr>
          <a:xfrm>
            <a:off x="2745512" y="3413761"/>
            <a:ext cx="504056" cy="576063"/>
          </a:xfrm>
          <a:prstGeom prst="ellipse">
            <a:avLst/>
          </a:prstGeom>
          <a:solidFill>
            <a:srgbClr val="0070C0">
              <a:alpha val="45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0" name="Straight Connector 9"/>
          <p:cNvCxnSpPr/>
          <p:nvPr/>
        </p:nvCxnSpPr>
        <p:spPr>
          <a:xfrm flipH="1">
            <a:off x="4443442" y="2744053"/>
            <a:ext cx="64934" cy="612940"/>
          </a:xfrm>
          <a:prstGeom prst="line">
            <a:avLst/>
          </a:prstGeom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3707904" y="3356993"/>
            <a:ext cx="958788" cy="629775"/>
          </a:xfrm>
          <a:prstGeom prst="ellipse">
            <a:avLst/>
          </a:prstGeom>
          <a:solidFill>
            <a:srgbClr val="0070C0">
              <a:alpha val="45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Oval 11"/>
          <p:cNvSpPr/>
          <p:nvPr/>
        </p:nvSpPr>
        <p:spPr>
          <a:xfrm>
            <a:off x="6768244" y="4691901"/>
            <a:ext cx="252028" cy="576063"/>
          </a:xfrm>
          <a:prstGeom prst="ellipse">
            <a:avLst/>
          </a:prstGeom>
          <a:solidFill>
            <a:srgbClr val="0070C0">
              <a:alpha val="45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19498759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599" y="1196752"/>
            <a:ext cx="6400800" cy="576064"/>
          </a:xfrm>
          <a:solidFill>
            <a:schemeClr val="accent2">
              <a:lumMod val="75000"/>
            </a:schemeClr>
          </a:solidFill>
        </p:spPr>
        <p:txBody>
          <a:bodyPr>
            <a:normAutofit fontScale="85000" lnSpcReduction="10000"/>
          </a:bodyPr>
          <a:lstStyle/>
          <a:p>
            <a:r>
              <a:rPr lang="en-AU" dirty="0" smtClean="0">
                <a:solidFill>
                  <a:schemeClr val="accent1">
                    <a:lumMod val="20000"/>
                    <a:lumOff val="80000"/>
                  </a:schemeClr>
                </a:solidFill>
              </a:rPr>
              <a:t>Name parts of an Algebraic Expression</a:t>
            </a:r>
            <a:endParaRPr lang="en-AU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mc:AlternateContent>
        <mc:Choice xmlns:mc="http://schemas.openxmlformats.org/markup-compatibility/2006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Requires="a14">
          <p:sp>
            <p:nvSpPr>
              <p:cNvPr id="4" name="Rectangle 3"/>
              <p:cNvSpPr/>
              <p:nvPr/>
            </p:nvSpPr>
            <p:spPr>
              <a:xfrm>
                <a:off x="2699792" y="3244333"/>
                <a:ext cx="3487301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800" i="1">
                          <a:latin typeface="Cambria Math"/>
                        </a:rPr>
                        <m:t>3</m:t>
                      </m:r>
                      <m:r>
                        <a:rPr lang="en-AU" sz="4800" i="1">
                          <a:latin typeface="Cambria Math"/>
                        </a:rPr>
                        <m:t>𝑥</m:t>
                      </m:r>
                      <m:r>
                        <a:rPr lang="en-AU" sz="4800" i="1">
                          <a:latin typeface="Cambria Math"/>
                        </a:rPr>
                        <m:t>−2</m:t>
                      </m:r>
                      <m:r>
                        <a:rPr lang="en-AU" sz="4800" i="1">
                          <a:latin typeface="Cambria Math"/>
                        </a:rPr>
                        <m:t>𝑦</m:t>
                      </m:r>
                      <m:r>
                        <a:rPr lang="en-AU" sz="4800" i="1">
                          <a:latin typeface="Cambria Math"/>
                        </a:rPr>
                        <m:t>+7</m:t>
                      </m:r>
                    </m:oMath>
                  </m:oMathPara>
                </a14:m>
                <a:endParaRPr lang="en-AU" sz="4800" dirty="0"/>
              </a:p>
            </p:txBody>
          </p:sp>
        </mc:Choice>
        <mc:Fallback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9792" y="3244333"/>
                <a:ext cx="3487301" cy="830997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3446552" y="4797152"/>
            <a:ext cx="23701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dirty="0" smtClean="0"/>
              <a:t>operators</a:t>
            </a:r>
            <a:endParaRPr lang="en-AU" sz="3600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3923928" y="3961131"/>
            <a:ext cx="519514" cy="908029"/>
          </a:xfrm>
          <a:prstGeom prst="line">
            <a:avLst/>
          </a:prstGeom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H="1">
            <a:off x="4703636" y="3989824"/>
            <a:ext cx="588444" cy="864096"/>
          </a:xfrm>
          <a:prstGeom prst="line">
            <a:avLst/>
          </a:prstGeom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3635896" y="3398521"/>
            <a:ext cx="504056" cy="576063"/>
          </a:xfrm>
          <a:prstGeom prst="ellipse">
            <a:avLst/>
          </a:prstGeom>
          <a:solidFill>
            <a:schemeClr val="bg1">
              <a:lumMod val="65000"/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Oval 13"/>
          <p:cNvSpPr/>
          <p:nvPr/>
        </p:nvSpPr>
        <p:spPr>
          <a:xfrm>
            <a:off x="5040052" y="3407828"/>
            <a:ext cx="504056" cy="576063"/>
          </a:xfrm>
          <a:prstGeom prst="ellipse">
            <a:avLst/>
          </a:prstGeom>
          <a:solidFill>
            <a:schemeClr val="bg1">
              <a:lumMod val="65000"/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25951983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599" y="1196752"/>
            <a:ext cx="6400800" cy="576064"/>
          </a:xfrm>
          <a:solidFill>
            <a:schemeClr val="accent2">
              <a:lumMod val="75000"/>
            </a:schemeClr>
          </a:solidFill>
        </p:spPr>
        <p:txBody>
          <a:bodyPr>
            <a:normAutofit lnSpcReduction="10000"/>
          </a:bodyPr>
          <a:lstStyle/>
          <a:p>
            <a:r>
              <a:rPr lang="en-AU" dirty="0" smtClean="0">
                <a:solidFill>
                  <a:schemeClr val="accent1">
                    <a:lumMod val="20000"/>
                    <a:lumOff val="80000"/>
                  </a:schemeClr>
                </a:solidFill>
              </a:rPr>
              <a:t>A quick reminder that …</a:t>
            </a:r>
            <a:endParaRPr lang="en-AU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mc:AlternateContent>
        <mc:Choice xmlns:mc="http://schemas.openxmlformats.org/markup-compatibility/2006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Requires="a14">
          <p:sp>
            <p:nvSpPr>
              <p:cNvPr id="4" name="Rectangle 3"/>
              <p:cNvSpPr/>
              <p:nvPr/>
            </p:nvSpPr>
            <p:spPr>
              <a:xfrm>
                <a:off x="2699792" y="2564904"/>
                <a:ext cx="4059637" cy="304698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AU" sz="4800" b="0" i="0" smtClean="0">
                          <a:latin typeface="Cambria Math"/>
                        </a:rPr>
                        <m:t>Sum</m:t>
                      </m:r>
                      <m:r>
                        <m:rPr>
                          <m:nor/>
                        </m:rPr>
                        <a:rPr lang="en-AU" sz="4800" b="0" i="0" smtClean="0"/>
                        <m:t>           </m:t>
                      </m:r>
                      <m:r>
                        <m:rPr>
                          <m:nor/>
                        </m:rPr>
                        <a:rPr lang="en-AU" sz="4800" dirty="0"/>
                        <m:t>=</m:t>
                      </m:r>
                      <m:r>
                        <m:rPr>
                          <m:nor/>
                        </m:rPr>
                        <a:rPr lang="en-AU" sz="4800" b="0" i="0" dirty="0" smtClean="0"/>
                        <m:t> </m:t>
                      </m:r>
                      <m:r>
                        <a:rPr lang="en-AU" sz="4800" b="0" i="1" smtClean="0">
                          <a:latin typeface="Cambria Math"/>
                        </a:rPr>
                        <m:t>+</m:t>
                      </m:r>
                    </m:oMath>
                  </m:oMathPara>
                </a14:m>
                <a:endParaRPr lang="en-AU" sz="4800" b="0" dirty="0" smtClean="0"/>
              </a:p>
              <a:p>
                <a:r>
                  <a:rPr lang="en-AU" sz="4800" dirty="0" smtClean="0"/>
                  <a:t>Difference =  </a:t>
                </a:r>
                <a:r>
                  <a:rPr lang="en-AU" sz="4800" b="1" dirty="0" smtClean="0"/>
                  <a:t>-</a:t>
                </a:r>
              </a:p>
              <a:p>
                <a:r>
                  <a:rPr lang="en-AU" sz="4800" dirty="0" smtClean="0"/>
                  <a:t>Product     =  x</a:t>
                </a:r>
              </a:p>
              <a:p>
                <a:r>
                  <a:rPr lang="en-AU" sz="4800" dirty="0" smtClean="0"/>
                  <a:t>Quotient   =  ÷</a:t>
                </a:r>
                <a:endParaRPr lang="en-AU" sz="4800" dirty="0"/>
              </a:p>
            </p:txBody>
          </p:sp>
        </mc:Choice>
        <mc:Fallback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9792" y="2564904"/>
                <a:ext cx="4059637" cy="3046988"/>
              </a:xfrm>
              <a:prstGeom prst="rect">
                <a:avLst/>
              </a:prstGeom>
              <a:blipFill rotWithShape="1">
                <a:blip r:embed="rId2"/>
                <a:stretch>
                  <a:fillRect l="-6907" b="-98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19839213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599" y="1196752"/>
            <a:ext cx="6400800" cy="576064"/>
          </a:xfrm>
          <a:solidFill>
            <a:schemeClr val="accent2">
              <a:lumMod val="75000"/>
            </a:schemeClr>
          </a:solidFill>
        </p:spPr>
        <p:txBody>
          <a:bodyPr>
            <a:normAutofit lnSpcReduction="10000"/>
          </a:bodyPr>
          <a:lstStyle/>
          <a:p>
            <a:r>
              <a:rPr lang="en-AU" dirty="0" smtClean="0">
                <a:solidFill>
                  <a:schemeClr val="accent1">
                    <a:lumMod val="20000"/>
                    <a:lumOff val="80000"/>
                  </a:schemeClr>
                </a:solidFill>
              </a:rPr>
              <a:t>A quick reminder that …</a:t>
            </a:r>
            <a:endParaRPr lang="en-AU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mc:AlternateContent>
        <mc:Choice xmlns:mc="http://schemas.openxmlformats.org/markup-compatibility/2006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Requires="a14">
          <p:sp>
            <p:nvSpPr>
              <p:cNvPr id="4" name="Rectangle 3"/>
              <p:cNvSpPr/>
              <p:nvPr/>
            </p:nvSpPr>
            <p:spPr>
              <a:xfrm>
                <a:off x="2699792" y="2564904"/>
                <a:ext cx="4059637" cy="304698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AU" sz="4800" b="0" i="0" smtClean="0">
                          <a:latin typeface="Cambria Math"/>
                        </a:rPr>
                        <m:t>Sum</m:t>
                      </m:r>
                      <m:r>
                        <m:rPr>
                          <m:nor/>
                        </m:rPr>
                        <a:rPr lang="en-AU" sz="4800" b="0" i="0" smtClean="0"/>
                        <m:t>           </m:t>
                      </m:r>
                      <m:r>
                        <m:rPr>
                          <m:nor/>
                        </m:rPr>
                        <a:rPr lang="en-AU" sz="4800" dirty="0"/>
                        <m:t>=</m:t>
                      </m:r>
                      <m:r>
                        <m:rPr>
                          <m:nor/>
                        </m:rPr>
                        <a:rPr lang="en-AU" sz="4800" b="0" i="0" dirty="0" smtClean="0"/>
                        <m:t> </m:t>
                      </m:r>
                      <m:r>
                        <a:rPr lang="en-AU" sz="4800" b="0" i="1" smtClean="0">
                          <a:latin typeface="Cambria Math"/>
                        </a:rPr>
                        <m:t>+</m:t>
                      </m:r>
                    </m:oMath>
                  </m:oMathPara>
                </a14:m>
                <a:endParaRPr lang="en-AU" sz="4800" b="0" dirty="0" smtClean="0"/>
              </a:p>
              <a:p>
                <a:r>
                  <a:rPr lang="en-AU" sz="4800" dirty="0" smtClean="0"/>
                  <a:t>Difference =  </a:t>
                </a:r>
                <a:r>
                  <a:rPr lang="en-AU" sz="4800" b="1" dirty="0" smtClean="0"/>
                  <a:t>-</a:t>
                </a:r>
              </a:p>
              <a:p>
                <a:r>
                  <a:rPr lang="en-AU" sz="4800" dirty="0" smtClean="0"/>
                  <a:t>Product     =  x</a:t>
                </a:r>
              </a:p>
              <a:p>
                <a:r>
                  <a:rPr lang="en-AU" sz="4800" dirty="0" smtClean="0"/>
                  <a:t>Quotient   =  ÷</a:t>
                </a:r>
                <a:endParaRPr lang="en-AU" sz="4800" dirty="0"/>
              </a:p>
            </p:txBody>
          </p:sp>
        </mc:Choice>
        <mc:Fallback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9792" y="2564904"/>
                <a:ext cx="4059637" cy="3046988"/>
              </a:xfrm>
              <a:prstGeom prst="rect">
                <a:avLst/>
              </a:prstGeom>
              <a:blipFill rotWithShape="1">
                <a:blip r:embed="rId2"/>
                <a:stretch>
                  <a:fillRect l="-6907" b="-98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29235349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599" y="1196752"/>
            <a:ext cx="6400800" cy="576064"/>
          </a:xfrm>
          <a:solidFill>
            <a:schemeClr val="accent2">
              <a:lumMod val="75000"/>
            </a:schemeClr>
          </a:solidFill>
        </p:spPr>
        <p:txBody>
          <a:bodyPr>
            <a:normAutofit lnSpcReduction="10000"/>
          </a:bodyPr>
          <a:lstStyle/>
          <a:p>
            <a:r>
              <a:rPr lang="en-AU" dirty="0" smtClean="0">
                <a:solidFill>
                  <a:schemeClr val="accent1">
                    <a:lumMod val="20000"/>
                    <a:lumOff val="80000"/>
                  </a:schemeClr>
                </a:solidFill>
              </a:rPr>
              <a:t>Let’s check your knowledge…</a:t>
            </a:r>
            <a:endParaRPr lang="en-AU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066800" y="2204864"/>
            <a:ext cx="7249616" cy="353943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AU" sz="3200" b="1" dirty="0"/>
              <a:t>For the expression:    </a:t>
            </a:r>
            <a:r>
              <a:rPr lang="en-AU" sz="3200" b="1" dirty="0">
                <a:solidFill>
                  <a:srgbClr val="FF0000"/>
                </a:solidFill>
              </a:rPr>
              <a:t>7x + 3y – </a:t>
            </a:r>
            <a:r>
              <a:rPr lang="en-AU" sz="3200" b="1" dirty="0" smtClean="0">
                <a:solidFill>
                  <a:srgbClr val="FF0000"/>
                </a:solidFill>
              </a:rPr>
              <a:t>9</a:t>
            </a:r>
          </a:p>
          <a:p>
            <a:endParaRPr lang="en-AU" sz="3200" dirty="0"/>
          </a:p>
          <a:p>
            <a:r>
              <a:rPr lang="en-AU" sz="3200" b="1" dirty="0"/>
              <a:t>Name</a:t>
            </a:r>
            <a:r>
              <a:rPr lang="en-AU" sz="3200" b="1" dirty="0" smtClean="0"/>
              <a:t>:    1</a:t>
            </a:r>
            <a:r>
              <a:rPr lang="en-AU" sz="3200" b="1" dirty="0"/>
              <a:t>. a</a:t>
            </a:r>
            <a:r>
              <a:rPr lang="en-AU" sz="3200" b="1" dirty="0" smtClean="0"/>
              <a:t> </a:t>
            </a:r>
            <a:r>
              <a:rPr lang="en-AU" sz="3200" b="1" dirty="0">
                <a:solidFill>
                  <a:srgbClr val="0000FF"/>
                </a:solidFill>
              </a:rPr>
              <a:t>term</a:t>
            </a:r>
            <a:r>
              <a:rPr lang="en-AU" sz="3200" b="1" dirty="0"/>
              <a:t>	</a:t>
            </a:r>
            <a:r>
              <a:rPr lang="en-AU" sz="3200" b="1" dirty="0" smtClean="0"/>
              <a:t>	       ____</a:t>
            </a:r>
            <a:endParaRPr lang="en-AU" sz="3200" dirty="0"/>
          </a:p>
          <a:p>
            <a:r>
              <a:rPr lang="en-AU" sz="3200" b="1" dirty="0"/>
              <a:t>		2. the </a:t>
            </a:r>
            <a:r>
              <a:rPr lang="en-AU" sz="3200" b="1" dirty="0">
                <a:solidFill>
                  <a:srgbClr val="0000FF"/>
                </a:solidFill>
              </a:rPr>
              <a:t>constant</a:t>
            </a:r>
            <a:r>
              <a:rPr lang="en-AU" sz="3200" b="1" dirty="0" smtClean="0"/>
              <a:t>	____</a:t>
            </a:r>
            <a:endParaRPr lang="en-AU" sz="3200" dirty="0"/>
          </a:p>
          <a:p>
            <a:r>
              <a:rPr lang="en-AU" sz="3200" b="1" dirty="0"/>
              <a:t>		3. a </a:t>
            </a:r>
            <a:r>
              <a:rPr lang="en-AU" sz="3200" b="1" dirty="0">
                <a:solidFill>
                  <a:srgbClr val="0000FF"/>
                </a:solidFill>
              </a:rPr>
              <a:t>coefficient</a:t>
            </a:r>
            <a:r>
              <a:rPr lang="en-AU" sz="3200" b="1" dirty="0"/>
              <a:t>	____</a:t>
            </a:r>
            <a:endParaRPr lang="en-AU" sz="3200" dirty="0"/>
          </a:p>
          <a:p>
            <a:r>
              <a:rPr lang="en-AU" sz="3200" b="1" dirty="0"/>
              <a:t>		4. a </a:t>
            </a:r>
            <a:r>
              <a:rPr lang="en-AU" sz="3200" b="1" dirty="0">
                <a:solidFill>
                  <a:srgbClr val="0000FF"/>
                </a:solidFill>
              </a:rPr>
              <a:t>variable</a:t>
            </a:r>
            <a:r>
              <a:rPr lang="en-AU" sz="3200" b="1" dirty="0" smtClean="0"/>
              <a:t>		____</a:t>
            </a:r>
            <a:endParaRPr lang="en-AU" sz="3200" dirty="0"/>
          </a:p>
          <a:p>
            <a:r>
              <a:rPr lang="en-AU" sz="3200" b="1" dirty="0"/>
              <a:t>		5. an </a:t>
            </a:r>
            <a:r>
              <a:rPr lang="en-AU" sz="3200" b="1" dirty="0">
                <a:solidFill>
                  <a:srgbClr val="0000FF"/>
                </a:solidFill>
              </a:rPr>
              <a:t>operator</a:t>
            </a:r>
            <a:r>
              <a:rPr lang="en-AU" sz="3200" b="1" dirty="0"/>
              <a:t>	____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25437447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599" y="1196752"/>
            <a:ext cx="6400800" cy="576064"/>
          </a:xfrm>
          <a:solidFill>
            <a:schemeClr val="accent2">
              <a:lumMod val="75000"/>
            </a:schemeClr>
          </a:solidFill>
        </p:spPr>
        <p:txBody>
          <a:bodyPr>
            <a:normAutofit lnSpcReduction="10000"/>
          </a:bodyPr>
          <a:lstStyle/>
          <a:p>
            <a:r>
              <a:rPr lang="en-AU" dirty="0" smtClean="0">
                <a:solidFill>
                  <a:schemeClr val="accent1">
                    <a:lumMod val="20000"/>
                    <a:lumOff val="80000"/>
                  </a:schemeClr>
                </a:solidFill>
              </a:rPr>
              <a:t>Let’s check your knowledge…</a:t>
            </a:r>
            <a:endParaRPr lang="en-AU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52400" y="2204864"/>
            <a:ext cx="8915400" cy="4062651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AU" sz="2400" b="1" dirty="0"/>
              <a:t>6. What is the </a:t>
            </a:r>
            <a:r>
              <a:rPr lang="en-AU" sz="2400" b="1" dirty="0">
                <a:solidFill>
                  <a:srgbClr val="0000FF"/>
                </a:solidFill>
              </a:rPr>
              <a:t>sum</a:t>
            </a:r>
            <a:r>
              <a:rPr lang="en-AU" sz="2400" b="1" dirty="0"/>
              <a:t> of 9 and 2</a:t>
            </a:r>
            <a:r>
              <a:rPr lang="en-AU" sz="2400" b="1" dirty="0" smtClean="0"/>
              <a:t>?	 ____</a:t>
            </a:r>
            <a:br>
              <a:rPr lang="en-AU" sz="2400" b="1" dirty="0" smtClean="0"/>
            </a:br>
            <a:endParaRPr lang="en-AU" sz="2400" dirty="0"/>
          </a:p>
          <a:p>
            <a:r>
              <a:rPr lang="en-AU" sz="2400" b="1" dirty="0"/>
              <a:t>7. What is the </a:t>
            </a:r>
            <a:r>
              <a:rPr lang="en-AU" sz="2400" b="1" dirty="0">
                <a:solidFill>
                  <a:srgbClr val="0000FF"/>
                </a:solidFill>
              </a:rPr>
              <a:t>product</a:t>
            </a:r>
            <a:r>
              <a:rPr lang="en-AU" sz="2400" b="1" dirty="0"/>
              <a:t> of 11 and 5</a:t>
            </a:r>
            <a:r>
              <a:rPr lang="en-AU" sz="2400" b="1" dirty="0" smtClean="0"/>
              <a:t>?	 ____</a:t>
            </a:r>
            <a:br>
              <a:rPr lang="en-AU" sz="2400" b="1" dirty="0" smtClean="0"/>
            </a:br>
            <a:endParaRPr lang="en-AU" sz="2400" dirty="0"/>
          </a:p>
          <a:p>
            <a:r>
              <a:rPr lang="en-AU" sz="2400" b="1" dirty="0"/>
              <a:t>8. What is the </a:t>
            </a:r>
            <a:r>
              <a:rPr lang="en-AU" sz="2400" b="1" dirty="0">
                <a:solidFill>
                  <a:srgbClr val="0000FF"/>
                </a:solidFill>
              </a:rPr>
              <a:t>difference</a:t>
            </a:r>
            <a:r>
              <a:rPr lang="en-AU" sz="2400" b="1" dirty="0"/>
              <a:t> of 8 and 3</a:t>
            </a:r>
            <a:r>
              <a:rPr lang="en-AU" sz="2400" b="1" dirty="0" smtClean="0"/>
              <a:t>?	</a:t>
            </a:r>
            <a:r>
              <a:rPr lang="en-AU" sz="2400" b="1" dirty="0"/>
              <a:t> ____</a:t>
            </a:r>
            <a:r>
              <a:rPr lang="en-AU" sz="2400" b="1" dirty="0" smtClean="0"/>
              <a:t/>
            </a:r>
            <a:br>
              <a:rPr lang="en-AU" sz="2400" b="1" dirty="0" smtClean="0"/>
            </a:br>
            <a:endParaRPr lang="en-AU" sz="2400" dirty="0"/>
          </a:p>
          <a:p>
            <a:r>
              <a:rPr lang="en-AU" sz="2400" b="1" dirty="0"/>
              <a:t>9. What is the </a:t>
            </a:r>
            <a:r>
              <a:rPr lang="en-AU" sz="2400" b="1" dirty="0">
                <a:solidFill>
                  <a:srgbClr val="0000FF"/>
                </a:solidFill>
              </a:rPr>
              <a:t>quotient </a:t>
            </a:r>
            <a:r>
              <a:rPr lang="en-AU" sz="2400" b="1" dirty="0"/>
              <a:t>of 12 and 4</a:t>
            </a:r>
            <a:r>
              <a:rPr lang="en-AU" sz="2400" b="1" dirty="0" smtClean="0"/>
              <a:t>?	</a:t>
            </a:r>
            <a:r>
              <a:rPr lang="en-AU" sz="2400" b="1" dirty="0"/>
              <a:t> ____</a:t>
            </a:r>
            <a:r>
              <a:rPr lang="en-AU" sz="2400" b="1" dirty="0" smtClean="0"/>
              <a:t/>
            </a:r>
            <a:br>
              <a:rPr lang="en-AU" sz="2400" b="1" dirty="0" smtClean="0"/>
            </a:br>
            <a:endParaRPr lang="en-AU" sz="2400" dirty="0"/>
          </a:p>
          <a:p>
            <a:r>
              <a:rPr lang="en-AU" sz="2400" b="1" dirty="0"/>
              <a:t>10. How many </a:t>
            </a:r>
            <a:r>
              <a:rPr lang="en-AU" sz="2400" b="1" dirty="0">
                <a:solidFill>
                  <a:srgbClr val="0000FF"/>
                </a:solidFill>
              </a:rPr>
              <a:t>terms</a:t>
            </a:r>
            <a:r>
              <a:rPr lang="en-AU" sz="2400" b="1" dirty="0"/>
              <a:t> are in the expression: 125x – 17y + 80</a:t>
            </a:r>
            <a:r>
              <a:rPr lang="en-AU" sz="2400" b="1" dirty="0" smtClean="0"/>
              <a:t>?</a:t>
            </a:r>
            <a:r>
              <a:rPr lang="en-AU" sz="2400" b="1" dirty="0" smtClean="0"/>
              <a:t> 									___</a:t>
            </a:r>
            <a:endParaRPr lang="en-AU" dirty="0" smtClean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8024067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599" y="1196752"/>
            <a:ext cx="6400800" cy="576064"/>
          </a:xfrm>
          <a:solidFill>
            <a:schemeClr val="accent2">
              <a:lumMod val="75000"/>
            </a:schemeClr>
          </a:solidFill>
        </p:spPr>
        <p:txBody>
          <a:bodyPr>
            <a:normAutofit fontScale="85000" lnSpcReduction="10000"/>
          </a:bodyPr>
          <a:lstStyle/>
          <a:p>
            <a:r>
              <a:rPr lang="en-AU" dirty="0" smtClean="0">
                <a:solidFill>
                  <a:schemeClr val="accent1">
                    <a:lumMod val="20000"/>
                    <a:lumOff val="80000"/>
                  </a:schemeClr>
                </a:solidFill>
              </a:rPr>
              <a:t>Let’s check your knowledge…Answers</a:t>
            </a:r>
            <a:endParaRPr lang="en-AU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187624" y="2204864"/>
            <a:ext cx="7128792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/>
              <a:t>For the expression:    </a:t>
            </a:r>
            <a:r>
              <a:rPr lang="en-AU" sz="3200" b="1" dirty="0">
                <a:solidFill>
                  <a:srgbClr val="FF0000"/>
                </a:solidFill>
              </a:rPr>
              <a:t>7</a:t>
            </a:r>
            <a:r>
              <a:rPr lang="en-AU" sz="3200" b="1" i="1" dirty="0">
                <a:solidFill>
                  <a:srgbClr val="FF0000"/>
                </a:solidFill>
              </a:rPr>
              <a:t>x</a:t>
            </a:r>
            <a:r>
              <a:rPr lang="en-AU" sz="3200" b="1" dirty="0">
                <a:solidFill>
                  <a:srgbClr val="FF0000"/>
                </a:solidFill>
              </a:rPr>
              <a:t> + 3</a:t>
            </a:r>
            <a:r>
              <a:rPr lang="en-AU" sz="3200" b="1" i="1" dirty="0">
                <a:solidFill>
                  <a:srgbClr val="FF0000"/>
                </a:solidFill>
              </a:rPr>
              <a:t>y</a:t>
            </a:r>
            <a:r>
              <a:rPr lang="en-AU" sz="3200" b="1" dirty="0">
                <a:solidFill>
                  <a:srgbClr val="FF0000"/>
                </a:solidFill>
              </a:rPr>
              <a:t> – </a:t>
            </a:r>
            <a:r>
              <a:rPr lang="en-AU" sz="3200" b="1" dirty="0" smtClean="0">
                <a:solidFill>
                  <a:srgbClr val="FF0000"/>
                </a:solidFill>
              </a:rPr>
              <a:t>9</a:t>
            </a:r>
          </a:p>
          <a:p>
            <a:endParaRPr lang="en-AU" sz="3200" dirty="0"/>
          </a:p>
          <a:p>
            <a:r>
              <a:rPr lang="en-AU" sz="3200" b="1" dirty="0"/>
              <a:t>Name</a:t>
            </a:r>
            <a:r>
              <a:rPr lang="en-AU" sz="3200" b="1" dirty="0" smtClean="0"/>
              <a:t>:    1</a:t>
            </a:r>
            <a:r>
              <a:rPr lang="en-AU" sz="3200" b="1" dirty="0"/>
              <a:t>. a</a:t>
            </a:r>
            <a:r>
              <a:rPr lang="en-AU" sz="3200" b="1" dirty="0" smtClean="0"/>
              <a:t> </a:t>
            </a:r>
            <a:r>
              <a:rPr lang="en-AU" sz="3200" b="1" dirty="0">
                <a:solidFill>
                  <a:srgbClr val="0000FF"/>
                </a:solidFill>
              </a:rPr>
              <a:t>term</a:t>
            </a:r>
            <a:r>
              <a:rPr lang="en-AU" sz="3200" b="1" dirty="0" smtClean="0"/>
              <a:t>	     </a:t>
            </a:r>
            <a:r>
              <a:rPr lang="en-AU" sz="3200" b="1" dirty="0" smtClean="0">
                <a:solidFill>
                  <a:srgbClr val="FF0000"/>
                </a:solidFill>
              </a:rPr>
              <a:t>7</a:t>
            </a:r>
            <a:r>
              <a:rPr lang="en-AU" sz="3200" b="1" i="1" dirty="0" smtClean="0">
                <a:solidFill>
                  <a:srgbClr val="FF0000"/>
                </a:solidFill>
              </a:rPr>
              <a:t>x</a:t>
            </a:r>
            <a:r>
              <a:rPr lang="en-AU" sz="3200" b="1" dirty="0" smtClean="0"/>
              <a:t> </a:t>
            </a:r>
            <a:r>
              <a:rPr lang="en-AU" sz="3200" b="1" dirty="0" smtClean="0"/>
              <a:t>or </a:t>
            </a:r>
            <a:r>
              <a:rPr lang="en-AU" sz="3200" b="1" dirty="0" smtClean="0">
                <a:solidFill>
                  <a:srgbClr val="FF0000"/>
                </a:solidFill>
              </a:rPr>
              <a:t>3</a:t>
            </a:r>
            <a:r>
              <a:rPr lang="en-AU" sz="3200" b="1" i="1" dirty="0" smtClean="0">
                <a:solidFill>
                  <a:srgbClr val="FF0000"/>
                </a:solidFill>
              </a:rPr>
              <a:t>y</a:t>
            </a:r>
            <a:r>
              <a:rPr lang="en-AU" sz="3200" b="1" dirty="0" smtClean="0"/>
              <a:t> or </a:t>
            </a:r>
            <a:r>
              <a:rPr lang="en-AU" sz="3200" b="1" dirty="0" smtClean="0">
                <a:solidFill>
                  <a:srgbClr val="FF0000"/>
                </a:solidFill>
              </a:rPr>
              <a:t>-9</a:t>
            </a:r>
            <a:endParaRPr lang="en-AU" sz="3200" dirty="0">
              <a:solidFill>
                <a:srgbClr val="FF0000"/>
              </a:solidFill>
            </a:endParaRPr>
          </a:p>
          <a:p>
            <a:r>
              <a:rPr lang="en-AU" sz="3200" b="1" dirty="0"/>
              <a:t>		2. the </a:t>
            </a:r>
            <a:r>
              <a:rPr lang="en-AU" sz="3200" b="1" dirty="0">
                <a:solidFill>
                  <a:srgbClr val="0000FF"/>
                </a:solidFill>
              </a:rPr>
              <a:t>constant</a:t>
            </a:r>
            <a:r>
              <a:rPr lang="en-AU" sz="3200" b="1" dirty="0"/>
              <a:t>	</a:t>
            </a:r>
            <a:r>
              <a:rPr lang="en-AU" sz="3200" b="1" dirty="0" smtClean="0">
                <a:solidFill>
                  <a:srgbClr val="FF0000"/>
                </a:solidFill>
              </a:rPr>
              <a:t>-9</a:t>
            </a:r>
          </a:p>
          <a:p>
            <a:r>
              <a:rPr lang="en-AU" sz="3200" b="1" dirty="0"/>
              <a:t>		3. a </a:t>
            </a:r>
            <a:r>
              <a:rPr lang="en-AU" sz="3200" b="1" dirty="0">
                <a:solidFill>
                  <a:srgbClr val="0000FF"/>
                </a:solidFill>
              </a:rPr>
              <a:t>coefficient</a:t>
            </a:r>
            <a:r>
              <a:rPr lang="en-AU" sz="3200" b="1" dirty="0"/>
              <a:t>	</a:t>
            </a:r>
            <a:r>
              <a:rPr lang="en-AU" sz="3200" b="1" dirty="0" smtClean="0">
                <a:solidFill>
                  <a:srgbClr val="FF0000"/>
                </a:solidFill>
              </a:rPr>
              <a:t>7</a:t>
            </a:r>
            <a:r>
              <a:rPr lang="en-AU" sz="3200" b="1" dirty="0" smtClean="0"/>
              <a:t> or </a:t>
            </a:r>
            <a:r>
              <a:rPr lang="en-AU" sz="3200" b="1" dirty="0" smtClean="0">
                <a:solidFill>
                  <a:srgbClr val="FF0000"/>
                </a:solidFill>
              </a:rPr>
              <a:t>3</a:t>
            </a:r>
            <a:endParaRPr lang="en-AU" sz="3200" dirty="0">
              <a:solidFill>
                <a:srgbClr val="FF0000"/>
              </a:solidFill>
            </a:endParaRPr>
          </a:p>
          <a:p>
            <a:r>
              <a:rPr lang="en-AU" sz="3200" b="1" dirty="0"/>
              <a:t>		4. a </a:t>
            </a:r>
            <a:r>
              <a:rPr lang="en-AU" sz="3200" b="1" dirty="0">
                <a:solidFill>
                  <a:srgbClr val="0000FF"/>
                </a:solidFill>
              </a:rPr>
              <a:t>variable</a:t>
            </a:r>
            <a:r>
              <a:rPr lang="en-AU" sz="3200" b="1" dirty="0" smtClean="0"/>
              <a:t>		</a:t>
            </a:r>
            <a:r>
              <a:rPr lang="en-AU" sz="3200" b="1" i="1" dirty="0" err="1" smtClean="0">
                <a:solidFill>
                  <a:srgbClr val="FF0000"/>
                </a:solidFill>
              </a:rPr>
              <a:t>x</a:t>
            </a:r>
            <a:r>
              <a:rPr lang="en-AU" sz="3200" b="1" dirty="0" smtClean="0"/>
              <a:t> </a:t>
            </a:r>
            <a:r>
              <a:rPr lang="en-AU" sz="3200" b="1" dirty="0" smtClean="0"/>
              <a:t>or </a:t>
            </a:r>
            <a:r>
              <a:rPr lang="en-AU" sz="3200" b="1" i="1" dirty="0" smtClean="0">
                <a:solidFill>
                  <a:srgbClr val="FF0000"/>
                </a:solidFill>
              </a:rPr>
              <a:t>y</a:t>
            </a:r>
            <a:endParaRPr lang="en-AU" sz="3200" i="1" dirty="0">
              <a:solidFill>
                <a:srgbClr val="FF0000"/>
              </a:solidFill>
            </a:endParaRPr>
          </a:p>
          <a:p>
            <a:r>
              <a:rPr lang="en-AU" sz="3200" b="1" dirty="0"/>
              <a:t>		5. an </a:t>
            </a:r>
            <a:r>
              <a:rPr lang="en-AU" sz="3200" b="1" dirty="0">
                <a:solidFill>
                  <a:srgbClr val="0000FF"/>
                </a:solidFill>
              </a:rPr>
              <a:t>operator</a:t>
            </a:r>
            <a:r>
              <a:rPr lang="en-AU" sz="3200" b="1" dirty="0"/>
              <a:t>	</a:t>
            </a:r>
            <a:r>
              <a:rPr lang="en-AU" sz="3200" b="1" dirty="0" smtClean="0">
                <a:solidFill>
                  <a:srgbClr val="FF0000"/>
                </a:solidFill>
              </a:rPr>
              <a:t>+</a:t>
            </a:r>
            <a:r>
              <a:rPr lang="en-AU" sz="3200" b="1" dirty="0" smtClean="0"/>
              <a:t> or </a:t>
            </a:r>
            <a:r>
              <a:rPr lang="en-AU" sz="3200" b="1" dirty="0" smtClean="0">
                <a:solidFill>
                  <a:srgbClr val="FF0000"/>
                </a:solidFill>
              </a:rPr>
              <a:t>-</a:t>
            </a:r>
            <a:endParaRPr lang="en-AU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10705505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599" y="1196752"/>
            <a:ext cx="6400800" cy="576064"/>
          </a:xfrm>
          <a:solidFill>
            <a:schemeClr val="accent2">
              <a:lumMod val="75000"/>
            </a:schemeClr>
          </a:solidFill>
        </p:spPr>
        <p:txBody>
          <a:bodyPr>
            <a:normAutofit lnSpcReduction="10000"/>
          </a:bodyPr>
          <a:lstStyle/>
          <a:p>
            <a:r>
              <a:rPr lang="en-AU" dirty="0" smtClean="0">
                <a:solidFill>
                  <a:schemeClr val="accent1">
                    <a:lumMod val="20000"/>
                    <a:lumOff val="80000"/>
                  </a:schemeClr>
                </a:solidFill>
              </a:rPr>
              <a:t>Let’s check your knowledge…</a:t>
            </a:r>
            <a:endParaRPr lang="en-AU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0" y="2204864"/>
            <a:ext cx="9067800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6. What is the </a:t>
            </a:r>
            <a:r>
              <a:rPr lang="en-AU" sz="2400" b="1" dirty="0">
                <a:solidFill>
                  <a:srgbClr val="0000FF"/>
                </a:solidFill>
              </a:rPr>
              <a:t>sum</a:t>
            </a:r>
            <a:r>
              <a:rPr lang="en-AU" sz="2400" b="1" dirty="0"/>
              <a:t> of 9 and 2</a:t>
            </a:r>
            <a:r>
              <a:rPr lang="en-AU" sz="2400" b="1" dirty="0" smtClean="0"/>
              <a:t>?	 </a:t>
            </a:r>
            <a:r>
              <a:rPr lang="en-AU" sz="2400" b="1" dirty="0" smtClean="0">
                <a:solidFill>
                  <a:srgbClr val="0000FF"/>
                </a:solidFill>
              </a:rPr>
              <a:t>sum</a:t>
            </a:r>
            <a:r>
              <a:rPr lang="en-AU" sz="2400" b="1" dirty="0" smtClean="0"/>
              <a:t> = +   9+2 = </a:t>
            </a:r>
            <a:r>
              <a:rPr lang="en-AU" sz="2400" b="1" dirty="0" smtClean="0">
                <a:solidFill>
                  <a:srgbClr val="FF0000"/>
                </a:solidFill>
              </a:rPr>
              <a:t>11</a:t>
            </a:r>
            <a:r>
              <a:rPr lang="en-AU" sz="2400" b="1" dirty="0" smtClean="0"/>
              <a:t/>
            </a:r>
            <a:br>
              <a:rPr lang="en-AU" sz="2400" b="1" dirty="0" smtClean="0"/>
            </a:br>
            <a:endParaRPr lang="en-AU" sz="2400" dirty="0"/>
          </a:p>
          <a:p>
            <a:r>
              <a:rPr lang="en-AU" sz="2400" b="1" dirty="0"/>
              <a:t>7. What is the </a:t>
            </a:r>
            <a:r>
              <a:rPr lang="en-AU" sz="2400" b="1" dirty="0">
                <a:solidFill>
                  <a:srgbClr val="0000FF"/>
                </a:solidFill>
              </a:rPr>
              <a:t>product</a:t>
            </a:r>
            <a:r>
              <a:rPr lang="en-AU" sz="2400" b="1" dirty="0"/>
              <a:t> of 11 and 5</a:t>
            </a:r>
            <a:r>
              <a:rPr lang="en-AU" sz="2400" b="1" dirty="0" smtClean="0"/>
              <a:t>?</a:t>
            </a:r>
            <a:r>
              <a:rPr lang="en-AU" sz="2400" b="1" dirty="0" smtClean="0"/>
              <a:t> </a:t>
            </a:r>
            <a:r>
              <a:rPr lang="en-AU" sz="2400" b="1" dirty="0" smtClean="0">
                <a:solidFill>
                  <a:srgbClr val="0000FF"/>
                </a:solidFill>
              </a:rPr>
              <a:t>product</a:t>
            </a:r>
            <a:r>
              <a:rPr lang="en-AU" sz="2400" b="1" dirty="0" smtClean="0"/>
              <a:t> </a:t>
            </a:r>
            <a:r>
              <a:rPr lang="en-AU" sz="2400" b="1" dirty="0" smtClean="0"/>
              <a:t>= </a:t>
            </a:r>
            <a:r>
              <a:rPr lang="en-AU" sz="2400" b="1" dirty="0" err="1" smtClean="0"/>
              <a:t>x</a:t>
            </a:r>
            <a:r>
              <a:rPr lang="en-AU" sz="2400" b="1" dirty="0" smtClean="0"/>
              <a:t>  11 </a:t>
            </a:r>
            <a:r>
              <a:rPr lang="en-AU" sz="2400" b="1" dirty="0" smtClean="0"/>
              <a:t>x 5 = </a:t>
            </a:r>
            <a:r>
              <a:rPr lang="en-AU" sz="2400" b="1" dirty="0" smtClean="0">
                <a:solidFill>
                  <a:srgbClr val="FF0000"/>
                </a:solidFill>
              </a:rPr>
              <a:t>55</a:t>
            </a:r>
            <a:r>
              <a:rPr lang="en-AU" sz="2400" b="1" dirty="0" smtClean="0"/>
              <a:t/>
            </a:r>
            <a:br>
              <a:rPr lang="en-AU" sz="2400" b="1" dirty="0" smtClean="0"/>
            </a:br>
            <a:endParaRPr lang="en-AU" sz="2400" dirty="0"/>
          </a:p>
          <a:p>
            <a:r>
              <a:rPr lang="en-AU" sz="2400" b="1" dirty="0"/>
              <a:t>8. What is the </a:t>
            </a:r>
            <a:r>
              <a:rPr lang="en-AU" sz="2400" b="1" dirty="0">
                <a:solidFill>
                  <a:srgbClr val="0000FF"/>
                </a:solidFill>
              </a:rPr>
              <a:t>difference</a:t>
            </a:r>
            <a:r>
              <a:rPr lang="en-AU" sz="2400" b="1" dirty="0"/>
              <a:t> of 8 and 3</a:t>
            </a:r>
            <a:r>
              <a:rPr lang="en-AU" sz="2400" b="1" dirty="0" smtClean="0"/>
              <a:t>?</a:t>
            </a:r>
            <a:r>
              <a:rPr lang="en-AU" sz="2400" b="1" dirty="0" smtClean="0"/>
              <a:t> </a:t>
            </a:r>
            <a:r>
              <a:rPr lang="en-AU" sz="2400" b="1" dirty="0" smtClean="0">
                <a:solidFill>
                  <a:srgbClr val="0000FF"/>
                </a:solidFill>
              </a:rPr>
              <a:t>difference</a:t>
            </a:r>
            <a:r>
              <a:rPr lang="en-AU" sz="2400" b="1" dirty="0" smtClean="0"/>
              <a:t> </a:t>
            </a:r>
            <a:r>
              <a:rPr lang="en-AU" sz="2400" b="1" dirty="0" smtClean="0"/>
              <a:t>= so, 8-3 = </a:t>
            </a:r>
            <a:r>
              <a:rPr lang="en-AU" sz="2400" b="1" dirty="0" smtClean="0">
                <a:solidFill>
                  <a:srgbClr val="FF0000"/>
                </a:solidFill>
              </a:rPr>
              <a:t>5</a:t>
            </a:r>
            <a:r>
              <a:rPr lang="en-AU" sz="2400" b="1" dirty="0" smtClean="0"/>
              <a:t/>
            </a:r>
            <a:br>
              <a:rPr lang="en-AU" sz="2400" b="1" dirty="0" smtClean="0"/>
            </a:br>
            <a:endParaRPr lang="en-AU" sz="2400" dirty="0"/>
          </a:p>
          <a:p>
            <a:r>
              <a:rPr lang="en-AU" sz="2400" b="1" dirty="0"/>
              <a:t>9. What is the </a:t>
            </a:r>
            <a:r>
              <a:rPr lang="en-AU" sz="2400" b="1" dirty="0">
                <a:solidFill>
                  <a:srgbClr val="0000FF"/>
                </a:solidFill>
              </a:rPr>
              <a:t>quotient</a:t>
            </a:r>
            <a:r>
              <a:rPr lang="en-AU" sz="2400" b="1" dirty="0">
                <a:solidFill>
                  <a:srgbClr val="0070C0"/>
                </a:solidFill>
              </a:rPr>
              <a:t> </a:t>
            </a:r>
            <a:r>
              <a:rPr lang="en-AU" sz="2400" b="1" dirty="0"/>
              <a:t>of 12 and 4</a:t>
            </a:r>
            <a:r>
              <a:rPr lang="en-AU" sz="2400" b="1" dirty="0" smtClean="0"/>
              <a:t>?</a:t>
            </a:r>
            <a:r>
              <a:rPr lang="en-AU" sz="2400" b="1" dirty="0" smtClean="0"/>
              <a:t> </a:t>
            </a:r>
            <a:r>
              <a:rPr lang="en-AU" sz="2400" b="1" dirty="0" smtClean="0">
                <a:solidFill>
                  <a:srgbClr val="0000FF"/>
                </a:solidFill>
              </a:rPr>
              <a:t>quotient</a:t>
            </a:r>
            <a:r>
              <a:rPr lang="en-AU" sz="2400" b="1" dirty="0" smtClean="0"/>
              <a:t> </a:t>
            </a:r>
            <a:r>
              <a:rPr lang="en-AU" sz="2400" b="1" dirty="0" smtClean="0"/>
              <a:t>= divide,</a:t>
            </a:r>
            <a:r>
              <a:rPr lang="en-AU" sz="2400" b="1" dirty="0" smtClean="0"/>
              <a:t> </a:t>
            </a:r>
          </a:p>
          <a:p>
            <a:r>
              <a:rPr lang="en-AU" sz="2400" b="1" dirty="0" smtClean="0"/>
              <a:t>						</a:t>
            </a:r>
            <a:r>
              <a:rPr lang="en-AU" sz="2400" b="1" dirty="0" smtClean="0"/>
              <a:t>so </a:t>
            </a:r>
            <a:r>
              <a:rPr lang="en-AU" sz="2400" b="1" dirty="0" smtClean="0"/>
              <a:t>12/4 =</a:t>
            </a:r>
            <a:r>
              <a:rPr lang="en-AU" sz="2400" b="1" dirty="0" smtClean="0">
                <a:solidFill>
                  <a:srgbClr val="FF0000"/>
                </a:solidFill>
              </a:rPr>
              <a:t> 3</a:t>
            </a:r>
            <a:r>
              <a:rPr lang="en-AU" sz="2400" b="1" dirty="0" smtClean="0"/>
              <a:t/>
            </a:r>
            <a:br>
              <a:rPr lang="en-AU" sz="2400" b="1" dirty="0" smtClean="0"/>
            </a:br>
            <a:endParaRPr lang="en-AU" sz="2400" dirty="0"/>
          </a:p>
          <a:p>
            <a:r>
              <a:rPr lang="en-AU" sz="2400" b="1" dirty="0"/>
              <a:t>10. How many</a:t>
            </a:r>
            <a:r>
              <a:rPr lang="en-AU" sz="2400" b="1" dirty="0">
                <a:solidFill>
                  <a:srgbClr val="0000FF"/>
                </a:solidFill>
              </a:rPr>
              <a:t> terms</a:t>
            </a:r>
            <a:r>
              <a:rPr lang="en-AU" sz="2400" b="1" dirty="0"/>
              <a:t> are in the expression: 125x – 17y + 80</a:t>
            </a:r>
            <a:r>
              <a:rPr lang="en-AU" sz="2400" b="1" dirty="0" smtClean="0"/>
              <a:t>? </a:t>
            </a:r>
            <a:r>
              <a:rPr lang="en-AU" sz="2400" b="1" dirty="0" smtClean="0"/>
              <a:t> 									</a:t>
            </a:r>
            <a:r>
              <a:rPr lang="en-AU" sz="2400" b="1" dirty="0" smtClean="0">
                <a:solidFill>
                  <a:srgbClr val="FF0000"/>
                </a:solidFill>
              </a:rPr>
              <a:t>3</a:t>
            </a:r>
            <a:endParaRPr lang="en-AU" dirty="0">
              <a:solidFill>
                <a:srgbClr val="FF0000"/>
              </a:solidFill>
            </a:endParaRP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41035305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599" y="1196752"/>
            <a:ext cx="6400800" cy="576064"/>
          </a:xfrm>
          <a:solidFill>
            <a:schemeClr val="accent2">
              <a:lumMod val="75000"/>
            </a:schemeClr>
          </a:solidFill>
        </p:spPr>
        <p:txBody>
          <a:bodyPr>
            <a:normAutofit lnSpcReduction="10000"/>
          </a:bodyPr>
          <a:lstStyle/>
          <a:p>
            <a:r>
              <a:rPr lang="en-AU" dirty="0" smtClean="0">
                <a:solidFill>
                  <a:schemeClr val="accent1">
                    <a:lumMod val="20000"/>
                    <a:lumOff val="80000"/>
                  </a:schemeClr>
                </a:solidFill>
              </a:rPr>
              <a:t>Let’s check your knowledge…</a:t>
            </a:r>
            <a:endParaRPr lang="en-AU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0" y="2204864"/>
            <a:ext cx="9067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Bonus Question: </a:t>
            </a:r>
          </a:p>
          <a:p>
            <a:endParaRPr lang="en-AU" dirty="0" smtClean="0"/>
          </a:p>
          <a:p>
            <a:pPr algn="ctr"/>
            <a:r>
              <a:rPr lang="en-AU" sz="2000" dirty="0" smtClean="0"/>
              <a:t>Write an algebraic expression for </a:t>
            </a:r>
            <a:r>
              <a:rPr lang="en-AU" sz="2000" dirty="0" smtClean="0">
                <a:solidFill>
                  <a:srgbClr val="0000FF"/>
                </a:solidFill>
              </a:rPr>
              <a:t>“</a:t>
            </a:r>
            <a:r>
              <a:rPr lang="en-AU" sz="2000" i="1" dirty="0" smtClean="0">
                <a:solidFill>
                  <a:srgbClr val="0000FF"/>
                </a:solidFill>
              </a:rPr>
              <a:t>20 less than the product of </a:t>
            </a:r>
            <a:r>
              <a:rPr lang="en-AU" sz="2000" i="1" dirty="0" err="1" smtClean="0">
                <a:solidFill>
                  <a:srgbClr val="0000FF"/>
                </a:solidFill>
              </a:rPr>
              <a:t>x</a:t>
            </a:r>
            <a:r>
              <a:rPr lang="en-AU" sz="2000" i="1" dirty="0" smtClean="0">
                <a:solidFill>
                  <a:srgbClr val="0000FF"/>
                </a:solidFill>
              </a:rPr>
              <a:t> and 5”</a:t>
            </a:r>
            <a:endParaRPr lang="en-AU" sz="2000" i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41035305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599" y="1196752"/>
            <a:ext cx="6400800" cy="576064"/>
          </a:xfrm>
          <a:solidFill>
            <a:schemeClr val="accent2">
              <a:lumMod val="75000"/>
            </a:schemeClr>
          </a:solidFill>
        </p:spPr>
        <p:txBody>
          <a:bodyPr>
            <a:normAutofit lnSpcReduction="10000"/>
          </a:bodyPr>
          <a:lstStyle/>
          <a:p>
            <a:r>
              <a:rPr lang="en-AU" dirty="0" smtClean="0">
                <a:solidFill>
                  <a:schemeClr val="accent1">
                    <a:lumMod val="20000"/>
                    <a:lumOff val="80000"/>
                  </a:schemeClr>
                </a:solidFill>
              </a:rPr>
              <a:t>Let’s check your knowledge…</a:t>
            </a:r>
            <a:endParaRPr lang="en-AU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0" y="2204864"/>
            <a:ext cx="90678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Bonus Question: </a:t>
            </a:r>
          </a:p>
          <a:p>
            <a:endParaRPr lang="en-AU" dirty="0" smtClean="0"/>
          </a:p>
          <a:p>
            <a:pPr algn="ctr"/>
            <a:r>
              <a:rPr lang="en-AU" sz="2000" dirty="0" smtClean="0"/>
              <a:t>Write an algebraic expression for </a:t>
            </a:r>
            <a:r>
              <a:rPr lang="en-AU" sz="2000" dirty="0" smtClean="0">
                <a:solidFill>
                  <a:srgbClr val="0000FF"/>
                </a:solidFill>
              </a:rPr>
              <a:t>“</a:t>
            </a:r>
            <a:r>
              <a:rPr lang="en-AU" sz="2000" i="1" dirty="0" smtClean="0">
                <a:solidFill>
                  <a:srgbClr val="0000FF"/>
                </a:solidFill>
              </a:rPr>
              <a:t>20 less than the product of </a:t>
            </a:r>
            <a:r>
              <a:rPr lang="en-AU" sz="2000" i="1" dirty="0" err="1" smtClean="0">
                <a:solidFill>
                  <a:srgbClr val="0000FF"/>
                </a:solidFill>
              </a:rPr>
              <a:t>x</a:t>
            </a:r>
            <a:r>
              <a:rPr lang="en-AU" sz="2000" i="1" dirty="0" smtClean="0">
                <a:solidFill>
                  <a:srgbClr val="0000FF"/>
                </a:solidFill>
              </a:rPr>
              <a:t> and 5”</a:t>
            </a:r>
          </a:p>
          <a:p>
            <a:pPr algn="ctr"/>
            <a:endParaRPr lang="en-AU" sz="2000" i="1" dirty="0" smtClean="0">
              <a:solidFill>
                <a:srgbClr val="0000FF"/>
              </a:solidFill>
            </a:endParaRPr>
          </a:p>
          <a:p>
            <a:pPr algn="ctr"/>
            <a:r>
              <a:rPr lang="en-AU" sz="2000" i="1" dirty="0" smtClean="0"/>
              <a:t>Answer:</a:t>
            </a:r>
            <a:r>
              <a:rPr lang="en-AU" sz="2000" i="1" dirty="0" smtClean="0">
                <a:solidFill>
                  <a:srgbClr val="0000FF"/>
                </a:solidFill>
              </a:rPr>
              <a:t>    5x -20</a:t>
            </a:r>
            <a:endParaRPr lang="en-AU" sz="2000" i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41035305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745</Words>
  <Application>Microsoft Office PowerPoint</Application>
  <PresentationFormat>On-screen Show (4:3)</PresentationFormat>
  <Paragraphs>107</Paragraphs>
  <Slides>30</Slides>
  <Notes>0</Notes>
  <HiddenSlides>0</HiddenSlides>
  <MMClips>0</MMClips>
  <ScaleCrop>false</ScaleCrop>
  <HeadingPairs>
    <vt:vector size="4" baseType="variant">
      <vt:variant>
        <vt:lpstr>Design Template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1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Grace Lutheran College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Chris Hayden</dc:creator>
  <cp:lastModifiedBy>cj</cp:lastModifiedBy>
  <cp:revision>80</cp:revision>
  <dcterms:created xsi:type="dcterms:W3CDTF">2014-08-29T11:43:15Z</dcterms:created>
  <dcterms:modified xsi:type="dcterms:W3CDTF">2014-08-29T11:56:33Z</dcterms:modified>
</cp:coreProperties>
</file>