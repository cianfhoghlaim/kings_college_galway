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896" y="17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0F5-159C-46FE-B7D1-0259289D302A}" type="datetimeFigureOut">
              <a:rPr lang="en-GB" smtClean="0"/>
              <a:t>20/10/2014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79AAF-92A1-44AF-B75B-43F9B520E9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0F5-159C-46FE-B7D1-0259289D302A}" type="datetimeFigureOut">
              <a:rPr lang="en-GB" smtClean="0"/>
              <a:t>20/10/2014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79AAF-92A1-44AF-B75B-43F9B520E9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0F5-159C-46FE-B7D1-0259289D302A}" type="datetimeFigureOut">
              <a:rPr lang="en-GB" smtClean="0"/>
              <a:t>20/10/2014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79AAF-92A1-44AF-B75B-43F9B520E9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0F5-159C-46FE-B7D1-0259289D302A}" type="datetimeFigureOut">
              <a:rPr lang="en-GB" smtClean="0"/>
              <a:t>20/10/2014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79AAF-92A1-44AF-B75B-43F9B520E9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0F5-159C-46FE-B7D1-0259289D302A}" type="datetimeFigureOut">
              <a:rPr lang="en-GB" smtClean="0"/>
              <a:t>20/10/2014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79AAF-92A1-44AF-B75B-43F9B520E9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0F5-159C-46FE-B7D1-0259289D302A}" type="datetimeFigureOut">
              <a:rPr lang="en-GB" smtClean="0"/>
              <a:t>20/10/2014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79AAF-92A1-44AF-B75B-43F9B520E9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0F5-159C-46FE-B7D1-0259289D302A}" type="datetimeFigureOut">
              <a:rPr lang="en-GB" smtClean="0"/>
              <a:t>20/10/2014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79AAF-92A1-44AF-B75B-43F9B520E9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0F5-159C-46FE-B7D1-0259289D302A}" type="datetimeFigureOut">
              <a:rPr lang="en-GB" smtClean="0"/>
              <a:t>20/10/2014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79AAF-92A1-44AF-B75B-43F9B520E9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0F5-159C-46FE-B7D1-0259289D302A}" type="datetimeFigureOut">
              <a:rPr lang="en-GB" smtClean="0"/>
              <a:t>20/10/2014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79AAF-92A1-44AF-B75B-43F9B520E9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0F5-159C-46FE-B7D1-0259289D302A}" type="datetimeFigureOut">
              <a:rPr lang="en-GB" smtClean="0"/>
              <a:t>20/10/2014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79AAF-92A1-44AF-B75B-43F9B520E9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0F5-159C-46FE-B7D1-0259289D302A}" type="datetimeFigureOut">
              <a:rPr lang="en-GB" smtClean="0"/>
              <a:t>20/10/2014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79AAF-92A1-44AF-B75B-43F9B520E9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740F5-159C-46FE-B7D1-0259289D302A}" type="datetimeFigureOut">
              <a:rPr lang="en-GB" smtClean="0"/>
              <a:t>20/10/2014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79AAF-92A1-44AF-B75B-43F9B520E941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.uk/url?sa=i&amp;rct=j&amp;q=&amp;esrc=s&amp;source=images&amp;cd=&amp;cad=rja&amp;uact=8&amp;ved=0CAcQjRw&amp;url=http%3A%2F%2Fcommons.wikimedia.org%2Fwiki%2FFile%3ACone.png&amp;ei=FVBFVP-QLLOV7AahLQ&amp;bvm=bv.77880786,d.ZGU&amp;psig=AFQjCNHaZuTEzwtKg96COPjvO5rWHEk2jw&amp;ust=1413915024191569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6" descr="http://upload.wikimedia.org/wikipedia/commons/9/9c/Cone.png"/>
          <p:cNvPicPr>
            <a:picLocks noChangeAspect="1" noChangeArrowheads="1"/>
          </p:cNvPicPr>
          <p:nvPr/>
        </p:nvPicPr>
        <p:blipFill>
          <a:blip r:embed="rId2" cstate="print"/>
          <a:srcRect l="16377" t="15152" r="18116" b="6061"/>
          <a:stretch>
            <a:fillRect/>
          </a:stretch>
        </p:blipFill>
        <p:spPr bwMode="auto">
          <a:xfrm>
            <a:off x="5117255" y="5580112"/>
            <a:ext cx="1152128" cy="1260648"/>
          </a:xfrm>
          <a:prstGeom prst="rect">
            <a:avLst/>
          </a:prstGeom>
          <a:noFill/>
        </p:spPr>
      </p:pic>
      <p:pic>
        <p:nvPicPr>
          <p:cNvPr id="54" name="Picture 6" descr="http://upload.wikimedia.org/wikipedia/commons/9/9c/Cone.png"/>
          <p:cNvPicPr>
            <a:picLocks noChangeAspect="1" noChangeArrowheads="1"/>
          </p:cNvPicPr>
          <p:nvPr/>
        </p:nvPicPr>
        <p:blipFill>
          <a:blip r:embed="rId2" cstate="print"/>
          <a:srcRect l="16377" t="15152" r="18116" b="6061"/>
          <a:stretch>
            <a:fillRect/>
          </a:stretch>
        </p:blipFill>
        <p:spPr bwMode="auto">
          <a:xfrm>
            <a:off x="3173039" y="5436096"/>
            <a:ext cx="1152128" cy="126064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1011352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latin typeface="Amethyst" pitchFamily="2" charset="0"/>
              </a:rPr>
              <a:t>Volume of Cones and Cylinders</a:t>
            </a:r>
            <a:endParaRPr lang="en-GB" dirty="0">
              <a:latin typeface="Amethyst" pitchFamily="2" charset="0"/>
            </a:endParaRPr>
          </a:p>
        </p:txBody>
      </p:sp>
      <p:sp>
        <p:nvSpPr>
          <p:cNvPr id="4" name="Can 3"/>
          <p:cNvSpPr/>
          <p:nvPr/>
        </p:nvSpPr>
        <p:spPr>
          <a:xfrm>
            <a:off x="260648" y="1259632"/>
            <a:ext cx="1008112" cy="1440160"/>
          </a:xfrm>
          <a:prstGeom prst="can">
            <a:avLst>
              <a:gd name="adj" fmla="val 505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Comic Sans MS" pitchFamily="66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60648" y="1494706"/>
            <a:ext cx="10081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712" y="1270665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latin typeface="Comic Sans MS" pitchFamily="66" charset="0"/>
              </a:rPr>
              <a:t>8cm</a:t>
            </a:r>
            <a:endParaRPr lang="en-GB" sz="1200" dirty="0"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68760" y="1835696"/>
            <a:ext cx="54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latin typeface="Comic Sans MS" pitchFamily="66" charset="0"/>
              </a:rPr>
              <a:t>10cm</a:t>
            </a:r>
            <a:endParaRPr lang="en-GB" sz="1200" dirty="0">
              <a:latin typeface="Comic Sans MS" pitchFamily="66" charset="0"/>
            </a:endParaRPr>
          </a:p>
        </p:txBody>
      </p:sp>
      <p:sp>
        <p:nvSpPr>
          <p:cNvPr id="11" name="Can 10"/>
          <p:cNvSpPr/>
          <p:nvPr/>
        </p:nvSpPr>
        <p:spPr>
          <a:xfrm>
            <a:off x="2060848" y="1331640"/>
            <a:ext cx="792088" cy="1440160"/>
          </a:xfrm>
          <a:prstGeom prst="can">
            <a:avLst>
              <a:gd name="adj" fmla="val 505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Comic Sans MS" pitchFamily="66" charset="0"/>
            </a:endParaRPr>
          </a:p>
        </p:txBody>
      </p:sp>
      <p:cxnSp>
        <p:nvCxnSpPr>
          <p:cNvPr id="12" name="Straight Connector 11"/>
          <p:cNvCxnSpPr>
            <a:stCxn id="11" idx="1"/>
            <a:endCxn id="11" idx="0"/>
          </p:cNvCxnSpPr>
          <p:nvPr/>
        </p:nvCxnSpPr>
        <p:spPr>
          <a:xfrm>
            <a:off x="2456892" y="1331640"/>
            <a:ext cx="0" cy="4000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086888" y="1342673"/>
            <a:ext cx="54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latin typeface="Comic Sans MS" pitchFamily="66" charset="0"/>
              </a:rPr>
              <a:t>10cm</a:t>
            </a:r>
            <a:endParaRPr lang="en-GB" sz="1200" dirty="0">
              <a:latin typeface="Comic Sans MS" pitchFamily="66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52936" y="1907704"/>
            <a:ext cx="54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latin typeface="Comic Sans MS" pitchFamily="66" charset="0"/>
              </a:rPr>
              <a:t>12cm</a:t>
            </a:r>
            <a:endParaRPr lang="en-GB" sz="1200" dirty="0">
              <a:latin typeface="Comic Sans MS" pitchFamily="66" charset="0"/>
            </a:endParaRPr>
          </a:p>
        </p:txBody>
      </p:sp>
      <p:sp>
        <p:nvSpPr>
          <p:cNvPr id="15" name="Can 14"/>
          <p:cNvSpPr/>
          <p:nvPr/>
        </p:nvSpPr>
        <p:spPr>
          <a:xfrm>
            <a:off x="3501008" y="1403648"/>
            <a:ext cx="1008112" cy="1440160"/>
          </a:xfrm>
          <a:prstGeom prst="can">
            <a:avLst>
              <a:gd name="adj" fmla="val 618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Comic Sans MS" pitchFamily="66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3501008" y="1691680"/>
            <a:ext cx="10081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43072" y="1414681"/>
            <a:ext cx="54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latin typeface="Comic Sans MS" pitchFamily="66" charset="0"/>
              </a:rPr>
              <a:t>14cm</a:t>
            </a:r>
            <a:endParaRPr lang="en-GB" sz="1200" dirty="0">
              <a:latin typeface="Comic Sans MS" pitchFamily="66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09120" y="1979712"/>
            <a:ext cx="54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latin typeface="Comic Sans MS" pitchFamily="66" charset="0"/>
              </a:rPr>
              <a:t>14cm</a:t>
            </a:r>
            <a:endParaRPr lang="en-GB" sz="1200" dirty="0">
              <a:latin typeface="Comic Sans MS" pitchFamily="66" charset="0"/>
            </a:endParaRPr>
          </a:p>
        </p:txBody>
      </p:sp>
      <p:sp>
        <p:nvSpPr>
          <p:cNvPr id="19" name="Can 18"/>
          <p:cNvSpPr/>
          <p:nvPr/>
        </p:nvSpPr>
        <p:spPr>
          <a:xfrm>
            <a:off x="5402335" y="971600"/>
            <a:ext cx="1008112" cy="1944216"/>
          </a:xfrm>
          <a:prstGeom prst="can">
            <a:avLst>
              <a:gd name="adj" fmla="val 316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Comic Sans MS" pitchFamily="66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5402335" y="1115616"/>
            <a:ext cx="10081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90367" y="899592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latin typeface="Comic Sans MS" pitchFamily="66" charset="0"/>
              </a:rPr>
              <a:t>9cm</a:t>
            </a:r>
            <a:endParaRPr lang="en-GB" sz="1200" dirty="0">
              <a:latin typeface="Comic Sans MS" pitchFamily="66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81328" y="2051720"/>
            <a:ext cx="54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latin typeface="Comic Sans MS" pitchFamily="66" charset="0"/>
              </a:rPr>
              <a:t>19cm</a:t>
            </a:r>
            <a:endParaRPr lang="en-GB" sz="1200" dirty="0">
              <a:latin typeface="Comic Sans MS" pitchFamily="66" charset="0"/>
            </a:endParaRPr>
          </a:p>
        </p:txBody>
      </p:sp>
      <p:sp>
        <p:nvSpPr>
          <p:cNvPr id="23" name="Can 22"/>
          <p:cNvSpPr/>
          <p:nvPr/>
        </p:nvSpPr>
        <p:spPr>
          <a:xfrm>
            <a:off x="334391" y="3347864"/>
            <a:ext cx="718345" cy="1440160"/>
          </a:xfrm>
          <a:prstGeom prst="can">
            <a:avLst>
              <a:gd name="adj" fmla="val 505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Comic Sans MS" pitchFamily="66" charset="0"/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32656" y="3563888"/>
            <a:ext cx="360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32656" y="3328814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latin typeface="Comic Sans MS" pitchFamily="66" charset="0"/>
              </a:rPr>
              <a:t>8cm</a:t>
            </a:r>
            <a:endParaRPr lang="en-GB" sz="1200" dirty="0">
              <a:latin typeface="Comic Sans MS" pitchFamily="66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0728" y="3923928"/>
            <a:ext cx="54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latin typeface="Comic Sans MS" pitchFamily="66" charset="0"/>
              </a:rPr>
              <a:t>13cm</a:t>
            </a:r>
            <a:endParaRPr lang="en-GB" sz="1200" dirty="0">
              <a:latin typeface="Comic Sans MS" pitchFamily="66" charset="0"/>
            </a:endParaRPr>
          </a:p>
        </p:txBody>
      </p:sp>
      <p:sp>
        <p:nvSpPr>
          <p:cNvPr id="27" name="Can 26"/>
          <p:cNvSpPr/>
          <p:nvPr/>
        </p:nvSpPr>
        <p:spPr>
          <a:xfrm>
            <a:off x="2062583" y="3779912"/>
            <a:ext cx="1008112" cy="1080120"/>
          </a:xfrm>
          <a:prstGeom prst="can">
            <a:avLst>
              <a:gd name="adj" fmla="val 714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Comic Sans MS" pitchFamily="66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2060848" y="4048894"/>
            <a:ext cx="5040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132856" y="3851920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latin typeface="Comic Sans MS" pitchFamily="66" charset="0"/>
              </a:rPr>
              <a:t>4cm</a:t>
            </a:r>
            <a:endParaRPr lang="en-GB" sz="1200" dirty="0">
              <a:latin typeface="Comic Sans MS" pitchFamily="66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70695" y="3995936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mic Sans MS" pitchFamily="66" charset="0"/>
              </a:rPr>
              <a:t>6</a:t>
            </a:r>
            <a:r>
              <a:rPr lang="en-GB" sz="1200" dirty="0" smtClean="0">
                <a:latin typeface="Comic Sans MS" pitchFamily="66" charset="0"/>
              </a:rPr>
              <a:t>cm</a:t>
            </a:r>
            <a:endParaRPr lang="en-GB" sz="1200" dirty="0">
              <a:latin typeface="Comic Sans MS" pitchFamily="66" charset="0"/>
            </a:endParaRPr>
          </a:p>
        </p:txBody>
      </p:sp>
      <p:sp>
        <p:nvSpPr>
          <p:cNvPr id="31" name="Can 30"/>
          <p:cNvSpPr/>
          <p:nvPr/>
        </p:nvSpPr>
        <p:spPr>
          <a:xfrm>
            <a:off x="3789040" y="3419872"/>
            <a:ext cx="793823" cy="1656184"/>
          </a:xfrm>
          <a:prstGeom prst="can">
            <a:avLst>
              <a:gd name="adj" fmla="val 889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Comic Sans MS" pitchFamily="66" charset="0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H="1" flipV="1">
            <a:off x="4185951" y="3385964"/>
            <a:ext cx="35137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789040" y="3646929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latin typeface="Comic Sans MS" pitchFamily="66" charset="0"/>
              </a:rPr>
              <a:t>7cm</a:t>
            </a:r>
            <a:endParaRPr lang="en-GB" sz="1200" dirty="0">
              <a:latin typeface="Comic Sans MS" pitchFamily="66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09120" y="4067944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latin typeface="Comic Sans MS" pitchFamily="66" charset="0"/>
              </a:rPr>
              <a:t>9cm</a:t>
            </a:r>
            <a:endParaRPr lang="en-GB" sz="1200" dirty="0">
              <a:latin typeface="Comic Sans MS" pitchFamily="66" charset="0"/>
            </a:endParaRPr>
          </a:p>
        </p:txBody>
      </p:sp>
      <p:sp>
        <p:nvSpPr>
          <p:cNvPr id="35" name="Can 34"/>
          <p:cNvSpPr/>
          <p:nvPr/>
        </p:nvSpPr>
        <p:spPr>
          <a:xfrm>
            <a:off x="5157192" y="3563888"/>
            <a:ext cx="1224136" cy="1440160"/>
          </a:xfrm>
          <a:prstGeom prst="can">
            <a:avLst>
              <a:gd name="adj" fmla="val 427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Comic Sans MS" pitchFamily="66" charset="0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5733256" y="3851920"/>
            <a:ext cx="6480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87288" y="3603496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latin typeface="Comic Sans MS" pitchFamily="66" charset="0"/>
              </a:rPr>
              <a:t>9cm</a:t>
            </a:r>
            <a:endParaRPr lang="en-GB" sz="1200" dirty="0">
              <a:latin typeface="Comic Sans MS" pitchFamily="66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11055" y="4139952"/>
            <a:ext cx="54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latin typeface="Comic Sans MS" pitchFamily="66" charset="0"/>
              </a:rPr>
              <a:t>10cm</a:t>
            </a:r>
            <a:endParaRPr lang="en-GB" sz="1200" dirty="0">
              <a:latin typeface="Comic Sans MS" pitchFamily="66" charset="0"/>
            </a:endParaRPr>
          </a:p>
        </p:txBody>
      </p:sp>
      <p:sp>
        <p:nvSpPr>
          <p:cNvPr id="11266" name="AutoShape 2" descr="data:image/png;base64,iVBORw0KGgoAAAANSUhEUgAAAMEAAAEFCAMAAABtknO4AAABLFBMVEX///8AAAAyy/4kkrcmmsEnn8cjjK8ll70ff58pp9Eoo8wee5okj7MssNwnncQiiKsddpQbbIcuuOYsst8gg6QwwPAdd5UccY0XXHMaaYMwwfEZZH0YYXkWWG4TT2Muu+kRR1kLLDcPPk4NNEERRVYPPU0MMT0JJzEUU2kHHyfu9PcFFx0IISkEERUGGR8CCw7n5+daWlrE4O2JiYk2ODkAAA58fn606P/c9P+6u7yR3v512P5GUVbKysrO3+d+wt+pra6sz95NtNqTyuKfnp4WHiLCwsIlJSTQ09RpbXC60NuVuMdTkquBrcBEhJ0AaIqExeBvnbFrr8pLpcgAKEBObXoAOlTH7f4AESI3VWKUr7sAWHdrxupOe46traxIR0cAFSdXzPczMjIaGRlACL21AAALGUlEQVR4nO2dC1sbxxWGGZmbsMFGQlwECBA4YNkEUWFatYWYmGCB3WCThCR1alr3//+Hzn3nuruSdndmn875BfM+873nnOWyOzERKlSoUKFChQoVKlSoUKFChQoVKlSoUKFChQoVKlSoUKFChQoVKtT/b527PsDY9ekvrk8wZnVu/+r6CGNW/3Hd9RHGrN+Xqr+6PsNYNWg9nfuP60OMVb316alax/UpxqmdlemFepld7t8vTy/MN10fY4w6Xn08PVltlNfl7m9riKD2N9cHGbl67cXZ6Zm5enlj9MPBCiKYb/zZ9UlGrLN/b6wsIYKtsl7CdXv9GSSYqtYqJV3vQGttGRPUm+UcCZcvNhcfE4JGOWN00l5dQQQL1fmtShlHwgC01gnB3HytWcb17nT/YO3Z7NMnkADGqFLC9Q60NwnBJCTYqpTP5T7YXl1chgSPIAGMUflcfthpbVCCKUjQqPzJ9YmGrC54vglFZgRQhLKtd73X26trsBVhAiRCs1kyl8FOa3XtGSeAIlTKtd6dgecHG4uEYAYTNCoN14caqo5f7m2uMwI4EOZhjEq13nXAN9ur6yvLsxLBH66PNUR9Ac+hBgJBtQ5jVKaR8O7F3sEGbEWzS9OIYKqKRCiTywMYIqwBIcDNCMWoPOvdKQqRSgBjVJ71DrxqIw1UgmZp1rs+DBHSYBk2U04wX4MxKovLD0e7rc2NRYmAiFCS9a4L9ttIA9xMMcECJkAxKsdI6IGdvQMqMiUgIqAYlcJl8HJ3e3ODiCwQYBFKMRKuwP7zlomgvgVjVIb17hiGCGsgE1ARSuByB3y7u32ARdYIUIz8d/mShkggmOEEpYjRVxQirEFEQAYCjdGF6xMm1ICGCIssEGCVcYy2XB8xoa5hiIgGSGROwEWAI8HzRzVwuNOGIVIIRBEqH12fMba+gBe7e5HIMgEVwW+XH2iIbAQoRl6PhC4JERaZEzwSCRqej4QeDRHSADfTiEAQoeHxegdIiJAGzx7rBLSfVt66Pqe1zlCIEggaXo+EYxIiLDIZaJxAEqHpq8tdcARDhDRYW0GtKCKY5AS4n3rr8iV4uYM1YCLDViQSQJU9d/kdDFG7RTWQCRYIAYuRp+vdAIYo0kAk0FT21OVTEiKkAW1FJgIylhte/ikwYCGCGlgJ2CX4uN69AYcoREQD2IoMBJ7H6AR8u4N6KddAJhBV9nMkwGHw6ps218BOQC/he9cH1qrHQ2QjkEXwbyQAFiIicjyBj+tdn4SIakBbkUDAmlEUo5rrIyt1TENENGDNlBOIzYgSeOZyB4dI1MBKwGPk13p3yUOUnsCvv4l/jUJECNYWo1YkEtB2KsTIp/VuwELENDASiCr75vI1ChHspVQDO4EUI5/WOwBeshDxVhRHQGJU+c71uXl9gWspCZEgskgwIxB4GaMTKUTpCbwZCV0tRAaChYgAiUBi5Mt61wNHKETbBxLBkk7AReAuezISADiEIYo0YK2IEegqMwJPHtWuWIiwBkhkgeCJTkBEIDHyw+UHFKLdPaZBJDJeTU0EpJ/iGPngctcUokhkMwGPkQ/rXY+HKBWBIoIP691/cYiwBqvrqQiYCHgkuH9UO5NDFE+gi+CBy9dwLRVDRFpRIgGPkfv1DvAQcQ2kgcYJNJUpguv17g0M0T4MEdZAFtlCwERgl+D6v+C/4hBBDVqaBnEEQowcP6oN1BBZCSZ1Aorgdr07hcPgFQlRLIFJZT9GArwCHCK0UqitKC2B05HQl0MktKIYAlEE5y4/oI1CCBEROTUBGwnu1rtuFCJZAwuBojKLkUOX4VJ3yEMki2wg0JoRj5E7lwEJkaCBgeCJREBVlmPkzOUzNUSqyIY7MMfIlcvHNERwII9O4HK960QhagkapCcQYuRmvfuChoEQIqaBhUBup7IIjmL0FT3bCCEagYCL0HCx3g1IiIReijSQxgEj4KsdbaeCCC5HwqkUIkVkO4FZhErNgcuAhIhpIIvMxkEcgRSjZvE/vYMPZ0c0RJIGMQQWEQhCtXCCB0OIIpE1Aq2dqiIUvt515RAJIqchMIjQLNrlHgsR7aUKwVIaAjlG9YLXO4BDRAayqkEMQVyMil3vrtAwkEKUTDBpIBBiVLDLx3gtRSFSRFYGWtIdiDHaKtJltNQdiiGSCGaT70AUgbtc5Hp3KYaIaqC3ogQCVYRCXf6qhYhoMDwBEaHw9W6ghEjUII5gwUQQiVDgSDgVQqRrkEQgqKzEqLj1Dggham0yDVIRWFSmMSpqvevzEGkaSOMgiUCLUWW+IIITtFEIIVJEHp6Ax2irGJe7LES8lzINxFY0JEGhLvfkEMkiD0mg9NOCRgJgIWpvRxrYCeijvjAQYmJUyHp3JYbILLLpDpIIaIyKWO+OaYjIQJY1GJugUst/vevoIUpPYBFBiFEBLl+yK5BCJDfTkQgKc/kHNUSqyNFI1k0WCSwxyn29G2CPcYiiXhqJLLUiK4FyCRJB7i5f6yESNVCbaSoCxeWc1zuA1lIWIlUDK8GjIQga+T6qvYk6kaaBqRUlERhEyDlGD0qIqAYjEdguIdf1Di91SogUkeMI8EhTm5F+CXmOhJ7UiYwaJN5BIkGl3s2PAPAQoYE8NEGsCILL+a13V8RjuwajEigxyu9R7ZispVKIDCIPSaDHqHaTE0CXhkjqpWSe4Z1CbEU6QWIzEmKUl8uXvBOREMVpMDSBFKO81rt3aohiNEhNYBKhspWPywM5RAYN0hHEiZDvXL4WO1GkwTrRwEzwJD2BPBJyWe/wFYjjLNLA2EyNBDYRlBg17nIA6GshUkTGrWh4AlmEPEfCiS1EEsFsLIFFZb2fVmrZr3cdHiK61VlFHpVAjlH2/1qBQnRkCVEWBGqMsv97ndMoRLyXjkFgFkEcCZn/4OgkPkSGZmolSCVCM/O3cNKNgofIIPK4BJIIzaxFID9yF0NENLA00xEIFBEy/9oA/ksQtBMJvdSgwbgE4iVkTHAlh0haiiwE0wqBaaTFxKiSMUFf7URWkVMSJMcoY4IzslHQgZwfQSM3gq7eiYgGWiuKJbANhGIIxE6kazAMgaqyIkIzl140wUKka5CGwNqM7JeQ+TviT/hOZCYwNtNxCDKfyaevlRCJ82wUAqMIQowyfxVtHwghijSwt6IhCbgI7BKyBoDPB7EhGo/AEKMcPmH0dzFEYxAo7dQoAkTI4ZNw/d/MGmRLwEXIHmBi4gUPkUGD4QhMzUgSIZ9PI17u6xrorWg0Ai1G+fzYccemwWgEZpVJjHL65En/5714DVIQ6M1IF6HRzO1tKL+3pRANS2Bup5IIJEb5fWd28LMSIpvI4xCgGOUFMDHx5r5lmGdZEEgxyvOPQ37hj8iqyNkR1HL92knHpIHeimIJEmJUy/nTS517WQO7yKMS5P4Br+59PgQ8RnkDQIRtm8hZEBTy9tzuvaZBRgT1ekGvM+psrGois1YkD7R0BJEIhf0XSOdfn1UNRiJQL6HI/4a6+RwnchzBpJXg+2I/0tLlv4UdjUAXofg3ev3z89qIBEaVXXwlp/vj54wIqlVXr3s4X7zNhOAPh2/PuVm+5c00mcDYTue+c/xCuJsfb4Xd2kpgaadzcx89+EzU+afo1/nDEUxV33rwQj5UnYsPt8tDEkCGOx9e6sir8/7DLfsvqGgtshAsTE5O+XV8Up2bf3xgL7KLIYB199b5a/jsdf7+01PyPkF5N6U189PHC0+iH1edzvn793d3T3lBiJ/u7i4uzktweKU6pFwfI1SoUKFChQoVKlSoUKFChQoVqpj6HxXQUKfKpx8GAAAAAElFTkSuQmCC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39688" y="-1608138"/>
            <a:ext cx="2487612" cy="33591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268" name="AutoShape 4" descr="data:image/png;base64,iVBORw0KGgoAAAANSUhEUgAAAMEAAAEFCAMAAABtknO4AAABLFBMVEX///8AAAAyy/4kkrcmmsEnn8cjjK8ll70ff58pp9Eoo8wee5okj7MssNwnncQiiKsddpQbbIcuuOYsst8gg6QwwPAdd5UccY0XXHMaaYMwwfEZZH0YYXkWWG4TT2Muu+kRR1kLLDcPPk4NNEERRVYPPU0MMT0JJzEUU2kHHyfu9PcFFx0IISkEERUGGR8CCw7n5+daWlrE4O2JiYk2ODkAAA58fn606P/c9P+6u7yR3v512P5GUVbKysrO3+d+wt+pra6sz95NtNqTyuKfnp4WHiLCwsIlJSTQ09RpbXC60NuVuMdTkquBrcBEhJ0AaIqExeBvnbFrr8pLpcgAKEBObXoAOlTH7f4AESI3VWKUr7sAWHdrxupOe46traxIR0cAFSdXzPczMjIaGRlACL21AAALGUlEQVR4nO2dC1sbxxWGGZmbsMFGQlwECBA4YNkEUWFatYWYmGCB3WCThCR1alr3//+Hzn3nuruSdndmn875BfM+873nnOWyOzERKlSoUKFChQoVKlSoUKFChQoVKlSoUKFChQoVKlSoUKFChQoVKtT/b527PsDY9ekvrk8wZnVu/+r6CGNW/3Hd9RHGrN+Xqr+6PsNYNWg9nfuP60OMVb316alax/UpxqmdlemFepld7t8vTy/MN10fY4w6Xn08PVltlNfl7m9riKD2N9cHGbl67cXZ6Zm5enlj9MPBCiKYb/zZ9UlGrLN/b6wsIYKtsl7CdXv9GSSYqtYqJV3vQGttGRPUm+UcCZcvNhcfE4JGOWN00l5dQQQL1fmtShlHwgC01gnB3HytWcb17nT/YO3Z7NMnkADGqFLC9Q60NwnBJCTYqpTP5T7YXl1chgSPIAGMUflcfthpbVCCKUjQqPzJ9YmGrC54vglFZgRQhLKtd73X26trsBVhAiRCs1kyl8FOa3XtGSeAIlTKtd6dgecHG4uEYAYTNCoN14caqo5f7m2uMwI4EOZhjEq13nXAN9ur6yvLsxLBH66PNUR9Ac+hBgJBtQ5jVKaR8O7F3sEGbEWzS9OIYKqKRCiTywMYIqwBIcDNCMWoPOvdKQqRSgBjVJ71DrxqIw1UgmZp1rs+DBHSYBk2U04wX4MxKovLD0e7rc2NRYmAiFCS9a4L9ttIA9xMMcECJkAxKsdI6IGdvQMqMiUgIqAYlcJl8HJ3e3ODiCwQYBFKMRKuwP7zlomgvgVjVIb17hiGCGsgE1ARSuByB3y7u32ARdYIUIz8d/mShkggmOEEpYjRVxQirEFEQAYCjdGF6xMm1ICGCIssEGCVcYy2XB8xoa5hiIgGSGROwEWAI8HzRzVwuNOGIVIIRBEqH12fMba+gBe7e5HIMgEVwW+XH2iIbAQoRl6PhC4JERaZEzwSCRqej4QeDRHSADfTiEAQoeHxegdIiJAGzx7rBLSfVt66Pqe1zlCIEggaXo+EYxIiLDIZaJxAEqHpq8tdcARDhDRYW0GtKCKY5AS4n3rr8iV4uYM1YCLDViQSQJU9d/kdDFG7RTWQCRYIAYuRp+vdAIYo0kAk0FT21OVTEiKkAW1FJgIylhte/ikwYCGCGlgJ2CX4uN69AYcoREQD2IoMBJ7H6AR8u4N6KddAJhBV9nMkwGHw6ps218BOQC/he9cH1qrHQ2QjkEXwbyQAFiIicjyBj+tdn4SIakBbkUDAmlEUo5rrIyt1TENENGDNlBOIzYgSeOZyB4dI1MBKwGPk13p3yUOUnsCvv4l/jUJECNYWo1YkEtB2KsTIp/VuwELENDASiCr75vI1ChHspVQDO4EUI5/WOwBeshDxVhRHQGJU+c71uXl9gWspCZEgskgwIxB4GaMTKUTpCbwZCV0tRAaChYgAiUBi5Mt61wNHKETbBxLBkk7AReAuezISADiEIYo0YK2IEegqMwJPHtWuWIiwBkhkgeCJTkBEIDHyw+UHFKLdPaZBJDJeTU0EpJ/iGPngctcUokhkMwGPkQ/rXY+HKBWBIoIP691/cYiwBqvrqQiYCHgkuH9UO5NDFE+gi+CBy9dwLRVDRFpRIgGPkfv1DvAQcQ2kgcYJNJUpguv17g0M0T4MEdZAFtlCwERgl+D6v+C/4hBBDVqaBnEEQowcP6oN1BBZCSZ1Aorgdr07hcPgFQlRLIFJZT9GArwCHCK0UqitKC2B05HQl0MktKIYAlEE5y4/oI1CCBEROTUBGwnu1rtuFCJZAwuBojKLkUOX4VJ3yEMki2wg0JoRj5E7lwEJkaCBgeCJREBVlmPkzOUzNUSqyIY7MMfIlcvHNERwII9O4HK960QhagkapCcQYuRmvfuChoEQIqaBhUBup7IIjmL0FT3bCCEagYCL0HCx3g1IiIReijSQxgEj4KsdbaeCCC5HwqkUIkVkO4FZhErNgcuAhIhpIIvMxkEcgRSjZvE/vYMPZ0c0RJIGMQQWEQhCtXCCB0OIIpE1Aq2dqiIUvt515RAJIqchMIjQLNrlHgsR7aUKwVIaAjlG9YLXO4BDRAayqkEMQVyMil3vrtAwkEKUTDBpIBBiVLDLx3gtRSFSRFYGWtIdiDHaKtJltNQdiiGSCGaT70AUgbtc5Hp3KYaIaqC3ogQCVYRCXf6qhYhoMDwBEaHw9W6ghEjUII5gwUQQiVDgSDgVQqRrkEQgqKzEqLj1Dggham0yDVIRWFSmMSpqvevzEGkaSOMgiUCLUWW+IIITtFEIIVJEHp6Ax2irGJe7LES8lzINxFY0JEGhLvfkEMkiD0mg9NOCRgJgIWpvRxrYCeijvjAQYmJUyHp3JYbILLLpDpIIaIyKWO+OaYjIQJY1GJugUst/vevoIUpPYBFBiFEBLl+yK5BCJDfTkQgKc/kHNUSqyNFI1k0WCSwxyn29G2CPcYiiXhqJLLUiK4FyCRJB7i5f6yESNVCbaSoCxeWc1zuA1lIWIlUDK8GjIQga+T6qvYk6kaaBqRUlERhEyDlGD0qIqAYjEdguIdf1Di91SogUkeMI8EhTm5F+CXmOhJ7UiYwaJN5BIkGl3s2PAPAQoYE8NEGsCILL+a13V8RjuwajEigxyu9R7ZispVKIDCIPSaDHqHaTE0CXhkjqpWSe4Z1CbEU6QWIzEmKUl8uXvBOREMVpMDSBFKO81rt3aohiNEhNYBKhspWPywM5RAYN0hHEiZDvXL4WO1GkwTrRwEzwJD2BPBJyWe/wFYjjLNLA2EyNBDYRlBg17nIA6GshUkTGrWh4AlmEPEfCiS1EEsFsLIFFZb2fVmrZr3cdHiK61VlFHpVAjlH2/1qBQnRkCVEWBGqMsv97ndMoRLyXjkFgFkEcCZn/4OgkPkSGZmolSCVCM/O3cNKNgofIIPK4BJIIzaxFID9yF0NENLA00xEIFBEy/9oA/ksQtBMJvdSgwbgE4iVkTHAlh0haiiwE0wqBaaTFxKiSMUFf7URWkVMSJMcoY4IzslHQgZwfQSM3gq7eiYgGWiuKJbANhGIIxE6kazAMgaqyIkIzl140wUKka5CGwNqM7JeQ+TviT/hOZCYwNtNxCDKfyaevlRCJ82wUAqMIQowyfxVtHwghijSwt6IhCbgI7BKyBoDPB7EhGo/AEKMcPmH0dzFEYxAo7dQoAkTI4ZNw/d/MGmRLwEXIHmBi4gUPkUGD4QhMzUgSIZ9PI17u6xrorWg0Ai1G+fzYccemwWgEZpVJjHL65En/5714DVIQ6M1IF6HRzO1tKL+3pRANS2Bup5IIJEb5fWd28LMSIpvI4xCgGOUFMDHx5r5lmGdZEEgxyvOPQ37hj8iqyNkR1HL92knHpIHeimIJEmJUy/nTS517WQO7yKMS5P4Br+59PgQ8RnkDQIRtm8hZEBTy9tzuvaZBRgT1ekGvM+psrGois1YkD7R0BJEIhf0XSOdfn1UNRiJQL6HI/4a6+RwnchzBpJXg+2I/0tLlv4UdjUAXofg3ev3z89qIBEaVXXwlp/vj54wIqlVXr3s4X7zNhOAPh2/PuVm+5c00mcDYTue+c/xCuJsfb4Xd2kpgaadzcx89+EzU+afo1/nDEUxV33rwQj5UnYsPt8tDEkCGOx9e6sir8/7DLfsvqGgtshAsTE5O+XV8Up2bf3xgL7KLIYB199b5a/jsdf7+01PyPkF5N6U189PHC0+iH1edzvn793d3T3lBiJ/u7i4uzktweKU6pFwfI1SoUKFChQoVKlSoUKFChQoVqpj6HxXQUKfKpx8GAAAAAElFTkSuQmCC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0" y="899592"/>
            <a:ext cx="6858000" cy="77953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sz="1200" dirty="0" smtClean="0"/>
              <a:t>A) Find the volume of the following cylinders, give the volume to 3 significant figures</a:t>
            </a:r>
            <a:endParaRPr lang="en-GB" sz="1200" dirty="0"/>
          </a:p>
        </p:txBody>
      </p:sp>
      <p:pic>
        <p:nvPicPr>
          <p:cNvPr id="11270" name="Picture 6" descr="http://upload.wikimedia.org/wikipedia/commons/9/9c/Cone.png"/>
          <p:cNvPicPr>
            <a:picLocks noChangeAspect="1" noChangeArrowheads="1"/>
          </p:cNvPicPr>
          <p:nvPr/>
        </p:nvPicPr>
        <p:blipFill>
          <a:blip r:embed="rId2" cstate="print"/>
          <a:srcRect l="16377" t="15152" r="18116" b="6061"/>
          <a:stretch>
            <a:fillRect/>
          </a:stretch>
        </p:blipFill>
        <p:spPr bwMode="auto">
          <a:xfrm>
            <a:off x="1228823" y="5508104"/>
            <a:ext cx="1152128" cy="1260648"/>
          </a:xfrm>
          <a:prstGeom prst="rect">
            <a:avLst/>
          </a:prstGeom>
          <a:noFill/>
        </p:spPr>
      </p:pic>
      <p:sp>
        <p:nvSpPr>
          <p:cNvPr id="52" name="TextBox 51"/>
          <p:cNvSpPr txBox="1"/>
          <p:nvPr/>
        </p:nvSpPr>
        <p:spPr>
          <a:xfrm>
            <a:off x="1372839" y="6696744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r=10cm</a:t>
            </a:r>
            <a:endParaRPr lang="en-GB" sz="1200" dirty="0"/>
          </a:p>
        </p:txBody>
      </p:sp>
      <p:sp>
        <p:nvSpPr>
          <p:cNvPr id="53" name="TextBox 52"/>
          <p:cNvSpPr txBox="1"/>
          <p:nvPr/>
        </p:nvSpPr>
        <p:spPr>
          <a:xfrm>
            <a:off x="2164927" y="5832648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h=12cm</a:t>
            </a:r>
            <a:endParaRPr lang="en-GB" sz="1200" dirty="0"/>
          </a:p>
        </p:txBody>
      </p:sp>
      <p:sp>
        <p:nvSpPr>
          <p:cNvPr id="55" name="TextBox 54"/>
          <p:cNvSpPr txBox="1"/>
          <p:nvPr/>
        </p:nvSpPr>
        <p:spPr>
          <a:xfrm>
            <a:off x="3317055" y="6624736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d=10cm</a:t>
            </a:r>
            <a:endParaRPr lang="en-GB" sz="1200" dirty="0"/>
          </a:p>
        </p:txBody>
      </p:sp>
      <p:sp>
        <p:nvSpPr>
          <p:cNvPr id="56" name="TextBox 55"/>
          <p:cNvSpPr txBox="1"/>
          <p:nvPr/>
        </p:nvSpPr>
        <p:spPr>
          <a:xfrm>
            <a:off x="4109143" y="5760640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h=18cm</a:t>
            </a:r>
            <a:endParaRPr lang="en-GB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5261271" y="6768752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r=15cm</a:t>
            </a:r>
            <a:endParaRPr lang="en-GB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6053359" y="5904656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h=22cm</a:t>
            </a:r>
            <a:endParaRPr lang="en-GB" sz="1200" dirty="0"/>
          </a:p>
        </p:txBody>
      </p:sp>
      <p:pic>
        <p:nvPicPr>
          <p:cNvPr id="60" name="Picture 6" descr="http://upload.wikimedia.org/wikipedia/commons/9/9c/Cone.png"/>
          <p:cNvPicPr>
            <a:picLocks noChangeAspect="1" noChangeArrowheads="1"/>
          </p:cNvPicPr>
          <p:nvPr/>
        </p:nvPicPr>
        <p:blipFill>
          <a:blip r:embed="rId2" cstate="print"/>
          <a:srcRect l="16377" t="15152" r="18116" b="6061"/>
          <a:stretch>
            <a:fillRect/>
          </a:stretch>
        </p:blipFill>
        <p:spPr bwMode="auto">
          <a:xfrm>
            <a:off x="1228823" y="7380312"/>
            <a:ext cx="1152128" cy="1260648"/>
          </a:xfrm>
          <a:prstGeom prst="rect">
            <a:avLst/>
          </a:prstGeom>
          <a:noFill/>
        </p:spPr>
      </p:pic>
      <p:sp>
        <p:nvSpPr>
          <p:cNvPr id="61" name="TextBox 60"/>
          <p:cNvSpPr txBox="1"/>
          <p:nvPr/>
        </p:nvSpPr>
        <p:spPr>
          <a:xfrm>
            <a:off x="1372839" y="8568952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d=22cm</a:t>
            </a:r>
            <a:endParaRPr lang="en-GB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64927" y="7704856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h=16cm</a:t>
            </a:r>
            <a:endParaRPr lang="en-GB" sz="1200" dirty="0"/>
          </a:p>
        </p:txBody>
      </p:sp>
      <p:pic>
        <p:nvPicPr>
          <p:cNvPr id="63" name="Picture 6" descr="http://upload.wikimedia.org/wikipedia/commons/9/9c/Cone.png"/>
          <p:cNvPicPr>
            <a:picLocks noChangeAspect="1" noChangeArrowheads="1"/>
          </p:cNvPicPr>
          <p:nvPr/>
        </p:nvPicPr>
        <p:blipFill>
          <a:blip r:embed="rId2" cstate="print"/>
          <a:srcRect l="16377" t="15152" r="18116" b="6061"/>
          <a:stretch>
            <a:fillRect/>
          </a:stretch>
        </p:blipFill>
        <p:spPr bwMode="auto">
          <a:xfrm>
            <a:off x="3173039" y="7308304"/>
            <a:ext cx="1152128" cy="1260648"/>
          </a:xfrm>
          <a:prstGeom prst="rect">
            <a:avLst/>
          </a:prstGeom>
          <a:noFill/>
        </p:spPr>
      </p:pic>
      <p:sp>
        <p:nvSpPr>
          <p:cNvPr id="64" name="TextBox 63"/>
          <p:cNvSpPr txBox="1"/>
          <p:nvPr/>
        </p:nvSpPr>
        <p:spPr>
          <a:xfrm>
            <a:off x="3317055" y="8496944"/>
            <a:ext cx="582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r=7cm</a:t>
            </a:r>
            <a:endParaRPr lang="en-GB" sz="1200" dirty="0"/>
          </a:p>
        </p:txBody>
      </p:sp>
      <p:sp>
        <p:nvSpPr>
          <p:cNvPr id="65" name="TextBox 64"/>
          <p:cNvSpPr txBox="1"/>
          <p:nvPr/>
        </p:nvSpPr>
        <p:spPr>
          <a:xfrm>
            <a:off x="4109143" y="7632848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h=14cm</a:t>
            </a:r>
            <a:endParaRPr lang="en-GB" sz="1200" dirty="0"/>
          </a:p>
        </p:txBody>
      </p:sp>
      <p:pic>
        <p:nvPicPr>
          <p:cNvPr id="66" name="Picture 6" descr="http://upload.wikimedia.org/wikipedia/commons/9/9c/Cone.png"/>
          <p:cNvPicPr>
            <a:picLocks noChangeAspect="1" noChangeArrowheads="1"/>
          </p:cNvPicPr>
          <p:nvPr/>
        </p:nvPicPr>
        <p:blipFill>
          <a:blip r:embed="rId2" cstate="print"/>
          <a:srcRect l="16377" t="15152" r="18116" b="6061"/>
          <a:stretch>
            <a:fillRect/>
          </a:stretch>
        </p:blipFill>
        <p:spPr bwMode="auto">
          <a:xfrm>
            <a:off x="5117255" y="7452320"/>
            <a:ext cx="1152128" cy="1260648"/>
          </a:xfrm>
          <a:prstGeom prst="rect">
            <a:avLst/>
          </a:prstGeom>
          <a:noFill/>
        </p:spPr>
      </p:pic>
      <p:sp>
        <p:nvSpPr>
          <p:cNvPr id="67" name="TextBox 66"/>
          <p:cNvSpPr txBox="1"/>
          <p:nvPr/>
        </p:nvSpPr>
        <p:spPr>
          <a:xfrm>
            <a:off x="5261271" y="8640960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d=12cm</a:t>
            </a:r>
            <a:endParaRPr lang="en-GB" sz="1200" dirty="0"/>
          </a:p>
        </p:txBody>
      </p:sp>
      <p:sp>
        <p:nvSpPr>
          <p:cNvPr id="68" name="TextBox 67"/>
          <p:cNvSpPr txBox="1"/>
          <p:nvPr/>
        </p:nvSpPr>
        <p:spPr>
          <a:xfrm>
            <a:off x="6053359" y="7776864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h=15cm</a:t>
            </a:r>
            <a:endParaRPr lang="en-GB" sz="1200" dirty="0"/>
          </a:p>
        </p:txBody>
      </p:sp>
      <p:sp>
        <p:nvSpPr>
          <p:cNvPr id="69" name="TextBox 68"/>
          <p:cNvSpPr txBox="1"/>
          <p:nvPr/>
        </p:nvSpPr>
        <p:spPr>
          <a:xfrm>
            <a:off x="0" y="2782833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V=________cm</a:t>
            </a:r>
            <a:r>
              <a:rPr lang="en-GB" sz="1400" baseline="30000" dirty="0" smtClean="0"/>
              <a:t>3</a:t>
            </a:r>
            <a:endParaRPr lang="en-GB" sz="1400" baseline="30000" dirty="0"/>
          </a:p>
        </p:txBody>
      </p:sp>
      <p:sp>
        <p:nvSpPr>
          <p:cNvPr id="70" name="TextBox 69"/>
          <p:cNvSpPr txBox="1"/>
          <p:nvPr/>
        </p:nvSpPr>
        <p:spPr>
          <a:xfrm>
            <a:off x="1772816" y="2771800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V=________cm</a:t>
            </a:r>
            <a:r>
              <a:rPr lang="en-GB" sz="1400" baseline="30000" dirty="0" smtClean="0"/>
              <a:t>3</a:t>
            </a:r>
            <a:endParaRPr lang="en-GB" sz="1400" baseline="30000" dirty="0"/>
          </a:p>
        </p:txBody>
      </p:sp>
      <p:sp>
        <p:nvSpPr>
          <p:cNvPr id="71" name="TextBox 70"/>
          <p:cNvSpPr txBox="1"/>
          <p:nvPr/>
        </p:nvSpPr>
        <p:spPr>
          <a:xfrm>
            <a:off x="3429000" y="2843808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V=________cm</a:t>
            </a:r>
            <a:r>
              <a:rPr lang="en-GB" sz="1400" baseline="30000" dirty="0" smtClean="0"/>
              <a:t>3</a:t>
            </a:r>
            <a:endParaRPr lang="en-GB" sz="1400" baseline="30000" dirty="0"/>
          </a:p>
        </p:txBody>
      </p:sp>
      <p:sp>
        <p:nvSpPr>
          <p:cNvPr id="72" name="TextBox 71"/>
          <p:cNvSpPr txBox="1"/>
          <p:nvPr/>
        </p:nvSpPr>
        <p:spPr>
          <a:xfrm>
            <a:off x="5258319" y="2915816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V=________cm</a:t>
            </a:r>
            <a:r>
              <a:rPr lang="en-GB" sz="1400" baseline="30000" dirty="0" smtClean="0"/>
              <a:t>3</a:t>
            </a:r>
            <a:endParaRPr lang="en-GB" sz="1400" baseline="30000" dirty="0"/>
          </a:p>
        </p:txBody>
      </p:sp>
      <p:sp>
        <p:nvSpPr>
          <p:cNvPr id="73" name="TextBox 72"/>
          <p:cNvSpPr txBox="1"/>
          <p:nvPr/>
        </p:nvSpPr>
        <p:spPr>
          <a:xfrm>
            <a:off x="0" y="5015081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V=________cm</a:t>
            </a:r>
            <a:r>
              <a:rPr lang="en-GB" sz="1400" baseline="30000" dirty="0" smtClean="0"/>
              <a:t>3</a:t>
            </a:r>
            <a:endParaRPr lang="en-GB" sz="1400" baseline="30000" dirty="0"/>
          </a:p>
        </p:txBody>
      </p:sp>
      <p:sp>
        <p:nvSpPr>
          <p:cNvPr id="74" name="TextBox 73"/>
          <p:cNvSpPr txBox="1"/>
          <p:nvPr/>
        </p:nvSpPr>
        <p:spPr>
          <a:xfrm>
            <a:off x="1772816" y="5004048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V=________cm</a:t>
            </a:r>
            <a:r>
              <a:rPr lang="en-GB" sz="1400" baseline="30000" dirty="0" smtClean="0"/>
              <a:t>3</a:t>
            </a:r>
            <a:endParaRPr lang="en-GB" sz="1400" baseline="30000" dirty="0"/>
          </a:p>
        </p:txBody>
      </p:sp>
      <p:sp>
        <p:nvSpPr>
          <p:cNvPr id="75" name="TextBox 74"/>
          <p:cNvSpPr txBox="1"/>
          <p:nvPr/>
        </p:nvSpPr>
        <p:spPr>
          <a:xfrm>
            <a:off x="3429000" y="5076056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V=________cm</a:t>
            </a:r>
            <a:r>
              <a:rPr lang="en-GB" sz="1400" baseline="30000" dirty="0" smtClean="0"/>
              <a:t>3</a:t>
            </a:r>
            <a:endParaRPr lang="en-GB" sz="1400" baseline="30000" dirty="0"/>
          </a:p>
        </p:txBody>
      </p:sp>
      <p:sp>
        <p:nvSpPr>
          <p:cNvPr id="76" name="TextBox 75"/>
          <p:cNvSpPr txBox="1"/>
          <p:nvPr/>
        </p:nvSpPr>
        <p:spPr>
          <a:xfrm>
            <a:off x="5085184" y="5148064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V=________cm</a:t>
            </a:r>
            <a:r>
              <a:rPr lang="en-GB" sz="1400" baseline="30000" dirty="0" smtClean="0"/>
              <a:t>3</a:t>
            </a:r>
            <a:endParaRPr lang="en-GB" sz="1400" baseline="30000" dirty="0"/>
          </a:p>
        </p:txBody>
      </p:sp>
      <p:sp>
        <p:nvSpPr>
          <p:cNvPr id="77" name="TextBox 76"/>
          <p:cNvSpPr txBox="1"/>
          <p:nvPr/>
        </p:nvSpPr>
        <p:spPr>
          <a:xfrm>
            <a:off x="1484784" y="7020272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V=________cm</a:t>
            </a:r>
            <a:r>
              <a:rPr lang="en-GB" sz="1400" baseline="30000" dirty="0" smtClean="0"/>
              <a:t>3</a:t>
            </a:r>
            <a:endParaRPr lang="en-GB" sz="1400" baseline="30000" dirty="0"/>
          </a:p>
        </p:txBody>
      </p:sp>
      <p:sp>
        <p:nvSpPr>
          <p:cNvPr id="78" name="TextBox 77"/>
          <p:cNvSpPr txBox="1"/>
          <p:nvPr/>
        </p:nvSpPr>
        <p:spPr>
          <a:xfrm>
            <a:off x="3140968" y="7092280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V=________cm</a:t>
            </a:r>
            <a:r>
              <a:rPr lang="en-GB" sz="1400" baseline="30000" dirty="0" smtClean="0"/>
              <a:t>3</a:t>
            </a:r>
            <a:endParaRPr lang="en-GB" sz="1400" baseline="30000" dirty="0"/>
          </a:p>
        </p:txBody>
      </p:sp>
      <p:sp>
        <p:nvSpPr>
          <p:cNvPr id="79" name="TextBox 78"/>
          <p:cNvSpPr txBox="1"/>
          <p:nvPr/>
        </p:nvSpPr>
        <p:spPr>
          <a:xfrm>
            <a:off x="4797152" y="7164288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V=________cm</a:t>
            </a:r>
            <a:r>
              <a:rPr lang="en-GB" sz="1400" baseline="30000" dirty="0" smtClean="0"/>
              <a:t>3</a:t>
            </a:r>
            <a:endParaRPr lang="en-GB" sz="1400" baseline="30000" dirty="0"/>
          </a:p>
        </p:txBody>
      </p:sp>
      <p:sp>
        <p:nvSpPr>
          <p:cNvPr id="80" name="TextBox 79"/>
          <p:cNvSpPr txBox="1"/>
          <p:nvPr/>
        </p:nvSpPr>
        <p:spPr>
          <a:xfrm>
            <a:off x="1484784" y="8836223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V=________cm</a:t>
            </a:r>
            <a:r>
              <a:rPr lang="en-GB" sz="1400" baseline="30000" dirty="0" smtClean="0"/>
              <a:t>3</a:t>
            </a:r>
            <a:endParaRPr lang="en-GB" sz="1400" baseline="30000" dirty="0"/>
          </a:p>
        </p:txBody>
      </p:sp>
      <p:sp>
        <p:nvSpPr>
          <p:cNvPr id="81" name="TextBox 80"/>
          <p:cNvSpPr txBox="1"/>
          <p:nvPr/>
        </p:nvSpPr>
        <p:spPr>
          <a:xfrm>
            <a:off x="3140968" y="8836223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V=________cm</a:t>
            </a:r>
            <a:r>
              <a:rPr lang="en-GB" sz="1400" baseline="30000" dirty="0" smtClean="0"/>
              <a:t>3</a:t>
            </a:r>
            <a:endParaRPr lang="en-GB" sz="1400" baseline="30000" dirty="0"/>
          </a:p>
        </p:txBody>
      </p:sp>
      <p:sp>
        <p:nvSpPr>
          <p:cNvPr id="82" name="TextBox 81"/>
          <p:cNvSpPr txBox="1"/>
          <p:nvPr/>
        </p:nvSpPr>
        <p:spPr>
          <a:xfrm>
            <a:off x="4797152" y="8836223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V=________cm</a:t>
            </a:r>
            <a:r>
              <a:rPr lang="en-GB" sz="1400" baseline="30000" dirty="0" smtClean="0"/>
              <a:t>3</a:t>
            </a:r>
            <a:endParaRPr lang="en-GB" sz="1400" baseline="30000" dirty="0"/>
          </a:p>
        </p:txBody>
      </p:sp>
      <p:sp>
        <p:nvSpPr>
          <p:cNvPr id="83" name="AutoShape 4" descr="data:image/png;base64,iVBORw0KGgoAAAANSUhEUgAAAMEAAAEFCAMAAABtknO4AAABLFBMVEX///8AAAAyy/4kkrcmmsEnn8cjjK8ll70ff58pp9Eoo8wee5okj7MssNwnncQiiKsddpQbbIcuuOYsst8gg6QwwPAdd5UccY0XXHMaaYMwwfEZZH0YYXkWWG4TT2Muu+kRR1kLLDcPPk4NNEERRVYPPU0MMT0JJzEUU2kHHyfu9PcFFx0IISkEERUGGR8CCw7n5+daWlrE4O2JiYk2ODkAAA58fn606P/c9P+6u7yR3v512P5GUVbKysrO3+d+wt+pra6sz95NtNqTyuKfnp4WHiLCwsIlJSTQ09RpbXC60NuVuMdTkquBrcBEhJ0AaIqExeBvnbFrr8pLpcgAKEBObXoAOlTH7f4AESI3VWKUr7sAWHdrxupOe46traxIR0cAFSdXzPczMjIaGRlACL21AAALGUlEQVR4nO2dC1sbxxWGGZmbsMFGQlwECBA4YNkEUWFatYWYmGCB3WCThCR1alr3//+Hzn3nuruSdndmn875BfM+873nnOWyOzERKlSoUKFChQoVKlSoUKFChQoVKlSoUKFChQoVKlSoUKFChQoVKtT/b527PsDY9ekvrk8wZnVu/+r6CGNW/3Hd9RHGrN+Xqr+6PsNYNWg9nfuP60OMVb316alax/UpxqmdlemFepld7t8vTy/MN10fY4w6Xn08PVltlNfl7m9riKD2N9cHGbl67cXZ6Zm5enlj9MPBCiKYb/zZ9UlGrLN/b6wsIYKtsl7CdXv9GSSYqtYqJV3vQGttGRPUm+UcCZcvNhcfE4JGOWN00l5dQQQL1fmtShlHwgC01gnB3HytWcb17nT/YO3Z7NMnkADGqFLC9Q60NwnBJCTYqpTP5T7YXl1chgSPIAGMUflcfthpbVCCKUjQqPzJ9YmGrC54vglFZgRQhLKtd73X26trsBVhAiRCs1kyl8FOa3XtGSeAIlTKtd6dgecHG4uEYAYTNCoN14caqo5f7m2uMwI4EOZhjEq13nXAN9ur6yvLsxLBH66PNUR9Ac+hBgJBtQ5jVKaR8O7F3sEGbEWzS9OIYKqKRCiTywMYIqwBIcDNCMWoPOvdKQqRSgBjVJ71DrxqIw1UgmZp1rs+DBHSYBk2U04wX4MxKovLD0e7rc2NRYmAiFCS9a4L9ttIA9xMMcECJkAxKsdI6IGdvQMqMiUgIqAYlcJl8HJ3e3ODiCwQYBFKMRKuwP7zlomgvgVjVIb17hiGCGsgE1ARSuByB3y7u32ARdYIUIz8d/mShkggmOEEpYjRVxQirEFEQAYCjdGF6xMm1ICGCIssEGCVcYy2XB8xoa5hiIgGSGROwEWAI8HzRzVwuNOGIVIIRBEqH12fMba+gBe7e5HIMgEVwW+XH2iIbAQoRl6PhC4JERaZEzwSCRqej4QeDRHSADfTiEAQoeHxegdIiJAGzx7rBLSfVt66Pqe1zlCIEggaXo+EYxIiLDIZaJxAEqHpq8tdcARDhDRYW0GtKCKY5AS4n3rr8iV4uYM1YCLDViQSQJU9d/kdDFG7RTWQCRYIAYuRp+vdAIYo0kAk0FT21OVTEiKkAW1FJgIylhte/ikwYCGCGlgJ2CX4uN69AYcoREQD2IoMBJ7H6AR8u4N6KddAJhBV9nMkwGHw6ps218BOQC/he9cH1qrHQ2QjkEXwbyQAFiIicjyBj+tdn4SIakBbkUDAmlEUo5rrIyt1TENENGDNlBOIzYgSeOZyB4dI1MBKwGPk13p3yUOUnsCvv4l/jUJECNYWo1YkEtB2KsTIp/VuwELENDASiCr75vI1ChHspVQDO4EUI5/WOwBeshDxVhRHQGJU+c71uXl9gWspCZEgskgwIxB4GaMTKUTpCbwZCV0tRAaChYgAiUBi5Mt61wNHKETbBxLBkk7AReAuezISADiEIYo0YK2IEegqMwJPHtWuWIiwBkhkgeCJTkBEIDHyw+UHFKLdPaZBJDJeTU0EpJ/iGPngctcUokhkMwGPkQ/rXY+HKBWBIoIP691/cYiwBqvrqQiYCHgkuH9UO5NDFE+gi+CBy9dwLRVDRFpRIgGPkfv1DvAQcQ2kgcYJNJUpguv17g0M0T4MEdZAFtlCwERgl+D6v+C/4hBBDVqaBnEEQowcP6oN1BBZCSZ1Aorgdr07hcPgFQlRLIFJZT9GArwCHCK0UqitKC2B05HQl0MktKIYAlEE5y4/oI1CCBEROTUBGwnu1rtuFCJZAwuBojKLkUOX4VJ3yEMki2wg0JoRj5E7lwEJkaCBgeCJREBVlmPkzOUzNUSqyIY7MMfIlcvHNERwII9O4HK960QhagkapCcQYuRmvfuChoEQIqaBhUBup7IIjmL0FT3bCCEagYCL0HCx3g1IiIReijSQxgEj4KsdbaeCCC5HwqkUIkVkO4FZhErNgcuAhIhpIIvMxkEcgRSjZvE/vYMPZ0c0RJIGMQQWEQhCtXCCB0OIIpE1Aq2dqiIUvt515RAJIqchMIjQLNrlHgsR7aUKwVIaAjlG9YLXO4BDRAayqkEMQVyMil3vrtAwkEKUTDBpIBBiVLDLx3gtRSFSRFYGWtIdiDHaKtJltNQdiiGSCGaT70AUgbtc5Hp3KYaIaqC3ogQCVYRCXf6qhYhoMDwBEaHw9W6ghEjUII5gwUQQiVDgSDgVQqRrkEQgqKzEqLj1Dggham0yDVIRWFSmMSpqvevzEGkaSOMgiUCLUWW+IIITtFEIIVJEHp6Ax2irGJe7LES8lzINxFY0JEGhLvfkEMkiD0mg9NOCRgJgIWpvRxrYCeijvjAQYmJUyHp3JYbILLLpDpIIaIyKWO+OaYjIQJY1GJugUst/vevoIUpPYBFBiFEBLl+yK5BCJDfTkQgKc/kHNUSqyNFI1k0WCSwxyn29G2CPcYiiXhqJLLUiK4FyCRJB7i5f6yESNVCbaSoCxeWc1zuA1lIWIlUDK8GjIQga+T6qvYk6kaaBqRUlERhEyDlGD0qIqAYjEdguIdf1Di91SogUkeMI8EhTm5F+CXmOhJ7UiYwaJN5BIkGl3s2PAPAQoYE8NEGsCILL+a13V8RjuwajEigxyu9R7ZispVKIDCIPSaDHqHaTE0CXhkjqpWSe4Z1CbEU6QWIzEmKUl8uXvBOREMVpMDSBFKO81rt3aohiNEhNYBKhspWPywM5RAYN0hHEiZDvXL4WO1GkwTrRwEzwJD2BPBJyWe/wFYjjLNLA2EyNBDYRlBg17nIA6GshUkTGrWh4AlmEPEfCiS1EEsFsLIFFZb2fVmrZr3cdHiK61VlFHpVAjlH2/1qBQnRkCVEWBGqMsv97ndMoRLyXjkFgFkEcCZn/4OgkPkSGZmolSCVCM/O3cNKNgofIIPK4BJIIzaxFID9yF0NENLA00xEIFBEy/9oA/ksQtBMJvdSgwbgE4iVkTHAlh0haiiwE0wqBaaTFxKiSMUFf7URWkVMSJMcoY4IzslHQgZwfQSM3gq7eiYgGWiuKJbANhGIIxE6kazAMgaqyIkIzl140wUKka5CGwNqM7JeQ+TviT/hOZCYwNtNxCDKfyaevlRCJ82wUAqMIQowyfxVtHwghijSwt6IhCbgI7BKyBoDPB7EhGo/AEKMcPmH0dzFEYxAo7dQoAkTI4ZNw/d/MGmRLwEXIHmBi4gUPkUGD4QhMzUgSIZ9PI17u6xrorWg0Ai1G+fzYccemwWgEZpVJjHL65En/5714DVIQ6M1IF6HRzO1tKL+3pRANS2Bup5IIJEb5fWd28LMSIpvI4xCgGOUFMDHx5r5lmGdZEEgxyvOPQ37hj8iqyNkR1HL92knHpIHeimIJEmJUy/nTS517WQO7yKMS5P4Br+59PgQ8RnkDQIRtm8hZEBTy9tzuvaZBRgT1ekGvM+psrGois1YkD7R0BJEIhf0XSOdfn1UNRiJQL6HI/4a6+RwnchzBpJXg+2I/0tLlv4UdjUAXofg3ev3z89qIBEaVXXwlp/vj54wIqlVXr3s4X7zNhOAPh2/PuVm+5c00mcDYTue+c/xCuJsfb4Xd2kpgaadzcx89+EzU+afo1/nDEUxV33rwQj5UnYsPt8tDEkCGOx9e6sir8/7DLfsvqGgtshAsTE5O+XV8Up2bf3xgL7KLIYB199b5a/jsdf7+01PyPkF5N6U189PHC0+iH1edzvn793d3T3lBiJ/u7i4uzktweKU6pFwfI1SoUKFChQoVKlSoUKFChQoVqpj6HxXQUKfKpx8GAAAAAElFTkSuQmCC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0" y="5580112"/>
            <a:ext cx="980728" cy="201622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sz="1200" dirty="0" smtClean="0"/>
              <a:t>B) Find the volume of the following cones, give the volume to 2  decimal places</a:t>
            </a:r>
            <a:endParaRPr lang="en-GB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://image.mathcaptain.com/cms/images/67/volume-of-soli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4664" y="899592"/>
            <a:ext cx="1591684" cy="2448272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611716" y="2826688"/>
            <a:ext cx="36901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100" dirty="0" smtClean="0"/>
              <a:t>5m</a:t>
            </a:r>
            <a:endParaRPr lang="en-GB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1628800" y="2051720"/>
            <a:ext cx="44114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100" dirty="0" smtClean="0"/>
              <a:t>15m</a:t>
            </a:r>
            <a:endParaRPr lang="en-GB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1356008" y="1331640"/>
            <a:ext cx="464006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GB" sz="1050" dirty="0" smtClean="0"/>
              <a:t>5m</a:t>
            </a:r>
            <a:endParaRPr lang="en-GB" sz="1050" dirty="0"/>
          </a:p>
        </p:txBody>
      </p:sp>
      <p:sp>
        <p:nvSpPr>
          <p:cNvPr id="10" name="TextBox 9"/>
          <p:cNvSpPr txBox="1"/>
          <p:nvPr/>
        </p:nvSpPr>
        <p:spPr>
          <a:xfrm>
            <a:off x="2132856" y="1403648"/>
            <a:ext cx="3888432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200" dirty="0" smtClean="0"/>
              <a:t>Area of circle base=</a:t>
            </a:r>
          </a:p>
          <a:p>
            <a:pPr>
              <a:lnSpc>
                <a:spcPct val="200000"/>
              </a:lnSpc>
            </a:pPr>
            <a:r>
              <a:rPr lang="en-GB" sz="1200" dirty="0" smtClean="0"/>
              <a:t>Volume of cylinder=</a:t>
            </a:r>
          </a:p>
          <a:p>
            <a:pPr>
              <a:lnSpc>
                <a:spcPct val="200000"/>
              </a:lnSpc>
            </a:pPr>
            <a:r>
              <a:rPr lang="en-GB" sz="1200" dirty="0" smtClean="0"/>
              <a:t>Volume of cone=</a:t>
            </a:r>
          </a:p>
          <a:p>
            <a:pPr>
              <a:lnSpc>
                <a:spcPct val="200000"/>
              </a:lnSpc>
            </a:pPr>
            <a:r>
              <a:rPr lang="en-GB" sz="1200" dirty="0" smtClean="0"/>
              <a:t>Total volume=</a:t>
            </a:r>
            <a:endParaRPr lang="en-GB" sz="1200" dirty="0"/>
          </a:p>
        </p:txBody>
      </p:sp>
      <p:pic>
        <p:nvPicPr>
          <p:cNvPr id="11" name="Picture 2" descr="http://image.mathcaptain.com/cms/images/67/volume-of-soli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672" y="3419872"/>
            <a:ext cx="1591684" cy="2448272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683724" y="5346968"/>
            <a:ext cx="36901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100" dirty="0" smtClean="0"/>
              <a:t>9m</a:t>
            </a:r>
            <a:endParaRPr lang="en-GB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1700808" y="4572000"/>
            <a:ext cx="44114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100" dirty="0" smtClean="0"/>
              <a:t>13m</a:t>
            </a:r>
            <a:endParaRPr lang="en-GB" sz="1100" dirty="0"/>
          </a:p>
        </p:txBody>
      </p:sp>
      <p:sp>
        <p:nvSpPr>
          <p:cNvPr id="14" name="TextBox 13"/>
          <p:cNvSpPr txBox="1"/>
          <p:nvPr/>
        </p:nvSpPr>
        <p:spPr>
          <a:xfrm>
            <a:off x="1428016" y="3851920"/>
            <a:ext cx="464006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GB" sz="1050" dirty="0" smtClean="0"/>
              <a:t>6m</a:t>
            </a:r>
            <a:endParaRPr lang="en-GB" sz="1050" dirty="0"/>
          </a:p>
        </p:txBody>
      </p:sp>
      <p:sp>
        <p:nvSpPr>
          <p:cNvPr id="15" name="TextBox 14"/>
          <p:cNvSpPr txBox="1"/>
          <p:nvPr/>
        </p:nvSpPr>
        <p:spPr>
          <a:xfrm>
            <a:off x="2204864" y="3923928"/>
            <a:ext cx="3888432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200" dirty="0" smtClean="0"/>
              <a:t>Area of circle base=</a:t>
            </a:r>
          </a:p>
          <a:p>
            <a:pPr>
              <a:lnSpc>
                <a:spcPct val="200000"/>
              </a:lnSpc>
            </a:pPr>
            <a:r>
              <a:rPr lang="en-GB" sz="1200" dirty="0" smtClean="0"/>
              <a:t>Volume of cylinder=</a:t>
            </a:r>
          </a:p>
          <a:p>
            <a:pPr>
              <a:lnSpc>
                <a:spcPct val="200000"/>
              </a:lnSpc>
            </a:pPr>
            <a:r>
              <a:rPr lang="en-GB" sz="1200" dirty="0" smtClean="0"/>
              <a:t>Volume of cone=</a:t>
            </a:r>
          </a:p>
          <a:p>
            <a:pPr>
              <a:lnSpc>
                <a:spcPct val="200000"/>
              </a:lnSpc>
            </a:pPr>
            <a:r>
              <a:rPr lang="en-GB" sz="1200" dirty="0" smtClean="0"/>
              <a:t>Total volume=</a:t>
            </a:r>
            <a:endParaRPr lang="en-GB" sz="1200" dirty="0"/>
          </a:p>
        </p:txBody>
      </p:sp>
      <p:pic>
        <p:nvPicPr>
          <p:cNvPr id="16" name="Picture 2" descr="http://image.mathcaptain.com/cms/images/67/volume-of-soli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672" y="6084168"/>
            <a:ext cx="1591684" cy="2448272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683724" y="8016706"/>
            <a:ext cx="36901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100" dirty="0" smtClean="0"/>
              <a:t>6m</a:t>
            </a:r>
            <a:endParaRPr lang="en-GB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1700808" y="7236296"/>
            <a:ext cx="44114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100" dirty="0" smtClean="0"/>
              <a:t>11m</a:t>
            </a:r>
            <a:endParaRPr lang="en-GB" sz="1100" dirty="0"/>
          </a:p>
        </p:txBody>
      </p:sp>
      <p:sp>
        <p:nvSpPr>
          <p:cNvPr id="19" name="TextBox 18"/>
          <p:cNvSpPr txBox="1"/>
          <p:nvPr/>
        </p:nvSpPr>
        <p:spPr>
          <a:xfrm>
            <a:off x="1428016" y="6516216"/>
            <a:ext cx="464006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GB" sz="1050" dirty="0" smtClean="0"/>
              <a:t>4m</a:t>
            </a:r>
            <a:endParaRPr lang="en-GB" sz="1050" dirty="0"/>
          </a:p>
        </p:txBody>
      </p:sp>
      <p:sp>
        <p:nvSpPr>
          <p:cNvPr id="20" name="TextBox 19"/>
          <p:cNvSpPr txBox="1"/>
          <p:nvPr/>
        </p:nvSpPr>
        <p:spPr>
          <a:xfrm>
            <a:off x="2204864" y="6588224"/>
            <a:ext cx="3888432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200" dirty="0" smtClean="0"/>
              <a:t>Area of circle base=</a:t>
            </a:r>
          </a:p>
          <a:p>
            <a:pPr>
              <a:lnSpc>
                <a:spcPct val="200000"/>
              </a:lnSpc>
            </a:pPr>
            <a:r>
              <a:rPr lang="en-GB" sz="1200" dirty="0" smtClean="0"/>
              <a:t>Volume of cylinder=</a:t>
            </a:r>
          </a:p>
          <a:p>
            <a:pPr>
              <a:lnSpc>
                <a:spcPct val="200000"/>
              </a:lnSpc>
            </a:pPr>
            <a:r>
              <a:rPr lang="en-GB" sz="1200" dirty="0" smtClean="0"/>
              <a:t>Volume of cone=</a:t>
            </a:r>
          </a:p>
          <a:p>
            <a:pPr>
              <a:lnSpc>
                <a:spcPct val="200000"/>
              </a:lnSpc>
            </a:pPr>
            <a:r>
              <a:rPr lang="en-GB" sz="1200" dirty="0" smtClean="0"/>
              <a:t>Total volume=</a:t>
            </a:r>
            <a:endParaRPr lang="en-GB" sz="1200" dirty="0"/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6858000" cy="1011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ethyst" pitchFamily="2" charset="0"/>
                <a:ea typeface="+mj-ea"/>
                <a:cs typeface="+mj-cs"/>
              </a:rPr>
              <a:t>Extension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167</Words>
  <Application>Microsoft Office PowerPoint</Application>
  <PresentationFormat>On-screen Show (4:3)</PresentationFormat>
  <Paragraphs>67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Volume of Cones and Cylinders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Volume of Cones and Cylinders</dc:title>
  <dc:creator>ben</dc:creator>
  <cp:lastModifiedBy>ben</cp:lastModifiedBy>
  <cp:revision>3</cp:revision>
  <dcterms:created xsi:type="dcterms:W3CDTF">2014-10-20T18:02:37Z</dcterms:created>
  <dcterms:modified xsi:type="dcterms:W3CDTF">2014-10-20T19:22:09Z</dcterms:modified>
</cp:coreProperties>
</file>