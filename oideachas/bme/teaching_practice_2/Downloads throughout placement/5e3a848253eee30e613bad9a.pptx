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84" r:id="rId4"/>
    <p:sldId id="279" r:id="rId5"/>
    <p:sldId id="288" r:id="rId6"/>
    <p:sldId id="262" r:id="rId7"/>
    <p:sldId id="289" r:id="rId8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DDE7F3"/>
    <a:srgbClr val="AF26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37" autoAdjust="0"/>
    <p:restoredTop sz="87637" autoAdjust="0"/>
  </p:normalViewPr>
  <p:slideViewPr>
    <p:cSldViewPr snapToGrid="0" snapToObjects="1">
      <p:cViewPr varScale="1">
        <p:scale>
          <a:sx n="97" d="100"/>
          <a:sy n="97" d="100"/>
        </p:scale>
        <p:origin x="205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35E6AF9-684E-4994-A3C2-15D3EBA20074}" type="datetimeFigureOut">
              <a:rPr lang="en-IE"/>
              <a:pPr>
                <a:defRPr/>
              </a:pPr>
              <a:t>12/07/2018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E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E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2A99A77-2CDB-4D13-BE8F-28CA2AFF1B79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640118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2A99A77-2CDB-4D13-BE8F-28CA2AFF1B79}" type="slidenum">
              <a:rPr lang="en-IE" smtClean="0"/>
              <a:pPr>
                <a:defRPr/>
              </a:pPr>
              <a:t>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093196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2A99A77-2CDB-4D13-BE8F-28CA2AFF1B79}" type="slidenum">
              <a:rPr lang="en-IE" smtClean="0"/>
              <a:pPr>
                <a:defRPr/>
              </a:pPr>
              <a:t>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034448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2A99A77-2CDB-4D13-BE8F-28CA2AFF1B79}" type="slidenum">
              <a:rPr lang="en-IE" smtClean="0"/>
              <a:pPr>
                <a:defRPr/>
              </a:pPr>
              <a:t>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766436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2A99A77-2CDB-4D13-BE8F-28CA2AFF1B79}" type="slidenum">
              <a:rPr lang="en-IE" smtClean="0"/>
              <a:pPr>
                <a:defRPr/>
              </a:pPr>
              <a:t>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72835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E" altLang="en-US" dirty="0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CA367257-81C9-432B-B909-A18C773DA127}" type="slidenum">
              <a:rPr lang="en-IE" altLang="en-US" smtClean="0"/>
              <a:pPr/>
              <a:t>6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6528015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E" altLang="en-US" dirty="0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CA367257-81C9-432B-B909-A18C773DA127}" type="slidenum">
              <a:rPr lang="en-IE" altLang="en-US" smtClean="0"/>
              <a:pPr/>
              <a:t>7</a:t>
            </a:fld>
            <a:endParaRPr lang="en-IE" altLang="en-US"/>
          </a:p>
        </p:txBody>
      </p:sp>
    </p:spTree>
    <p:extLst>
      <p:ext uri="{BB962C8B-B14F-4D97-AF65-F5344CB8AC3E}">
        <p14:creationId xmlns:p14="http://schemas.microsoft.com/office/powerpoint/2010/main" val="2428125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11" y="0"/>
            <a:ext cx="9141578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AAB835CB-EBEF-4405-A645-9EC2F2014695}"/>
              </a:ext>
            </a:extLst>
          </p:cNvPr>
          <p:cNvSpPr/>
          <p:nvPr userDrawn="1"/>
        </p:nvSpPr>
        <p:spPr>
          <a:xfrm>
            <a:off x="287338" y="1901825"/>
            <a:ext cx="395287" cy="368300"/>
          </a:xfrm>
          <a:prstGeom prst="ellipse">
            <a:avLst/>
          </a:prstGeom>
          <a:solidFill>
            <a:srgbClr val="D551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0093B2"/>
              </a:solidFill>
            </a:endParaRPr>
          </a:p>
        </p:txBody>
      </p:sp>
      <p:pic>
        <p:nvPicPr>
          <p:cNvPr id="13" name="Picture 7" descr="St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75" y="1944688"/>
            <a:ext cx="27940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956996A-CD3F-4B98-BF6B-AB83A7FB60E3}"/>
              </a:ext>
            </a:extLst>
          </p:cNvPr>
          <p:cNvSpPr>
            <a:spLocks noChangeArrowheads="1"/>
          </p:cNvSpPr>
          <p:nvPr userDrawn="1"/>
        </p:nvSpPr>
        <p:spPr bwMode="auto">
          <a:xfrm flipH="1">
            <a:off x="596900" y="825500"/>
            <a:ext cx="71438" cy="425450"/>
          </a:xfrm>
          <a:prstGeom prst="rect">
            <a:avLst/>
          </a:prstGeom>
          <a:solidFill>
            <a:srgbClr val="ED0F6C"/>
          </a:solidFill>
          <a:ln w="9525">
            <a:solidFill>
              <a:srgbClr val="4F81BD"/>
            </a:solidFill>
            <a:miter lim="800000"/>
            <a:headEnd/>
            <a:tailEnd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B0DD9B1-27B8-4408-927F-132A2CA5B814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287338" y="258763"/>
            <a:ext cx="692150" cy="647700"/>
          </a:xfrm>
          <a:prstGeom prst="ellipse">
            <a:avLst/>
          </a:prstGeom>
          <a:solidFill>
            <a:srgbClr val="ED0F6C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1980A9"/>
              </a:solidFill>
              <a:latin typeface="+mn-lt"/>
              <a:ea typeface="+mn-ea"/>
            </a:endParaRPr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FEB839AC-BAD3-4343-AC24-B1EE954177B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14375" y="1901825"/>
            <a:ext cx="62150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ga-IE" b="1" dirty="0">
                <a:solidFill>
                  <a:srgbClr val="D5519D"/>
                </a:solidFill>
              </a:rPr>
              <a:t>Learning Outcomes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286774" y="260284"/>
            <a:ext cx="692414" cy="646596"/>
          </a:xfrm>
          <a:prstGeom prst="ellipse">
            <a:avLst/>
          </a:prstGeom>
          <a:noFill/>
        </p:spPr>
        <p:txBody>
          <a:bodyPr vert="horz" lIns="0" tIns="0" rIns="0" bIns="0" anchor="ctr"/>
          <a:lstStyle>
            <a:lvl1pPr marL="0" indent="0" algn="ctr">
              <a:spcBef>
                <a:spcPts val="0"/>
              </a:spcBef>
              <a:buNone/>
              <a:defRPr sz="2800" b="1">
                <a:solidFill>
                  <a:srgbClr val="FFFFFF"/>
                </a:solidFill>
                <a:latin typeface="+mj-lt"/>
                <a:cs typeface="Rockwell"/>
              </a:defRPr>
            </a:lvl1pPr>
            <a:lvl2pPr marL="520700" indent="0">
              <a:buNone/>
              <a:defRPr/>
            </a:lvl2pPr>
            <a:lvl3pPr marL="1042988" indent="0">
              <a:buNone/>
              <a:defRPr/>
            </a:lvl3pPr>
            <a:lvl4pPr marL="1563688" indent="0">
              <a:buNone/>
              <a:defRPr/>
            </a:lvl4pPr>
            <a:lvl5pPr marL="2085975" indent="0"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8" name="Title 13"/>
          <p:cNvSpPr>
            <a:spLocks noGrp="1"/>
          </p:cNvSpPr>
          <p:nvPr>
            <p:ph type="title"/>
          </p:nvPr>
        </p:nvSpPr>
        <p:spPr>
          <a:xfrm>
            <a:off x="1" y="1053493"/>
            <a:ext cx="9143999" cy="722484"/>
          </a:xfrm>
          <a:prstGeom prst="rect">
            <a:avLst/>
          </a:prstGeom>
          <a:solidFill>
            <a:srgbClr val="ED0F6C"/>
          </a:solidFill>
          <a:ln>
            <a:noFill/>
          </a:ln>
        </p:spPr>
        <p:txBody>
          <a:bodyPr vert="horz" anchor="ctr"/>
          <a:lstStyle>
            <a:lvl1pPr marL="720000" algn="l">
              <a:defRPr sz="3200" b="1">
                <a:solidFill>
                  <a:srgbClr val="FFFFFF"/>
                </a:solidFill>
                <a:latin typeface="+mj-lt"/>
                <a:cs typeface="Rockwell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9" name="Content Placeholder 5"/>
          <p:cNvSpPr>
            <a:spLocks noGrp="1"/>
          </p:cNvSpPr>
          <p:nvPr>
            <p:ph sz="quarter" idx="22"/>
          </p:nvPr>
        </p:nvSpPr>
        <p:spPr>
          <a:xfrm>
            <a:off x="1030301" y="2337314"/>
            <a:ext cx="7108553" cy="3877249"/>
          </a:xfrm>
          <a:prstGeom prst="rect">
            <a:avLst/>
          </a:prstGeom>
        </p:spPr>
        <p:txBody>
          <a:bodyPr vert="horz"/>
          <a:lstStyle>
            <a:lvl1pPr marL="0" indent="0" algn="l">
              <a:buNone/>
              <a:defRPr sz="1700"/>
            </a:lvl1pPr>
            <a:lvl2pPr marL="0" indent="-285750" algn="l">
              <a:buFont typeface="Arial"/>
              <a:buChar char="•"/>
              <a:defRPr sz="1700"/>
            </a:lvl2pPr>
            <a:lvl3pPr marL="914400" indent="0" algn="l">
              <a:buNone/>
              <a:defRPr sz="1700"/>
            </a:lvl3pPr>
            <a:lvl4pPr marL="1371600" indent="0" algn="l">
              <a:buNone/>
              <a:defRPr sz="1700"/>
            </a:lvl4pPr>
            <a:lvl5pPr marL="1828800" indent="0" algn="l">
              <a:buNone/>
              <a:defRPr sz="1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248104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 flipH="1">
            <a:off x="555625" y="398463"/>
            <a:ext cx="822325" cy="46037"/>
          </a:xfrm>
          <a:prstGeom prst="rect">
            <a:avLst/>
          </a:prstGeom>
          <a:solidFill>
            <a:srgbClr val="ED0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" name="Rounded Rectangle 9"/>
          <p:cNvSpPr/>
          <p:nvPr userDrawn="1"/>
        </p:nvSpPr>
        <p:spPr>
          <a:xfrm>
            <a:off x="179388" y="171450"/>
            <a:ext cx="501650" cy="449263"/>
          </a:xfrm>
          <a:prstGeom prst="roundRect">
            <a:avLst/>
          </a:prstGeom>
          <a:solidFill>
            <a:srgbClr val="ED0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1980A9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841375" y="171450"/>
            <a:ext cx="8302625" cy="449263"/>
          </a:xfrm>
          <a:prstGeom prst="rect">
            <a:avLst/>
          </a:prstGeom>
          <a:solidFill>
            <a:srgbClr val="ED0F6C"/>
          </a:solidFill>
          <a:ln>
            <a:noFill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3366FF"/>
              </a:solidFill>
            </a:endParaRP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840870" y="180533"/>
            <a:ext cx="9847768" cy="440156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2000" b="1">
                <a:solidFill>
                  <a:srgbClr val="FFFFFF"/>
                </a:solidFill>
              </a:defRPr>
            </a:lvl1pPr>
            <a:lvl2pPr marL="520700" indent="0">
              <a:buNone/>
              <a:defRPr sz="2000" b="1">
                <a:solidFill>
                  <a:srgbClr val="FFFFFF"/>
                </a:solidFill>
              </a:defRPr>
            </a:lvl2pPr>
            <a:lvl3pPr marL="1042988" indent="0">
              <a:buNone/>
              <a:defRPr sz="2000" b="1">
                <a:solidFill>
                  <a:srgbClr val="FFFFFF"/>
                </a:solidFill>
              </a:defRPr>
            </a:lvl3pPr>
            <a:lvl4pPr marL="1563688" indent="0">
              <a:buNone/>
              <a:defRPr sz="2000" b="1">
                <a:solidFill>
                  <a:srgbClr val="FFFFFF"/>
                </a:solidFill>
              </a:defRPr>
            </a:lvl4pPr>
            <a:lvl5pPr marL="2085975" indent="0">
              <a:buNone/>
              <a:defRPr sz="2000" b="1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6"/>
          </p:nvPr>
        </p:nvSpPr>
        <p:spPr>
          <a:xfrm>
            <a:off x="840869" y="620689"/>
            <a:ext cx="8303131" cy="440020"/>
          </a:xfrm>
          <a:prstGeom prst="rect">
            <a:avLst/>
          </a:prstGeom>
        </p:spPr>
        <p:txBody>
          <a:bodyPr vert="horz"/>
          <a:lstStyle>
            <a:lvl1pPr marL="0" marR="0" indent="0" algn="l" defTabSz="520700" rtl="0" eaLnBrk="1" fontAlgn="base" latinLnBrk="0" hangingPunct="1"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buClr>
                <a:srgbClr val="1980A9"/>
              </a:buClr>
              <a:buSzTx/>
              <a:buFont typeface="Arial"/>
              <a:buNone/>
              <a:tabLst/>
              <a:defRPr sz="2000" b="1" u="none" baseline="0">
                <a:solidFill>
                  <a:srgbClr val="ED0F6C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4" name="Content Placeholder 5"/>
          <p:cNvSpPr>
            <a:spLocks noGrp="1"/>
          </p:cNvSpPr>
          <p:nvPr>
            <p:ph sz="quarter" idx="22"/>
          </p:nvPr>
        </p:nvSpPr>
        <p:spPr>
          <a:xfrm>
            <a:off x="839044" y="1074929"/>
            <a:ext cx="7507414" cy="5275248"/>
          </a:xfrm>
          <a:prstGeom prst="rect">
            <a:avLst/>
          </a:prstGeom>
        </p:spPr>
        <p:txBody>
          <a:bodyPr vert="horz"/>
          <a:lstStyle>
            <a:lvl1pPr marL="0" indent="0" algn="l">
              <a:buNone/>
              <a:defRPr sz="1700"/>
            </a:lvl1pPr>
            <a:lvl2pPr marL="0" indent="-285750" algn="l">
              <a:buFont typeface="Arial"/>
              <a:buChar char="•"/>
              <a:defRPr sz="1700"/>
            </a:lvl2pPr>
            <a:lvl3pPr marL="914400" indent="0" algn="l">
              <a:buNone/>
              <a:defRPr sz="1700"/>
            </a:lvl3pPr>
            <a:lvl4pPr marL="1371600" indent="0" algn="l">
              <a:buNone/>
              <a:defRPr sz="1700"/>
            </a:lvl4pPr>
            <a:lvl5pPr marL="1828800" indent="0" algn="l">
              <a:buNone/>
              <a:defRPr sz="1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2F29637-EBFD-4B1B-ACCF-1B3D26DF32AB}"/>
              </a:ext>
            </a:extLst>
          </p:cNvPr>
          <p:cNvSpPr/>
          <p:nvPr userDrawn="1"/>
        </p:nvSpPr>
        <p:spPr>
          <a:xfrm>
            <a:off x="176531" y="169066"/>
            <a:ext cx="501650" cy="449263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chemeClr val="bg1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838817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 userDrawn="1"/>
        </p:nvSpPr>
        <p:spPr>
          <a:xfrm>
            <a:off x="8524875" y="6375400"/>
            <a:ext cx="298450" cy="269875"/>
          </a:xfrm>
          <a:prstGeom prst="roundRect">
            <a:avLst/>
          </a:prstGeom>
          <a:solidFill>
            <a:srgbClr val="ED0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1980A9"/>
              </a:solidFill>
            </a:endParaRP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8524875" y="6375400"/>
            <a:ext cx="298450" cy="269875"/>
          </a:xfrm>
          <a:prstGeom prst="rect">
            <a:avLst/>
          </a:prstGeom>
        </p:spPr>
        <p:txBody>
          <a:bodyPr lIns="0" tIns="0" rIns="0" bIns="0" anchor="ctr"/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fld id="{3C8F5412-84C8-4E68-8AF7-8EF67F827C32}" type="slidenum">
              <a:rPr lang="en-US" altLang="en-US" sz="1000" b="1" smtClean="0">
                <a:solidFill>
                  <a:schemeClr val="bg1"/>
                </a:solidFill>
                <a:latin typeface="Arial" panose="020B0604020202020204" pitchFamily="34" charset="0"/>
              </a:rPr>
              <a:pPr algn="ctr" eaLnBrk="1" hangingPunct="1">
                <a:defRPr/>
              </a:pPr>
              <a:t>‹#›</a:t>
            </a:fld>
            <a:endParaRPr lang="en-US" altLang="en-US" sz="1000" b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 userDrawn="1"/>
        </p:nvCxnSpPr>
        <p:spPr>
          <a:xfrm flipH="1">
            <a:off x="1363663" y="6581775"/>
            <a:ext cx="7086600" cy="0"/>
          </a:xfrm>
          <a:prstGeom prst="line">
            <a:avLst/>
          </a:prstGeom>
          <a:ln w="12700" cap="flat">
            <a:solidFill>
              <a:srgbClr val="ED0F6C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13"/>
          <p:cNvSpPr txBox="1">
            <a:spLocks noChangeArrowheads="1"/>
          </p:cNvSpPr>
          <p:nvPr userDrawn="1"/>
        </p:nvSpPr>
        <p:spPr bwMode="auto">
          <a:xfrm>
            <a:off x="287338" y="6408738"/>
            <a:ext cx="2168525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000" dirty="0">
                <a:solidFill>
                  <a:srgbClr val="ED0F6C"/>
                </a:solidFill>
              </a:rPr>
              <a:t>ACTIVE MATHS  1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0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sz="quarter" idx="21"/>
          </p:nvPr>
        </p:nvSpPr>
        <p:spPr>
          <a:prstGeom prst="rect">
            <a:avLst/>
          </a:prstGeom>
        </p:spPr>
        <p:txBody>
          <a:bodyPr/>
          <a:lstStyle/>
          <a:p>
            <a:pPr eaLnBrk="1" fontAlgn="auto" hangingPunct="1">
              <a:spcAft>
                <a:spcPts val="0"/>
              </a:spcAft>
              <a:buFont typeface="Arial"/>
              <a:buNone/>
              <a:defRPr/>
            </a:pPr>
            <a:r>
              <a:rPr lang="en-US" dirty="0">
                <a:ea typeface="+mn-ea"/>
              </a:rPr>
              <a:t>22</a:t>
            </a:r>
          </a:p>
        </p:txBody>
      </p:sp>
      <p:sp>
        <p:nvSpPr>
          <p:cNvPr id="5123" name="Title 10"/>
          <p:cNvSpPr>
            <a:spLocks noGrp="1"/>
          </p:cNvSpPr>
          <p:nvPr>
            <p:ph type="title"/>
          </p:nvPr>
        </p:nvSpPr>
        <p:spPr bwMode="auto"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marL="719138" eaLnBrk="1" hangingPunct="1"/>
            <a:r>
              <a:rPr lang="en-US" altLang="en-US" dirty="0"/>
              <a:t>Chapter 22: </a:t>
            </a:r>
            <a:r>
              <a:rPr lang="en-IE" altLang="en-US" dirty="0"/>
              <a:t>Algebra: Solving Linear Inequalities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436418" y="2293723"/>
                <a:ext cx="7850274" cy="11387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71500" lvl="1" indent="-285750">
                  <a:buFont typeface="Arial" panose="020B0604020202020204" pitchFamily="34" charset="0"/>
                  <a:buChar char="•"/>
                </a:pPr>
                <a:r>
                  <a:rPr lang="en-IE" sz="1700" dirty="0"/>
                  <a:t>Select and use suitable strategies (graphic, numeric, algebraic, trial and improvement, working backwards) for finding solutions to linear inequalities in one variable of the form </a:t>
                </a:r>
                <a:r>
                  <a:rPr lang="en-IE" sz="1700" i="1" dirty="0"/>
                  <a:t>g</a:t>
                </a:r>
                <a:r>
                  <a:rPr lang="en-IE" sz="1700" dirty="0"/>
                  <a:t>(</a:t>
                </a:r>
                <a14:m>
                  <m:oMath xmlns:m="http://schemas.openxmlformats.org/officeDocument/2006/math">
                    <m:r>
                      <a:rPr lang="en-IE" sz="17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E" sz="1700" dirty="0"/>
                  <a:t>) &lt; </a:t>
                </a:r>
                <a:r>
                  <a:rPr lang="en-IE" sz="1700" i="1" dirty="0"/>
                  <a:t>k</a:t>
                </a:r>
                <a:r>
                  <a:rPr lang="en-IE" sz="1700" dirty="0"/>
                  <a:t>, and graph the solution sets on the number line for </a:t>
                </a:r>
                <a14:m>
                  <m:oMath xmlns:m="http://schemas.openxmlformats.org/officeDocument/2006/math">
                    <m:r>
                      <a:rPr lang="en-IE" sz="17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E" sz="1700" dirty="0"/>
                  <a:t> ∈ </a:t>
                </a:r>
                <a:r>
                  <a:rPr lang="en-IE" sz="1700" i="1" dirty="0"/>
                  <a:t>N</a:t>
                </a:r>
                <a:r>
                  <a:rPr lang="en-IE" sz="1700" dirty="0"/>
                  <a:t>, </a:t>
                </a:r>
                <a:r>
                  <a:rPr lang="en-IE" sz="1700" i="1" dirty="0"/>
                  <a:t>Z</a:t>
                </a:r>
                <a:r>
                  <a:rPr lang="en-IE" sz="1700" dirty="0"/>
                  <a:t>, and </a:t>
                </a:r>
                <a:r>
                  <a:rPr lang="en-IE" sz="1700" i="1" dirty="0"/>
                  <a:t>R</a:t>
                </a:r>
                <a:endParaRPr lang="en-IE" sz="1700" dirty="0"/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418" y="2293723"/>
                <a:ext cx="7850274" cy="1138773"/>
              </a:xfrm>
              <a:prstGeom prst="rect">
                <a:avLst/>
              </a:prstGeom>
              <a:blipFill>
                <a:blip r:embed="rId3"/>
                <a:stretch>
                  <a:fillRect t="-1604" r="-622" b="-6417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Placeholder 1"/>
          <p:cNvSpPr>
            <a:spLocks noGrp="1"/>
          </p:cNvSpPr>
          <p:nvPr>
            <p:ph type="body" sz="quarter" idx="18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E" altLang="en-US" dirty="0"/>
              <a:t>Inequalities</a:t>
            </a:r>
            <a:endParaRPr lang="en-US" altLang="en-US" dirty="0"/>
          </a:p>
        </p:txBody>
      </p:sp>
      <p:sp>
        <p:nvSpPr>
          <p:cNvPr id="9" name="Rectangle 8"/>
          <p:cNvSpPr/>
          <p:nvPr/>
        </p:nvSpPr>
        <p:spPr>
          <a:xfrm>
            <a:off x="2030332" y="741294"/>
            <a:ext cx="5083337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E" sz="1700" b="1" dirty="0">
                <a:solidFill>
                  <a:srgbClr val="FF0000"/>
                </a:solidFill>
              </a:rPr>
              <a:t> </a:t>
            </a:r>
            <a:r>
              <a:rPr lang="en-IE" sz="1700" dirty="0"/>
              <a:t>Each diagram shows an example of an inequality.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67" y="1081529"/>
            <a:ext cx="1044000" cy="117709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160" y="2344584"/>
            <a:ext cx="774983" cy="1152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242000" y="1362302"/>
                <a:ext cx="6660000" cy="6155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E" sz="1700" dirty="0"/>
                  <a:t>You must be at least 1 m tall to be able to ride this rollercoaster:</a:t>
                </a:r>
              </a:p>
              <a:p>
                <a:pPr algn="ctr"/>
                <a:r>
                  <a:rPr lang="en-IE" sz="1700" dirty="0">
                    <a:solidFill>
                      <a:srgbClr val="0070C0"/>
                    </a:solidFill>
                  </a:rPr>
                  <a:t>Height </a:t>
                </a:r>
                <a14:m>
                  <m:oMath xmlns:m="http://schemas.openxmlformats.org/officeDocument/2006/math">
                    <m:r>
                      <a:rPr lang="en-IE" sz="17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IE" sz="17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E" sz="1700" dirty="0">
                    <a:solidFill>
                      <a:srgbClr val="0070C0"/>
                    </a:solidFill>
                  </a:rPr>
                  <a:t>1 m. 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2000" y="1362302"/>
                <a:ext cx="6660000" cy="615553"/>
              </a:xfrm>
              <a:prstGeom prst="rect">
                <a:avLst/>
              </a:prstGeom>
              <a:blipFill rotWithShape="0">
                <a:blip r:embed="rId5"/>
                <a:stretch>
                  <a:fillRect t="-2970" b="-12871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242000" y="2612808"/>
                <a:ext cx="6660000" cy="6155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E" sz="1700" dirty="0"/>
                  <a:t>Vehicles must travel at a speed less than or equal to 60 km/hr:</a:t>
                </a:r>
              </a:p>
              <a:p>
                <a:pPr algn="ctr"/>
                <a:r>
                  <a:rPr lang="en-IE" sz="1700" dirty="0">
                    <a:solidFill>
                      <a:srgbClr val="0070C0"/>
                    </a:solidFill>
                  </a:rPr>
                  <a:t>Speed </a:t>
                </a:r>
                <a14:m>
                  <m:oMath xmlns:m="http://schemas.openxmlformats.org/officeDocument/2006/math">
                    <m:r>
                      <a:rPr lang="en-IE" sz="17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IE" sz="17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E" sz="1700" dirty="0">
                    <a:solidFill>
                      <a:srgbClr val="0070C0"/>
                    </a:solidFill>
                  </a:rPr>
                  <a:t>60 km/hr.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2000" y="2612808"/>
                <a:ext cx="6660000" cy="615553"/>
              </a:xfrm>
              <a:prstGeom prst="rect">
                <a:avLst/>
              </a:prstGeom>
              <a:blipFill rotWithShape="0">
                <a:blip r:embed="rId6"/>
                <a:stretch>
                  <a:fillRect t="-3960" b="-12871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3024426" y="3466099"/>
                <a:ext cx="3095148" cy="1077218"/>
              </a:xfrm>
              <a:prstGeom prst="rect">
                <a:avLst/>
              </a:prstGeom>
              <a:solidFill>
                <a:schemeClr val="accent1"/>
              </a:solidFill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E" sz="1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IE" sz="1600" dirty="0">
                    <a:solidFill>
                      <a:schemeClr val="bg1"/>
                    </a:solidFill>
                  </a:rPr>
                  <a:t> means ‘less than’</a:t>
                </a:r>
                <a:br>
                  <a:rPr lang="en-IE" sz="1600" dirty="0">
                    <a:solidFill>
                      <a:schemeClr val="bg1"/>
                    </a:solidFill>
                  </a:rPr>
                </a:br>
                <a14:m>
                  <m:oMath xmlns:m="http://schemas.openxmlformats.org/officeDocument/2006/math">
                    <m:r>
                      <a:rPr lang="en-IE" sz="16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IE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E" sz="1600" dirty="0">
                    <a:solidFill>
                      <a:schemeClr val="bg1"/>
                    </a:solidFill>
                  </a:rPr>
                  <a:t>means ‘greater than’</a:t>
                </a:r>
              </a:p>
              <a:p>
                <a14:m>
                  <m:oMath xmlns:m="http://schemas.openxmlformats.org/officeDocument/2006/math">
                    <m:r>
                      <a:rPr lang="en-IE" sz="1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IE" sz="1600" dirty="0">
                    <a:solidFill>
                      <a:schemeClr val="bg1"/>
                    </a:solidFill>
                  </a:rPr>
                  <a:t> means ‘less than or equal to’</a:t>
                </a:r>
              </a:p>
              <a:p>
                <a14:m>
                  <m:oMath xmlns:m="http://schemas.openxmlformats.org/officeDocument/2006/math">
                    <m:r>
                      <a:rPr lang="en-IE" sz="1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IE" sz="1600" dirty="0">
                    <a:solidFill>
                      <a:schemeClr val="bg1"/>
                    </a:solidFill>
                  </a:rPr>
                  <a:t> means ‘greater than or equal to’ </a:t>
                </a: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4426" y="3466099"/>
                <a:ext cx="3095148" cy="1077218"/>
              </a:xfrm>
              <a:prstGeom prst="rect">
                <a:avLst/>
              </a:prstGeom>
              <a:blipFill rotWithShape="0">
                <a:blip r:embed="rId7"/>
                <a:stretch>
                  <a:fillRect t="-1705" r="-787" b="-6818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/>
          <p:cNvGrpSpPr/>
          <p:nvPr/>
        </p:nvGrpSpPr>
        <p:grpSpPr>
          <a:xfrm>
            <a:off x="1694329" y="5410830"/>
            <a:ext cx="6038748" cy="398966"/>
            <a:chOff x="1198665" y="4176562"/>
            <a:chExt cx="6264696" cy="548582"/>
          </a:xfrm>
        </p:grpSpPr>
        <p:grpSp>
          <p:nvGrpSpPr>
            <p:cNvPr id="21" name="Group 20"/>
            <p:cNvGrpSpPr/>
            <p:nvPr/>
          </p:nvGrpSpPr>
          <p:grpSpPr>
            <a:xfrm>
              <a:off x="1198665" y="4581128"/>
              <a:ext cx="6264696" cy="144016"/>
              <a:chOff x="755576" y="4581128"/>
              <a:chExt cx="6264696" cy="144016"/>
            </a:xfrm>
          </p:grpSpPr>
          <p:grpSp>
            <p:nvGrpSpPr>
              <p:cNvPr id="30" name="Group 29"/>
              <p:cNvGrpSpPr/>
              <p:nvPr/>
            </p:nvGrpSpPr>
            <p:grpSpPr>
              <a:xfrm>
                <a:off x="755576" y="4581128"/>
                <a:ext cx="6264696" cy="144016"/>
                <a:chOff x="755576" y="4581128"/>
                <a:chExt cx="6264696" cy="144016"/>
              </a:xfrm>
            </p:grpSpPr>
            <p:cxnSp>
              <p:nvCxnSpPr>
                <p:cNvPr id="32" name="Straight Connector 31"/>
                <p:cNvCxnSpPr/>
                <p:nvPr/>
              </p:nvCxnSpPr>
              <p:spPr>
                <a:xfrm>
                  <a:off x="755576" y="4725144"/>
                  <a:ext cx="6264696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/>
                <p:cNvCxnSpPr/>
                <p:nvPr/>
              </p:nvCxnSpPr>
              <p:spPr>
                <a:xfrm flipV="1">
                  <a:off x="406794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/>
                <p:cNvCxnSpPr/>
                <p:nvPr/>
              </p:nvCxnSpPr>
              <p:spPr>
                <a:xfrm flipV="1">
                  <a:off x="334786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/>
                <p:cNvCxnSpPr/>
                <p:nvPr/>
              </p:nvCxnSpPr>
              <p:spPr>
                <a:xfrm flipV="1">
                  <a:off x="478802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/>
                <p:cNvCxnSpPr/>
                <p:nvPr/>
              </p:nvCxnSpPr>
              <p:spPr>
                <a:xfrm flipV="1">
                  <a:off x="550810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>
                <a:xfrm flipV="1">
                  <a:off x="622818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>
                <a:xfrm flipV="1">
                  <a:off x="262778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>
                <a:xfrm flipV="1">
                  <a:off x="190770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>
              <a:xfrm flipV="1">
                <a:off x="1187624" y="4581128"/>
                <a:ext cx="0" cy="14401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TextBox 21"/>
            <p:cNvSpPr txBox="1"/>
            <p:nvPr/>
          </p:nvSpPr>
          <p:spPr>
            <a:xfrm>
              <a:off x="4353503" y="4184060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0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080270" y="4184060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1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800350" y="4184060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2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502793" y="4176562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3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491880" y="4176562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−1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822407" y="4176562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−2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138674" y="4201516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−3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348178" y="4210021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−4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03672" y="4611782"/>
            <a:ext cx="7336656" cy="620635"/>
            <a:chOff x="1020691" y="4303115"/>
            <a:chExt cx="6712386" cy="620635"/>
          </a:xfrm>
        </p:grpSpPr>
        <p:sp>
          <p:nvSpPr>
            <p:cNvPr id="13" name="Rectangle 12"/>
            <p:cNvSpPr/>
            <p:nvPr/>
          </p:nvSpPr>
          <p:spPr>
            <a:xfrm>
              <a:off x="1020691" y="4303115"/>
              <a:ext cx="6712386" cy="3539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E" sz="1700" b="1" dirty="0">
                  <a:solidFill>
                    <a:srgbClr val="00B050"/>
                  </a:solidFill>
                </a:rPr>
                <a:t>Using the number line, state if the inequalities below are true or false. 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/>
                <p:cNvSpPr/>
                <p:nvPr/>
              </p:nvSpPr>
              <p:spPr>
                <a:xfrm>
                  <a:off x="2710851" y="4569807"/>
                  <a:ext cx="3332068" cy="3539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IE" sz="1700" b="1" dirty="0">
                      <a:solidFill>
                        <a:srgbClr val="00B050"/>
                      </a:solidFill>
                    </a:rPr>
                    <a:t>(a) 3</a:t>
                  </a:r>
                  <a14:m>
                    <m:oMath xmlns:m="http://schemas.openxmlformats.org/officeDocument/2006/math">
                      <m:r>
                        <a:rPr lang="en-IE" sz="1700" b="1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E" sz="17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 </m:t>
                      </m:r>
                    </m:oMath>
                  </a14:m>
                  <a:r>
                    <a:rPr lang="en-IE" sz="1700" b="1" dirty="0">
                      <a:solidFill>
                        <a:srgbClr val="00B050"/>
                      </a:solidFill>
                    </a:rPr>
                    <a:t>1         (b) −4</a:t>
                  </a:r>
                  <a14:m>
                    <m:oMath xmlns:m="http://schemas.openxmlformats.org/officeDocument/2006/math">
                      <m:r>
                        <a:rPr lang="en-IE" sz="1700" b="1" i="0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E" sz="17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 </m:t>
                      </m:r>
                    </m:oMath>
                  </a14:m>
                  <a:r>
                    <a:rPr lang="en-IE" sz="1700" b="1" dirty="0">
                      <a:solidFill>
                        <a:srgbClr val="00B050"/>
                      </a:solidFill>
                    </a:rPr>
                    <a:t>3         (c) –2 </a:t>
                  </a:r>
                  <a14:m>
                    <m:oMath xmlns:m="http://schemas.openxmlformats.org/officeDocument/2006/math">
                      <m:r>
                        <a:rPr lang="en-IE" sz="17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IE" sz="17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</m:oMath>
                  </a14:m>
                  <a:endParaRPr lang="en-IE" sz="1700" b="1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Rectangle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0851" y="4569807"/>
                  <a:ext cx="3332068" cy="353943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l="-502" t="-5172" b="-22414"/>
                  </a:stretch>
                </a:blipFill>
              </p:spPr>
              <p:txBody>
                <a:bodyPr/>
                <a:lstStyle/>
                <a:p>
                  <a:r>
                    <a:rPr lang="en-IE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0" name="Oval 39"/>
          <p:cNvSpPr/>
          <p:nvPr/>
        </p:nvSpPr>
        <p:spPr bwMode="auto">
          <a:xfrm>
            <a:off x="6785903" y="5394713"/>
            <a:ext cx="358498" cy="372703"/>
          </a:xfrm>
          <a:prstGeom prst="ellipse">
            <a:avLst/>
          </a:prstGeom>
          <a:solidFill>
            <a:schemeClr val="bg1">
              <a:alpha val="5000"/>
            </a:schemeClr>
          </a:solidFill>
          <a:ln w="25400">
            <a:solidFill>
              <a:srgbClr val="FF0000"/>
            </a:solidFill>
          </a:ln>
          <a:extLst/>
        </p:spPr>
        <p:txBody>
          <a:bodyPr rtlCol="0" anchor="ctr"/>
          <a:lstStyle/>
          <a:p>
            <a:pPr algn="ctr"/>
            <a:endParaRPr lang="en-IE" sz="1700">
              <a:noFill/>
            </a:endParaRPr>
          </a:p>
        </p:txBody>
      </p:sp>
      <p:sp>
        <p:nvSpPr>
          <p:cNvPr id="42" name="Oval 41"/>
          <p:cNvSpPr/>
          <p:nvPr/>
        </p:nvSpPr>
        <p:spPr bwMode="auto">
          <a:xfrm>
            <a:off x="5398552" y="5394713"/>
            <a:ext cx="358498" cy="372703"/>
          </a:xfrm>
          <a:prstGeom prst="ellipse">
            <a:avLst/>
          </a:prstGeom>
          <a:solidFill>
            <a:schemeClr val="bg1">
              <a:alpha val="5000"/>
            </a:schemeClr>
          </a:solidFill>
          <a:ln w="25400">
            <a:solidFill>
              <a:srgbClr val="FF0000"/>
            </a:solidFill>
          </a:ln>
          <a:extLst/>
        </p:spPr>
        <p:txBody>
          <a:bodyPr rtlCol="0" anchor="ctr"/>
          <a:lstStyle/>
          <a:p>
            <a:pPr algn="ctr"/>
            <a:endParaRPr lang="en-IE" sz="1700">
              <a:noFill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30171" y="5941581"/>
            <a:ext cx="277454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E" sz="1600" dirty="0"/>
              <a:t>(a) True as 3 is to the right of 1.</a:t>
            </a:r>
          </a:p>
        </p:txBody>
      </p:sp>
      <p:sp>
        <p:nvSpPr>
          <p:cNvPr id="45" name="Oval 44"/>
          <p:cNvSpPr/>
          <p:nvPr/>
        </p:nvSpPr>
        <p:spPr bwMode="auto">
          <a:xfrm>
            <a:off x="1879971" y="5394713"/>
            <a:ext cx="358498" cy="372703"/>
          </a:xfrm>
          <a:prstGeom prst="ellipse">
            <a:avLst/>
          </a:prstGeom>
          <a:solidFill>
            <a:schemeClr val="bg1">
              <a:alpha val="5000"/>
            </a:schemeClr>
          </a:solidFill>
          <a:ln w="25400">
            <a:solidFill>
              <a:srgbClr val="FF0000"/>
            </a:solidFill>
          </a:ln>
          <a:extLst/>
        </p:spPr>
        <p:txBody>
          <a:bodyPr rtlCol="0" anchor="ctr"/>
          <a:lstStyle/>
          <a:p>
            <a:pPr algn="ctr"/>
            <a:endParaRPr lang="en-IE" sz="1700">
              <a:noFill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151283" y="5941581"/>
            <a:ext cx="282276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E" sz="1600" dirty="0"/>
              <a:t>(b) True as −4 is to the left of 3. 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0614" y="5936579"/>
            <a:ext cx="284917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E" sz="1600" dirty="0"/>
              <a:t>(c) False as –2 is to the left of 2. </a:t>
            </a:r>
          </a:p>
        </p:txBody>
      </p:sp>
      <p:sp>
        <p:nvSpPr>
          <p:cNvPr id="70" name="Oval 69"/>
          <p:cNvSpPr/>
          <p:nvPr/>
        </p:nvSpPr>
        <p:spPr bwMode="auto">
          <a:xfrm>
            <a:off x="6089612" y="5394713"/>
            <a:ext cx="358498" cy="372703"/>
          </a:xfrm>
          <a:prstGeom prst="ellipse">
            <a:avLst/>
          </a:prstGeom>
          <a:solidFill>
            <a:schemeClr val="bg1">
              <a:alpha val="5000"/>
            </a:schemeClr>
          </a:solidFill>
          <a:ln w="25400">
            <a:solidFill>
              <a:srgbClr val="FF0000"/>
            </a:solidFill>
          </a:ln>
          <a:extLst/>
        </p:spPr>
        <p:txBody>
          <a:bodyPr rtlCol="0" anchor="ctr"/>
          <a:lstStyle/>
          <a:p>
            <a:pPr algn="ctr"/>
            <a:endParaRPr lang="en-IE" sz="1700">
              <a:noFill/>
            </a:endParaRPr>
          </a:p>
        </p:txBody>
      </p:sp>
      <p:sp>
        <p:nvSpPr>
          <p:cNvPr id="71" name="Oval 70"/>
          <p:cNvSpPr/>
          <p:nvPr/>
        </p:nvSpPr>
        <p:spPr bwMode="auto">
          <a:xfrm>
            <a:off x="3288993" y="5394713"/>
            <a:ext cx="358498" cy="372703"/>
          </a:xfrm>
          <a:prstGeom prst="ellipse">
            <a:avLst/>
          </a:prstGeom>
          <a:solidFill>
            <a:schemeClr val="bg1">
              <a:alpha val="5000"/>
            </a:schemeClr>
          </a:solidFill>
          <a:ln w="25400">
            <a:solidFill>
              <a:srgbClr val="FF0000"/>
            </a:solidFill>
          </a:ln>
          <a:extLst/>
        </p:spPr>
        <p:txBody>
          <a:bodyPr rtlCol="0" anchor="ctr"/>
          <a:lstStyle/>
          <a:p>
            <a:pPr algn="ctr"/>
            <a:endParaRPr lang="en-IE" sz="1700">
              <a:noFill/>
            </a:endParaRPr>
          </a:p>
        </p:txBody>
      </p:sp>
      <p:sp>
        <p:nvSpPr>
          <p:cNvPr id="72" name="Oval 71"/>
          <p:cNvSpPr/>
          <p:nvPr/>
        </p:nvSpPr>
        <p:spPr bwMode="auto">
          <a:xfrm>
            <a:off x="6785903" y="5394713"/>
            <a:ext cx="358498" cy="372703"/>
          </a:xfrm>
          <a:prstGeom prst="ellipse">
            <a:avLst/>
          </a:prstGeom>
          <a:solidFill>
            <a:schemeClr val="bg1">
              <a:alpha val="5000"/>
            </a:schemeClr>
          </a:solidFill>
          <a:ln w="25400">
            <a:solidFill>
              <a:srgbClr val="FF0000"/>
            </a:solidFill>
          </a:ln>
          <a:extLst/>
        </p:spPr>
        <p:txBody>
          <a:bodyPr rtlCol="0" anchor="ctr"/>
          <a:lstStyle/>
          <a:p>
            <a:pPr algn="ctr"/>
            <a:endParaRPr lang="en-IE" sz="1700">
              <a:noFill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10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10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5" grpId="0"/>
      <p:bldP spid="7" grpId="0"/>
      <p:bldP spid="12" grpId="0" animBg="1"/>
      <p:bldP spid="40" grpId="0" animBg="1"/>
      <p:bldP spid="40" grpId="1" animBg="1"/>
      <p:bldP spid="42" grpId="0" animBg="1"/>
      <p:bldP spid="42" grpId="1" animBg="1"/>
      <p:bldP spid="41" grpId="0" build="p"/>
      <p:bldP spid="45" grpId="0" animBg="1"/>
      <p:bldP spid="45" grpId="1" animBg="1"/>
      <p:bldP spid="43" grpId="0" build="p"/>
      <p:bldP spid="46" grpId="0" build="p"/>
      <p:bldP spid="70" grpId="0" animBg="1"/>
      <p:bldP spid="70" grpId="1" animBg="1"/>
      <p:bldP spid="71" grpId="0" animBg="1"/>
      <p:bldP spid="71" grpId="1" animBg="1"/>
      <p:bldP spid="72" grpId="0" animBg="1"/>
      <p:bldP spid="72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Placeholder 1"/>
          <p:cNvSpPr>
            <a:spLocks noGrp="1"/>
          </p:cNvSpPr>
          <p:nvPr>
            <p:ph type="body" sz="quarter" idx="18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E" altLang="en-US" dirty="0"/>
              <a:t>Number Systems</a:t>
            </a:r>
            <a:endParaRPr lang="en-US" altLang="en-US" dirty="0"/>
          </a:p>
        </p:txBody>
      </p:sp>
      <p:sp>
        <p:nvSpPr>
          <p:cNvPr id="8" name="Rectangle 7"/>
          <p:cNvSpPr/>
          <p:nvPr/>
        </p:nvSpPr>
        <p:spPr>
          <a:xfrm>
            <a:off x="1394340" y="781178"/>
            <a:ext cx="2335992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sz="1700" b="1" dirty="0">
                <a:solidFill>
                  <a:srgbClr val="0070C0"/>
                </a:solidFill>
              </a:rPr>
              <a:t>Natural Numbers (</a:t>
            </a:r>
            <a:r>
              <a:rPr lang="en-IE" sz="1700" b="1" i="1" dirty="0">
                <a:solidFill>
                  <a:srgbClr val="0070C0"/>
                </a:solidFill>
              </a:rPr>
              <a:t>N</a:t>
            </a:r>
            <a:r>
              <a:rPr lang="en-IE" sz="1700" b="1" dirty="0">
                <a:solidFill>
                  <a:srgbClr val="0070C0"/>
                </a:solidFill>
              </a:rPr>
              <a:t>):</a:t>
            </a:r>
            <a:endParaRPr lang="en-IE" sz="1700" dirty="0">
              <a:solidFill>
                <a:srgbClr val="0070C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352233" y="781178"/>
            <a:ext cx="4389000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sz="1700" dirty="0"/>
              <a:t>A natural number is any positive whole number. </a:t>
            </a:r>
          </a:p>
        </p:txBody>
      </p:sp>
      <p:sp>
        <p:nvSpPr>
          <p:cNvPr id="4" name="Rectangle 3"/>
          <p:cNvSpPr/>
          <p:nvPr/>
        </p:nvSpPr>
        <p:spPr>
          <a:xfrm>
            <a:off x="1661812" y="1092083"/>
            <a:ext cx="5820376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E" sz="1700" dirty="0"/>
              <a:t>The set of natural numbers is denoted by </a:t>
            </a:r>
            <a:r>
              <a:rPr lang="en-IE" sz="1700" i="1" dirty="0"/>
              <a:t>N</a:t>
            </a:r>
            <a:r>
              <a:rPr lang="en-IE" sz="1700" dirty="0"/>
              <a:t>:     </a:t>
            </a:r>
            <a:r>
              <a:rPr lang="en-IE" sz="1700" i="1" dirty="0"/>
              <a:t>N</a:t>
            </a:r>
            <a:r>
              <a:rPr lang="en-IE" sz="1700" dirty="0"/>
              <a:t> = {1, 2, 3, 4, ...}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4271"/>
          <a:stretch/>
        </p:blipFill>
        <p:spPr>
          <a:xfrm>
            <a:off x="2907940" y="1713893"/>
            <a:ext cx="3328121" cy="4857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331994" y="2870387"/>
            <a:ext cx="1258486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E" sz="1700" b="1" dirty="0">
                <a:solidFill>
                  <a:srgbClr val="0070C0"/>
                </a:solidFill>
              </a:rPr>
              <a:t>Integers (Z):</a:t>
            </a:r>
          </a:p>
        </p:txBody>
      </p:sp>
      <p:sp>
        <p:nvSpPr>
          <p:cNvPr id="7" name="Rectangle 6"/>
          <p:cNvSpPr/>
          <p:nvPr/>
        </p:nvSpPr>
        <p:spPr>
          <a:xfrm>
            <a:off x="2433616" y="2870387"/>
            <a:ext cx="5338788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sz="1700" dirty="0"/>
              <a:t>An integer is any whole number: positive, negative or zero. 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2000" y="3170738"/>
            <a:ext cx="7260001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E" sz="1700" dirty="0"/>
              <a:t>The set of integers is denoted by the letter </a:t>
            </a:r>
            <a:r>
              <a:rPr lang="en-IE" sz="1700" i="1" dirty="0"/>
              <a:t>Z</a:t>
            </a:r>
            <a:r>
              <a:rPr lang="en-IE" sz="1700" dirty="0"/>
              <a:t>:      </a:t>
            </a:r>
            <a:r>
              <a:rPr lang="en-IE" sz="1700" i="1" dirty="0"/>
              <a:t>Z</a:t>
            </a:r>
            <a:r>
              <a:rPr lang="en-IE" sz="1700" dirty="0"/>
              <a:t> = {... , –3, –2, –1, 0, 1, 2, 3, ...}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3771440"/>
            <a:ext cx="7505700" cy="56197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77361" y="5018807"/>
            <a:ext cx="1853462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sz="1700" b="1" dirty="0">
                <a:solidFill>
                  <a:srgbClr val="0070C0"/>
                </a:solidFill>
              </a:rPr>
              <a:t>Real Numbers (</a:t>
            </a:r>
            <a:r>
              <a:rPr lang="en-IE" sz="1700" b="1" i="1" dirty="0">
                <a:solidFill>
                  <a:srgbClr val="0070C0"/>
                </a:solidFill>
              </a:rPr>
              <a:t>R</a:t>
            </a:r>
            <a:r>
              <a:rPr lang="en-IE" sz="1700" b="1" dirty="0">
                <a:solidFill>
                  <a:srgbClr val="0070C0"/>
                </a:solidFill>
              </a:rPr>
              <a:t>):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47417" y="5018807"/>
            <a:ext cx="6103379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sz="1700" dirty="0"/>
              <a:t>A real number is any number that can be plotted  on a number line. 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5598075"/>
            <a:ext cx="7600950" cy="5715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3874" y="1402988"/>
            <a:ext cx="901625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E" sz="1700" dirty="0"/>
              <a:t>As natural numbers are whole numbers, to graph them on a number line we use shaded dots.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2514642" y="2156628"/>
                <a:ext cx="4114716" cy="3539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IE" sz="1700" dirty="0"/>
                  <a:t>If </a:t>
                </a:r>
                <a14:m>
                  <m:oMath xmlns:m="http://schemas.openxmlformats.org/officeDocument/2006/math">
                    <m:r>
                      <a:rPr lang="en-IE" sz="17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E" sz="1700" dirty="0"/>
                  <a:t> is a natural number, we can write </a:t>
                </a:r>
                <a14:m>
                  <m:oMath xmlns:m="http://schemas.openxmlformats.org/officeDocument/2006/math">
                    <m:r>
                      <a:rPr lang="en-IE" sz="17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E" sz="1700" dirty="0"/>
                  <a:t> ∈ </a:t>
                </a:r>
                <a:r>
                  <a:rPr lang="en-IE" sz="1700" i="1" dirty="0"/>
                  <a:t>N</a:t>
                </a:r>
                <a:r>
                  <a:rPr lang="en-IE" sz="1700" dirty="0"/>
                  <a:t>. </a:t>
                </a: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42" y="2156628"/>
                <a:ext cx="4114716" cy="353943"/>
              </a:xfrm>
              <a:prstGeom prst="rect">
                <a:avLst/>
              </a:prstGeom>
              <a:blipFill rotWithShape="0">
                <a:blip r:embed="rId5"/>
                <a:stretch>
                  <a:fillRect l="-593" t="-8621" r="-593" b="-22414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/>
          <p:cNvSpPr/>
          <p:nvPr/>
        </p:nvSpPr>
        <p:spPr>
          <a:xfrm>
            <a:off x="265580" y="3471089"/>
            <a:ext cx="8612840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E" sz="1700" dirty="0"/>
              <a:t>As integers are also whole numbers, to graph them on a number line we use shaded dots.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2879165" y="4269431"/>
                <a:ext cx="3385670" cy="3539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IE" sz="1700" dirty="0"/>
                  <a:t>If</a:t>
                </a:r>
                <a14:m>
                  <m:oMath xmlns:m="http://schemas.openxmlformats.org/officeDocument/2006/math">
                    <m:r>
                      <a:rPr lang="en-IE" sz="17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E" sz="17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E" sz="17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E" sz="1700" dirty="0"/>
                  <a:t>is an integer, we can write </a:t>
                </a:r>
                <a14:m>
                  <m:oMath xmlns:m="http://schemas.openxmlformats.org/officeDocument/2006/math">
                    <m:r>
                      <a:rPr lang="en-IE" sz="17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E" sz="1700" dirty="0"/>
                  <a:t> ∈ </a:t>
                </a:r>
                <a:r>
                  <a:rPr lang="en-IE" sz="1700" i="1" dirty="0"/>
                  <a:t>Z</a:t>
                </a:r>
                <a:r>
                  <a:rPr lang="en-IE" sz="1700" dirty="0"/>
                  <a:t>.</a:t>
                </a: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9165" y="4269431"/>
                <a:ext cx="3385670" cy="353943"/>
              </a:xfrm>
              <a:prstGeom prst="rect">
                <a:avLst/>
              </a:prstGeom>
              <a:blipFill rotWithShape="0">
                <a:blip r:embed="rId6"/>
                <a:stretch>
                  <a:fillRect l="-540" t="-6897" r="-540" b="-22414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/>
          <p:cNvSpPr/>
          <p:nvPr/>
        </p:nvSpPr>
        <p:spPr>
          <a:xfrm>
            <a:off x="516557" y="5308441"/>
            <a:ext cx="8110886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E" sz="1700" dirty="0"/>
              <a:t>In order to show real numbers on the number line we use solid continuous shading.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2697160" y="6105265"/>
                <a:ext cx="3749681" cy="3539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IE" sz="1700" dirty="0"/>
                  <a:t>If </a:t>
                </a:r>
                <a14:m>
                  <m:oMath xmlns:m="http://schemas.openxmlformats.org/officeDocument/2006/math">
                    <m:r>
                      <a:rPr lang="en-IE" sz="17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E" sz="1700" dirty="0"/>
                  <a:t> is a real number, we can write </a:t>
                </a:r>
                <a14:m>
                  <m:oMath xmlns:m="http://schemas.openxmlformats.org/officeDocument/2006/math">
                    <m:r>
                      <a:rPr lang="en-IE" sz="17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E" sz="1700" dirty="0"/>
                  <a:t> ∈ </a:t>
                </a:r>
                <a:r>
                  <a:rPr lang="en-IE" sz="1700" i="1" dirty="0"/>
                  <a:t>R</a:t>
                </a:r>
                <a:r>
                  <a:rPr lang="en-IE" sz="1700" dirty="0"/>
                  <a:t>.</a:t>
                </a: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7160" y="6105265"/>
                <a:ext cx="3749681" cy="353943"/>
              </a:xfrm>
              <a:prstGeom prst="rect">
                <a:avLst/>
              </a:prstGeom>
              <a:blipFill rotWithShape="0">
                <a:blip r:embed="rId7"/>
                <a:stretch>
                  <a:fillRect l="-487" t="-8621" r="-487" b="-22414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5764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2" grpId="0" build="p"/>
      <p:bldP spid="4" grpId="0" build="p"/>
      <p:bldP spid="6" grpId="0" build="p"/>
      <p:bldP spid="7" grpId="0" build="p"/>
      <p:bldP spid="10" grpId="0" build="p"/>
      <p:bldP spid="12" grpId="0" build="p"/>
      <p:bldP spid="13" grpId="0" build="p"/>
      <p:bldP spid="15" grpId="0" build="p"/>
      <p:bldP spid="16" grpId="0" build="p"/>
      <p:bldP spid="17" grpId="0" build="p"/>
      <p:bldP spid="20" grpId="0" build="p"/>
      <p:bldP spid="21" grpId="0" build="p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Placeholder 1"/>
          <p:cNvSpPr>
            <a:spLocks noGrp="1"/>
          </p:cNvSpPr>
          <p:nvPr>
            <p:ph type="body" sz="quarter" idx="18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E" altLang="en-US" dirty="0"/>
              <a:t>Graphing Inequalities</a:t>
            </a:r>
            <a:endParaRPr lang="en-US" alt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865421" y="717124"/>
            <a:ext cx="6562165" cy="1864164"/>
            <a:chOff x="1337092" y="665169"/>
            <a:chExt cx="6562165" cy="18641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Rectangle 2"/>
                <p:cNvSpPr/>
                <p:nvPr/>
              </p:nvSpPr>
              <p:spPr>
                <a:xfrm>
                  <a:off x="1337092" y="665169"/>
                  <a:ext cx="6562165" cy="61555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IE" sz="1700" b="1" dirty="0">
                      <a:solidFill>
                        <a:srgbClr val="00B050"/>
                      </a:solidFill>
                    </a:rPr>
                    <a:t>Graph each of the following inequalities on the number line given. </a:t>
                  </a:r>
                  <a:r>
                    <a:rPr lang="en-IE" sz="1700" b="1" dirty="0">
                      <a:solidFill>
                        <a:srgbClr val="FF0000"/>
                      </a:solidFill>
                    </a:rPr>
                    <a:t>NOTE: </a:t>
                  </a:r>
                  <a14:m>
                    <m:oMath xmlns:m="http://schemas.openxmlformats.org/officeDocument/2006/math">
                      <m:r>
                        <a:rPr lang="en-IE" sz="17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a14:m>
                  <a:r>
                    <a:rPr lang="en-IE" sz="1700" b="1" dirty="0">
                      <a:solidFill>
                        <a:srgbClr val="FF0000"/>
                      </a:solidFill>
                    </a:rPr>
                    <a:t> is an element of a different set (</a:t>
                  </a:r>
                  <a:r>
                    <a:rPr lang="en-IE" sz="1700" b="1" i="1" dirty="0">
                      <a:solidFill>
                        <a:srgbClr val="FF0000"/>
                      </a:solidFill>
                    </a:rPr>
                    <a:t>N</a:t>
                  </a:r>
                  <a:r>
                    <a:rPr lang="en-IE" sz="1700" b="1" dirty="0">
                      <a:solidFill>
                        <a:srgbClr val="FF0000"/>
                      </a:solidFill>
                    </a:rPr>
                    <a:t>, </a:t>
                  </a:r>
                  <a:r>
                    <a:rPr lang="en-IE" sz="1700" b="1" i="1" dirty="0">
                      <a:solidFill>
                        <a:srgbClr val="FF0000"/>
                      </a:solidFill>
                    </a:rPr>
                    <a:t>Z</a:t>
                  </a:r>
                  <a:r>
                    <a:rPr lang="en-IE" sz="1700" b="1" dirty="0">
                      <a:solidFill>
                        <a:srgbClr val="FF0000"/>
                      </a:solidFill>
                    </a:rPr>
                    <a:t>, or </a:t>
                  </a:r>
                  <a:r>
                    <a:rPr lang="en-IE" sz="1700" b="1" i="1" dirty="0">
                      <a:solidFill>
                        <a:srgbClr val="FF0000"/>
                      </a:solidFill>
                    </a:rPr>
                    <a:t>R</a:t>
                  </a:r>
                  <a:r>
                    <a:rPr lang="en-IE" sz="1700" b="1" dirty="0">
                      <a:solidFill>
                        <a:srgbClr val="FF0000"/>
                      </a:solidFill>
                    </a:rPr>
                    <a:t>) in each case. </a:t>
                  </a:r>
                </a:p>
              </p:txBody>
            </p:sp>
          </mc:Choice>
          <mc:Fallback xmlns="">
            <p:sp>
              <p:nvSpPr>
                <p:cNvPr id="3" name="Rectangle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7092" y="665169"/>
                  <a:ext cx="6562165" cy="615553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651" t="-3960" b="-12871"/>
                  </a:stretch>
                </a:blipFill>
              </p:spPr>
              <p:txBody>
                <a:bodyPr/>
                <a:lstStyle/>
                <a:p>
                  <a:r>
                    <a:rPr lang="en-I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/>
                <p:cNvSpPr/>
                <p:nvPr/>
              </p:nvSpPr>
              <p:spPr>
                <a:xfrm>
                  <a:off x="1355777" y="1259755"/>
                  <a:ext cx="2716306" cy="126957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IE" sz="1700" b="1" dirty="0">
                      <a:solidFill>
                        <a:srgbClr val="00B050"/>
                      </a:solidFill>
                    </a:rPr>
                    <a:t>(a) </a:t>
                  </a:r>
                  <a14:m>
                    <m:oMath xmlns:m="http://schemas.openxmlformats.org/officeDocument/2006/math">
                      <m:r>
                        <a:rPr lang="en-IE" sz="17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a14:m>
                  <a:r>
                    <a:rPr lang="en-IE" sz="1700" b="1" dirty="0">
                      <a:solidFill>
                        <a:srgbClr val="00B050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IE" sz="17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 </m:t>
                      </m:r>
                    </m:oMath>
                  </a14:m>
                  <a:r>
                    <a:rPr lang="en-IE" sz="1700" b="1" dirty="0">
                      <a:solidFill>
                        <a:srgbClr val="00B050"/>
                      </a:solidFill>
                    </a:rPr>
                    <a:t>–3, where </a:t>
                  </a:r>
                  <a14:m>
                    <m:oMath xmlns:m="http://schemas.openxmlformats.org/officeDocument/2006/math">
                      <m:r>
                        <a:rPr lang="en-IE" sz="17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a14:m>
                  <a:r>
                    <a:rPr lang="en-IE" sz="1700" b="1" dirty="0">
                      <a:solidFill>
                        <a:srgbClr val="00B050"/>
                      </a:solidFill>
                    </a:rPr>
                    <a:t> ∈ </a:t>
                  </a:r>
                  <a:r>
                    <a:rPr lang="en-IE" sz="1700" b="1" i="1" dirty="0">
                      <a:solidFill>
                        <a:srgbClr val="00B050"/>
                      </a:solidFill>
                    </a:rPr>
                    <a:t>Z</a:t>
                  </a:r>
                </a:p>
                <a:p>
                  <a:pPr>
                    <a:lnSpc>
                      <a:spcPct val="150000"/>
                    </a:lnSpc>
                  </a:pPr>
                  <a:r>
                    <a:rPr lang="en-IE" sz="1700" b="1" dirty="0">
                      <a:solidFill>
                        <a:srgbClr val="00B050"/>
                      </a:solidFill>
                    </a:rPr>
                    <a:t>(b) </a:t>
                  </a:r>
                  <a14:m>
                    <m:oMath xmlns:m="http://schemas.openxmlformats.org/officeDocument/2006/math">
                      <m:r>
                        <a:rPr lang="en-IE" sz="17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a14:m>
                  <a:r>
                    <a:rPr lang="en-IE" sz="1700" b="1" dirty="0">
                      <a:solidFill>
                        <a:srgbClr val="00B050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IE" sz="17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 </m:t>
                      </m:r>
                    </m:oMath>
                  </a14:m>
                  <a:r>
                    <a:rPr lang="en-IE" sz="1700" b="1" dirty="0">
                      <a:solidFill>
                        <a:srgbClr val="00B050"/>
                      </a:solidFill>
                    </a:rPr>
                    <a:t>–3, where </a:t>
                  </a:r>
                  <a14:m>
                    <m:oMath xmlns:m="http://schemas.openxmlformats.org/officeDocument/2006/math">
                      <m:r>
                        <a:rPr lang="en-IE" sz="17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a14:m>
                  <a:r>
                    <a:rPr lang="en-IE" sz="1700" b="1" dirty="0">
                      <a:solidFill>
                        <a:srgbClr val="00B050"/>
                      </a:solidFill>
                    </a:rPr>
                    <a:t> ∈ </a:t>
                  </a:r>
                  <a:r>
                    <a:rPr lang="en-IE" sz="1700" b="1" i="1" dirty="0">
                      <a:solidFill>
                        <a:srgbClr val="00B050"/>
                      </a:solidFill>
                    </a:rPr>
                    <a:t>N</a:t>
                  </a:r>
                </a:p>
                <a:p>
                  <a:pPr>
                    <a:lnSpc>
                      <a:spcPct val="150000"/>
                    </a:lnSpc>
                  </a:pPr>
                  <a:r>
                    <a:rPr lang="en-IE" sz="1700" b="1" dirty="0">
                      <a:solidFill>
                        <a:srgbClr val="00B050"/>
                      </a:solidFill>
                    </a:rPr>
                    <a:t>(c) </a:t>
                  </a:r>
                  <a14:m>
                    <m:oMath xmlns:m="http://schemas.openxmlformats.org/officeDocument/2006/math">
                      <m:r>
                        <a:rPr lang="en-IE" sz="17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a14:m>
                  <a:r>
                    <a:rPr lang="en-IE" sz="1700" b="1" dirty="0">
                      <a:solidFill>
                        <a:srgbClr val="00B050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IE" sz="17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a14:m>
                  <a:r>
                    <a:rPr lang="en-IE" sz="1700" b="1" dirty="0">
                      <a:solidFill>
                        <a:srgbClr val="00B050"/>
                      </a:solidFill>
                    </a:rPr>
                    <a:t> –3, where </a:t>
                  </a:r>
                  <a14:m>
                    <m:oMath xmlns:m="http://schemas.openxmlformats.org/officeDocument/2006/math">
                      <m:r>
                        <a:rPr lang="en-IE" sz="17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IE" sz="17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IE" sz="1700" b="1" dirty="0">
                      <a:solidFill>
                        <a:srgbClr val="00B050"/>
                      </a:solidFill>
                    </a:rPr>
                    <a:t>∈ </a:t>
                  </a:r>
                  <a:r>
                    <a:rPr lang="en-IE" sz="1700" b="1" i="1" dirty="0">
                      <a:solidFill>
                        <a:srgbClr val="00B050"/>
                      </a:solidFill>
                    </a:rPr>
                    <a:t>R</a:t>
                  </a:r>
                </a:p>
              </p:txBody>
            </p:sp>
          </mc:Choice>
          <mc:Fallback xmlns="">
            <p:sp>
              <p:nvSpPr>
                <p:cNvPr id="4" name="Rectangle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5777" y="1259755"/>
                  <a:ext cx="2716306" cy="1269578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1573" b="-2404"/>
                  </a:stretch>
                </a:blipFill>
              </p:spPr>
              <p:txBody>
                <a:bodyPr/>
                <a:lstStyle/>
                <a:p>
                  <a:r>
                    <a:rPr lang="en-I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Group 25"/>
          <p:cNvGrpSpPr/>
          <p:nvPr/>
        </p:nvGrpSpPr>
        <p:grpSpPr>
          <a:xfrm>
            <a:off x="1613067" y="2998463"/>
            <a:ext cx="6038748" cy="398966"/>
            <a:chOff x="1198665" y="4176562"/>
            <a:chExt cx="6264696" cy="548582"/>
          </a:xfrm>
        </p:grpSpPr>
        <p:grpSp>
          <p:nvGrpSpPr>
            <p:cNvPr id="27" name="Group 26"/>
            <p:cNvGrpSpPr/>
            <p:nvPr/>
          </p:nvGrpSpPr>
          <p:grpSpPr>
            <a:xfrm>
              <a:off x="1198665" y="4581128"/>
              <a:ext cx="6264696" cy="144016"/>
              <a:chOff x="755576" y="4581128"/>
              <a:chExt cx="6264696" cy="144016"/>
            </a:xfrm>
          </p:grpSpPr>
          <p:grpSp>
            <p:nvGrpSpPr>
              <p:cNvPr id="36" name="Group 35"/>
              <p:cNvGrpSpPr/>
              <p:nvPr/>
            </p:nvGrpSpPr>
            <p:grpSpPr>
              <a:xfrm>
                <a:off x="755576" y="4581128"/>
                <a:ext cx="6264696" cy="144016"/>
                <a:chOff x="755576" y="4581128"/>
                <a:chExt cx="6264696" cy="144016"/>
              </a:xfrm>
            </p:grpSpPr>
            <p:cxnSp>
              <p:nvCxnSpPr>
                <p:cNvPr id="38" name="Straight Connector 37"/>
                <p:cNvCxnSpPr/>
                <p:nvPr/>
              </p:nvCxnSpPr>
              <p:spPr>
                <a:xfrm>
                  <a:off x="755576" y="4725144"/>
                  <a:ext cx="6264696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headEnd type="non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>
                <a:xfrm flipV="1">
                  <a:off x="406794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/>
                <p:cNvCxnSpPr/>
                <p:nvPr/>
              </p:nvCxnSpPr>
              <p:spPr>
                <a:xfrm flipV="1">
                  <a:off x="334786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/>
                <p:cNvCxnSpPr/>
                <p:nvPr/>
              </p:nvCxnSpPr>
              <p:spPr>
                <a:xfrm flipV="1">
                  <a:off x="478802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/>
                <p:cNvCxnSpPr/>
                <p:nvPr/>
              </p:nvCxnSpPr>
              <p:spPr>
                <a:xfrm flipV="1">
                  <a:off x="550810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/>
                <p:cNvCxnSpPr/>
                <p:nvPr/>
              </p:nvCxnSpPr>
              <p:spPr>
                <a:xfrm flipV="1">
                  <a:off x="622818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/>
                <p:cNvCxnSpPr/>
                <p:nvPr/>
              </p:nvCxnSpPr>
              <p:spPr>
                <a:xfrm flipV="1">
                  <a:off x="262778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/>
                <p:cNvCxnSpPr/>
                <p:nvPr/>
              </p:nvCxnSpPr>
              <p:spPr>
                <a:xfrm flipV="1">
                  <a:off x="190770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7" name="Straight Connector 36"/>
              <p:cNvCxnSpPr/>
              <p:nvPr/>
            </p:nvCxnSpPr>
            <p:spPr>
              <a:xfrm flipV="1">
                <a:off x="1187624" y="4581128"/>
                <a:ext cx="0" cy="14401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/>
            <p:cNvSpPr txBox="1"/>
            <p:nvPr/>
          </p:nvSpPr>
          <p:spPr>
            <a:xfrm>
              <a:off x="4353503" y="4184060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0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080270" y="4184060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1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800350" y="4184060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2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502793" y="4176562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3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491880" y="4176562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−1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822407" y="4176562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−2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138674" y="4201516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−3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348178" y="4210021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−4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3376100" y="3322062"/>
            <a:ext cx="3563761" cy="94286"/>
            <a:chOff x="3235485" y="3201265"/>
            <a:chExt cx="3563761" cy="94286"/>
          </a:xfrm>
        </p:grpSpPr>
        <p:sp>
          <p:nvSpPr>
            <p:cNvPr id="50" name="Oval 49"/>
            <p:cNvSpPr/>
            <p:nvPr/>
          </p:nvSpPr>
          <p:spPr bwMode="auto">
            <a:xfrm>
              <a:off x="3235485" y="3201265"/>
              <a:ext cx="83300" cy="94286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</a:ln>
            <a:extLst/>
          </p:spPr>
          <p:txBody>
            <a:bodyPr rtlCol="0" anchor="ctr"/>
            <a:lstStyle/>
            <a:p>
              <a:pPr algn="ctr"/>
              <a:endParaRPr lang="en-IE" sz="1700">
                <a:noFill/>
              </a:endParaRPr>
            </a:p>
          </p:txBody>
        </p:sp>
        <p:sp>
          <p:nvSpPr>
            <p:cNvPr id="51" name="Oval 50"/>
            <p:cNvSpPr/>
            <p:nvPr/>
          </p:nvSpPr>
          <p:spPr bwMode="auto">
            <a:xfrm>
              <a:off x="3933558" y="3201265"/>
              <a:ext cx="83300" cy="94286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</a:ln>
            <a:extLst/>
          </p:spPr>
          <p:txBody>
            <a:bodyPr rtlCol="0" anchor="ctr"/>
            <a:lstStyle/>
            <a:p>
              <a:pPr algn="ctr"/>
              <a:endParaRPr lang="en-IE" sz="1700">
                <a:noFill/>
              </a:endParaRPr>
            </a:p>
          </p:txBody>
        </p:sp>
        <p:sp>
          <p:nvSpPr>
            <p:cNvPr id="52" name="Oval 51"/>
            <p:cNvSpPr/>
            <p:nvPr/>
          </p:nvSpPr>
          <p:spPr bwMode="auto">
            <a:xfrm>
              <a:off x="4631631" y="3201265"/>
              <a:ext cx="83300" cy="94286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</a:ln>
            <a:extLst/>
          </p:spPr>
          <p:txBody>
            <a:bodyPr rtlCol="0" anchor="ctr"/>
            <a:lstStyle/>
            <a:p>
              <a:pPr algn="ctr"/>
              <a:endParaRPr lang="en-IE" sz="1700">
                <a:noFill/>
              </a:endParaRPr>
            </a:p>
          </p:txBody>
        </p:sp>
        <p:sp>
          <p:nvSpPr>
            <p:cNvPr id="53" name="Oval 52"/>
            <p:cNvSpPr/>
            <p:nvPr/>
          </p:nvSpPr>
          <p:spPr bwMode="auto">
            <a:xfrm>
              <a:off x="5317812" y="3201265"/>
              <a:ext cx="83300" cy="94286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</a:ln>
            <a:extLst/>
          </p:spPr>
          <p:txBody>
            <a:bodyPr rtlCol="0" anchor="ctr"/>
            <a:lstStyle/>
            <a:p>
              <a:pPr algn="ctr"/>
              <a:endParaRPr lang="en-IE" sz="1700">
                <a:noFill/>
              </a:endParaRPr>
            </a:p>
          </p:txBody>
        </p:sp>
        <p:sp>
          <p:nvSpPr>
            <p:cNvPr id="54" name="Oval 53"/>
            <p:cNvSpPr/>
            <p:nvPr/>
          </p:nvSpPr>
          <p:spPr bwMode="auto">
            <a:xfrm>
              <a:off x="6003993" y="3201265"/>
              <a:ext cx="83300" cy="94286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</a:ln>
            <a:extLst/>
          </p:spPr>
          <p:txBody>
            <a:bodyPr rtlCol="0" anchor="ctr"/>
            <a:lstStyle/>
            <a:p>
              <a:pPr algn="ctr"/>
              <a:endParaRPr lang="en-IE" sz="1700">
                <a:noFill/>
              </a:endParaRPr>
            </a:p>
          </p:txBody>
        </p:sp>
        <p:sp>
          <p:nvSpPr>
            <p:cNvPr id="55" name="Oval 54"/>
            <p:cNvSpPr/>
            <p:nvPr/>
          </p:nvSpPr>
          <p:spPr bwMode="auto">
            <a:xfrm>
              <a:off x="6715946" y="3201265"/>
              <a:ext cx="83300" cy="94286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</a:ln>
            <a:extLst/>
          </p:spPr>
          <p:txBody>
            <a:bodyPr rtlCol="0" anchor="ctr"/>
            <a:lstStyle/>
            <a:p>
              <a:pPr algn="ctr"/>
              <a:endParaRPr lang="en-IE" sz="1700">
                <a:noFill/>
              </a:endParaRP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1594893" y="4175002"/>
            <a:ext cx="6038748" cy="398966"/>
            <a:chOff x="1198665" y="4176562"/>
            <a:chExt cx="6264696" cy="548582"/>
          </a:xfrm>
        </p:grpSpPr>
        <p:grpSp>
          <p:nvGrpSpPr>
            <p:cNvPr id="57" name="Group 56"/>
            <p:cNvGrpSpPr/>
            <p:nvPr/>
          </p:nvGrpSpPr>
          <p:grpSpPr>
            <a:xfrm>
              <a:off x="1198665" y="4581128"/>
              <a:ext cx="6264696" cy="144016"/>
              <a:chOff x="755576" y="4581128"/>
              <a:chExt cx="6264696" cy="144016"/>
            </a:xfrm>
          </p:grpSpPr>
          <p:grpSp>
            <p:nvGrpSpPr>
              <p:cNvPr id="66" name="Group 65"/>
              <p:cNvGrpSpPr/>
              <p:nvPr/>
            </p:nvGrpSpPr>
            <p:grpSpPr>
              <a:xfrm>
                <a:off x="755576" y="4581128"/>
                <a:ext cx="6264696" cy="144016"/>
                <a:chOff x="755576" y="4581128"/>
                <a:chExt cx="6264696" cy="144016"/>
              </a:xfrm>
            </p:grpSpPr>
            <p:cxnSp>
              <p:nvCxnSpPr>
                <p:cNvPr id="68" name="Straight Connector 67"/>
                <p:cNvCxnSpPr/>
                <p:nvPr/>
              </p:nvCxnSpPr>
              <p:spPr>
                <a:xfrm>
                  <a:off x="755576" y="4725144"/>
                  <a:ext cx="6264696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headEnd type="non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/>
                <p:cNvCxnSpPr/>
                <p:nvPr/>
              </p:nvCxnSpPr>
              <p:spPr>
                <a:xfrm flipV="1">
                  <a:off x="406794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/>
                <p:cNvCxnSpPr/>
                <p:nvPr/>
              </p:nvCxnSpPr>
              <p:spPr>
                <a:xfrm flipV="1">
                  <a:off x="334786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Connector 70"/>
                <p:cNvCxnSpPr/>
                <p:nvPr/>
              </p:nvCxnSpPr>
              <p:spPr>
                <a:xfrm flipV="1">
                  <a:off x="478802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/>
                <p:cNvCxnSpPr/>
                <p:nvPr/>
              </p:nvCxnSpPr>
              <p:spPr>
                <a:xfrm flipV="1">
                  <a:off x="550810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/>
                <p:cNvCxnSpPr/>
                <p:nvPr/>
              </p:nvCxnSpPr>
              <p:spPr>
                <a:xfrm flipV="1">
                  <a:off x="622818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/>
                <p:cNvCxnSpPr/>
                <p:nvPr/>
              </p:nvCxnSpPr>
              <p:spPr>
                <a:xfrm flipV="1">
                  <a:off x="262778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Connector 74"/>
                <p:cNvCxnSpPr/>
                <p:nvPr/>
              </p:nvCxnSpPr>
              <p:spPr>
                <a:xfrm flipV="1">
                  <a:off x="190770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7" name="Straight Connector 66"/>
              <p:cNvCxnSpPr/>
              <p:nvPr/>
            </p:nvCxnSpPr>
            <p:spPr>
              <a:xfrm flipV="1">
                <a:off x="1187624" y="4581128"/>
                <a:ext cx="0" cy="14401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TextBox 57"/>
            <p:cNvSpPr txBox="1"/>
            <p:nvPr/>
          </p:nvSpPr>
          <p:spPr>
            <a:xfrm>
              <a:off x="4353503" y="4184060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0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080270" y="4184060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1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5800350" y="4184060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2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502793" y="4176562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3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491880" y="4176562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−1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2822407" y="4176562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−2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2138674" y="4201516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−3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348178" y="4210021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−4</a:t>
              </a:r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5440253" y="4508687"/>
            <a:ext cx="1481434" cy="94286"/>
            <a:chOff x="5317812" y="3211351"/>
            <a:chExt cx="1481434" cy="94286"/>
          </a:xfrm>
        </p:grpSpPr>
        <p:sp>
          <p:nvSpPr>
            <p:cNvPr id="81" name="Oval 80"/>
            <p:cNvSpPr/>
            <p:nvPr/>
          </p:nvSpPr>
          <p:spPr bwMode="auto">
            <a:xfrm>
              <a:off x="5317812" y="3211351"/>
              <a:ext cx="83300" cy="94286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</a:ln>
            <a:extLst/>
          </p:spPr>
          <p:txBody>
            <a:bodyPr rtlCol="0" anchor="ctr"/>
            <a:lstStyle/>
            <a:p>
              <a:pPr algn="ctr"/>
              <a:endParaRPr lang="en-IE" sz="1700">
                <a:noFill/>
              </a:endParaRPr>
            </a:p>
          </p:txBody>
        </p:sp>
        <p:sp>
          <p:nvSpPr>
            <p:cNvPr id="82" name="Oval 81"/>
            <p:cNvSpPr/>
            <p:nvPr/>
          </p:nvSpPr>
          <p:spPr bwMode="auto">
            <a:xfrm>
              <a:off x="6003993" y="3211351"/>
              <a:ext cx="83300" cy="94286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</a:ln>
            <a:extLst/>
          </p:spPr>
          <p:txBody>
            <a:bodyPr rtlCol="0" anchor="ctr"/>
            <a:lstStyle/>
            <a:p>
              <a:pPr algn="ctr"/>
              <a:endParaRPr lang="en-IE" sz="1700">
                <a:noFill/>
              </a:endParaRPr>
            </a:p>
          </p:txBody>
        </p:sp>
        <p:sp>
          <p:nvSpPr>
            <p:cNvPr id="83" name="Oval 82"/>
            <p:cNvSpPr/>
            <p:nvPr/>
          </p:nvSpPr>
          <p:spPr bwMode="auto">
            <a:xfrm>
              <a:off x="6715946" y="3211351"/>
              <a:ext cx="83300" cy="94286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</a:ln>
            <a:extLst/>
          </p:spPr>
          <p:txBody>
            <a:bodyPr rtlCol="0" anchor="ctr"/>
            <a:lstStyle/>
            <a:p>
              <a:pPr algn="ctr"/>
              <a:endParaRPr lang="en-IE" sz="1700">
                <a:noFill/>
              </a:endParaRPr>
            </a:p>
          </p:txBody>
        </p:sp>
      </p:grpSp>
      <p:grpSp>
        <p:nvGrpSpPr>
          <p:cNvPr id="84" name="Group 83"/>
          <p:cNvGrpSpPr/>
          <p:nvPr/>
        </p:nvGrpSpPr>
        <p:grpSpPr>
          <a:xfrm>
            <a:off x="1594893" y="5307398"/>
            <a:ext cx="6038748" cy="398966"/>
            <a:chOff x="1198665" y="4176562"/>
            <a:chExt cx="6264696" cy="548582"/>
          </a:xfrm>
        </p:grpSpPr>
        <p:grpSp>
          <p:nvGrpSpPr>
            <p:cNvPr id="85" name="Group 84"/>
            <p:cNvGrpSpPr/>
            <p:nvPr/>
          </p:nvGrpSpPr>
          <p:grpSpPr>
            <a:xfrm>
              <a:off x="1198665" y="4581128"/>
              <a:ext cx="6264696" cy="144016"/>
              <a:chOff x="755576" y="4581128"/>
              <a:chExt cx="6264696" cy="144016"/>
            </a:xfrm>
          </p:grpSpPr>
          <p:grpSp>
            <p:nvGrpSpPr>
              <p:cNvPr id="94" name="Group 93"/>
              <p:cNvGrpSpPr/>
              <p:nvPr/>
            </p:nvGrpSpPr>
            <p:grpSpPr>
              <a:xfrm>
                <a:off x="755576" y="4581128"/>
                <a:ext cx="6264696" cy="144016"/>
                <a:chOff x="755576" y="4581128"/>
                <a:chExt cx="6264696" cy="144016"/>
              </a:xfrm>
            </p:grpSpPr>
            <p:cxnSp>
              <p:nvCxnSpPr>
                <p:cNvPr id="96" name="Straight Connector 95"/>
                <p:cNvCxnSpPr/>
                <p:nvPr/>
              </p:nvCxnSpPr>
              <p:spPr>
                <a:xfrm>
                  <a:off x="755576" y="4725144"/>
                  <a:ext cx="6264696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headEnd type="non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Connector 96"/>
                <p:cNvCxnSpPr/>
                <p:nvPr/>
              </p:nvCxnSpPr>
              <p:spPr>
                <a:xfrm flipV="1">
                  <a:off x="406794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Connector 97"/>
                <p:cNvCxnSpPr/>
                <p:nvPr/>
              </p:nvCxnSpPr>
              <p:spPr>
                <a:xfrm flipV="1">
                  <a:off x="334786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Connector 98"/>
                <p:cNvCxnSpPr/>
                <p:nvPr/>
              </p:nvCxnSpPr>
              <p:spPr>
                <a:xfrm flipV="1">
                  <a:off x="478802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/>
                <p:cNvCxnSpPr/>
                <p:nvPr/>
              </p:nvCxnSpPr>
              <p:spPr>
                <a:xfrm flipV="1">
                  <a:off x="550810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Connector 100"/>
                <p:cNvCxnSpPr/>
                <p:nvPr/>
              </p:nvCxnSpPr>
              <p:spPr>
                <a:xfrm flipV="1">
                  <a:off x="622818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Straight Connector 101"/>
                <p:cNvCxnSpPr/>
                <p:nvPr/>
              </p:nvCxnSpPr>
              <p:spPr>
                <a:xfrm flipV="1">
                  <a:off x="262778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Connector 102"/>
                <p:cNvCxnSpPr/>
                <p:nvPr/>
              </p:nvCxnSpPr>
              <p:spPr>
                <a:xfrm flipV="1">
                  <a:off x="190770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5" name="Straight Connector 94"/>
              <p:cNvCxnSpPr/>
              <p:nvPr/>
            </p:nvCxnSpPr>
            <p:spPr>
              <a:xfrm flipV="1">
                <a:off x="1187624" y="4581128"/>
                <a:ext cx="0" cy="14401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6" name="TextBox 85"/>
            <p:cNvSpPr txBox="1"/>
            <p:nvPr/>
          </p:nvSpPr>
          <p:spPr>
            <a:xfrm>
              <a:off x="4353503" y="4184060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0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5080270" y="4184060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1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5800350" y="4184060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2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6502793" y="4176562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3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3491880" y="4176562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−1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2822407" y="4176562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−2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2138674" y="4201516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−3</a:t>
              </a: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1348178" y="4210021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−4</a:t>
              </a:r>
            </a:p>
          </p:txBody>
        </p:sp>
      </p:grpSp>
      <p:grpSp>
        <p:nvGrpSpPr>
          <p:cNvPr id="111" name="Group 110"/>
          <p:cNvGrpSpPr/>
          <p:nvPr/>
        </p:nvGrpSpPr>
        <p:grpSpPr>
          <a:xfrm flipH="1">
            <a:off x="2654410" y="5647504"/>
            <a:ext cx="4979231" cy="93600"/>
            <a:chOff x="-219894" y="4889494"/>
            <a:chExt cx="5532539" cy="82215"/>
          </a:xfrm>
        </p:grpSpPr>
        <p:cxnSp>
          <p:nvCxnSpPr>
            <p:cNvPr id="112" name="Straight Connector 111"/>
            <p:cNvCxnSpPr>
              <a:endCxn id="113" idx="2"/>
            </p:cNvCxnSpPr>
            <p:nvPr/>
          </p:nvCxnSpPr>
          <p:spPr>
            <a:xfrm flipV="1">
              <a:off x="-219894" y="4930602"/>
              <a:ext cx="5428538" cy="11898"/>
            </a:xfrm>
            <a:prstGeom prst="line">
              <a:avLst/>
            </a:prstGeom>
            <a:ln w="31750">
              <a:solidFill>
                <a:srgbClr val="FF0000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Oval 112"/>
            <p:cNvSpPr/>
            <p:nvPr/>
          </p:nvSpPr>
          <p:spPr>
            <a:xfrm>
              <a:off x="5208644" y="4889494"/>
              <a:ext cx="104001" cy="8221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sz="1700"/>
            </a:p>
          </p:txBody>
        </p:sp>
      </p:grpSp>
      <p:sp>
        <p:nvSpPr>
          <p:cNvPr id="6" name="Rectangle 5"/>
          <p:cNvSpPr/>
          <p:nvPr/>
        </p:nvSpPr>
        <p:spPr>
          <a:xfrm>
            <a:off x="918586" y="3129033"/>
            <a:ext cx="470000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E" sz="1700" dirty="0"/>
              <a:t>(a) </a:t>
            </a:r>
          </a:p>
        </p:txBody>
      </p:sp>
      <p:sp>
        <p:nvSpPr>
          <p:cNvPr id="7" name="Rectangle 6"/>
          <p:cNvSpPr/>
          <p:nvPr/>
        </p:nvSpPr>
        <p:spPr>
          <a:xfrm>
            <a:off x="918586" y="4321262"/>
            <a:ext cx="479618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E" sz="1700" dirty="0"/>
              <a:t>(b) </a:t>
            </a:r>
          </a:p>
        </p:txBody>
      </p:sp>
      <p:sp>
        <p:nvSpPr>
          <p:cNvPr id="8" name="Rectangle 7"/>
          <p:cNvSpPr/>
          <p:nvPr/>
        </p:nvSpPr>
        <p:spPr>
          <a:xfrm>
            <a:off x="918586" y="5503619"/>
            <a:ext cx="458780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E" sz="1700" dirty="0"/>
              <a:t>(c) </a:t>
            </a:r>
          </a:p>
        </p:txBody>
      </p:sp>
    </p:spTree>
    <p:extLst>
      <p:ext uri="{BB962C8B-B14F-4D97-AF65-F5344CB8AC3E}">
        <p14:creationId xmlns:p14="http://schemas.microsoft.com/office/powerpoint/2010/main" val="1141564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Placeholder 1"/>
          <p:cNvSpPr>
            <a:spLocks noGrp="1"/>
          </p:cNvSpPr>
          <p:nvPr>
            <p:ph type="body" sz="quarter" idx="18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E" altLang="en-US" dirty="0"/>
              <a:t>Graphing Inequalities</a:t>
            </a:r>
            <a:endParaRPr lang="en-US" alt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834171" y="713683"/>
            <a:ext cx="6584994" cy="1887215"/>
            <a:chOff x="1291309" y="651337"/>
            <a:chExt cx="6584994" cy="18872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Rectangle 2"/>
                <p:cNvSpPr/>
                <p:nvPr/>
              </p:nvSpPr>
              <p:spPr>
                <a:xfrm>
                  <a:off x="1314138" y="651337"/>
                  <a:ext cx="6562165" cy="61555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IE" sz="1700" b="1" dirty="0">
                      <a:solidFill>
                        <a:srgbClr val="00B050"/>
                      </a:solidFill>
                    </a:rPr>
                    <a:t>Graph each of the following inequalities on the number line given. </a:t>
                  </a:r>
                  <a:r>
                    <a:rPr lang="en-IE" sz="1700" b="1" dirty="0">
                      <a:solidFill>
                        <a:srgbClr val="FF0000"/>
                      </a:solidFill>
                    </a:rPr>
                    <a:t>NOTE: </a:t>
                  </a:r>
                  <a14:m>
                    <m:oMath xmlns:m="http://schemas.openxmlformats.org/officeDocument/2006/math">
                      <m:r>
                        <a:rPr lang="en-IE" sz="1700" b="1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a14:m>
                  <a:r>
                    <a:rPr lang="en-IE" sz="1700" b="1" dirty="0">
                      <a:solidFill>
                        <a:srgbClr val="FF0000"/>
                      </a:solidFill>
                    </a:rPr>
                    <a:t> is an element of a different set (</a:t>
                  </a:r>
                  <a:r>
                    <a:rPr lang="en-IE" sz="1700" b="1" i="1" dirty="0">
                      <a:solidFill>
                        <a:srgbClr val="FF0000"/>
                      </a:solidFill>
                    </a:rPr>
                    <a:t>N</a:t>
                  </a:r>
                  <a:r>
                    <a:rPr lang="en-IE" sz="1700" b="1" dirty="0">
                      <a:solidFill>
                        <a:srgbClr val="FF0000"/>
                      </a:solidFill>
                    </a:rPr>
                    <a:t>, </a:t>
                  </a:r>
                  <a:r>
                    <a:rPr lang="en-IE" sz="1700" b="1" i="1" dirty="0">
                      <a:solidFill>
                        <a:srgbClr val="FF0000"/>
                      </a:solidFill>
                    </a:rPr>
                    <a:t>Z</a:t>
                  </a:r>
                  <a:r>
                    <a:rPr lang="en-IE" sz="1700" b="1" dirty="0">
                      <a:solidFill>
                        <a:srgbClr val="FF0000"/>
                      </a:solidFill>
                    </a:rPr>
                    <a:t>, or </a:t>
                  </a:r>
                  <a:r>
                    <a:rPr lang="en-IE" sz="1700" b="1" i="1" dirty="0">
                      <a:solidFill>
                        <a:srgbClr val="FF0000"/>
                      </a:solidFill>
                    </a:rPr>
                    <a:t>R</a:t>
                  </a:r>
                  <a:r>
                    <a:rPr lang="en-IE" sz="1700" b="1" dirty="0">
                      <a:solidFill>
                        <a:srgbClr val="FF0000"/>
                      </a:solidFill>
                    </a:rPr>
                    <a:t>) in each case.</a:t>
                  </a:r>
                </a:p>
              </p:txBody>
            </p:sp>
          </mc:Choice>
          <mc:Fallback xmlns="">
            <p:sp>
              <p:nvSpPr>
                <p:cNvPr id="3" name="Rectangle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4138" y="651337"/>
                  <a:ext cx="6562165" cy="615553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557" t="-2970" b="-12871"/>
                  </a:stretch>
                </a:blipFill>
              </p:spPr>
              <p:txBody>
                <a:bodyPr/>
                <a:lstStyle/>
                <a:p>
                  <a:r>
                    <a:rPr lang="en-I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/>
                <p:cNvSpPr/>
                <p:nvPr/>
              </p:nvSpPr>
              <p:spPr>
                <a:xfrm>
                  <a:off x="1291309" y="1268974"/>
                  <a:ext cx="2716306" cy="126957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IE" sz="1700" b="1" dirty="0">
                      <a:solidFill>
                        <a:srgbClr val="00B050"/>
                      </a:solidFill>
                    </a:rPr>
                    <a:t>(a) </a:t>
                  </a:r>
                  <a14:m>
                    <m:oMath xmlns:m="http://schemas.openxmlformats.org/officeDocument/2006/math">
                      <m:r>
                        <a:rPr lang="en-IE" sz="17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a14:m>
                  <a:r>
                    <a:rPr lang="en-IE" sz="1700" b="1" dirty="0">
                      <a:solidFill>
                        <a:srgbClr val="00B050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IE" sz="17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 </m:t>
                      </m:r>
                    </m:oMath>
                  </a14:m>
                  <a:r>
                    <a:rPr lang="en-IE" sz="1700" b="1" dirty="0">
                      <a:solidFill>
                        <a:srgbClr val="00B050"/>
                      </a:solidFill>
                    </a:rPr>
                    <a:t>2, where </a:t>
                  </a:r>
                  <a14:m>
                    <m:oMath xmlns:m="http://schemas.openxmlformats.org/officeDocument/2006/math">
                      <m:r>
                        <a:rPr lang="en-IE" sz="17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a14:m>
                  <a:r>
                    <a:rPr lang="en-IE" sz="1700" b="1" dirty="0">
                      <a:solidFill>
                        <a:srgbClr val="00B050"/>
                      </a:solidFill>
                    </a:rPr>
                    <a:t> ∈ </a:t>
                  </a:r>
                  <a:r>
                    <a:rPr lang="en-IE" sz="1700" b="1" i="1" dirty="0">
                      <a:solidFill>
                        <a:srgbClr val="00B050"/>
                      </a:solidFill>
                    </a:rPr>
                    <a:t>N</a:t>
                  </a:r>
                </a:p>
                <a:p>
                  <a:pPr>
                    <a:lnSpc>
                      <a:spcPct val="150000"/>
                    </a:lnSpc>
                  </a:pPr>
                  <a:r>
                    <a:rPr lang="en-IE" sz="1700" b="1" dirty="0">
                      <a:solidFill>
                        <a:srgbClr val="00B050"/>
                      </a:solidFill>
                    </a:rPr>
                    <a:t>(b) </a:t>
                  </a:r>
                  <a14:m>
                    <m:oMath xmlns:m="http://schemas.openxmlformats.org/officeDocument/2006/math">
                      <m:r>
                        <a:rPr lang="en-IE" sz="17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a14:m>
                  <a:r>
                    <a:rPr lang="en-IE" sz="1700" b="1" dirty="0">
                      <a:solidFill>
                        <a:srgbClr val="00B050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IE" sz="17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IE" sz="17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IE" sz="1700" b="1" dirty="0">
                      <a:solidFill>
                        <a:srgbClr val="00B050"/>
                      </a:solidFill>
                    </a:rPr>
                    <a:t>2, where </a:t>
                  </a:r>
                  <a14:m>
                    <m:oMath xmlns:m="http://schemas.openxmlformats.org/officeDocument/2006/math">
                      <m:r>
                        <a:rPr lang="en-IE" sz="17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a14:m>
                  <a:r>
                    <a:rPr lang="en-IE" sz="1700" b="1" dirty="0">
                      <a:solidFill>
                        <a:srgbClr val="00B050"/>
                      </a:solidFill>
                    </a:rPr>
                    <a:t> ∈ </a:t>
                  </a:r>
                  <a:r>
                    <a:rPr lang="en-IE" sz="1700" b="1" i="1" dirty="0">
                      <a:solidFill>
                        <a:srgbClr val="00B050"/>
                      </a:solidFill>
                    </a:rPr>
                    <a:t>Z</a:t>
                  </a:r>
                </a:p>
                <a:p>
                  <a:pPr>
                    <a:lnSpc>
                      <a:spcPct val="150000"/>
                    </a:lnSpc>
                  </a:pPr>
                  <a:r>
                    <a:rPr lang="en-IE" sz="1700" b="1" dirty="0">
                      <a:solidFill>
                        <a:srgbClr val="00B050"/>
                      </a:solidFill>
                    </a:rPr>
                    <a:t>(c) </a:t>
                  </a:r>
                  <a14:m>
                    <m:oMath xmlns:m="http://schemas.openxmlformats.org/officeDocument/2006/math">
                      <m:r>
                        <a:rPr lang="en-IE" sz="17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a14:m>
                  <a:r>
                    <a:rPr lang="en-IE" sz="1700" b="1" dirty="0">
                      <a:solidFill>
                        <a:srgbClr val="00B050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IE" sz="1700" b="1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IE" sz="1700" b="1" dirty="0">
                      <a:solidFill>
                        <a:srgbClr val="00B050"/>
                      </a:solidFill>
                    </a:rPr>
                    <a:t> 2, where </a:t>
                  </a:r>
                  <a14:m>
                    <m:oMath xmlns:m="http://schemas.openxmlformats.org/officeDocument/2006/math">
                      <m:r>
                        <a:rPr lang="en-IE" sz="17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IE" sz="1700" b="1" i="1" dirty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IE" sz="1700" b="1" dirty="0">
                      <a:solidFill>
                        <a:srgbClr val="00B050"/>
                      </a:solidFill>
                    </a:rPr>
                    <a:t>∈ </a:t>
                  </a:r>
                  <a:r>
                    <a:rPr lang="en-IE" sz="1700" b="1" i="1" dirty="0">
                      <a:solidFill>
                        <a:srgbClr val="00B050"/>
                      </a:solidFill>
                    </a:rPr>
                    <a:t>R</a:t>
                  </a:r>
                </a:p>
              </p:txBody>
            </p:sp>
          </mc:Choice>
          <mc:Fallback xmlns="">
            <p:sp>
              <p:nvSpPr>
                <p:cNvPr id="4" name="Rectangle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1309" y="1268974"/>
                  <a:ext cx="2716306" cy="1269578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1573" b="-1914"/>
                  </a:stretch>
                </a:blipFill>
              </p:spPr>
              <p:txBody>
                <a:bodyPr/>
                <a:lstStyle/>
                <a:p>
                  <a:r>
                    <a:rPr lang="en-I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Group 25"/>
          <p:cNvGrpSpPr/>
          <p:nvPr/>
        </p:nvGrpSpPr>
        <p:grpSpPr>
          <a:xfrm>
            <a:off x="1535008" y="3116424"/>
            <a:ext cx="6038748" cy="398966"/>
            <a:chOff x="1198665" y="4176562"/>
            <a:chExt cx="6264696" cy="548582"/>
          </a:xfrm>
        </p:grpSpPr>
        <p:grpSp>
          <p:nvGrpSpPr>
            <p:cNvPr id="27" name="Group 26"/>
            <p:cNvGrpSpPr/>
            <p:nvPr/>
          </p:nvGrpSpPr>
          <p:grpSpPr>
            <a:xfrm>
              <a:off x="1198665" y="4581128"/>
              <a:ext cx="6264696" cy="144016"/>
              <a:chOff x="755576" y="4581128"/>
              <a:chExt cx="6264696" cy="144016"/>
            </a:xfrm>
          </p:grpSpPr>
          <p:grpSp>
            <p:nvGrpSpPr>
              <p:cNvPr id="36" name="Group 35"/>
              <p:cNvGrpSpPr/>
              <p:nvPr/>
            </p:nvGrpSpPr>
            <p:grpSpPr>
              <a:xfrm>
                <a:off x="755576" y="4581128"/>
                <a:ext cx="6264696" cy="144016"/>
                <a:chOff x="755576" y="4581128"/>
                <a:chExt cx="6264696" cy="144016"/>
              </a:xfrm>
            </p:grpSpPr>
            <p:cxnSp>
              <p:nvCxnSpPr>
                <p:cNvPr id="38" name="Straight Connector 37"/>
                <p:cNvCxnSpPr/>
                <p:nvPr/>
              </p:nvCxnSpPr>
              <p:spPr>
                <a:xfrm>
                  <a:off x="755576" y="4725144"/>
                  <a:ext cx="6264696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headEnd type="non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>
                <a:xfrm flipV="1">
                  <a:off x="406794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/>
                <p:cNvCxnSpPr/>
                <p:nvPr/>
              </p:nvCxnSpPr>
              <p:spPr>
                <a:xfrm flipV="1">
                  <a:off x="334786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/>
                <p:cNvCxnSpPr/>
                <p:nvPr/>
              </p:nvCxnSpPr>
              <p:spPr>
                <a:xfrm flipV="1">
                  <a:off x="478802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/>
                <p:cNvCxnSpPr/>
                <p:nvPr/>
              </p:nvCxnSpPr>
              <p:spPr>
                <a:xfrm flipV="1">
                  <a:off x="550810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/>
                <p:cNvCxnSpPr/>
                <p:nvPr/>
              </p:nvCxnSpPr>
              <p:spPr>
                <a:xfrm flipV="1">
                  <a:off x="622818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/>
                <p:cNvCxnSpPr/>
                <p:nvPr/>
              </p:nvCxnSpPr>
              <p:spPr>
                <a:xfrm flipV="1">
                  <a:off x="262778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/>
                <p:cNvCxnSpPr/>
                <p:nvPr/>
              </p:nvCxnSpPr>
              <p:spPr>
                <a:xfrm flipV="1">
                  <a:off x="190770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7" name="Straight Connector 36"/>
              <p:cNvCxnSpPr/>
              <p:nvPr/>
            </p:nvCxnSpPr>
            <p:spPr>
              <a:xfrm flipV="1">
                <a:off x="1187624" y="4581128"/>
                <a:ext cx="0" cy="14401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/>
            <p:cNvSpPr txBox="1"/>
            <p:nvPr/>
          </p:nvSpPr>
          <p:spPr>
            <a:xfrm>
              <a:off x="4353503" y="4184060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0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080270" y="4184060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1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800350" y="4184060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2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502793" y="4176562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3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491880" y="4176562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−1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822407" y="4176562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−2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138674" y="4201516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−3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348178" y="4210021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−4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5380368" y="3443408"/>
            <a:ext cx="769481" cy="94286"/>
            <a:chOff x="5317812" y="3204650"/>
            <a:chExt cx="769481" cy="94286"/>
          </a:xfrm>
        </p:grpSpPr>
        <p:sp>
          <p:nvSpPr>
            <p:cNvPr id="53" name="Oval 52"/>
            <p:cNvSpPr/>
            <p:nvPr/>
          </p:nvSpPr>
          <p:spPr bwMode="auto">
            <a:xfrm>
              <a:off x="5317812" y="3204650"/>
              <a:ext cx="83300" cy="94286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</a:ln>
            <a:extLst/>
          </p:spPr>
          <p:txBody>
            <a:bodyPr rtlCol="0" anchor="ctr"/>
            <a:lstStyle/>
            <a:p>
              <a:pPr algn="ctr"/>
              <a:endParaRPr lang="en-IE" sz="1700">
                <a:noFill/>
              </a:endParaRPr>
            </a:p>
          </p:txBody>
        </p:sp>
        <p:sp>
          <p:nvSpPr>
            <p:cNvPr id="54" name="Oval 53"/>
            <p:cNvSpPr/>
            <p:nvPr/>
          </p:nvSpPr>
          <p:spPr bwMode="auto">
            <a:xfrm>
              <a:off x="6003993" y="3204650"/>
              <a:ext cx="83300" cy="94286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</a:ln>
            <a:extLst/>
          </p:spPr>
          <p:txBody>
            <a:bodyPr rtlCol="0" anchor="ctr"/>
            <a:lstStyle/>
            <a:p>
              <a:pPr algn="ctr"/>
              <a:endParaRPr lang="en-IE" sz="1700">
                <a:noFill/>
              </a:endParaRPr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1565049" y="4192478"/>
            <a:ext cx="6038748" cy="398966"/>
            <a:chOff x="1198665" y="4176562"/>
            <a:chExt cx="6264696" cy="548582"/>
          </a:xfrm>
        </p:grpSpPr>
        <p:grpSp>
          <p:nvGrpSpPr>
            <p:cNvPr id="57" name="Group 56"/>
            <p:cNvGrpSpPr/>
            <p:nvPr/>
          </p:nvGrpSpPr>
          <p:grpSpPr>
            <a:xfrm>
              <a:off x="1198665" y="4581128"/>
              <a:ext cx="6264696" cy="144016"/>
              <a:chOff x="755576" y="4581128"/>
              <a:chExt cx="6264696" cy="144016"/>
            </a:xfrm>
          </p:grpSpPr>
          <p:grpSp>
            <p:nvGrpSpPr>
              <p:cNvPr id="66" name="Group 65"/>
              <p:cNvGrpSpPr/>
              <p:nvPr/>
            </p:nvGrpSpPr>
            <p:grpSpPr>
              <a:xfrm>
                <a:off x="755576" y="4581128"/>
                <a:ext cx="6264696" cy="144016"/>
                <a:chOff x="755576" y="4581128"/>
                <a:chExt cx="6264696" cy="144016"/>
              </a:xfrm>
            </p:grpSpPr>
            <p:cxnSp>
              <p:nvCxnSpPr>
                <p:cNvPr id="68" name="Straight Connector 67"/>
                <p:cNvCxnSpPr/>
                <p:nvPr/>
              </p:nvCxnSpPr>
              <p:spPr>
                <a:xfrm>
                  <a:off x="755576" y="4725144"/>
                  <a:ext cx="6264696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headEnd type="triangl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/>
                <p:cNvCxnSpPr/>
                <p:nvPr/>
              </p:nvCxnSpPr>
              <p:spPr>
                <a:xfrm flipV="1">
                  <a:off x="406794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/>
                <p:cNvCxnSpPr/>
                <p:nvPr/>
              </p:nvCxnSpPr>
              <p:spPr>
                <a:xfrm flipV="1">
                  <a:off x="334786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Connector 70"/>
                <p:cNvCxnSpPr/>
                <p:nvPr/>
              </p:nvCxnSpPr>
              <p:spPr>
                <a:xfrm flipV="1">
                  <a:off x="478802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/>
                <p:cNvCxnSpPr/>
                <p:nvPr/>
              </p:nvCxnSpPr>
              <p:spPr>
                <a:xfrm flipV="1">
                  <a:off x="550810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/>
                <p:cNvCxnSpPr/>
                <p:nvPr/>
              </p:nvCxnSpPr>
              <p:spPr>
                <a:xfrm flipV="1">
                  <a:off x="622818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/>
                <p:cNvCxnSpPr/>
                <p:nvPr/>
              </p:nvCxnSpPr>
              <p:spPr>
                <a:xfrm flipV="1">
                  <a:off x="262778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Connector 74"/>
                <p:cNvCxnSpPr/>
                <p:nvPr/>
              </p:nvCxnSpPr>
              <p:spPr>
                <a:xfrm flipV="1">
                  <a:off x="190770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7" name="Straight Connector 66"/>
              <p:cNvCxnSpPr/>
              <p:nvPr/>
            </p:nvCxnSpPr>
            <p:spPr>
              <a:xfrm flipV="1">
                <a:off x="1187624" y="4581128"/>
                <a:ext cx="0" cy="14401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TextBox 57"/>
            <p:cNvSpPr txBox="1"/>
            <p:nvPr/>
          </p:nvSpPr>
          <p:spPr>
            <a:xfrm>
              <a:off x="4353503" y="4184060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0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080270" y="4184060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1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5800350" y="4184060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2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502793" y="4176562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3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491880" y="4176562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−1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2822407" y="4176562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−2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2138674" y="4201516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−3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348178" y="4210021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−4</a:t>
              </a:r>
            </a:p>
          </p:txBody>
        </p:sp>
      </p:grpSp>
      <p:grpSp>
        <p:nvGrpSpPr>
          <p:cNvPr id="84" name="Group 83"/>
          <p:cNvGrpSpPr/>
          <p:nvPr/>
        </p:nvGrpSpPr>
        <p:grpSpPr>
          <a:xfrm>
            <a:off x="1533965" y="5374507"/>
            <a:ext cx="6038748" cy="398966"/>
            <a:chOff x="1198665" y="4176562"/>
            <a:chExt cx="6264696" cy="548582"/>
          </a:xfrm>
        </p:grpSpPr>
        <p:grpSp>
          <p:nvGrpSpPr>
            <p:cNvPr id="85" name="Group 84"/>
            <p:cNvGrpSpPr/>
            <p:nvPr/>
          </p:nvGrpSpPr>
          <p:grpSpPr>
            <a:xfrm>
              <a:off x="1198665" y="4581128"/>
              <a:ext cx="6264696" cy="144016"/>
              <a:chOff x="755576" y="4581128"/>
              <a:chExt cx="6264696" cy="144016"/>
            </a:xfrm>
          </p:grpSpPr>
          <p:grpSp>
            <p:nvGrpSpPr>
              <p:cNvPr id="94" name="Group 93"/>
              <p:cNvGrpSpPr/>
              <p:nvPr/>
            </p:nvGrpSpPr>
            <p:grpSpPr>
              <a:xfrm>
                <a:off x="755576" y="4581128"/>
                <a:ext cx="6264696" cy="144016"/>
                <a:chOff x="755576" y="4581128"/>
                <a:chExt cx="6264696" cy="144016"/>
              </a:xfrm>
            </p:grpSpPr>
            <p:cxnSp>
              <p:nvCxnSpPr>
                <p:cNvPr id="96" name="Straight Connector 95"/>
                <p:cNvCxnSpPr/>
                <p:nvPr/>
              </p:nvCxnSpPr>
              <p:spPr>
                <a:xfrm>
                  <a:off x="755576" y="4725144"/>
                  <a:ext cx="6264696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headEnd type="triangl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Connector 96"/>
                <p:cNvCxnSpPr/>
                <p:nvPr/>
              </p:nvCxnSpPr>
              <p:spPr>
                <a:xfrm flipV="1">
                  <a:off x="406794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Connector 97"/>
                <p:cNvCxnSpPr/>
                <p:nvPr/>
              </p:nvCxnSpPr>
              <p:spPr>
                <a:xfrm flipV="1">
                  <a:off x="334786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Connector 98"/>
                <p:cNvCxnSpPr/>
                <p:nvPr/>
              </p:nvCxnSpPr>
              <p:spPr>
                <a:xfrm flipV="1">
                  <a:off x="478802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/>
                <p:cNvCxnSpPr/>
                <p:nvPr/>
              </p:nvCxnSpPr>
              <p:spPr>
                <a:xfrm flipV="1">
                  <a:off x="550810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Connector 100"/>
                <p:cNvCxnSpPr/>
                <p:nvPr/>
              </p:nvCxnSpPr>
              <p:spPr>
                <a:xfrm flipV="1">
                  <a:off x="622818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Straight Connector 101"/>
                <p:cNvCxnSpPr/>
                <p:nvPr/>
              </p:nvCxnSpPr>
              <p:spPr>
                <a:xfrm flipV="1">
                  <a:off x="262778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Connector 102"/>
                <p:cNvCxnSpPr/>
                <p:nvPr/>
              </p:nvCxnSpPr>
              <p:spPr>
                <a:xfrm flipV="1">
                  <a:off x="190770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5" name="Straight Connector 94"/>
              <p:cNvCxnSpPr/>
              <p:nvPr/>
            </p:nvCxnSpPr>
            <p:spPr>
              <a:xfrm flipV="1">
                <a:off x="1187624" y="4581128"/>
                <a:ext cx="0" cy="14401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6" name="TextBox 85"/>
            <p:cNvSpPr txBox="1"/>
            <p:nvPr/>
          </p:nvSpPr>
          <p:spPr>
            <a:xfrm>
              <a:off x="4353503" y="4184060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0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5080270" y="4184060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1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5800350" y="4184060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2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6502793" y="4176562"/>
              <a:ext cx="306322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3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3491880" y="4176562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−1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2822407" y="4176562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−2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2138674" y="4201516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−3</a:t>
              </a: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1348178" y="4210021"/>
              <a:ext cx="419405" cy="4866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−4</a:t>
              </a:r>
            </a:p>
          </p:txBody>
        </p:sp>
      </p:grpSp>
      <p:grpSp>
        <p:nvGrpSpPr>
          <p:cNvPr id="111" name="Group 110"/>
          <p:cNvGrpSpPr/>
          <p:nvPr/>
        </p:nvGrpSpPr>
        <p:grpSpPr>
          <a:xfrm flipH="1">
            <a:off x="1528028" y="5729886"/>
            <a:ext cx="4623613" cy="102152"/>
            <a:chOff x="5245430" y="4923271"/>
            <a:chExt cx="5137402" cy="89726"/>
          </a:xfrm>
        </p:grpSpPr>
        <p:cxnSp>
          <p:nvCxnSpPr>
            <p:cNvPr id="112" name="Straight Connector 111"/>
            <p:cNvCxnSpPr/>
            <p:nvPr/>
          </p:nvCxnSpPr>
          <p:spPr>
            <a:xfrm flipH="1" flipV="1">
              <a:off x="5267999" y="4954993"/>
              <a:ext cx="5114833" cy="13141"/>
            </a:xfrm>
            <a:prstGeom prst="line">
              <a:avLst/>
            </a:prstGeom>
            <a:ln w="31750">
              <a:solidFill>
                <a:srgbClr val="FF0000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Oval 112"/>
            <p:cNvSpPr/>
            <p:nvPr/>
          </p:nvSpPr>
          <p:spPr>
            <a:xfrm>
              <a:off x="5245430" y="4923271"/>
              <a:ext cx="112578" cy="8972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sz="170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1948016" y="4531461"/>
            <a:ext cx="4231874" cy="94286"/>
            <a:chOff x="1552984" y="4084508"/>
            <a:chExt cx="4231874" cy="94286"/>
          </a:xfrm>
        </p:grpSpPr>
        <p:grpSp>
          <p:nvGrpSpPr>
            <p:cNvPr id="76" name="Group 75"/>
            <p:cNvGrpSpPr/>
            <p:nvPr/>
          </p:nvGrpSpPr>
          <p:grpSpPr>
            <a:xfrm>
              <a:off x="5015377" y="4084508"/>
              <a:ext cx="769481" cy="94286"/>
              <a:chOff x="5317812" y="3216649"/>
              <a:chExt cx="769481" cy="94286"/>
            </a:xfrm>
          </p:grpSpPr>
          <p:sp>
            <p:nvSpPr>
              <p:cNvPr id="81" name="Oval 80"/>
              <p:cNvSpPr/>
              <p:nvPr/>
            </p:nvSpPr>
            <p:spPr bwMode="auto">
              <a:xfrm>
                <a:off x="5317812" y="3216649"/>
                <a:ext cx="83300" cy="94286"/>
              </a:xfrm>
              <a:prstGeom prst="ellipse">
                <a:avLst/>
              </a:prstGeom>
              <a:solidFill>
                <a:srgbClr val="FF0000"/>
              </a:solidFill>
              <a:ln w="25400">
                <a:solidFill>
                  <a:srgbClr val="FF0000"/>
                </a:solidFill>
              </a:ln>
              <a:extLst/>
            </p:spPr>
            <p:txBody>
              <a:bodyPr rtlCol="0" anchor="ctr"/>
              <a:lstStyle/>
              <a:p>
                <a:pPr algn="ctr"/>
                <a:endParaRPr lang="en-IE" sz="1700">
                  <a:noFill/>
                </a:endParaRPr>
              </a:p>
            </p:txBody>
          </p:sp>
          <p:sp>
            <p:nvSpPr>
              <p:cNvPr id="82" name="Oval 81"/>
              <p:cNvSpPr/>
              <p:nvPr/>
            </p:nvSpPr>
            <p:spPr bwMode="auto">
              <a:xfrm>
                <a:off x="6003993" y="3216649"/>
                <a:ext cx="83300" cy="94286"/>
              </a:xfrm>
              <a:prstGeom prst="ellipse">
                <a:avLst/>
              </a:prstGeom>
              <a:solidFill>
                <a:srgbClr val="FF0000"/>
              </a:solidFill>
              <a:ln w="25400">
                <a:solidFill>
                  <a:srgbClr val="FF0000"/>
                </a:solidFill>
              </a:ln>
              <a:extLst/>
            </p:spPr>
            <p:txBody>
              <a:bodyPr rtlCol="0" anchor="ctr"/>
              <a:lstStyle/>
              <a:p>
                <a:pPr algn="ctr"/>
                <a:endParaRPr lang="en-IE" sz="1700">
                  <a:noFill/>
                </a:endParaRPr>
              </a:p>
            </p:txBody>
          </p:sp>
        </p:grpSp>
        <p:sp>
          <p:nvSpPr>
            <p:cNvPr id="80" name="Oval 79"/>
            <p:cNvSpPr/>
            <p:nvPr/>
          </p:nvSpPr>
          <p:spPr bwMode="auto">
            <a:xfrm>
              <a:off x="4304818" y="4084508"/>
              <a:ext cx="83300" cy="94286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</a:ln>
            <a:extLst/>
          </p:spPr>
          <p:txBody>
            <a:bodyPr rtlCol="0" anchor="ctr"/>
            <a:lstStyle/>
            <a:p>
              <a:pPr algn="ctr"/>
              <a:endParaRPr lang="en-IE" sz="1700">
                <a:noFill/>
              </a:endParaRPr>
            </a:p>
          </p:txBody>
        </p:sp>
        <p:sp>
          <p:nvSpPr>
            <p:cNvPr id="104" name="Oval 103"/>
            <p:cNvSpPr/>
            <p:nvPr/>
          </p:nvSpPr>
          <p:spPr bwMode="auto">
            <a:xfrm>
              <a:off x="3606448" y="4084508"/>
              <a:ext cx="83300" cy="94286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</a:ln>
            <a:extLst/>
          </p:spPr>
          <p:txBody>
            <a:bodyPr rtlCol="0" anchor="ctr"/>
            <a:lstStyle/>
            <a:p>
              <a:pPr algn="ctr"/>
              <a:endParaRPr lang="en-IE" sz="1700">
                <a:noFill/>
              </a:endParaRPr>
            </a:p>
          </p:txBody>
        </p:sp>
        <p:sp>
          <p:nvSpPr>
            <p:cNvPr id="105" name="Oval 104"/>
            <p:cNvSpPr/>
            <p:nvPr/>
          </p:nvSpPr>
          <p:spPr bwMode="auto">
            <a:xfrm>
              <a:off x="2940979" y="4084508"/>
              <a:ext cx="83300" cy="94286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</a:ln>
            <a:extLst/>
          </p:spPr>
          <p:txBody>
            <a:bodyPr rtlCol="0" anchor="ctr"/>
            <a:lstStyle/>
            <a:p>
              <a:pPr algn="ctr"/>
              <a:endParaRPr lang="en-IE" sz="1700">
                <a:noFill/>
              </a:endParaRPr>
            </a:p>
          </p:txBody>
        </p:sp>
        <p:sp>
          <p:nvSpPr>
            <p:cNvPr id="106" name="Oval 105"/>
            <p:cNvSpPr/>
            <p:nvPr/>
          </p:nvSpPr>
          <p:spPr bwMode="auto">
            <a:xfrm>
              <a:off x="2255021" y="4084508"/>
              <a:ext cx="83300" cy="94286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</a:ln>
            <a:extLst/>
          </p:spPr>
          <p:txBody>
            <a:bodyPr rtlCol="0" anchor="ctr"/>
            <a:lstStyle/>
            <a:p>
              <a:pPr algn="ctr"/>
              <a:endParaRPr lang="en-IE" sz="1700">
                <a:noFill/>
              </a:endParaRPr>
            </a:p>
          </p:txBody>
        </p:sp>
        <p:sp>
          <p:nvSpPr>
            <p:cNvPr id="107" name="Oval 106"/>
            <p:cNvSpPr/>
            <p:nvPr/>
          </p:nvSpPr>
          <p:spPr bwMode="auto">
            <a:xfrm>
              <a:off x="1552984" y="4084508"/>
              <a:ext cx="83300" cy="94286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rgbClr val="FF0000"/>
              </a:solidFill>
            </a:ln>
            <a:extLst/>
          </p:spPr>
          <p:txBody>
            <a:bodyPr rtlCol="0" anchor="ctr"/>
            <a:lstStyle/>
            <a:p>
              <a:pPr algn="ctr"/>
              <a:endParaRPr lang="en-IE" sz="1700">
                <a:noFill/>
              </a:endParaRPr>
            </a:p>
          </p:txBody>
        </p:sp>
      </p:grpSp>
      <p:sp>
        <p:nvSpPr>
          <p:cNvPr id="83" name="Rectangle 82"/>
          <p:cNvSpPr/>
          <p:nvPr/>
        </p:nvSpPr>
        <p:spPr>
          <a:xfrm>
            <a:off x="873751" y="3263071"/>
            <a:ext cx="470000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E" sz="1700" dirty="0"/>
              <a:t>(a) 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73751" y="4347254"/>
            <a:ext cx="479618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E" sz="1700" dirty="0"/>
              <a:t>(b) 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73751" y="5478616"/>
            <a:ext cx="458780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E" sz="1700" dirty="0"/>
              <a:t>(c) </a:t>
            </a:r>
          </a:p>
        </p:txBody>
      </p:sp>
    </p:spTree>
    <p:extLst>
      <p:ext uri="{BB962C8B-B14F-4D97-AF65-F5344CB8AC3E}">
        <p14:creationId xmlns:p14="http://schemas.microsoft.com/office/powerpoint/2010/main" val="309503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  <p:bldP spid="108" grpId="0"/>
      <p:bldP spid="10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Placeholder 1"/>
          <p:cNvSpPr>
            <a:spLocks noGrp="1"/>
          </p:cNvSpPr>
          <p:nvPr>
            <p:ph type="body" sz="quarter" idx="18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E" altLang="en-US" dirty="0"/>
              <a:t>Solving Linear Inequalities</a:t>
            </a:r>
            <a:endParaRPr lang="en-US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693344" y="734642"/>
                <a:ext cx="3757311" cy="3539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IE" sz="1700" b="1" dirty="0">
                    <a:solidFill>
                      <a:srgbClr val="00B050"/>
                    </a:solidFill>
                  </a:rPr>
                  <a:t>Solve the inequality  3</a:t>
                </a:r>
                <a14:m>
                  <m:oMath xmlns:m="http://schemas.openxmlformats.org/officeDocument/2006/math">
                    <m:r>
                      <a:rPr lang="en-IE" sz="17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IE" sz="1700" b="1" dirty="0">
                    <a:solidFill>
                      <a:srgbClr val="00B050"/>
                    </a:solidFill>
                  </a:rPr>
                  <a:t> − 5 </a:t>
                </a:r>
                <a14:m>
                  <m:oMath xmlns:m="http://schemas.openxmlformats.org/officeDocument/2006/math">
                    <m:r>
                      <a:rPr lang="en-IE" sz="17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IE" sz="1700" b="1" dirty="0">
                    <a:solidFill>
                      <a:srgbClr val="00B050"/>
                    </a:solidFill>
                  </a:rPr>
                  <a:t> 7,</a:t>
                </a:r>
                <a14:m>
                  <m:oMath xmlns:m="http://schemas.openxmlformats.org/officeDocument/2006/math">
                    <m:r>
                      <a:rPr lang="en-IE" sz="17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IE" sz="17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IE" sz="17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E" sz="1700" b="1" dirty="0">
                    <a:solidFill>
                      <a:srgbClr val="00B050"/>
                    </a:solidFill>
                  </a:rPr>
                  <a:t>∈ </a:t>
                </a:r>
                <a:r>
                  <a:rPr lang="en-IE" sz="1700" b="1" i="1" dirty="0">
                    <a:solidFill>
                      <a:srgbClr val="00B050"/>
                    </a:solidFill>
                  </a:rPr>
                  <a:t>N</a:t>
                </a:r>
                <a:r>
                  <a:rPr lang="en-IE" sz="1700" b="1" dirty="0">
                    <a:solidFill>
                      <a:srgbClr val="00B050"/>
                    </a:solidFill>
                  </a:rPr>
                  <a:t>. 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3344" y="734642"/>
                <a:ext cx="3757311" cy="353943"/>
              </a:xfrm>
              <a:prstGeom prst="rect">
                <a:avLst/>
              </a:prstGeom>
              <a:blipFill rotWithShape="0">
                <a:blip r:embed="rId3"/>
                <a:stretch>
                  <a:fillRect l="-812" t="-8621" r="-487" b="-22414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292963" y="1243156"/>
            <a:ext cx="8558074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E" sz="1700" dirty="0"/>
              <a:t>We solve linear inequalities using the same rules we learned for solving linear equations.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462688" y="1760293"/>
                <a:ext cx="1262076" cy="3539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E" sz="17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IE" sz="17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E" sz="1700" b="0" i="1" smtClean="0">
                          <a:latin typeface="Cambria Math" panose="02040503050406030204" pitchFamily="18" charset="0"/>
                        </a:rPr>
                        <m:t>−5&gt;7</m:t>
                      </m:r>
                    </m:oMath>
                  </m:oMathPara>
                </a14:m>
                <a:endParaRPr lang="en-IE" sz="17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688" y="1760293"/>
                <a:ext cx="1262076" cy="35394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3100764" y="2306033"/>
                <a:ext cx="4699941" cy="3539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E" sz="17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IE" sz="17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E" sz="1700" b="0" i="1" smtClean="0">
                        <a:latin typeface="Cambria Math" panose="02040503050406030204" pitchFamily="18" charset="0"/>
                      </a:rPr>
                      <m:t>−5+5&gt;7+5</m:t>
                    </m:r>
                  </m:oMath>
                </a14:m>
                <a:r>
                  <a:rPr lang="en-IE" sz="1700" dirty="0"/>
                  <a:t>             Adding 5 to both sides. </a:t>
                </a: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0764" y="2306033"/>
                <a:ext cx="4699941" cy="353943"/>
              </a:xfrm>
              <a:prstGeom prst="rect">
                <a:avLst/>
              </a:prstGeom>
              <a:blipFill rotWithShape="0">
                <a:blip r:embed="rId5"/>
                <a:stretch>
                  <a:fillRect t="-5172" b="-22414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3540580" y="2777953"/>
                <a:ext cx="1001620" cy="3539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E" sz="17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IE" sz="17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E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&gt;12</m:t>
                      </m:r>
                    </m:oMath>
                  </m:oMathPara>
                </a14:m>
                <a:endParaRPr lang="en-IE" sz="1700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580" y="2777953"/>
                <a:ext cx="1001620" cy="35394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170797" y="4141376"/>
                <a:ext cx="1979260" cy="3539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E" sz="17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a:rPr lang="en-IE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IE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&gt;4,  </m:t>
                      </m:r>
                      <m:r>
                        <a:rPr lang="en-IE" sz="17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E" sz="17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E" sz="1700" dirty="0"/>
                        <m:t>∈ </m:t>
                      </m:r>
                      <m:r>
                        <m:rPr>
                          <m:nor/>
                        </m:rPr>
                        <a:rPr lang="en-IE" sz="1700" i="1" dirty="0"/>
                        <m:t>N</m:t>
                      </m:r>
                      <m:r>
                        <m:rPr>
                          <m:nor/>
                        </m:rPr>
                        <a:rPr lang="en-IE" sz="1700" dirty="0"/>
                        <m:t>.</m:t>
                      </m:r>
                    </m:oMath>
                  </m:oMathPara>
                </a14:m>
                <a:endParaRPr lang="en-IE" sz="17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0797" y="4141376"/>
                <a:ext cx="1979260" cy="353943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3540580" y="3278156"/>
            <a:ext cx="4334246" cy="583750"/>
            <a:chOff x="3100764" y="3474462"/>
            <a:chExt cx="4334246" cy="5837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/>
                <p:cNvSpPr/>
                <p:nvPr/>
              </p:nvSpPr>
              <p:spPr>
                <a:xfrm>
                  <a:off x="3100764" y="3474462"/>
                  <a:ext cx="1001620" cy="58375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IE" sz="170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E" sz="17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E" sz="17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E" sz="17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IE" sz="17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</m:t>
                        </m:r>
                        <m:f>
                          <m:fPr>
                            <m:ctrlPr>
                              <a:rPr lang="en-IE" sz="17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E" sz="17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E" sz="17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IE" sz="1700" dirty="0"/>
                </a:p>
              </p:txBody>
            </p:sp>
          </mc:Choice>
          <mc:Fallback xmlns="">
            <p:sp>
              <p:nvSpPr>
                <p:cNvPr id="18" name="Rectangle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764" y="3474462"/>
                  <a:ext cx="1054070" cy="612732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 6"/>
            <p:cNvSpPr/>
            <p:nvPr/>
          </p:nvSpPr>
          <p:spPr>
            <a:xfrm>
              <a:off x="5053717" y="3545254"/>
              <a:ext cx="2381293" cy="3539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E" sz="1700" dirty="0"/>
                <a:t>Dividing both sides by 3. </a:t>
              </a:r>
            </a:p>
          </p:txBody>
        </p:sp>
      </p:grpSp>
      <p:sp>
        <p:nvSpPr>
          <p:cNvPr id="10" name="Rectangle 9"/>
          <p:cNvSpPr/>
          <p:nvPr/>
        </p:nvSpPr>
        <p:spPr>
          <a:xfrm>
            <a:off x="2698474" y="4814959"/>
            <a:ext cx="3747051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E" sz="1700" dirty="0"/>
              <a:t>This is the solution set of the inequality.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8" grpId="0"/>
      <p:bldP spid="15" grpId="0"/>
      <p:bldP spid="17" grpId="0"/>
      <p:bldP spid="6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1467560" y="5754568"/>
            <a:ext cx="6264696" cy="456751"/>
            <a:chOff x="1198665" y="4268393"/>
            <a:chExt cx="6264696" cy="456751"/>
          </a:xfrm>
        </p:grpSpPr>
        <p:grpSp>
          <p:nvGrpSpPr>
            <p:cNvPr id="23" name="Group 22"/>
            <p:cNvGrpSpPr/>
            <p:nvPr/>
          </p:nvGrpSpPr>
          <p:grpSpPr>
            <a:xfrm>
              <a:off x="1198665" y="4581128"/>
              <a:ext cx="6264696" cy="144016"/>
              <a:chOff x="755576" y="4581128"/>
              <a:chExt cx="6264696" cy="144016"/>
            </a:xfrm>
          </p:grpSpPr>
          <p:grpSp>
            <p:nvGrpSpPr>
              <p:cNvPr id="32" name="Group 31"/>
              <p:cNvGrpSpPr/>
              <p:nvPr/>
            </p:nvGrpSpPr>
            <p:grpSpPr>
              <a:xfrm>
                <a:off x="755576" y="4581128"/>
                <a:ext cx="6264696" cy="144016"/>
                <a:chOff x="755576" y="4581128"/>
                <a:chExt cx="6264696" cy="144016"/>
              </a:xfrm>
            </p:grpSpPr>
            <p:cxnSp>
              <p:nvCxnSpPr>
                <p:cNvPr id="34" name="Straight Connector 33"/>
                <p:cNvCxnSpPr/>
                <p:nvPr/>
              </p:nvCxnSpPr>
              <p:spPr>
                <a:xfrm>
                  <a:off x="755576" y="4725144"/>
                  <a:ext cx="6264696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headEnd type="non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/>
                <p:cNvCxnSpPr/>
                <p:nvPr/>
              </p:nvCxnSpPr>
              <p:spPr>
                <a:xfrm flipV="1">
                  <a:off x="406794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/>
                <p:cNvCxnSpPr/>
                <p:nvPr/>
              </p:nvCxnSpPr>
              <p:spPr>
                <a:xfrm flipV="1">
                  <a:off x="334786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>
                <a:xfrm flipV="1">
                  <a:off x="478802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>
                <a:xfrm flipV="1">
                  <a:off x="550810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>
                <a:xfrm flipV="1">
                  <a:off x="622818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>
                <a:xfrm flipV="1">
                  <a:off x="262778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>
                <a:xfrm flipV="1">
                  <a:off x="1907704" y="4581128"/>
                  <a:ext cx="0" cy="144016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>
              <a:xfrm flipV="1">
                <a:off x="1187624" y="4581128"/>
                <a:ext cx="0" cy="14401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TextBox 23"/>
            <p:cNvSpPr txBox="1"/>
            <p:nvPr/>
          </p:nvSpPr>
          <p:spPr>
            <a:xfrm>
              <a:off x="4353503" y="4268393"/>
              <a:ext cx="295274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2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080270" y="4268393"/>
              <a:ext cx="295274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3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800350" y="4268393"/>
              <a:ext cx="295274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4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502793" y="4268393"/>
              <a:ext cx="295274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5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610437" y="4268393"/>
              <a:ext cx="295274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1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937218" y="4268393"/>
              <a:ext cx="295274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0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139480" y="4268393"/>
              <a:ext cx="404278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−1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358090" y="4268393"/>
              <a:ext cx="404278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1700" dirty="0"/>
                <a:t>−2</a:t>
              </a:r>
            </a:p>
          </p:txBody>
        </p:sp>
      </p:grpSp>
      <p:sp>
        <p:nvSpPr>
          <p:cNvPr id="8194" name="Text Placeholder 1"/>
          <p:cNvSpPr>
            <a:spLocks noGrp="1"/>
          </p:cNvSpPr>
          <p:nvPr>
            <p:ph type="body" sz="quarter" idx="18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E" altLang="en-US" dirty="0"/>
              <a:t>Solving Linear Inequalities</a:t>
            </a:r>
            <a:endParaRPr lang="en-US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354196" y="833843"/>
                <a:ext cx="6435608" cy="3539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IE" sz="1700" b="1" dirty="0">
                    <a:solidFill>
                      <a:srgbClr val="00B050"/>
                    </a:solidFill>
                  </a:rPr>
                  <a:t>Solve </a:t>
                </a:r>
                <a14:m>
                  <m:oMath xmlns:m="http://schemas.openxmlformats.org/officeDocument/2006/math">
                    <m:r>
                      <a:rPr lang="en-IE" sz="17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IE" sz="17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E" sz="17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IE" sz="17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IE" sz="17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IE" sz="17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𝟗</m:t>
                    </m:r>
                  </m:oMath>
                </a14:m>
                <a:r>
                  <a:rPr lang="en-IE" sz="1700" b="1" dirty="0">
                    <a:solidFill>
                      <a:srgbClr val="00B05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IE" sz="1700" b="1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IE" sz="1700" b="1" dirty="0">
                    <a:solidFill>
                      <a:srgbClr val="00B050"/>
                    </a:solidFill>
                  </a:rPr>
                  <a:t> ∈ </a:t>
                </a:r>
                <a:r>
                  <a:rPr lang="en-IE" sz="1700" b="1" i="1" dirty="0">
                    <a:solidFill>
                      <a:srgbClr val="00B050"/>
                    </a:solidFill>
                  </a:rPr>
                  <a:t>R</a:t>
                </a:r>
                <a:r>
                  <a:rPr lang="en-IE" sz="1700" b="1" dirty="0">
                    <a:solidFill>
                      <a:srgbClr val="00B050"/>
                    </a:solidFill>
                  </a:rPr>
                  <a:t> and show the solution set on a number line. 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4196" y="833843"/>
                <a:ext cx="6435608" cy="353943"/>
              </a:xfrm>
              <a:prstGeom prst="rect">
                <a:avLst/>
              </a:prstGeom>
              <a:blipFill rotWithShape="0">
                <a:blip r:embed="rId3"/>
                <a:stretch>
                  <a:fillRect l="-95" t="-8621" r="-95" b="-22414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078472" y="1295329"/>
                <a:ext cx="1262076" cy="3539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E" sz="17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IE" sz="17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IE" sz="17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E" sz="17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IE" sz="17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IE" sz="17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8472" y="1295329"/>
                <a:ext cx="1262076" cy="35394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3097794" y="1756815"/>
                <a:ext cx="4060599" cy="3539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E" sz="17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IE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&lt;9+4</m:t>
                    </m:r>
                    <m:r>
                      <a:rPr lang="en-IE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E" sz="1700" dirty="0"/>
                  <a:t>             Adding 4</a:t>
                </a:r>
                <a14:m>
                  <m:oMath xmlns:m="http://schemas.openxmlformats.org/officeDocument/2006/math">
                    <m:r>
                      <a:rPr lang="en-IE" sz="17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E" sz="1700" dirty="0"/>
                  <a:t> to both sides. </a:t>
                </a: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7794" y="1756815"/>
                <a:ext cx="4060599" cy="353943"/>
              </a:xfrm>
              <a:prstGeom prst="rect">
                <a:avLst/>
              </a:prstGeom>
              <a:blipFill rotWithShape="0">
                <a:blip r:embed="rId5"/>
                <a:stretch>
                  <a:fillRect t="-5172" r="-150" b="-22414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3252206" y="2679787"/>
                <a:ext cx="1044901" cy="3539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E" sz="17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IE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&lt;4</m:t>
                      </m:r>
                      <m:r>
                        <a:rPr lang="en-IE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E" sz="1700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2206" y="2679787"/>
                <a:ext cx="1044901" cy="353943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049456" y="3829937"/>
                <a:ext cx="2120324" cy="3539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E" sz="17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a:rPr lang="en-IE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−1&lt;</m:t>
                      </m:r>
                      <m:r>
                        <a:rPr lang="en-IE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IE" sz="1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a:rPr lang="en-IE" sz="17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E" sz="17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E" sz="1700" dirty="0"/>
                        <m:t>∈ </m:t>
                      </m:r>
                      <m:r>
                        <m:rPr>
                          <m:nor/>
                        </m:rPr>
                        <a:rPr lang="en-IE" sz="1700" b="0" i="1" dirty="0" smtClean="0"/>
                        <m:t>R</m:t>
                      </m:r>
                      <m:r>
                        <m:rPr>
                          <m:nor/>
                        </m:rPr>
                        <a:rPr lang="en-IE" sz="1700" dirty="0"/>
                        <m:t>.</m:t>
                      </m:r>
                    </m:oMath>
                  </m:oMathPara>
                </a14:m>
                <a:endParaRPr lang="en-IE" sz="17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9456" y="3829937"/>
                <a:ext cx="2120324" cy="353943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3246502" y="3141273"/>
            <a:ext cx="3917692" cy="581121"/>
            <a:chOff x="3100764" y="3474462"/>
            <a:chExt cx="3917692" cy="5811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/>
                <p:cNvSpPr/>
                <p:nvPr/>
              </p:nvSpPr>
              <p:spPr>
                <a:xfrm>
                  <a:off x="3100764" y="3474462"/>
                  <a:ext cx="1044901" cy="58112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IE" sz="170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E" sz="1700" b="0" i="1" dirty="0" smtClean="0">
                                <a:latin typeface="Cambria Math" panose="02040503050406030204" pitchFamily="18" charset="0"/>
                              </a:rPr>
                              <m:t>−4</m:t>
                            </m:r>
                          </m:num>
                          <m:den>
                            <m:r>
                              <a:rPr lang="en-IE" sz="17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IE" sz="17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f>
                          <m:fPr>
                            <m:ctrlPr>
                              <a:rPr lang="en-IE" sz="17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E" sz="17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E" sz="17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E" sz="17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oMath>
                    </m:oMathPara>
                  </a14:m>
                  <a:endParaRPr lang="en-IE" sz="1700" dirty="0"/>
                </a:p>
              </p:txBody>
            </p:sp>
          </mc:Choice>
          <mc:Fallback xmlns="">
            <p:sp>
              <p:nvSpPr>
                <p:cNvPr id="18" name="Rectangle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764" y="3474462"/>
                  <a:ext cx="1098955" cy="611706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 6"/>
            <p:cNvSpPr/>
            <p:nvPr/>
          </p:nvSpPr>
          <p:spPr>
            <a:xfrm>
              <a:off x="4637163" y="3534299"/>
              <a:ext cx="2381293" cy="3539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E" sz="1700" dirty="0"/>
                <a:t>Dividing both sides by 4. 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097794" y="2218301"/>
                <a:ext cx="4302012" cy="3539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E" sz="170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IE" sz="1700" b="0" i="1" smtClean="0">
                        <a:latin typeface="Cambria Math" panose="02040503050406030204" pitchFamily="18" charset="0"/>
                      </a:rPr>
                      <m:t>−9</m:t>
                    </m:r>
                    <m:r>
                      <a:rPr lang="en-IE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&lt;4</m:t>
                    </m:r>
                    <m:r>
                      <a:rPr lang="en-IE" sz="17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E" sz="1700" dirty="0"/>
                  <a:t>             Subtract 9 from both sides. 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7794" y="2218301"/>
                <a:ext cx="4302012" cy="353943"/>
              </a:xfrm>
              <a:prstGeom prst="rect">
                <a:avLst/>
              </a:prstGeom>
              <a:blipFill rotWithShape="0">
                <a:blip r:embed="rId9"/>
                <a:stretch>
                  <a:fillRect t="-6897" b="-22414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139100" y="4291424"/>
                <a:ext cx="1248483" cy="3539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E" sz="1700" b="0" dirty="0">
                    <a:ea typeface="Cambria Math" panose="02040503050406030204" pitchFamily="18" charset="0"/>
                  </a:rPr>
                  <a:t>Then </a:t>
                </a:r>
                <a14:m>
                  <m:oMath xmlns:m="http://schemas.openxmlformats.org/officeDocument/2006/math">
                    <m:r>
                      <a:rPr lang="en-IE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IE" sz="1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&gt;1.</m:t>
                    </m:r>
                  </m:oMath>
                </a14:m>
                <a:endParaRPr lang="en-IE" sz="17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9100" y="4291424"/>
                <a:ext cx="1248483" cy="353943"/>
              </a:xfrm>
              <a:prstGeom prst="rect">
                <a:avLst/>
              </a:prstGeom>
              <a:blipFill rotWithShape="0">
                <a:blip r:embed="rId10"/>
                <a:stretch>
                  <a:fillRect l="-3415" t="-6897" b="-22414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1826695" y="4947252"/>
            <a:ext cx="5490611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E" sz="1700" dirty="0"/>
              <a:t>We then graph this solution set on a number line.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06388" y="5290147"/>
            <a:ext cx="2131224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E" sz="1700" dirty="0"/>
              <a:t>Remember that x ∈ </a:t>
            </a:r>
            <a:r>
              <a:rPr lang="en-IE" sz="1700" i="1" dirty="0"/>
              <a:t>R</a:t>
            </a:r>
            <a:r>
              <a:rPr lang="en-IE" sz="1700" dirty="0"/>
              <a:t>.</a:t>
            </a:r>
          </a:p>
        </p:txBody>
      </p:sp>
      <p:grpSp>
        <p:nvGrpSpPr>
          <p:cNvPr id="19" name="Group 18"/>
          <p:cNvGrpSpPr/>
          <p:nvPr/>
        </p:nvGrpSpPr>
        <p:grpSpPr>
          <a:xfrm flipH="1">
            <a:off x="2565076" y="6154611"/>
            <a:ext cx="5254682" cy="93601"/>
            <a:chOff x="-500231" y="4899661"/>
            <a:chExt cx="5838598" cy="82215"/>
          </a:xfrm>
        </p:grpSpPr>
        <p:cxnSp>
          <p:nvCxnSpPr>
            <p:cNvPr id="20" name="Straight Connector 19"/>
            <p:cNvCxnSpPr>
              <a:endCxn id="21" idx="2"/>
            </p:cNvCxnSpPr>
            <p:nvPr/>
          </p:nvCxnSpPr>
          <p:spPr>
            <a:xfrm flipV="1">
              <a:off x="-500231" y="4940769"/>
              <a:ext cx="5734597" cy="8728"/>
            </a:xfrm>
            <a:prstGeom prst="line">
              <a:avLst/>
            </a:prstGeom>
            <a:ln w="31750">
              <a:solidFill>
                <a:srgbClr val="FF0000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/>
            <p:cNvSpPr/>
            <p:nvPr/>
          </p:nvSpPr>
          <p:spPr>
            <a:xfrm>
              <a:off x="5234366" y="4899661"/>
              <a:ext cx="104001" cy="8221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sz="1700"/>
            </a:p>
          </p:txBody>
        </p:sp>
      </p:grpSp>
    </p:spTree>
    <p:extLst>
      <p:ext uri="{BB962C8B-B14F-4D97-AF65-F5344CB8AC3E}">
        <p14:creationId xmlns:p14="http://schemas.microsoft.com/office/powerpoint/2010/main" val="2399221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15" grpId="0"/>
      <p:bldP spid="17" grpId="0"/>
      <p:bldP spid="6" grpId="0"/>
      <p:bldP spid="4" grpId="0"/>
      <p:bldP spid="16" grpId="0"/>
      <p:bldP spid="12" grpId="0"/>
      <p:bldP spid="13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blipFill rotWithShape="0">
          <a:blip xmlns:r="http://schemas.openxmlformats.org/officeDocument/2006/relationships" r:embed="rId1"/>
          <a:stretch>
            <a:fillRect l="-1115" t="-13115" b="-26230"/>
          </a:stretch>
        </a:blip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/>
      <a:lstStyle>
        <a:defPPr>
          <a:defRPr>
            <a:noFill/>
          </a:defRPr>
        </a:defPPr>
      </a:lst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49553</TotalTime>
  <Words>832</Words>
  <Application>Microsoft Office PowerPoint</Application>
  <PresentationFormat>On-screen Show (4:3)</PresentationFormat>
  <Paragraphs>140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ＭＳ Ｐゴシック</vt:lpstr>
      <vt:lpstr>ＭＳ Ｐゴシック</vt:lpstr>
      <vt:lpstr>Arial</vt:lpstr>
      <vt:lpstr>Calibri</vt:lpstr>
      <vt:lpstr>Cambria Math</vt:lpstr>
      <vt:lpstr>Rockwell</vt:lpstr>
      <vt:lpstr>Office Theme</vt:lpstr>
      <vt:lpstr>Chapter 22: Algebra: Solving Linear Inequalities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Design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Studio Studio</dc:creator>
  <cp:lastModifiedBy>Tess Tattersall</cp:lastModifiedBy>
  <cp:revision>532</cp:revision>
  <dcterms:created xsi:type="dcterms:W3CDTF">2017-11-30T19:12:25Z</dcterms:created>
  <dcterms:modified xsi:type="dcterms:W3CDTF">2018-07-12T10:02:42Z</dcterms:modified>
</cp:coreProperties>
</file>