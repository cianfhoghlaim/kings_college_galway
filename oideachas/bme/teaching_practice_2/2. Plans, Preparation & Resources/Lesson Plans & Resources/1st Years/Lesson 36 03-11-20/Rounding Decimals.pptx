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772" r:id="rId2"/>
    <p:sldId id="773" r:id="rId3"/>
    <p:sldId id="775" r:id="rId4"/>
    <p:sldId id="778" r:id="rId5"/>
    <p:sldId id="776" r:id="rId6"/>
    <p:sldId id="777" r:id="rId7"/>
    <p:sldId id="767" r:id="rId8"/>
    <p:sldId id="768" r:id="rId9"/>
    <p:sldId id="769" r:id="rId10"/>
    <p:sldId id="770" r:id="rId11"/>
    <p:sldId id="771" r:id="rId12"/>
    <p:sldId id="304" r:id="rId13"/>
    <p:sldId id="305" r:id="rId14"/>
    <p:sldId id="306" r:id="rId15"/>
    <p:sldId id="536" r:id="rId16"/>
    <p:sldId id="537" r:id="rId17"/>
    <p:sldId id="538" r:id="rId18"/>
    <p:sldId id="340" r:id="rId19"/>
    <p:sldId id="341" r:id="rId20"/>
    <p:sldId id="342" r:id="rId21"/>
    <p:sldId id="343" r:id="rId22"/>
    <p:sldId id="344" r:id="rId23"/>
    <p:sldId id="345" r:id="rId24"/>
    <p:sldId id="34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707" autoAdjust="0"/>
    <p:restoredTop sz="94660"/>
  </p:normalViewPr>
  <p:slideViewPr>
    <p:cSldViewPr snapToGrid="0">
      <p:cViewPr varScale="1">
        <p:scale>
          <a:sx n="51" d="100"/>
          <a:sy n="51" d="100"/>
        </p:scale>
        <p:origin x="208" y="1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EFDA1-670B-4346-839F-51C2BC71C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BA1685-8254-40BA-A430-A7AC19996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9096F-F599-4FD8-82EB-172B06E6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DC72-5516-431D-8130-28A9767F7B95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3343A-D246-4F18-9658-501DEFD52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83217-C2E5-4523-A399-0F4CFF60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BD37-C42B-4561-B2EB-1D6DC6ECC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722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9A5C0-F0C8-4D28-BB57-1DF4551F7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4296D-38E8-45FB-BCA7-B5287D660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CCF66-BCF2-4B2B-9849-7CE91CA04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DC72-5516-431D-8130-28A9767F7B95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E2B7E-D4FB-4F5C-BFA4-59BDD4724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BFD88-6AE2-4859-91D4-6E556A382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BD37-C42B-4561-B2EB-1D6DC6ECC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0272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11C5F-C81A-4029-BD91-14D18114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6BA3A1-F3C2-40D5-B275-FA68229DF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CCAD9-BFBD-461C-9958-FB9725233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DC72-5516-431D-8130-28A9767F7B95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94187-9EFF-4248-A9F8-F3C2B1D6E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1581F-6D08-413A-BA6D-AA2AC1C5B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BD37-C42B-4561-B2EB-1D6DC6ECC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744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CA72F-D1E3-4E0C-8DBE-7254E92C3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CB004-C4C6-46ED-BB9E-5FFF73FF54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E4D8E-BB9C-45FE-A74C-3C3672862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99AB19-EA57-4547-A60D-E89E4792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DC72-5516-431D-8130-28A9767F7B95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31619-DBEA-4C23-9252-0BCB66C4E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FA592-A93E-4916-B846-D70BF2281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BD37-C42B-4561-B2EB-1D6DC6ECC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833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51248-60CF-4452-932F-BF04AC29C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F5255-E300-4C02-A30B-CF055FEC7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43BAB-8F97-49E1-91AD-49F608765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7B2E7-05E8-472C-BC66-0EB0A09968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302C74-CC57-408D-9CC2-EFFB66CF8C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56D1F6-778C-467F-8412-D9514920B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DC72-5516-431D-8130-28A9767F7B95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85545C-4E6C-4794-A6CE-4C9EE8A03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118045-D432-44A9-A7EE-EA0490D7F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BD37-C42B-4561-B2EB-1D6DC6ECC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090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1A3EA-CD7C-4F6F-A2BD-EB8B2A429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AA8AB7-FB31-4373-9753-93AAEE5A9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DC72-5516-431D-8130-28A9767F7B95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EE42D9-788F-443E-92A3-76CE57C0E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FB77B5-CC48-4E20-81D7-F3E6A50EB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BD37-C42B-4561-B2EB-1D6DC6ECC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6281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723EF7-B7D6-42B4-ACF1-0C9333BE8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DC72-5516-431D-8130-28A9767F7B95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63E41-E706-449F-B575-AE94A58A1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12461-49BD-4BD2-BCF4-AA74EBF66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BD37-C42B-4561-B2EB-1D6DC6ECC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472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DA8AD-D6F3-40A6-A913-47FE8783F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0503A-AF45-4940-89EE-C321425E3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F840E-0C09-438D-B644-AF49B94AC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056A0-F62B-411E-82BC-52873713A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DC72-5516-431D-8130-28A9767F7B95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F7E18-E4E4-4483-89ED-A48700A09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A0059-3E66-40CD-8A4D-087E81222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BD37-C42B-4561-B2EB-1D6DC6ECC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85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D713-2E9F-4315-B6A1-52CFC92EF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578B7B-2188-419C-94C6-2EC6462218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A174F-D49D-4BDE-ADB9-D206223F5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FBE93-2A00-4404-BA09-B9F73B50C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DC72-5516-431D-8130-28A9767F7B95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485B9-3FAE-4F12-AE39-9BE9E59C2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3FF0E-C9BF-4F02-AEB2-EFABD2E1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BD37-C42B-4561-B2EB-1D6DC6ECC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9347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1CBE3-F06D-4269-A264-4438FFA46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77887B-5C3B-48C8-907A-F5A6CBB3EE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7018A-E388-4A53-B46C-C3E0D2720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DC72-5516-431D-8130-28A9767F7B95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796B8-9F10-409E-84CF-E1560E67E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08FB7-CDEA-420D-9E93-CAD07193C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BD37-C42B-4561-B2EB-1D6DC6ECC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536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94B46E-A53C-46DC-89EE-22BBA4817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9B80E-E367-4317-925E-53C070AFF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914A4-F5F4-4EE1-9660-AE06DDD1D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DC72-5516-431D-8130-28A9767F7B95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C5031-3FE6-4B07-8807-5CB706E84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587D1-9B34-4C83-B2A5-9BB73A50C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BD37-C42B-4561-B2EB-1D6DC6ECC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9067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FEE7D0-9BBD-40AA-984E-DD9BE1A18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81C76-1D67-4E55-95DC-4820E597D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07CBD-D30F-4C00-B446-22F4C933CD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6DC72-5516-431D-8130-28A9767F7B95}" type="datetimeFigureOut">
              <a:rPr lang="en-GB" smtClean="0"/>
              <a:t>02/11/2020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FE5FE-32D2-4128-B24E-E1F98C1F4B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0668B-BC3A-4163-85DB-62315EC29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0BD37-C42B-4561-B2EB-1D6DC6ECC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871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E5BC0-F0D5-E148-A36C-0D8EB9EA7F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dirty="0">
                <a:solidFill>
                  <a:srgbClr val="FF0000"/>
                </a:solidFill>
              </a:rPr>
              <a:t>Decimals: Rounding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1F6C9E-B9D9-3244-B380-5F54BFFB66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00130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F6E65-8024-2644-8F66-6E8647FAC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What is place-value?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200442C7-A1AE-4F41-8E56-4AFF53A3C0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3" y="2555452"/>
            <a:ext cx="12085353" cy="4178723"/>
          </a:xfrm>
        </p:spPr>
      </p:pic>
    </p:spTree>
    <p:extLst>
      <p:ext uri="{BB962C8B-B14F-4D97-AF65-F5344CB8AC3E}">
        <p14:creationId xmlns:p14="http://schemas.microsoft.com/office/powerpoint/2010/main" val="797568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uler Games for Kids Online - SplashLearn">
            <a:extLst>
              <a:ext uri="{FF2B5EF4-FFF2-40B4-BE49-F238E27FC236}">
                <a16:creationId xmlns:a16="http://schemas.microsoft.com/office/drawing/2014/main" id="{D000A91C-AA24-1A44-A287-260E86529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422" y="2682587"/>
            <a:ext cx="10035156" cy="2402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A39040-C962-BA47-8E15-5127B31AF577}"/>
              </a:ext>
            </a:extLst>
          </p:cNvPr>
          <p:cNvSpPr txBox="1"/>
          <p:nvPr/>
        </p:nvSpPr>
        <p:spPr>
          <a:xfrm>
            <a:off x="2929428" y="498765"/>
            <a:ext cx="6333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What is this? What is it used for?</a:t>
            </a:r>
          </a:p>
        </p:txBody>
      </p:sp>
    </p:spTree>
    <p:extLst>
      <p:ext uri="{BB962C8B-B14F-4D97-AF65-F5344CB8AC3E}">
        <p14:creationId xmlns:p14="http://schemas.microsoft.com/office/powerpoint/2010/main" val="2561758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C5F8F-8752-C646-A0FB-6F380A075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Time it takes to race around a track.</a:t>
            </a:r>
          </a:p>
        </p:txBody>
      </p:sp>
      <p:pic>
        <p:nvPicPr>
          <p:cNvPr id="5" name="Content Placeholder 4" descr="A picture containing road, photo, person, truck&#10;&#10;Description automatically generated">
            <a:extLst>
              <a:ext uri="{FF2B5EF4-FFF2-40B4-BE49-F238E27FC236}">
                <a16:creationId xmlns:a16="http://schemas.microsoft.com/office/drawing/2014/main" id="{E12F5AC2-DE9C-2449-9599-9C4A367C8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41556"/>
            <a:ext cx="4162332" cy="2774888"/>
          </a:xfrm>
        </p:spPr>
      </p:pic>
      <p:pic>
        <p:nvPicPr>
          <p:cNvPr id="1026" name="Picture 2" descr="Formula 1 new cars 2020: all now revealed | Autocar">
            <a:extLst>
              <a:ext uri="{FF2B5EF4-FFF2-40B4-BE49-F238E27FC236}">
                <a16:creationId xmlns:a16="http://schemas.microsoft.com/office/drawing/2014/main" id="{6935845C-C8F7-F145-9EC4-0902DFE89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470" y="1902542"/>
            <a:ext cx="4781426" cy="3185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1A4CE0-B0CB-5C43-A727-58D994A15B35}"/>
              </a:ext>
            </a:extLst>
          </p:cNvPr>
          <p:cNvSpPr txBox="1"/>
          <p:nvPr/>
        </p:nvSpPr>
        <p:spPr>
          <a:xfrm>
            <a:off x="1037056" y="5167312"/>
            <a:ext cx="37646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54.653 seconds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E0FC72-B111-8740-A844-3EB5667D8AFE}"/>
              </a:ext>
            </a:extLst>
          </p:cNvPr>
          <p:cNvSpPr txBox="1"/>
          <p:nvPr/>
        </p:nvSpPr>
        <p:spPr>
          <a:xfrm>
            <a:off x="7699873" y="5167312"/>
            <a:ext cx="27579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/>
              <a:t>57 seconds</a:t>
            </a:r>
          </a:p>
        </p:txBody>
      </p:sp>
    </p:spTree>
    <p:extLst>
      <p:ext uri="{BB962C8B-B14F-4D97-AF65-F5344CB8AC3E}">
        <p14:creationId xmlns:p14="http://schemas.microsoft.com/office/powerpoint/2010/main" val="239177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5D9D2-7122-4B46-B1D0-F4ED7C274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C2328F21-F993-6043-AAEE-97A6EBFFF3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1192"/>
            <a:ext cx="12629036" cy="4074886"/>
          </a:xfr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0339D34-4F0A-6A45-9BD8-83F2B2EBBC20}"/>
              </a:ext>
            </a:extLst>
          </p:cNvPr>
          <p:cNvCxnSpPr/>
          <p:nvPr/>
        </p:nvCxnSpPr>
        <p:spPr>
          <a:xfrm>
            <a:off x="7980077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ACA368E-2B59-9743-9935-7F0017BAF199}"/>
              </a:ext>
            </a:extLst>
          </p:cNvPr>
          <p:cNvCxnSpPr/>
          <p:nvPr/>
        </p:nvCxnSpPr>
        <p:spPr>
          <a:xfrm flipH="1">
            <a:off x="780211" y="5631611"/>
            <a:ext cx="7670885" cy="0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4D4943E-809F-614C-89CB-1E31D2D63311}"/>
              </a:ext>
            </a:extLst>
          </p:cNvPr>
          <p:cNvCxnSpPr/>
          <p:nvPr/>
        </p:nvCxnSpPr>
        <p:spPr>
          <a:xfrm>
            <a:off x="7307192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B5EA9CA-B631-EA49-B4F8-1079A5728A43}"/>
              </a:ext>
            </a:extLst>
          </p:cNvPr>
          <p:cNvCxnSpPr/>
          <p:nvPr/>
        </p:nvCxnSpPr>
        <p:spPr>
          <a:xfrm>
            <a:off x="663430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BAEB0A0-44E0-C64E-9978-4A7D6606D0DE}"/>
              </a:ext>
            </a:extLst>
          </p:cNvPr>
          <p:cNvCxnSpPr/>
          <p:nvPr/>
        </p:nvCxnSpPr>
        <p:spPr>
          <a:xfrm>
            <a:off x="5961423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F3840B5-AD26-D749-A266-EA302C52A4C9}"/>
              </a:ext>
            </a:extLst>
          </p:cNvPr>
          <p:cNvCxnSpPr/>
          <p:nvPr/>
        </p:nvCxnSpPr>
        <p:spPr>
          <a:xfrm>
            <a:off x="528853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7B69216-4FED-3E41-A417-ADAC9EDC2DDA}"/>
              </a:ext>
            </a:extLst>
          </p:cNvPr>
          <p:cNvCxnSpPr/>
          <p:nvPr/>
        </p:nvCxnSpPr>
        <p:spPr>
          <a:xfrm>
            <a:off x="4615654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97DC2B1-775B-564A-88CD-F51CA1AE16CE}"/>
              </a:ext>
            </a:extLst>
          </p:cNvPr>
          <p:cNvCxnSpPr/>
          <p:nvPr/>
        </p:nvCxnSpPr>
        <p:spPr>
          <a:xfrm>
            <a:off x="3942769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68E7248-F59D-C349-AB24-24D21805A404}"/>
              </a:ext>
            </a:extLst>
          </p:cNvPr>
          <p:cNvCxnSpPr/>
          <p:nvPr/>
        </p:nvCxnSpPr>
        <p:spPr>
          <a:xfrm>
            <a:off x="326988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99E28FC-01CA-4648-8246-26D59D9B2E56}"/>
              </a:ext>
            </a:extLst>
          </p:cNvPr>
          <p:cNvCxnSpPr/>
          <p:nvPr/>
        </p:nvCxnSpPr>
        <p:spPr>
          <a:xfrm>
            <a:off x="2597000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FB6CF48-FCE5-8E4D-9C1F-73013325D521}"/>
              </a:ext>
            </a:extLst>
          </p:cNvPr>
          <p:cNvCxnSpPr/>
          <p:nvPr/>
        </p:nvCxnSpPr>
        <p:spPr>
          <a:xfrm>
            <a:off x="192411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CF03DD20-5004-5F40-8346-9FAB55A18A17}"/>
              </a:ext>
            </a:extLst>
          </p:cNvPr>
          <p:cNvSpPr/>
          <p:nvPr/>
        </p:nvSpPr>
        <p:spPr>
          <a:xfrm>
            <a:off x="7666233" y="5968054"/>
            <a:ext cx="595035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55</a:t>
            </a:r>
            <a:endParaRPr lang="en-GB" sz="3364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9F812CB-6BAD-5640-BAAA-06A5EA10D9FA}"/>
              </a:ext>
            </a:extLst>
          </p:cNvPr>
          <p:cNvSpPr/>
          <p:nvPr/>
        </p:nvSpPr>
        <p:spPr>
          <a:xfrm>
            <a:off x="6993349" y="5968053"/>
            <a:ext cx="681597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54.9</a:t>
            </a:r>
            <a:endParaRPr lang="en-GB" sz="3364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573E9DA-B825-6743-B244-B49963D751A8}"/>
              </a:ext>
            </a:extLst>
          </p:cNvPr>
          <p:cNvSpPr/>
          <p:nvPr/>
        </p:nvSpPr>
        <p:spPr>
          <a:xfrm>
            <a:off x="6320464" y="5968053"/>
            <a:ext cx="681597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54.8</a:t>
            </a:r>
            <a:endParaRPr lang="en-GB" sz="299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A41F1DB-F168-4A45-BF76-FF83B3720CD9}"/>
              </a:ext>
            </a:extLst>
          </p:cNvPr>
          <p:cNvSpPr/>
          <p:nvPr/>
        </p:nvSpPr>
        <p:spPr>
          <a:xfrm>
            <a:off x="5647579" y="5968053"/>
            <a:ext cx="681597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54.7</a:t>
            </a:r>
            <a:endParaRPr lang="en-GB" sz="299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ABB27BB-12EE-3C4F-9692-C8D8D1C4CB95}"/>
              </a:ext>
            </a:extLst>
          </p:cNvPr>
          <p:cNvSpPr/>
          <p:nvPr/>
        </p:nvSpPr>
        <p:spPr>
          <a:xfrm>
            <a:off x="4974695" y="5968053"/>
            <a:ext cx="681597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54.6</a:t>
            </a:r>
            <a:endParaRPr lang="en-GB" sz="3364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6194584-CC14-3941-BA7B-FD4A3D987EB1}"/>
              </a:ext>
            </a:extLst>
          </p:cNvPr>
          <p:cNvSpPr/>
          <p:nvPr/>
        </p:nvSpPr>
        <p:spPr>
          <a:xfrm>
            <a:off x="4301810" y="5968053"/>
            <a:ext cx="681597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54.5</a:t>
            </a:r>
            <a:endParaRPr lang="en-GB" sz="299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AC575EB-A9F3-D84A-BA2D-D05C5F438C0F}"/>
              </a:ext>
            </a:extLst>
          </p:cNvPr>
          <p:cNvSpPr/>
          <p:nvPr/>
        </p:nvSpPr>
        <p:spPr>
          <a:xfrm>
            <a:off x="3628925" y="5968053"/>
            <a:ext cx="681597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54.4</a:t>
            </a:r>
            <a:endParaRPr lang="en-GB" sz="3364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F863EBC2-5F50-9F48-A4BE-35FA4DF941C1}"/>
              </a:ext>
            </a:extLst>
          </p:cNvPr>
          <p:cNvSpPr/>
          <p:nvPr/>
        </p:nvSpPr>
        <p:spPr>
          <a:xfrm>
            <a:off x="2956041" y="5968053"/>
            <a:ext cx="681597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54.3</a:t>
            </a:r>
            <a:endParaRPr lang="en-GB" sz="3364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726E1D3-4C50-0F4E-9341-4ABC33A4B66B}"/>
              </a:ext>
            </a:extLst>
          </p:cNvPr>
          <p:cNvCxnSpPr/>
          <p:nvPr/>
        </p:nvCxnSpPr>
        <p:spPr>
          <a:xfrm>
            <a:off x="1251231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EA4149E1-043E-3B4C-977A-420D2B7A02D8}"/>
              </a:ext>
            </a:extLst>
          </p:cNvPr>
          <p:cNvSpPr/>
          <p:nvPr/>
        </p:nvSpPr>
        <p:spPr>
          <a:xfrm>
            <a:off x="2283156" y="5968053"/>
            <a:ext cx="681597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54.2</a:t>
            </a:r>
            <a:endParaRPr lang="en-GB" sz="2990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6ED4152-6C28-044B-A4C7-ECDE88CB0391}"/>
              </a:ext>
            </a:extLst>
          </p:cNvPr>
          <p:cNvSpPr/>
          <p:nvPr/>
        </p:nvSpPr>
        <p:spPr>
          <a:xfrm>
            <a:off x="1587674" y="5968053"/>
            <a:ext cx="643125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54.1</a:t>
            </a:r>
            <a:endParaRPr lang="en-GB" sz="3364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18D7084-3487-B442-B45C-408296300E1D}"/>
              </a:ext>
            </a:extLst>
          </p:cNvPr>
          <p:cNvSpPr/>
          <p:nvPr/>
        </p:nvSpPr>
        <p:spPr>
          <a:xfrm>
            <a:off x="937387" y="5968054"/>
            <a:ext cx="595035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54</a:t>
            </a:r>
            <a:endParaRPr lang="en-GB" sz="3364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359B92F-8FB3-CF49-B40E-92F1228F497D}"/>
              </a:ext>
            </a:extLst>
          </p:cNvPr>
          <p:cNvSpPr/>
          <p:nvPr/>
        </p:nvSpPr>
        <p:spPr>
          <a:xfrm>
            <a:off x="914789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65561464-B7A9-C943-A5F5-93B6220A2C25}"/>
              </a:ext>
            </a:extLst>
          </p:cNvPr>
          <p:cNvSpPr/>
          <p:nvPr/>
        </p:nvSpPr>
        <p:spPr>
          <a:xfrm>
            <a:off x="7643635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C6225F08-AA88-3947-B357-15B977FB13F4}"/>
              </a:ext>
            </a:extLst>
          </p:cNvPr>
          <p:cNvSpPr/>
          <p:nvPr/>
        </p:nvSpPr>
        <p:spPr>
          <a:xfrm>
            <a:off x="5544154" y="5467942"/>
            <a:ext cx="269154" cy="2691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</p:spTree>
    <p:extLst>
      <p:ext uri="{BB962C8B-B14F-4D97-AF65-F5344CB8AC3E}">
        <p14:creationId xmlns:p14="http://schemas.microsoft.com/office/powerpoint/2010/main" val="364345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8" grpId="0"/>
      <p:bldP spid="79" grpId="0"/>
      <p:bldP spid="80" grpId="0"/>
      <p:bldP spid="81" grpId="0" animBg="1"/>
      <p:bldP spid="82" grpId="0" animBg="1"/>
      <p:bldP spid="8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BE77D-15A8-7344-850C-B8C65BA07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87026200-B27A-1045-8693-0288CB1050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604" y="1690688"/>
            <a:ext cx="11118791" cy="3665083"/>
          </a:xfrm>
        </p:spPr>
      </p:pic>
    </p:spTree>
    <p:extLst>
      <p:ext uri="{BB962C8B-B14F-4D97-AF65-F5344CB8AC3E}">
        <p14:creationId xmlns:p14="http://schemas.microsoft.com/office/powerpoint/2010/main" val="2936186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47500" y="1653995"/>
            <a:ext cx="1271502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Tens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66154" y="1653995"/>
            <a:ext cx="1383712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Units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32260" y="1182975"/>
            <a:ext cx="599844" cy="1242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47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23116" y="1653995"/>
            <a:ext cx="1774845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Tenths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9303" y="670173"/>
            <a:ext cx="7149714" cy="552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990" b="1" dirty="0">
                <a:solidFill>
                  <a:srgbClr val="FF0000"/>
                </a:solidFill>
                <a:latin typeface="Comic Sans MS" pitchFamily="66" charset="0"/>
              </a:rPr>
              <a:t>Round to the nearest whole number. </a:t>
            </a:r>
            <a:endParaRPr lang="en-GB" sz="1682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65751" y="2083231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34961" y="2635104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4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93788" y="2621539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7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731577" y="2419673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15" name="Straight Connector 14"/>
          <p:cNvCxnSpPr/>
          <p:nvPr/>
        </p:nvCxnSpPr>
        <p:spPr>
          <a:xfrm>
            <a:off x="5490404" y="3967308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643635" y="3361712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595000" y="2621539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5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7980077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80211" y="5631611"/>
            <a:ext cx="7670885" cy="0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307192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63430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961423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28853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615654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942769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26988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597000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92411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804161" y="5968054"/>
            <a:ext cx="389850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5</a:t>
            </a:r>
            <a:endParaRPr lang="en-GB" sz="3364" dirty="0"/>
          </a:p>
        </p:txBody>
      </p:sp>
      <p:sp>
        <p:nvSpPr>
          <p:cNvPr id="30" name="Rectangle 29"/>
          <p:cNvSpPr/>
          <p:nvPr/>
        </p:nvSpPr>
        <p:spPr>
          <a:xfrm>
            <a:off x="6993348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4.9</a:t>
            </a:r>
            <a:endParaRPr lang="en-GB" sz="3364" dirty="0"/>
          </a:p>
        </p:txBody>
      </p:sp>
      <p:sp>
        <p:nvSpPr>
          <p:cNvPr id="31" name="Rectangle 30"/>
          <p:cNvSpPr/>
          <p:nvPr/>
        </p:nvSpPr>
        <p:spPr>
          <a:xfrm>
            <a:off x="6320464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4.8</a:t>
            </a:r>
            <a:endParaRPr lang="en-GB" sz="3364" dirty="0"/>
          </a:p>
        </p:txBody>
      </p:sp>
      <p:sp>
        <p:nvSpPr>
          <p:cNvPr id="32" name="Rectangle 31"/>
          <p:cNvSpPr/>
          <p:nvPr/>
        </p:nvSpPr>
        <p:spPr>
          <a:xfrm>
            <a:off x="5647579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4.7</a:t>
            </a:r>
            <a:endParaRPr lang="en-GB" sz="2990" dirty="0"/>
          </a:p>
        </p:txBody>
      </p:sp>
      <p:sp>
        <p:nvSpPr>
          <p:cNvPr id="33" name="Rectangle 32"/>
          <p:cNvSpPr/>
          <p:nvPr/>
        </p:nvSpPr>
        <p:spPr>
          <a:xfrm>
            <a:off x="4974694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4.6</a:t>
            </a:r>
            <a:endParaRPr lang="en-GB" sz="3364" dirty="0"/>
          </a:p>
        </p:txBody>
      </p:sp>
      <p:sp>
        <p:nvSpPr>
          <p:cNvPr id="34" name="Rectangle 33"/>
          <p:cNvSpPr/>
          <p:nvPr/>
        </p:nvSpPr>
        <p:spPr>
          <a:xfrm>
            <a:off x="4301810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4.5</a:t>
            </a:r>
            <a:endParaRPr lang="en-GB" sz="3364" dirty="0"/>
          </a:p>
        </p:txBody>
      </p:sp>
      <p:sp>
        <p:nvSpPr>
          <p:cNvPr id="35" name="Rectangle 34"/>
          <p:cNvSpPr/>
          <p:nvPr/>
        </p:nvSpPr>
        <p:spPr>
          <a:xfrm>
            <a:off x="3628925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4.4</a:t>
            </a:r>
            <a:endParaRPr lang="en-GB" sz="3364" dirty="0"/>
          </a:p>
        </p:txBody>
      </p:sp>
      <p:sp>
        <p:nvSpPr>
          <p:cNvPr id="36" name="Rectangle 35"/>
          <p:cNvSpPr/>
          <p:nvPr/>
        </p:nvSpPr>
        <p:spPr>
          <a:xfrm>
            <a:off x="2956041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4.3</a:t>
            </a:r>
            <a:endParaRPr lang="en-GB" sz="3364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1251231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283156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4.2</a:t>
            </a:r>
            <a:endParaRPr lang="en-GB" sz="2990" dirty="0"/>
          </a:p>
        </p:txBody>
      </p:sp>
      <p:sp>
        <p:nvSpPr>
          <p:cNvPr id="39" name="Rectangle 38"/>
          <p:cNvSpPr/>
          <p:nvPr/>
        </p:nvSpPr>
        <p:spPr>
          <a:xfrm>
            <a:off x="1587673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4.1</a:t>
            </a:r>
            <a:endParaRPr lang="en-GB" sz="3364" dirty="0"/>
          </a:p>
        </p:txBody>
      </p:sp>
      <p:sp>
        <p:nvSpPr>
          <p:cNvPr id="40" name="Rectangle 39"/>
          <p:cNvSpPr/>
          <p:nvPr/>
        </p:nvSpPr>
        <p:spPr>
          <a:xfrm>
            <a:off x="1075315" y="5968054"/>
            <a:ext cx="389850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4</a:t>
            </a:r>
            <a:endParaRPr lang="en-GB" sz="3364" dirty="0"/>
          </a:p>
        </p:txBody>
      </p:sp>
      <p:sp>
        <p:nvSpPr>
          <p:cNvPr id="41" name="Rectangle 40"/>
          <p:cNvSpPr/>
          <p:nvPr/>
        </p:nvSpPr>
        <p:spPr>
          <a:xfrm>
            <a:off x="914789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2" name="Rectangle 41"/>
          <p:cNvSpPr/>
          <p:nvPr/>
        </p:nvSpPr>
        <p:spPr>
          <a:xfrm>
            <a:off x="7643635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3" name="Oval 42"/>
          <p:cNvSpPr/>
          <p:nvPr/>
        </p:nvSpPr>
        <p:spPr>
          <a:xfrm>
            <a:off x="5826846" y="5429746"/>
            <a:ext cx="269154" cy="2691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8109E-6 1.85001E-6 L 0.0146 -0.07867 C 0.01776 -0.09618 0.02239 -0.1059 0.02725 -0.1059 C 0.03273 -0.1059 0.03711 -0.09618 0.04015 -0.07867 L 0.05524 1.85001E-6 " pathEditMode="relative" rAng="0" ptsTypes="FffFF">
                                      <p:cBhvr>
                                        <p:cTn id="10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0" y="-5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4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525 -1.60795E-6 L 0.06973 -0.0711 C 0.07277 -0.0871 0.07739 -0.09596 0.08226 -0.09596 C 0.08786 -0.09596 0.09224 -0.0871 0.09528 -0.0711 L 0.11037 -1.60795E-6 " pathEditMode="relative" rAng="0" ptsTypes="FffFF">
                                      <p:cBhvr>
                                        <p:cTn id="10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44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037 -1.60795E-6 L 0.12497 -0.0711 C 0.12814 -0.0871 0.13264 -0.09596 0.13751 -0.09596 C 0.14298 -0.09596 0.14748 -0.0871 0.15065 -0.0711 L 0.16562 -1.60795E-6 " pathEditMode="relative" rAng="0" ptsTypes="FffFF">
                                      <p:cBhvr>
                                        <p:cTn id="10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8" grpId="0"/>
      <p:bldP spid="39" grpId="0"/>
      <p:bldP spid="40" grpId="0"/>
      <p:bldP spid="41" grpId="0" animBg="1"/>
      <p:bldP spid="42" grpId="0" animBg="1"/>
      <p:bldP spid="43" grpId="0" animBg="1"/>
      <p:bldP spid="43" grpId="1" animBg="1"/>
      <p:bldP spid="43" grpId="2" animBg="1"/>
      <p:bldP spid="43" grpId="3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47500" y="1653995"/>
            <a:ext cx="1271502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Tens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66154" y="1653995"/>
            <a:ext cx="1383712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Units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32260" y="1182975"/>
            <a:ext cx="599844" cy="1242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47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23116" y="1653995"/>
            <a:ext cx="1774845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Tenths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9303" y="670173"/>
            <a:ext cx="7149714" cy="552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990" b="1" dirty="0">
                <a:solidFill>
                  <a:srgbClr val="FF0000"/>
                </a:solidFill>
                <a:latin typeface="Comic Sans MS" pitchFamily="66" charset="0"/>
              </a:rPr>
              <a:t>Round to the nearest whole number. </a:t>
            </a:r>
            <a:endParaRPr lang="en-GB" sz="1682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65751" y="2083231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34961" y="2635104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7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93788" y="2621539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3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731577" y="2419673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15" name="Straight Connector 14"/>
          <p:cNvCxnSpPr/>
          <p:nvPr/>
        </p:nvCxnSpPr>
        <p:spPr>
          <a:xfrm>
            <a:off x="5490404" y="3967308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643635" y="3361712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595000" y="2621539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7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7980077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80211" y="5631611"/>
            <a:ext cx="7670885" cy="0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307192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63430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961423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28853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615654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942769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26988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597000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92411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804161" y="5968054"/>
            <a:ext cx="389850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8</a:t>
            </a:r>
            <a:endParaRPr lang="en-GB" sz="3364" dirty="0"/>
          </a:p>
        </p:txBody>
      </p:sp>
      <p:sp>
        <p:nvSpPr>
          <p:cNvPr id="30" name="Rectangle 29"/>
          <p:cNvSpPr/>
          <p:nvPr/>
        </p:nvSpPr>
        <p:spPr>
          <a:xfrm>
            <a:off x="6993348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7.9</a:t>
            </a:r>
            <a:endParaRPr lang="en-GB" sz="3364" dirty="0"/>
          </a:p>
        </p:txBody>
      </p:sp>
      <p:sp>
        <p:nvSpPr>
          <p:cNvPr id="31" name="Rectangle 30"/>
          <p:cNvSpPr/>
          <p:nvPr/>
        </p:nvSpPr>
        <p:spPr>
          <a:xfrm>
            <a:off x="6320464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7.8</a:t>
            </a:r>
            <a:endParaRPr lang="en-GB" sz="3364" dirty="0"/>
          </a:p>
        </p:txBody>
      </p:sp>
      <p:sp>
        <p:nvSpPr>
          <p:cNvPr id="32" name="Rectangle 31"/>
          <p:cNvSpPr/>
          <p:nvPr/>
        </p:nvSpPr>
        <p:spPr>
          <a:xfrm>
            <a:off x="5647579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7.7</a:t>
            </a:r>
            <a:endParaRPr lang="en-GB" sz="2990" dirty="0"/>
          </a:p>
        </p:txBody>
      </p:sp>
      <p:sp>
        <p:nvSpPr>
          <p:cNvPr id="33" name="Rectangle 32"/>
          <p:cNvSpPr/>
          <p:nvPr/>
        </p:nvSpPr>
        <p:spPr>
          <a:xfrm>
            <a:off x="4974694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7.6</a:t>
            </a:r>
            <a:endParaRPr lang="en-GB" sz="3364" dirty="0"/>
          </a:p>
        </p:txBody>
      </p:sp>
      <p:sp>
        <p:nvSpPr>
          <p:cNvPr id="34" name="Rectangle 33"/>
          <p:cNvSpPr/>
          <p:nvPr/>
        </p:nvSpPr>
        <p:spPr>
          <a:xfrm>
            <a:off x="4301810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7.5</a:t>
            </a:r>
            <a:endParaRPr lang="en-GB" sz="3364" dirty="0"/>
          </a:p>
        </p:txBody>
      </p:sp>
      <p:sp>
        <p:nvSpPr>
          <p:cNvPr id="35" name="Rectangle 34"/>
          <p:cNvSpPr/>
          <p:nvPr/>
        </p:nvSpPr>
        <p:spPr>
          <a:xfrm>
            <a:off x="3628925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7.4</a:t>
            </a:r>
            <a:endParaRPr lang="en-GB" sz="3364" dirty="0"/>
          </a:p>
        </p:txBody>
      </p:sp>
      <p:sp>
        <p:nvSpPr>
          <p:cNvPr id="36" name="Rectangle 35"/>
          <p:cNvSpPr/>
          <p:nvPr/>
        </p:nvSpPr>
        <p:spPr>
          <a:xfrm>
            <a:off x="2956041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7.3</a:t>
            </a:r>
            <a:endParaRPr lang="en-GB" sz="3364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1251231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283156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7.2</a:t>
            </a:r>
            <a:endParaRPr lang="en-GB" sz="2990" dirty="0"/>
          </a:p>
        </p:txBody>
      </p:sp>
      <p:sp>
        <p:nvSpPr>
          <p:cNvPr id="39" name="Rectangle 38"/>
          <p:cNvSpPr/>
          <p:nvPr/>
        </p:nvSpPr>
        <p:spPr>
          <a:xfrm>
            <a:off x="1587673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7.1</a:t>
            </a:r>
            <a:endParaRPr lang="en-GB" sz="3364" dirty="0"/>
          </a:p>
        </p:txBody>
      </p:sp>
      <p:sp>
        <p:nvSpPr>
          <p:cNvPr id="40" name="Rectangle 39"/>
          <p:cNvSpPr/>
          <p:nvPr/>
        </p:nvSpPr>
        <p:spPr>
          <a:xfrm>
            <a:off x="1075315" y="5968054"/>
            <a:ext cx="389850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7</a:t>
            </a:r>
            <a:endParaRPr lang="en-GB" sz="3364" dirty="0"/>
          </a:p>
        </p:txBody>
      </p:sp>
      <p:sp>
        <p:nvSpPr>
          <p:cNvPr id="41" name="Rectangle 40"/>
          <p:cNvSpPr/>
          <p:nvPr/>
        </p:nvSpPr>
        <p:spPr>
          <a:xfrm>
            <a:off x="914789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2" name="Rectangle 41"/>
          <p:cNvSpPr/>
          <p:nvPr/>
        </p:nvSpPr>
        <p:spPr>
          <a:xfrm>
            <a:off x="7643635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4" name="Oval 43"/>
          <p:cNvSpPr/>
          <p:nvPr/>
        </p:nvSpPr>
        <p:spPr>
          <a:xfrm>
            <a:off x="3135308" y="5380365"/>
            <a:ext cx="269154" cy="2691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8063E-6 1.60579E-6 L -0.01338 -0.07111 C -0.01618 -0.08732 -0.02044 -0.09618 -0.02482 -0.09618 C -0.02969 -0.09618 -0.03382 -0.08732 -0.0365 -0.07111 L -0.04964 1.60579E-6 " pathEditMode="relative" rAng="0" ptsTypes="FffFF">
                                      <p:cBhvr>
                                        <p:cTn id="10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44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965 -1.60795E-6 L -0.06607 -0.0711 C -0.06948 -0.08731 -0.07459 -0.09617 -0.07994 -0.09617 C -0.08603 -0.09617 -0.0909 -0.08731 -0.0943 -0.0711 L -0.11037 -1.60795E-6 " pathEditMode="relative" rAng="0" ptsTypes="FffFF">
                                      <p:cBhvr>
                                        <p:cTn id="10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44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037 -1.60795E-6 L -0.12533 -0.0711 C -0.12837 -0.08731 -0.13312 -0.09617 -0.13799 -0.09617 C -0.14346 -0.09617 -0.14809 -0.08731 -0.15101 -0.0711 L -0.16561 -1.60795E-6 " pathEditMode="relative" rAng="0" ptsTypes="FffFF">
                                      <p:cBhvr>
                                        <p:cTn id="10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8" grpId="0"/>
      <p:bldP spid="39" grpId="0"/>
      <p:bldP spid="40" grpId="0"/>
      <p:bldP spid="41" grpId="0" animBg="1"/>
      <p:bldP spid="42" grpId="0" animBg="1"/>
      <p:bldP spid="44" grpId="0" animBg="1"/>
      <p:bldP spid="44" grpId="1" animBg="1"/>
      <p:bldP spid="44" grpId="2" animBg="1"/>
      <p:bldP spid="44" grpId="3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47500" y="1653995"/>
            <a:ext cx="1271502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Tens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66154" y="1653995"/>
            <a:ext cx="1383712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Units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32260" y="1182975"/>
            <a:ext cx="599844" cy="1242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47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23116" y="1653995"/>
            <a:ext cx="1774845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Tenths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9303" y="670173"/>
            <a:ext cx="7149714" cy="552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990" b="1" dirty="0">
                <a:solidFill>
                  <a:srgbClr val="FF0000"/>
                </a:solidFill>
                <a:latin typeface="Comic Sans MS" pitchFamily="66" charset="0"/>
              </a:rPr>
              <a:t>Round to the nearest whole number. </a:t>
            </a:r>
            <a:endParaRPr lang="en-GB" sz="1682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65751" y="2083231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34961" y="2635104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4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93788" y="2621539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5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731577" y="2419673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15" name="Straight Connector 14"/>
          <p:cNvCxnSpPr/>
          <p:nvPr/>
        </p:nvCxnSpPr>
        <p:spPr>
          <a:xfrm>
            <a:off x="5490404" y="3967308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643635" y="3361712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595000" y="2621539"/>
            <a:ext cx="1588897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15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7980077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80211" y="5631611"/>
            <a:ext cx="7670885" cy="0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307192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63430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961423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28853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615654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942769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26988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597000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92411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710924" y="5968054"/>
            <a:ext cx="595035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15</a:t>
            </a:r>
            <a:endParaRPr lang="en-GB" sz="3364" dirty="0"/>
          </a:p>
        </p:txBody>
      </p:sp>
      <p:sp>
        <p:nvSpPr>
          <p:cNvPr id="30" name="Rectangle 29"/>
          <p:cNvSpPr/>
          <p:nvPr/>
        </p:nvSpPr>
        <p:spPr>
          <a:xfrm>
            <a:off x="6993349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14.9</a:t>
            </a:r>
            <a:endParaRPr lang="en-GB" sz="3364" dirty="0"/>
          </a:p>
        </p:txBody>
      </p:sp>
      <p:sp>
        <p:nvSpPr>
          <p:cNvPr id="31" name="Rectangle 30"/>
          <p:cNvSpPr/>
          <p:nvPr/>
        </p:nvSpPr>
        <p:spPr>
          <a:xfrm>
            <a:off x="6320464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14.8</a:t>
            </a:r>
            <a:endParaRPr lang="en-GB" sz="3364" dirty="0"/>
          </a:p>
        </p:txBody>
      </p:sp>
      <p:sp>
        <p:nvSpPr>
          <p:cNvPr id="32" name="Rectangle 31"/>
          <p:cNvSpPr/>
          <p:nvPr/>
        </p:nvSpPr>
        <p:spPr>
          <a:xfrm>
            <a:off x="5647579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14.7</a:t>
            </a:r>
            <a:endParaRPr lang="en-GB" sz="2990" dirty="0"/>
          </a:p>
        </p:txBody>
      </p:sp>
      <p:sp>
        <p:nvSpPr>
          <p:cNvPr id="33" name="Rectangle 32"/>
          <p:cNvSpPr/>
          <p:nvPr/>
        </p:nvSpPr>
        <p:spPr>
          <a:xfrm>
            <a:off x="4974695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14.6</a:t>
            </a:r>
            <a:endParaRPr lang="en-GB" sz="3364" dirty="0"/>
          </a:p>
        </p:txBody>
      </p:sp>
      <p:sp>
        <p:nvSpPr>
          <p:cNvPr id="34" name="Rectangle 33"/>
          <p:cNvSpPr/>
          <p:nvPr/>
        </p:nvSpPr>
        <p:spPr>
          <a:xfrm>
            <a:off x="4301810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14.5</a:t>
            </a:r>
            <a:endParaRPr lang="en-GB" sz="3364" dirty="0"/>
          </a:p>
        </p:txBody>
      </p:sp>
      <p:sp>
        <p:nvSpPr>
          <p:cNvPr id="35" name="Rectangle 34"/>
          <p:cNvSpPr/>
          <p:nvPr/>
        </p:nvSpPr>
        <p:spPr>
          <a:xfrm>
            <a:off x="3628925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14.4</a:t>
            </a:r>
            <a:endParaRPr lang="en-GB" sz="3364" dirty="0"/>
          </a:p>
        </p:txBody>
      </p:sp>
      <p:sp>
        <p:nvSpPr>
          <p:cNvPr id="36" name="Rectangle 35"/>
          <p:cNvSpPr/>
          <p:nvPr/>
        </p:nvSpPr>
        <p:spPr>
          <a:xfrm>
            <a:off x="2956041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14.3</a:t>
            </a:r>
            <a:endParaRPr lang="en-GB" sz="3364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1251231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283156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14.2</a:t>
            </a:r>
            <a:endParaRPr lang="en-GB" sz="2990" dirty="0"/>
          </a:p>
        </p:txBody>
      </p:sp>
      <p:sp>
        <p:nvSpPr>
          <p:cNvPr id="39" name="Rectangle 38"/>
          <p:cNvSpPr/>
          <p:nvPr/>
        </p:nvSpPr>
        <p:spPr>
          <a:xfrm>
            <a:off x="1587674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14.1</a:t>
            </a:r>
            <a:endParaRPr lang="en-GB" sz="3364" dirty="0"/>
          </a:p>
        </p:txBody>
      </p:sp>
      <p:sp>
        <p:nvSpPr>
          <p:cNvPr id="40" name="Rectangle 39"/>
          <p:cNvSpPr/>
          <p:nvPr/>
        </p:nvSpPr>
        <p:spPr>
          <a:xfrm>
            <a:off x="937387" y="5968054"/>
            <a:ext cx="595035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14</a:t>
            </a:r>
            <a:endParaRPr lang="en-GB" sz="3364" dirty="0"/>
          </a:p>
        </p:txBody>
      </p:sp>
      <p:sp>
        <p:nvSpPr>
          <p:cNvPr id="41" name="Rectangle 40"/>
          <p:cNvSpPr/>
          <p:nvPr/>
        </p:nvSpPr>
        <p:spPr>
          <a:xfrm>
            <a:off x="914789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2" name="Rectangle 41"/>
          <p:cNvSpPr/>
          <p:nvPr/>
        </p:nvSpPr>
        <p:spPr>
          <a:xfrm>
            <a:off x="7643635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4" name="TextBox 43"/>
          <p:cNvSpPr txBox="1"/>
          <p:nvPr/>
        </p:nvSpPr>
        <p:spPr>
          <a:xfrm>
            <a:off x="1116307" y="2621539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1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4481077" y="5380365"/>
            <a:ext cx="269154" cy="2691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8109E-6 1.85001E-6 L 0.0146 -0.07867 C 0.01776 -0.09618 0.02239 -0.1059 0.02725 -0.1059 C 0.03273 -0.1059 0.03711 -0.09618 0.04015 -0.07867 L 0.05524 1.85001E-6 " pathEditMode="relative" rAng="0" ptsTypes="FffFF">
                                      <p:cBhvr>
                                        <p:cTn id="10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0" y="-5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4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525 -1.60795E-6 L 0.06973 -0.0711 C 0.07277 -0.0871 0.07739 -0.09596 0.08226 -0.09596 C 0.08786 -0.09596 0.09224 -0.0871 0.09528 -0.0711 L 0.11037 -1.60795E-6 " pathEditMode="relative" rAng="0" ptsTypes="FffFF">
                                      <p:cBhvr>
                                        <p:cTn id="10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44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037 -1.60795E-6 L 0.12497 -0.0711 C 0.12814 -0.0871 0.13264 -0.09596 0.13751 -0.09596 C 0.14298 -0.09596 0.14748 -0.0871 0.15065 -0.0711 L 0.16562 -1.60795E-6 " pathEditMode="relative" rAng="0" ptsTypes="FffFF">
                                      <p:cBhvr>
                                        <p:cTn id="10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44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562 -1.60795E-6 L 0.18022 -0.0711 C 0.18338 -0.0871 0.188 -0.09596 0.19287 -0.09596 C 0.19835 -0.09596 0.20273 -0.0871 0.20577 -0.0711 L 0.22086 -1.60795E-6 " pathEditMode="relative" rAng="0" ptsTypes="FffFF">
                                      <p:cBhvr>
                                        <p:cTn id="11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12" presetID="44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086 3.49687E-6 L 0.23558 -0.07111 C 0.23875 -0.0871 0.24337 -0.09596 0.24824 -0.09596 C 0.25371 -0.09596 0.25809 -0.0871 0.26126 -0.07111 L 0.2761 3.49687E-6 " pathEditMode="relative" rAng="0" ptsTypes="FffFF">
                                      <p:cBhvr>
                                        <p:cTn id="1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8" grpId="0"/>
      <p:bldP spid="39" grpId="0"/>
      <p:bldP spid="40" grpId="0"/>
      <p:bldP spid="41" grpId="0" animBg="1"/>
      <p:bldP spid="42" grpId="0" animBg="1"/>
      <p:bldP spid="45" grpId="0" animBg="1"/>
      <p:bldP spid="45" grpId="1" animBg="1"/>
      <p:bldP spid="45" grpId="2" animBg="1"/>
      <p:bldP spid="45" grpId="3" animBg="1"/>
      <p:bldP spid="45" grpId="4" animBg="1"/>
      <p:bldP spid="45" grpId="5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47500" y="1653995"/>
            <a:ext cx="1271502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Tens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66154" y="1653995"/>
            <a:ext cx="1383712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Units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32260" y="1182975"/>
            <a:ext cx="599844" cy="1242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47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23116" y="1653995"/>
            <a:ext cx="1774845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Tenths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9303" y="670173"/>
            <a:ext cx="7149714" cy="552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990" b="1" dirty="0">
                <a:solidFill>
                  <a:srgbClr val="FF0000"/>
                </a:solidFill>
                <a:latin typeface="Comic Sans MS" pitchFamily="66" charset="0"/>
              </a:rPr>
              <a:t>Round to the nearest whole number. </a:t>
            </a:r>
            <a:endParaRPr lang="en-GB" sz="1682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65751" y="2083231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34961" y="2635104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6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93788" y="2621539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1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731577" y="2419673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15" name="Straight Connector 14"/>
          <p:cNvCxnSpPr/>
          <p:nvPr/>
        </p:nvCxnSpPr>
        <p:spPr>
          <a:xfrm>
            <a:off x="5490404" y="3967308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643635" y="3361712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595000" y="2621539"/>
            <a:ext cx="1588897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66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7980077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80211" y="5631611"/>
            <a:ext cx="7670885" cy="0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307192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63430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961423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28853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615654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942769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26988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597000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92411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666233" y="5968054"/>
            <a:ext cx="595035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67</a:t>
            </a:r>
            <a:endParaRPr lang="en-GB" sz="3364" dirty="0"/>
          </a:p>
        </p:txBody>
      </p:sp>
      <p:sp>
        <p:nvSpPr>
          <p:cNvPr id="30" name="Rectangle 29"/>
          <p:cNvSpPr/>
          <p:nvPr/>
        </p:nvSpPr>
        <p:spPr>
          <a:xfrm>
            <a:off x="6993349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66.9</a:t>
            </a:r>
            <a:endParaRPr lang="en-GB" sz="3364" dirty="0"/>
          </a:p>
        </p:txBody>
      </p:sp>
      <p:sp>
        <p:nvSpPr>
          <p:cNvPr id="31" name="Rectangle 30"/>
          <p:cNvSpPr/>
          <p:nvPr/>
        </p:nvSpPr>
        <p:spPr>
          <a:xfrm>
            <a:off x="6320464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66.8</a:t>
            </a:r>
            <a:endParaRPr lang="en-GB" sz="2990" dirty="0"/>
          </a:p>
        </p:txBody>
      </p:sp>
      <p:sp>
        <p:nvSpPr>
          <p:cNvPr id="32" name="Rectangle 31"/>
          <p:cNvSpPr/>
          <p:nvPr/>
        </p:nvSpPr>
        <p:spPr>
          <a:xfrm>
            <a:off x="5647579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66.7</a:t>
            </a:r>
            <a:endParaRPr lang="en-GB" sz="2990" dirty="0"/>
          </a:p>
        </p:txBody>
      </p:sp>
      <p:sp>
        <p:nvSpPr>
          <p:cNvPr id="33" name="Rectangle 32"/>
          <p:cNvSpPr/>
          <p:nvPr/>
        </p:nvSpPr>
        <p:spPr>
          <a:xfrm>
            <a:off x="4974695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66.6</a:t>
            </a:r>
            <a:endParaRPr lang="en-GB" sz="3364" dirty="0"/>
          </a:p>
        </p:txBody>
      </p:sp>
      <p:sp>
        <p:nvSpPr>
          <p:cNvPr id="34" name="Rectangle 33"/>
          <p:cNvSpPr/>
          <p:nvPr/>
        </p:nvSpPr>
        <p:spPr>
          <a:xfrm>
            <a:off x="4301810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66.5</a:t>
            </a:r>
            <a:endParaRPr lang="en-GB" sz="2990" dirty="0"/>
          </a:p>
        </p:txBody>
      </p:sp>
      <p:sp>
        <p:nvSpPr>
          <p:cNvPr id="35" name="Rectangle 34"/>
          <p:cNvSpPr/>
          <p:nvPr/>
        </p:nvSpPr>
        <p:spPr>
          <a:xfrm>
            <a:off x="3628925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66.4</a:t>
            </a:r>
            <a:endParaRPr lang="en-GB" sz="3364" dirty="0"/>
          </a:p>
        </p:txBody>
      </p:sp>
      <p:sp>
        <p:nvSpPr>
          <p:cNvPr id="36" name="Rectangle 35"/>
          <p:cNvSpPr/>
          <p:nvPr/>
        </p:nvSpPr>
        <p:spPr>
          <a:xfrm>
            <a:off x="2956041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66.3</a:t>
            </a:r>
            <a:endParaRPr lang="en-GB" sz="3364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1251231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283156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66.2</a:t>
            </a:r>
            <a:endParaRPr lang="en-GB" sz="2990" dirty="0"/>
          </a:p>
        </p:txBody>
      </p:sp>
      <p:sp>
        <p:nvSpPr>
          <p:cNvPr id="39" name="Rectangle 38"/>
          <p:cNvSpPr/>
          <p:nvPr/>
        </p:nvSpPr>
        <p:spPr>
          <a:xfrm>
            <a:off x="1587674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66.1</a:t>
            </a:r>
            <a:endParaRPr lang="en-GB" sz="3364" dirty="0"/>
          </a:p>
        </p:txBody>
      </p:sp>
      <p:sp>
        <p:nvSpPr>
          <p:cNvPr id="40" name="Rectangle 39"/>
          <p:cNvSpPr/>
          <p:nvPr/>
        </p:nvSpPr>
        <p:spPr>
          <a:xfrm>
            <a:off x="937387" y="5968054"/>
            <a:ext cx="595035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66</a:t>
            </a:r>
            <a:endParaRPr lang="en-GB" sz="3364" dirty="0"/>
          </a:p>
        </p:txBody>
      </p:sp>
      <p:sp>
        <p:nvSpPr>
          <p:cNvPr id="41" name="Rectangle 40"/>
          <p:cNvSpPr/>
          <p:nvPr/>
        </p:nvSpPr>
        <p:spPr>
          <a:xfrm>
            <a:off x="914789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2" name="Rectangle 41"/>
          <p:cNvSpPr/>
          <p:nvPr/>
        </p:nvSpPr>
        <p:spPr>
          <a:xfrm>
            <a:off x="7643635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4" name="Oval 43"/>
          <p:cNvSpPr/>
          <p:nvPr/>
        </p:nvSpPr>
        <p:spPr>
          <a:xfrm>
            <a:off x="1722250" y="5380365"/>
            <a:ext cx="269154" cy="2691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3" name="TextBox 42"/>
          <p:cNvSpPr txBox="1"/>
          <p:nvPr/>
        </p:nvSpPr>
        <p:spPr>
          <a:xfrm>
            <a:off x="1183943" y="2621539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6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8063E-6 1.60579E-6 L -0.01338 -0.07111 C -0.01618 -0.08732 -0.02044 -0.09618 -0.02482 -0.09618 C -0.02969 -0.09618 -0.03382 -0.08732 -0.0365 -0.07111 L -0.04964 1.60579E-6 " pathEditMode="relative" rAng="0" ptsTypes="FffFF">
                                      <p:cBhvr>
                                        <p:cTn id="10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8" grpId="0"/>
      <p:bldP spid="39" grpId="0"/>
      <p:bldP spid="40" grpId="0"/>
      <p:bldP spid="41" grpId="0" animBg="1"/>
      <p:bldP spid="42" grpId="0" animBg="1"/>
      <p:bldP spid="44" grpId="0" animBg="1"/>
      <p:bldP spid="44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79303" y="670173"/>
            <a:ext cx="9310562" cy="552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990" b="1" dirty="0">
                <a:solidFill>
                  <a:srgbClr val="FF0000"/>
                </a:solidFill>
                <a:latin typeface="Comic Sans MS" pitchFamily="66" charset="0"/>
              </a:rPr>
              <a:t>Round these lengths to the nearest centimetre. </a:t>
            </a:r>
            <a:endParaRPr lang="en-GB" sz="1682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788" y="1746789"/>
            <a:ext cx="254268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8.8 cm -&gt;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788" y="2757743"/>
            <a:ext cx="254268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9.1 cm -&gt;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864" y="3767070"/>
            <a:ext cx="2805576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18.2 cm -&gt;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12" y="4776397"/>
            <a:ext cx="2805576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13.9 cm -&gt; </a:t>
            </a:r>
          </a:p>
        </p:txBody>
      </p:sp>
      <p:sp>
        <p:nvSpPr>
          <p:cNvPr id="10" name="Oval 9"/>
          <p:cNvSpPr/>
          <p:nvPr/>
        </p:nvSpPr>
        <p:spPr>
          <a:xfrm>
            <a:off x="847500" y="1746789"/>
            <a:ext cx="538308" cy="6055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1385808" y="2285096"/>
            <a:ext cx="336442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41460" y="1746789"/>
            <a:ext cx="119135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9 cm</a:t>
            </a:r>
          </a:p>
        </p:txBody>
      </p:sp>
      <p:sp>
        <p:nvSpPr>
          <p:cNvPr id="14" name="Oval 13"/>
          <p:cNvSpPr/>
          <p:nvPr/>
        </p:nvSpPr>
        <p:spPr>
          <a:xfrm>
            <a:off x="847500" y="2756115"/>
            <a:ext cx="538308" cy="6055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1385808" y="3294423"/>
            <a:ext cx="336442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41460" y="2756116"/>
            <a:ext cx="119135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9 cm</a:t>
            </a:r>
          </a:p>
        </p:txBody>
      </p:sp>
      <p:sp>
        <p:nvSpPr>
          <p:cNvPr id="17" name="Oval 16"/>
          <p:cNvSpPr/>
          <p:nvPr/>
        </p:nvSpPr>
        <p:spPr>
          <a:xfrm>
            <a:off x="1041018" y="3765442"/>
            <a:ext cx="403731" cy="6055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18" name="Straight Connector 17"/>
          <p:cNvCxnSpPr/>
          <p:nvPr/>
        </p:nvCxnSpPr>
        <p:spPr>
          <a:xfrm flipH="1">
            <a:off x="1512037" y="4303750"/>
            <a:ext cx="336442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403722" y="3765443"/>
            <a:ext cx="145424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18 cm</a:t>
            </a:r>
          </a:p>
        </p:txBody>
      </p:sp>
      <p:sp>
        <p:nvSpPr>
          <p:cNvPr id="20" name="Oval 19"/>
          <p:cNvSpPr/>
          <p:nvPr/>
        </p:nvSpPr>
        <p:spPr>
          <a:xfrm>
            <a:off x="1025719" y="4774769"/>
            <a:ext cx="403731" cy="6055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21" name="Straight Connector 20"/>
          <p:cNvCxnSpPr/>
          <p:nvPr/>
        </p:nvCxnSpPr>
        <p:spPr>
          <a:xfrm flipH="1">
            <a:off x="1496738" y="5313077"/>
            <a:ext cx="336442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40494" y="4774770"/>
            <a:ext cx="145424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14 cm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/>
      <p:bldP spid="14" grpId="0" animBg="1"/>
      <p:bldP spid="16" grpId="0"/>
      <p:bldP spid="17" grpId="0" animBg="1"/>
      <p:bldP spid="19" grpId="0"/>
      <p:bldP spid="20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14788" y="1653995"/>
            <a:ext cx="1383712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Units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31577" y="1182975"/>
            <a:ext cx="599844" cy="1242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47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39039" y="1653995"/>
            <a:ext cx="1774845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Tenths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9303" y="670173"/>
            <a:ext cx="7149714" cy="552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990" b="1" dirty="0">
                <a:solidFill>
                  <a:srgbClr val="FF0000"/>
                </a:solidFill>
                <a:latin typeface="Comic Sans MS" pitchFamily="66" charset="0"/>
              </a:rPr>
              <a:t>Round to the nearest whole number. </a:t>
            </a:r>
            <a:endParaRPr lang="en-GB" sz="1682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4386" y="2083231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83596" y="2635104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7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42423" y="2635104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1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80212" y="2419673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15" name="Straight Connector 14"/>
          <p:cNvCxnSpPr/>
          <p:nvPr/>
        </p:nvCxnSpPr>
        <p:spPr>
          <a:xfrm>
            <a:off x="3539038" y="3967308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643635" y="3361712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595000" y="2621539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7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7980077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80211" y="5631611"/>
            <a:ext cx="7670885" cy="0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307192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63430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961423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28853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615654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942769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26988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597000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92411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804161" y="5968054"/>
            <a:ext cx="389850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8</a:t>
            </a:r>
            <a:endParaRPr lang="en-GB" sz="3364" dirty="0"/>
          </a:p>
        </p:txBody>
      </p:sp>
      <p:sp>
        <p:nvSpPr>
          <p:cNvPr id="30" name="Rectangle 29"/>
          <p:cNvSpPr/>
          <p:nvPr/>
        </p:nvSpPr>
        <p:spPr>
          <a:xfrm>
            <a:off x="6993348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7.9</a:t>
            </a:r>
            <a:endParaRPr lang="en-GB" sz="3364" dirty="0"/>
          </a:p>
        </p:txBody>
      </p:sp>
      <p:sp>
        <p:nvSpPr>
          <p:cNvPr id="31" name="Rectangle 30"/>
          <p:cNvSpPr/>
          <p:nvPr/>
        </p:nvSpPr>
        <p:spPr>
          <a:xfrm>
            <a:off x="6320464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7.8</a:t>
            </a:r>
            <a:endParaRPr lang="en-GB" sz="3364" dirty="0"/>
          </a:p>
        </p:txBody>
      </p:sp>
      <p:sp>
        <p:nvSpPr>
          <p:cNvPr id="32" name="Rectangle 31"/>
          <p:cNvSpPr/>
          <p:nvPr/>
        </p:nvSpPr>
        <p:spPr>
          <a:xfrm>
            <a:off x="5647579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7.7</a:t>
            </a:r>
            <a:endParaRPr lang="en-GB" sz="2990" dirty="0"/>
          </a:p>
        </p:txBody>
      </p:sp>
      <p:sp>
        <p:nvSpPr>
          <p:cNvPr id="33" name="Rectangle 32"/>
          <p:cNvSpPr/>
          <p:nvPr/>
        </p:nvSpPr>
        <p:spPr>
          <a:xfrm>
            <a:off x="4974694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7.6</a:t>
            </a:r>
            <a:endParaRPr lang="en-GB" sz="3364" dirty="0"/>
          </a:p>
        </p:txBody>
      </p:sp>
      <p:sp>
        <p:nvSpPr>
          <p:cNvPr id="34" name="Rectangle 33"/>
          <p:cNvSpPr/>
          <p:nvPr/>
        </p:nvSpPr>
        <p:spPr>
          <a:xfrm>
            <a:off x="4301810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7.5</a:t>
            </a:r>
            <a:endParaRPr lang="en-GB" sz="3364" dirty="0"/>
          </a:p>
        </p:txBody>
      </p:sp>
      <p:sp>
        <p:nvSpPr>
          <p:cNvPr id="35" name="Rectangle 34"/>
          <p:cNvSpPr/>
          <p:nvPr/>
        </p:nvSpPr>
        <p:spPr>
          <a:xfrm>
            <a:off x="3628925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7.4</a:t>
            </a:r>
            <a:endParaRPr lang="en-GB" sz="3364" dirty="0"/>
          </a:p>
        </p:txBody>
      </p:sp>
      <p:sp>
        <p:nvSpPr>
          <p:cNvPr id="36" name="Rectangle 35"/>
          <p:cNvSpPr/>
          <p:nvPr/>
        </p:nvSpPr>
        <p:spPr>
          <a:xfrm>
            <a:off x="2956041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7.3</a:t>
            </a:r>
            <a:endParaRPr lang="en-GB" sz="3364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1251231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283156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7.2</a:t>
            </a:r>
            <a:endParaRPr lang="en-GB" sz="2990" dirty="0"/>
          </a:p>
        </p:txBody>
      </p:sp>
      <p:sp>
        <p:nvSpPr>
          <p:cNvPr id="39" name="Rectangle 38"/>
          <p:cNvSpPr/>
          <p:nvPr/>
        </p:nvSpPr>
        <p:spPr>
          <a:xfrm>
            <a:off x="1587673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7.1</a:t>
            </a:r>
            <a:endParaRPr lang="en-GB" sz="3364" dirty="0"/>
          </a:p>
        </p:txBody>
      </p:sp>
      <p:sp>
        <p:nvSpPr>
          <p:cNvPr id="40" name="Rectangle 39"/>
          <p:cNvSpPr/>
          <p:nvPr/>
        </p:nvSpPr>
        <p:spPr>
          <a:xfrm>
            <a:off x="1075315" y="5968054"/>
            <a:ext cx="389850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7</a:t>
            </a:r>
            <a:endParaRPr lang="en-GB" sz="3364" dirty="0"/>
          </a:p>
        </p:txBody>
      </p:sp>
      <p:sp>
        <p:nvSpPr>
          <p:cNvPr id="41" name="Rectangle 40"/>
          <p:cNvSpPr/>
          <p:nvPr/>
        </p:nvSpPr>
        <p:spPr>
          <a:xfrm>
            <a:off x="914789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2" name="Rectangle 41"/>
          <p:cNvSpPr/>
          <p:nvPr/>
        </p:nvSpPr>
        <p:spPr>
          <a:xfrm>
            <a:off x="7643635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4" name="Oval 43"/>
          <p:cNvSpPr/>
          <p:nvPr/>
        </p:nvSpPr>
        <p:spPr>
          <a:xfrm>
            <a:off x="2260558" y="5380365"/>
            <a:ext cx="269154" cy="2691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3" name="TextBox 42"/>
          <p:cNvSpPr txBox="1"/>
          <p:nvPr/>
        </p:nvSpPr>
        <p:spPr>
          <a:xfrm>
            <a:off x="5476531" y="1667559"/>
            <a:ext cx="2855269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Hundredths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879914" y="255425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9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85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3371E-6 1.70953E-6 L -0.01047 -0.07111 C -0.01266 -0.08732 -0.01594 -0.09618 -0.01935 -0.09618 C -0.02312 -0.09618 -0.02629 -0.08732 -0.02848 -0.07111 L -0.03858 1.70953E-6 " pathEditMode="relative" rAng="0" ptsTypes="FffFF">
                                      <p:cBhvr>
                                        <p:cTn id="10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44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298 1.70953E-6 L -0.04941 -0.07111 C -0.05281 -0.08732 -0.05793 -0.09618 -0.06328 -0.09618 C -0.06936 -0.09618 -0.07423 -0.08732 -0.07764 -0.07111 L -0.0937 1.70953E-6 " pathEditMode="relative" rAng="0" ptsTypes="FffFF">
                                      <p:cBhvr>
                                        <p:cTn id="10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8" grpId="0"/>
      <p:bldP spid="39" grpId="0"/>
      <p:bldP spid="40" grpId="0"/>
      <p:bldP spid="41" grpId="0" animBg="1"/>
      <p:bldP spid="42" grpId="0" animBg="1"/>
      <p:bldP spid="44" grpId="0" animBg="1"/>
      <p:bldP spid="44" grpId="1" animBg="1"/>
      <p:bldP spid="44" grpId="2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47500" y="1653995"/>
            <a:ext cx="1271502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Tens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27846" y="1653995"/>
            <a:ext cx="1383712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Units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92087" y="1182975"/>
            <a:ext cx="599844" cy="1242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47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67204" y="1653995"/>
            <a:ext cx="1774845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Tenths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9303" y="670173"/>
            <a:ext cx="7149714" cy="552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990" b="1" dirty="0">
                <a:solidFill>
                  <a:srgbClr val="FF0000"/>
                </a:solidFill>
                <a:latin typeface="Comic Sans MS" pitchFamily="66" charset="0"/>
              </a:rPr>
              <a:t>Round to the nearest whole number. </a:t>
            </a:r>
            <a:endParaRPr lang="en-GB" sz="1682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08193" y="2083231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96654" y="2635104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4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37876" y="2621539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7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193269" y="2419673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15" name="Straight Connector 14"/>
          <p:cNvCxnSpPr/>
          <p:nvPr/>
        </p:nvCxnSpPr>
        <p:spPr>
          <a:xfrm>
            <a:off x="4534491" y="3967308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8316172" y="3361712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036024" y="2621539"/>
            <a:ext cx="1588897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25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7980077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80211" y="5631611"/>
            <a:ext cx="7670885" cy="0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307192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63430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961423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28853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615654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942769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26988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597000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92411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643635" y="5968054"/>
            <a:ext cx="595035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25</a:t>
            </a:r>
            <a:endParaRPr lang="en-GB" sz="3364" dirty="0"/>
          </a:p>
        </p:txBody>
      </p:sp>
      <p:sp>
        <p:nvSpPr>
          <p:cNvPr id="30" name="Rectangle 29"/>
          <p:cNvSpPr/>
          <p:nvPr/>
        </p:nvSpPr>
        <p:spPr>
          <a:xfrm>
            <a:off x="6993349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24.9</a:t>
            </a:r>
            <a:endParaRPr lang="en-GB" sz="3364" dirty="0"/>
          </a:p>
        </p:txBody>
      </p:sp>
      <p:sp>
        <p:nvSpPr>
          <p:cNvPr id="31" name="Rectangle 30"/>
          <p:cNvSpPr/>
          <p:nvPr/>
        </p:nvSpPr>
        <p:spPr>
          <a:xfrm>
            <a:off x="6320464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24.8</a:t>
            </a:r>
            <a:endParaRPr lang="en-GB" sz="3364" dirty="0"/>
          </a:p>
        </p:txBody>
      </p:sp>
      <p:sp>
        <p:nvSpPr>
          <p:cNvPr id="32" name="Rectangle 31"/>
          <p:cNvSpPr/>
          <p:nvPr/>
        </p:nvSpPr>
        <p:spPr>
          <a:xfrm>
            <a:off x="5647579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24.7</a:t>
            </a:r>
            <a:endParaRPr lang="en-GB" sz="2990" dirty="0"/>
          </a:p>
        </p:txBody>
      </p:sp>
      <p:sp>
        <p:nvSpPr>
          <p:cNvPr id="33" name="Rectangle 32"/>
          <p:cNvSpPr/>
          <p:nvPr/>
        </p:nvSpPr>
        <p:spPr>
          <a:xfrm>
            <a:off x="4974695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24.6</a:t>
            </a:r>
            <a:endParaRPr lang="en-GB" sz="3364" dirty="0"/>
          </a:p>
        </p:txBody>
      </p:sp>
      <p:sp>
        <p:nvSpPr>
          <p:cNvPr id="34" name="Rectangle 33"/>
          <p:cNvSpPr/>
          <p:nvPr/>
        </p:nvSpPr>
        <p:spPr>
          <a:xfrm>
            <a:off x="4301810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24.5</a:t>
            </a:r>
            <a:endParaRPr lang="en-GB" sz="3364" dirty="0"/>
          </a:p>
        </p:txBody>
      </p:sp>
      <p:sp>
        <p:nvSpPr>
          <p:cNvPr id="35" name="Rectangle 34"/>
          <p:cNvSpPr/>
          <p:nvPr/>
        </p:nvSpPr>
        <p:spPr>
          <a:xfrm>
            <a:off x="3628925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24.4</a:t>
            </a:r>
            <a:endParaRPr lang="en-GB" sz="3364" dirty="0"/>
          </a:p>
        </p:txBody>
      </p:sp>
      <p:sp>
        <p:nvSpPr>
          <p:cNvPr id="36" name="Rectangle 35"/>
          <p:cNvSpPr/>
          <p:nvPr/>
        </p:nvSpPr>
        <p:spPr>
          <a:xfrm>
            <a:off x="2956041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24.3</a:t>
            </a:r>
            <a:endParaRPr lang="en-GB" sz="3364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1251231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283156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24.2</a:t>
            </a:r>
            <a:endParaRPr lang="en-GB" sz="2990" dirty="0"/>
          </a:p>
        </p:txBody>
      </p:sp>
      <p:sp>
        <p:nvSpPr>
          <p:cNvPr id="39" name="Rectangle 38"/>
          <p:cNvSpPr/>
          <p:nvPr/>
        </p:nvSpPr>
        <p:spPr>
          <a:xfrm>
            <a:off x="1587674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24.1</a:t>
            </a:r>
            <a:endParaRPr lang="en-GB" sz="2990" dirty="0"/>
          </a:p>
        </p:txBody>
      </p:sp>
      <p:sp>
        <p:nvSpPr>
          <p:cNvPr id="40" name="Rectangle 39"/>
          <p:cNvSpPr/>
          <p:nvPr/>
        </p:nvSpPr>
        <p:spPr>
          <a:xfrm>
            <a:off x="937387" y="5968054"/>
            <a:ext cx="595035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24</a:t>
            </a:r>
            <a:endParaRPr lang="en-GB" sz="3364" dirty="0"/>
          </a:p>
        </p:txBody>
      </p:sp>
      <p:sp>
        <p:nvSpPr>
          <p:cNvPr id="41" name="Rectangle 40"/>
          <p:cNvSpPr/>
          <p:nvPr/>
        </p:nvSpPr>
        <p:spPr>
          <a:xfrm>
            <a:off x="914789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2" name="Rectangle 41"/>
          <p:cNvSpPr/>
          <p:nvPr/>
        </p:nvSpPr>
        <p:spPr>
          <a:xfrm>
            <a:off x="7643635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3" name="Oval 42"/>
          <p:cNvSpPr/>
          <p:nvPr/>
        </p:nvSpPr>
        <p:spPr>
          <a:xfrm>
            <a:off x="6297865" y="5429746"/>
            <a:ext cx="269154" cy="2691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4" name="TextBox 43"/>
          <p:cNvSpPr txBox="1"/>
          <p:nvPr/>
        </p:nvSpPr>
        <p:spPr>
          <a:xfrm>
            <a:off x="1116307" y="2621539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2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350877" y="1667559"/>
            <a:ext cx="2855269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Hundredths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754664" y="2635104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7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11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25383E-6 3.53577E-6 L 0.00426 -0.07867 C 0.00523 -0.09618 0.00669 -0.1059 0.00815 -0.1059 C 0.00973 -0.1059 0.01107 -0.09618 0.01192 -0.07867 L 0.01655 3.53577E-6 " pathEditMode="relative" rAng="0" ptsTypes="FffFF">
                                      <p:cBhvr>
                                        <p:cTn id="10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0" y="-5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4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67 3.53577E-6 L 0.03115 -0.07111 C 0.03419 -0.0871 0.03882 -0.09596 0.04369 -0.09596 C 0.04928 -0.09596 0.05366 -0.0871 0.05671 -0.07111 L 0.07179 3.53577E-6 " pathEditMode="relative" rAng="0" ptsTypes="FffFF">
                                      <p:cBhvr>
                                        <p:cTn id="10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44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179 3.53577E-6 L 0.0864 -0.07111 C 0.08956 -0.0871 0.09406 -0.09596 0.09893 -0.09596 C 0.10441 -0.09596 0.10891 -0.0871 0.11207 -0.07111 L 0.12704 3.53577E-6 " pathEditMode="relative" rAng="0" ptsTypes="FffFF">
                                      <p:cBhvr>
                                        <p:cTn id="10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8" grpId="0"/>
      <p:bldP spid="39" grpId="0"/>
      <p:bldP spid="40" grpId="0"/>
      <p:bldP spid="41" grpId="0" animBg="1"/>
      <p:bldP spid="42" grpId="0" animBg="1"/>
      <p:bldP spid="43" grpId="0" animBg="1"/>
      <p:bldP spid="43" grpId="1" animBg="1"/>
      <p:bldP spid="43" grpId="2" animBg="1"/>
      <p:bldP spid="43" grpId="3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79302" y="670173"/>
            <a:ext cx="8409674" cy="552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990" b="1" dirty="0">
                <a:solidFill>
                  <a:srgbClr val="FF0000"/>
                </a:solidFill>
                <a:latin typeface="Comic Sans MS" pitchFamily="66" charset="0"/>
              </a:rPr>
              <a:t>Round these lengths to the nearest metre. </a:t>
            </a:r>
            <a:endParaRPr lang="en-GB" sz="1682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788" y="1746789"/>
            <a:ext cx="258436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8.83 m -&gt;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788" y="2757743"/>
            <a:ext cx="258436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9.19 m -&gt;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864" y="3767070"/>
            <a:ext cx="284725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26.28 m -&gt;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11" y="4776397"/>
            <a:ext cx="284725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14.94 m -&gt; </a:t>
            </a:r>
          </a:p>
        </p:txBody>
      </p:sp>
      <p:sp>
        <p:nvSpPr>
          <p:cNvPr id="10" name="Oval 9"/>
          <p:cNvSpPr/>
          <p:nvPr/>
        </p:nvSpPr>
        <p:spPr>
          <a:xfrm>
            <a:off x="847500" y="1746789"/>
            <a:ext cx="538308" cy="6055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1385808" y="2285096"/>
            <a:ext cx="336442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41461" y="1746789"/>
            <a:ext cx="970137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9 m</a:t>
            </a:r>
          </a:p>
        </p:txBody>
      </p:sp>
      <p:sp>
        <p:nvSpPr>
          <p:cNvPr id="14" name="Oval 13"/>
          <p:cNvSpPr/>
          <p:nvPr/>
        </p:nvSpPr>
        <p:spPr>
          <a:xfrm>
            <a:off x="847500" y="2756115"/>
            <a:ext cx="538308" cy="6055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1385808" y="3294423"/>
            <a:ext cx="336442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41461" y="2756116"/>
            <a:ext cx="970137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9 m</a:t>
            </a:r>
          </a:p>
        </p:txBody>
      </p:sp>
      <p:sp>
        <p:nvSpPr>
          <p:cNvPr id="17" name="Oval 16"/>
          <p:cNvSpPr/>
          <p:nvPr/>
        </p:nvSpPr>
        <p:spPr>
          <a:xfrm>
            <a:off x="1041018" y="3765442"/>
            <a:ext cx="403731" cy="6055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18" name="Straight Connector 17"/>
          <p:cNvCxnSpPr/>
          <p:nvPr/>
        </p:nvCxnSpPr>
        <p:spPr>
          <a:xfrm flipH="1">
            <a:off x="1512037" y="4303750"/>
            <a:ext cx="336442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93036" y="3765443"/>
            <a:ext cx="1233030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26 m</a:t>
            </a:r>
          </a:p>
        </p:txBody>
      </p:sp>
      <p:sp>
        <p:nvSpPr>
          <p:cNvPr id="20" name="Oval 19"/>
          <p:cNvSpPr/>
          <p:nvPr/>
        </p:nvSpPr>
        <p:spPr>
          <a:xfrm>
            <a:off x="1025719" y="4774769"/>
            <a:ext cx="403731" cy="6055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21" name="Straight Connector 20"/>
          <p:cNvCxnSpPr/>
          <p:nvPr/>
        </p:nvCxnSpPr>
        <p:spPr>
          <a:xfrm flipH="1">
            <a:off x="1496738" y="5313077"/>
            <a:ext cx="336442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60324" y="4774770"/>
            <a:ext cx="1233030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15 m</a:t>
            </a:r>
          </a:p>
        </p:txBody>
      </p:sp>
    </p:spTree>
    <p:extLst>
      <p:ext uri="{BB962C8B-B14F-4D97-AF65-F5344CB8AC3E}">
        <p14:creationId xmlns:p14="http://schemas.microsoft.com/office/powerpoint/2010/main" val="655352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/>
      <p:bldP spid="14" grpId="0" animBg="1"/>
      <p:bldP spid="16" grpId="0"/>
      <p:bldP spid="17" grpId="0" animBg="1"/>
      <p:bldP spid="19" grpId="0"/>
      <p:bldP spid="20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2808" y="1166152"/>
            <a:ext cx="116089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Tens</a:t>
            </a:r>
            <a:endParaRPr lang="en-GB" sz="1869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87730" y="1166152"/>
            <a:ext cx="126188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Units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10115" y="1166152"/>
            <a:ext cx="161294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Tenths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68077" y="1558488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48951" y="211036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1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48076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8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26904" y="1166152"/>
            <a:ext cx="2582758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Hundredths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18442" y="1154757"/>
            <a:ext cx="277672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Thousandths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20040" y="-54808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50508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5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481077" y="1894930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30" name="Straight Connector 29"/>
          <p:cNvCxnSpPr/>
          <p:nvPr/>
        </p:nvCxnSpPr>
        <p:spPr>
          <a:xfrm>
            <a:off x="6970750" y="3442565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337173" y="5461218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288539" y="4721046"/>
            <a:ext cx="208743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1.9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6480" y="333731"/>
            <a:ext cx="5176417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Round to 1 decimal place.</a:t>
            </a:r>
            <a:endParaRPr lang="en-GB" sz="1869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2808" y="1166152"/>
            <a:ext cx="116089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Tens</a:t>
            </a:r>
            <a:endParaRPr lang="en-GB" sz="1869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87730" y="1166152"/>
            <a:ext cx="126188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Units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10115" y="1166152"/>
            <a:ext cx="161294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Tenths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68077" y="1558488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48951" y="211036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5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48076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6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26904" y="1166152"/>
            <a:ext cx="2582758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Hundredths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18442" y="1154757"/>
            <a:ext cx="277672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Thousandths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20040" y="10854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50508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3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481077" y="1894930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30" name="Straight Connector 29"/>
          <p:cNvCxnSpPr/>
          <p:nvPr/>
        </p:nvCxnSpPr>
        <p:spPr>
          <a:xfrm>
            <a:off x="6970750" y="3442565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337173" y="5461218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288538" y="4721046"/>
            <a:ext cx="2789546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15.6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1058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1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6480" y="333731"/>
            <a:ext cx="5176417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Round to 1 decimal place.</a:t>
            </a:r>
            <a:endParaRPr lang="en-GB" sz="1869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2808" y="1166152"/>
            <a:ext cx="116089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Tens</a:t>
            </a:r>
            <a:endParaRPr lang="en-GB" sz="1869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87730" y="1166152"/>
            <a:ext cx="126188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Units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10115" y="1166152"/>
            <a:ext cx="161294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Tenths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68077" y="1558488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48951" y="211036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0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48076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7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26904" y="1166152"/>
            <a:ext cx="2582758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Hundredths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18442" y="1154757"/>
            <a:ext cx="277672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Thousandths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20040" y="10854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50508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8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481077" y="1894930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30" name="Straight Connector 29"/>
          <p:cNvCxnSpPr/>
          <p:nvPr/>
        </p:nvCxnSpPr>
        <p:spPr>
          <a:xfrm>
            <a:off x="6970750" y="3442565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337173" y="5461218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288539" y="4721046"/>
            <a:ext cx="208743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0.8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6480" y="333731"/>
            <a:ext cx="5176417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Round to 1 decimal place.</a:t>
            </a:r>
            <a:endParaRPr lang="en-GB" sz="1869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2808" y="1166152"/>
            <a:ext cx="116089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Tens</a:t>
            </a:r>
            <a:endParaRPr lang="en-GB" sz="1869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87730" y="1166152"/>
            <a:ext cx="126188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Units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10115" y="1166152"/>
            <a:ext cx="161294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Tenths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68077" y="1558488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48951" y="211036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9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48076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5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26904" y="1166152"/>
            <a:ext cx="2582758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Hundredths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18442" y="1154757"/>
            <a:ext cx="277672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Thousandths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20040" y="10854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50508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2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481077" y="1894930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30" name="Straight Connector 29"/>
          <p:cNvCxnSpPr/>
          <p:nvPr/>
        </p:nvCxnSpPr>
        <p:spPr>
          <a:xfrm>
            <a:off x="6970750" y="3442565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337173" y="5461218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288539" y="4721046"/>
            <a:ext cx="208743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9.5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6480" y="333731"/>
            <a:ext cx="5176417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Round to 1 decimal place.</a:t>
            </a:r>
            <a:endParaRPr lang="en-GB" sz="1869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2808" y="1166152"/>
            <a:ext cx="116089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Tens</a:t>
            </a:r>
            <a:endParaRPr lang="en-GB" sz="1869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87730" y="1166152"/>
            <a:ext cx="126188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Units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10115" y="1166152"/>
            <a:ext cx="161294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Tenths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68077" y="1558488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48951" y="211036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4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48076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5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26904" y="1166152"/>
            <a:ext cx="2582758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Hundredths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18442" y="1154757"/>
            <a:ext cx="277672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Thousandths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20040" y="10854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50508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6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481077" y="1894930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30" name="Straight Connector 29"/>
          <p:cNvCxnSpPr/>
          <p:nvPr/>
        </p:nvCxnSpPr>
        <p:spPr>
          <a:xfrm>
            <a:off x="6970750" y="3442565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337173" y="5461218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288539" y="4721046"/>
            <a:ext cx="208743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4.6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460423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9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6480" y="333731"/>
            <a:ext cx="5176417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Round to 1 decimal place.</a:t>
            </a:r>
            <a:endParaRPr lang="en-GB" sz="1869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2808" y="1166152"/>
            <a:ext cx="116089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Tens</a:t>
            </a:r>
            <a:endParaRPr lang="en-GB" sz="1869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87730" y="1166152"/>
            <a:ext cx="126188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Units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10115" y="1166152"/>
            <a:ext cx="161294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Tenths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68077" y="1558488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48951" y="211036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2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48076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3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26904" y="1166152"/>
            <a:ext cx="2582758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Hundredths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18442" y="1154757"/>
            <a:ext cx="277672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Thousandths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20040" y="10854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50508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0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481077" y="1894930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30" name="Straight Connector 29"/>
          <p:cNvCxnSpPr/>
          <p:nvPr/>
        </p:nvCxnSpPr>
        <p:spPr>
          <a:xfrm>
            <a:off x="6970750" y="3442565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337173" y="5461218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288539" y="4721046"/>
            <a:ext cx="208743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2.3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460423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5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6480" y="333731"/>
            <a:ext cx="5176417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Round to 1 decimal place.</a:t>
            </a:r>
            <a:endParaRPr lang="en-GB" sz="1869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18577" y="1166152"/>
            <a:ext cx="90441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€10</a:t>
            </a:r>
            <a:endParaRPr lang="en-GB" sz="1869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24849" y="1166152"/>
            <a:ext cx="64152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€1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2385" y="1166152"/>
            <a:ext cx="862737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10c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13846" y="1558488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94720" y="211036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9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93846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4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80099" y="1166152"/>
            <a:ext cx="59984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1c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02194" y="10854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2547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6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5826846" y="1894930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30" name="Straight Connector 29"/>
          <p:cNvCxnSpPr/>
          <p:nvPr/>
        </p:nvCxnSpPr>
        <p:spPr>
          <a:xfrm>
            <a:off x="7845500" y="3442565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798865" y="5461218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231" y="4721046"/>
            <a:ext cx="3280065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€9.50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6481" y="333731"/>
            <a:ext cx="5355953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Round to the nearest 10c.</a:t>
            </a:r>
            <a:endParaRPr lang="en-GB" sz="1869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56828" y="208323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€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18577" y="1166152"/>
            <a:ext cx="90441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€10</a:t>
            </a:r>
            <a:endParaRPr lang="en-GB" sz="1869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24849" y="1166152"/>
            <a:ext cx="64152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€1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2385" y="1166152"/>
            <a:ext cx="862737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10c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13846" y="1558488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94720" y="211036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4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93846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7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80099" y="1166152"/>
            <a:ext cx="59984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1c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02194" y="10854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2547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3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5826846" y="1894930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30" name="Straight Connector 29"/>
          <p:cNvCxnSpPr/>
          <p:nvPr/>
        </p:nvCxnSpPr>
        <p:spPr>
          <a:xfrm>
            <a:off x="7845500" y="3442565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798865" y="5461218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231" y="4721046"/>
            <a:ext cx="3797835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€14.70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6481" y="333731"/>
            <a:ext cx="5355953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Round to the nearest 10c.</a:t>
            </a:r>
            <a:endParaRPr lang="en-GB" sz="1869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56827" y="208323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1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6481" y="208323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€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18577" y="1166152"/>
            <a:ext cx="90441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€10</a:t>
            </a:r>
            <a:endParaRPr lang="en-GB" sz="1869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24849" y="1166152"/>
            <a:ext cx="64152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€1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2385" y="1166152"/>
            <a:ext cx="862737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10c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13846" y="1558488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94720" y="211036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8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93846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8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80099" y="1166152"/>
            <a:ext cx="59984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1c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02194" y="10854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2547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2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5826846" y="1894930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30" name="Straight Connector 29"/>
          <p:cNvCxnSpPr/>
          <p:nvPr/>
        </p:nvCxnSpPr>
        <p:spPr>
          <a:xfrm>
            <a:off x="7845500" y="3442565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798865" y="5461218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231" y="4721046"/>
            <a:ext cx="3280065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€8.80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6481" y="333731"/>
            <a:ext cx="5355953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Round to the nearest 10c.</a:t>
            </a:r>
            <a:endParaRPr lang="en-GB" sz="1869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56828" y="208323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€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18577" y="1166152"/>
            <a:ext cx="90441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€10</a:t>
            </a:r>
            <a:endParaRPr lang="en-GB" sz="1869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24849" y="1166152"/>
            <a:ext cx="64152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€1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2385" y="1166152"/>
            <a:ext cx="862737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10c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13846" y="1558488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94720" y="211036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6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93846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5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80099" y="1166152"/>
            <a:ext cx="59984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1c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02194" y="10854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2547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9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5826846" y="1894930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30" name="Straight Connector 29"/>
          <p:cNvCxnSpPr/>
          <p:nvPr/>
        </p:nvCxnSpPr>
        <p:spPr>
          <a:xfrm>
            <a:off x="7845500" y="3442565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798865" y="5461218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231" y="4721046"/>
            <a:ext cx="3280065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€6.60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6481" y="333731"/>
            <a:ext cx="5355953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Round to the nearest 10c.</a:t>
            </a:r>
            <a:endParaRPr lang="en-GB" sz="1869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56828" y="208323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€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{7559005E-727B-894B-93D8-BF951F35F46E}tf10001122</Template>
  <TotalTime>987</TotalTime>
  <Words>445</Words>
  <Application>Microsoft Macintosh PowerPoint</Application>
  <PresentationFormat>Widescreen</PresentationFormat>
  <Paragraphs>285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Comic Sans MS</vt:lpstr>
      <vt:lpstr>Office Theme</vt:lpstr>
      <vt:lpstr>Decimals: Rounding</vt:lpstr>
      <vt:lpstr>What is place-value?</vt:lpstr>
      <vt:lpstr>PowerPoint Presentation</vt:lpstr>
      <vt:lpstr>Time it takes to race around a track.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Rigelsford</dc:creator>
  <cp:lastModifiedBy>MAC LIATHAIN, CIAN</cp:lastModifiedBy>
  <cp:revision>37</cp:revision>
  <dcterms:created xsi:type="dcterms:W3CDTF">2018-10-07T10:34:37Z</dcterms:created>
  <dcterms:modified xsi:type="dcterms:W3CDTF">2020-11-03T13:00:42Z</dcterms:modified>
</cp:coreProperties>
</file>