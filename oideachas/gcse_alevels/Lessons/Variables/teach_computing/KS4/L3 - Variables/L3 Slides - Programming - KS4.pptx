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Quicksand"/>
      <p:regular r:id="rId30"/>
      <p:bold r:id="rId31"/>
    </p:embeddedFont>
    <p:embeddedFont>
      <p:font typeface="Roboto Mono"/>
      <p:regular r:id="rId32"/>
      <p:bold r:id="rId33"/>
      <p:italic r:id="rId34"/>
      <p:boldItalic r:id="rId35"/>
    </p:embeddedFont>
    <p:embeddedFont>
      <p:font typeface="Quicksand Medium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icksand-bold.fntdata"/><Relationship Id="rId30" Type="http://schemas.openxmlformats.org/officeDocument/2006/relationships/font" Target="fonts/Quicksand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.fntdata"/><Relationship Id="rId10" Type="http://schemas.openxmlformats.org/officeDocument/2006/relationships/slide" Target="slides/slide5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0.xml"/><Relationship Id="rId37" Type="http://schemas.openxmlformats.org/officeDocument/2006/relationships/font" Target="fonts/QuicksandMedium-bold.fntdata"/><Relationship Id="rId14" Type="http://schemas.openxmlformats.org/officeDocument/2006/relationships/slide" Target="slides/slide9.xml"/><Relationship Id="rId36" Type="http://schemas.openxmlformats.org/officeDocument/2006/relationships/font" Target="fonts/QuicksandMedium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ncce.io/tcc" TargetMode="External"/><Relationship Id="rId3" Type="http://schemas.openxmlformats.org/officeDocument/2006/relationships/hyperlink" Target="http://ncce.io/ogl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photos/post-post-office-letter-old-3471110/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check-cross-red-green-attention-158879/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photos/grimace-funny-expression-mask-388987/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Last updated: 04-01-21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— the latest version is available at: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ncce.io/tcc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under the Open Government Licence, version 3. For more information on this licence, see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ncce.io/ogl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75c8662e6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75c8662e6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5c8662e6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5c8662e6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75c8662e6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75c8662e6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5c8662e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5c8662e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6bfca9f90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6bfca9f90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6bfca9f90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6bfca9f9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635d798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635d798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635d798f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635d798f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635d798f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635d798f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6bfca9f90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6bfca9f90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https://pixabay.com/photos/post-post-office-letter-old-3471110/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6bfca9f90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6bfca9f90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6bfca9f90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6bfca9f90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bfca9f90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6bfca9f90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bfca9f90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bfca9f90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6bfca9f90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6bfca9f90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6bfca9f90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6bfca9f90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6bfca9f90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6bfca9f90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https://pixabay.com/vectors/check-cross-red-green-attention-158879/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6bfca9f90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6bfca9f90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6bfca9f90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6bfca9f90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bfca9f90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6bfca9f90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6bfca9f90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6bfca9f90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6bfca9f90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6bfca9f90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https://pixabay.com/photos/grimace-funny-expression-mask-388987/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9248cef8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9248cef8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18600" y="4160200"/>
            <a:ext cx="1714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/ Questions / Lists">
  <p:cSld name="TITLE_4_1_1_1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and text under (with heading)">
  <p:cSld name="TITLE_4_1_1_2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0900" y="1017725"/>
            <a:ext cx="8521200" cy="30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310900" y="4117599"/>
            <a:ext cx="8521200" cy="6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and text under (no heading)">
  <p:cSld name="TITLE_4_1_1_1_4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0900" y="472000"/>
            <a:ext cx="8521200" cy="3795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TITLE_4_1_1_1_3_2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" type="body"/>
          </p:nvPr>
        </p:nvSpPr>
        <p:spPr>
          <a:xfrm>
            <a:off x="310900" y="1017725"/>
            <a:ext cx="8521200" cy="381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" name="Google Shape;34;p6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r Images side by side">
  <p:cSld name="TITLE_4_1_1_1_3_1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text">
  <p:cSld name="TITLE_4_1_1_1_1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6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" name="Google Shape;44;p8"/>
          <p:cNvSpPr txBox="1"/>
          <p:nvPr>
            <p:ph idx="1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155CC">
            <a:alpha val="559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725"/>
            <a:ext cx="9144000" cy="30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0900" y="310900"/>
            <a:ext cx="8521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icksand"/>
              <a:buNone/>
              <a:defRPr b="1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0900" y="1017725"/>
            <a:ext cx="8521500" cy="3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orient="horz" pos="196">
          <p15:clr>
            <a:srgbClr val="EA4335"/>
          </p15:clr>
        </p15:guide>
        <p15:guide id="3" orient="horz" pos="641">
          <p15:clr>
            <a:srgbClr val="EA4335"/>
          </p15:clr>
        </p15:guide>
        <p15:guide id="4" pos="2776">
          <p15:clr>
            <a:srgbClr val="EA4335"/>
          </p15:clr>
        </p15:guide>
        <p15:guide id="5" orient="horz" pos="812">
          <p15:clr>
            <a:srgbClr val="EA4335"/>
          </p15:clr>
        </p15:guide>
        <p15:guide id="6" pos="2984">
          <p15:clr>
            <a:srgbClr val="EA4335"/>
          </p15:clr>
        </p15:guide>
        <p15:guide id="7" pos="5564">
          <p15:clr>
            <a:srgbClr val="EA4335"/>
          </p15:clr>
        </p15:guide>
        <p15:guide id="8" orient="horz" pos="2592">
          <p15:clr>
            <a:srgbClr val="EA4335"/>
          </p15:clr>
        </p15:guide>
        <p15:guide id="9" pos="2448">
          <p15:clr>
            <a:srgbClr val="EA4335"/>
          </p15:clr>
        </p15:guide>
        <p15:guide id="10" pos="3312">
          <p15:clr>
            <a:srgbClr val="EA4335"/>
          </p15:clr>
        </p15:guide>
        <p15:guide id="11" orient="horz" pos="304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ncce.io/pythondoc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Lesson 3: Variables</a:t>
            </a:r>
            <a:endParaRPr/>
          </a:p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KS4 -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pairs, compare and contrast these user areas</a:t>
            </a:r>
            <a:endParaRPr/>
          </a:p>
        </p:txBody>
      </p:sp>
      <p:sp>
        <p:nvSpPr>
          <p:cNvPr id="56" name="Google Shape;56;p10"/>
          <p:cNvSpPr txBox="1"/>
          <p:nvPr>
            <p:ph idx="2" type="body"/>
          </p:nvPr>
        </p:nvSpPr>
        <p:spPr>
          <a:xfrm>
            <a:off x="310900" y="4117599"/>
            <a:ext cx="8521200" cy="6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Who has the better user area and </a:t>
            </a:r>
            <a:r>
              <a:rPr b="1" lang="en-GB"/>
              <a:t>why?</a:t>
            </a:r>
            <a:endParaRPr b="1"/>
          </a:p>
        </p:txBody>
      </p:sp>
      <p:sp>
        <p:nvSpPr>
          <p:cNvPr id="57" name="Google Shape;57;p10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Starter activity</a:t>
            </a:r>
            <a:endParaRPr/>
          </a:p>
        </p:txBody>
      </p:sp>
      <p:pic>
        <p:nvPicPr>
          <p:cNvPr id="58" name="Google Shape;5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70125"/>
            <a:ext cx="4096499" cy="2743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1" y="1170125"/>
            <a:ext cx="4096499" cy="2743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is it important to name files correctly?</a:t>
            </a:r>
            <a:endParaRPr/>
          </a:p>
        </p:txBody>
      </p:sp>
      <p:sp>
        <p:nvSpPr>
          <p:cNvPr id="65" name="Google Shape;65;p11"/>
          <p:cNvSpPr txBox="1"/>
          <p:nvPr>
            <p:ph idx="1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Starter activity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programming, there are </a:t>
            </a:r>
            <a:r>
              <a:rPr b="1" lang="en-GB"/>
              <a:t>naming conventions</a:t>
            </a:r>
            <a:r>
              <a:rPr lang="en-GB"/>
              <a:t> that should be followed to make it easier to read and understand your code.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Python has an agreed set of </a:t>
            </a:r>
            <a:r>
              <a:rPr b="1" lang="en-GB"/>
              <a:t>conventions </a:t>
            </a:r>
            <a:r>
              <a:rPr lang="en-GB"/>
              <a:t>that programmers should follow.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You will explore some of these during this lesson. </a:t>
            </a:r>
            <a:endParaRPr/>
          </a:p>
        </p:txBody>
      </p:sp>
      <p:sp>
        <p:nvSpPr>
          <p:cNvPr id="71" name="Google Shape;71;p12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naming conventions</a:t>
            </a:r>
            <a:endParaRPr/>
          </a:p>
        </p:txBody>
      </p:sp>
      <p:sp>
        <p:nvSpPr>
          <p:cNvPr id="72" name="Google Shape;72;p12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first_name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SPEED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" name="Google Shape;73;p12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Starter activity</a:t>
            </a:r>
            <a:endParaRPr/>
          </a:p>
        </p:txBody>
      </p:sp>
      <p:pic>
        <p:nvPicPr>
          <p:cNvPr id="74" name="Google Shape;7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4075" y="454325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idx="1" type="body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 this lesson, you will: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meaningful identifiers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Determine the need for variables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Distinguish between declaration, initialisation, and assignment of variables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Demonstrate appropriate use of naming conventions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Output data </a:t>
            </a:r>
            <a:r>
              <a:rPr lang="en-GB"/>
              <a:t>(e.g.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print (my_var)</a:t>
            </a:r>
            <a:r>
              <a:rPr lang="en-GB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3"/>
          <p:cNvSpPr txBox="1"/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Quicksand"/>
                <a:ea typeface="Quicksand"/>
                <a:cs typeface="Quicksand"/>
                <a:sym typeface="Quicksand"/>
              </a:rPr>
              <a:t>Lesson</a:t>
            </a:r>
            <a:r>
              <a:rPr lang="en-GB"/>
              <a:t> 4</a:t>
            </a:r>
            <a:r>
              <a:rPr b="1" lang="en-GB">
                <a:latin typeface="Quicksand"/>
                <a:ea typeface="Quicksand"/>
                <a:cs typeface="Quicksand"/>
                <a:sym typeface="Quicksand"/>
              </a:rPr>
              <a:t>: </a:t>
            </a:r>
            <a:r>
              <a:rPr lang="en-GB"/>
              <a:t>Variables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3600" y="456363"/>
            <a:ext cx="4191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310900" y="1170125"/>
            <a:ext cx="46770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Previously you have: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Written a program in a </a:t>
            </a:r>
            <a:r>
              <a:rPr b="1" lang="en-GB"/>
              <a:t>sequence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Used the </a:t>
            </a:r>
            <a:r>
              <a:rPr b="1" lang="en-GB"/>
              <a:t>print </a:t>
            </a:r>
            <a:r>
              <a:rPr lang="en-GB"/>
              <a:t>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Used</a:t>
            </a:r>
            <a:r>
              <a:rPr b="1" lang="en-GB"/>
              <a:t> </a:t>
            </a:r>
            <a:r>
              <a:rPr lang="en-GB"/>
              <a:t>a </a:t>
            </a:r>
            <a:r>
              <a:rPr b="1" lang="en-GB"/>
              <a:t>subroutine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Checked for </a:t>
            </a:r>
            <a:r>
              <a:rPr b="1" lang="en-GB"/>
              <a:t>errors </a:t>
            </a:r>
            <a:r>
              <a:rPr lang="en-GB"/>
              <a:t>in your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Fixed </a:t>
            </a:r>
            <a:r>
              <a:rPr lang="en-GB"/>
              <a:t>common errors in your code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This lesson, you will be introduced to a new programming construct known as a </a:t>
            </a:r>
            <a:r>
              <a:rPr b="1" lang="en-GB"/>
              <a:t>variable</a:t>
            </a:r>
            <a:r>
              <a:rPr lang="en-GB"/>
              <a:t>. </a:t>
            </a:r>
            <a:endParaRPr/>
          </a:p>
        </p:txBody>
      </p:sp>
      <p:sp>
        <p:nvSpPr>
          <p:cNvPr id="89" name="Google Shape;89;p14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can you do in Python?</a:t>
            </a:r>
            <a:endParaRPr/>
          </a:p>
        </p:txBody>
      </p:sp>
      <p:sp>
        <p:nvSpPr>
          <p:cNvPr id="90" name="Google Shape;90;p14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9742" y="2549138"/>
            <a:ext cx="901000" cy="9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variable</a:t>
            </a:r>
            <a:r>
              <a:rPr b="1" lang="en-GB"/>
              <a:t> </a:t>
            </a:r>
            <a:r>
              <a:rPr lang="en-GB"/>
              <a:t>holds a </a:t>
            </a:r>
            <a:r>
              <a:rPr b="1" lang="en-GB"/>
              <a:t>value </a:t>
            </a:r>
            <a:r>
              <a:rPr lang="en-GB"/>
              <a:t>in a </a:t>
            </a:r>
            <a:r>
              <a:rPr b="1" lang="en-GB"/>
              <a:t>memory location</a:t>
            </a:r>
            <a:r>
              <a:rPr lang="en-GB"/>
              <a:t> that is needed for the </a:t>
            </a:r>
            <a:r>
              <a:rPr b="1" lang="en-GB"/>
              <a:t>execution </a:t>
            </a:r>
            <a:r>
              <a:rPr lang="en-GB"/>
              <a:t>of your program.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 variable can hold </a:t>
            </a:r>
            <a:r>
              <a:rPr b="1" lang="en-GB"/>
              <a:t>one value</a:t>
            </a:r>
            <a:r>
              <a:rPr lang="en-GB"/>
              <a:t> at a time. This value can </a:t>
            </a:r>
            <a:r>
              <a:rPr b="1" lang="en-GB"/>
              <a:t>change </a:t>
            </a:r>
            <a:r>
              <a:rPr lang="en-GB"/>
              <a:t>throughout the execution of the program.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variable?</a:t>
            </a:r>
            <a:endParaRPr/>
          </a:p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D9D9D9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D9D9D9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D9D9D9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9" name="Google Shape;99;p15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</a:t>
            </a:r>
            <a:r>
              <a:rPr lang="en-GB"/>
              <a:t>might use a </a:t>
            </a:r>
            <a:r>
              <a:rPr b="1" lang="en-GB"/>
              <a:t>variable </a:t>
            </a:r>
            <a:r>
              <a:rPr lang="en-GB"/>
              <a:t>to keep track of the </a:t>
            </a:r>
            <a:r>
              <a:rPr b="1" lang="en-GB"/>
              <a:t>score </a:t>
            </a:r>
            <a:r>
              <a:rPr lang="en-GB"/>
              <a:t>for a game.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At the beginning of a game the </a:t>
            </a:r>
            <a:r>
              <a:rPr b="1" lang="en-GB"/>
              <a:t>score </a:t>
            </a:r>
            <a:r>
              <a:rPr lang="en-GB"/>
              <a:t>might be 0. </a:t>
            </a:r>
            <a:endParaRPr/>
          </a:p>
        </p:txBody>
      </p:sp>
      <p:sp>
        <p:nvSpPr>
          <p:cNvPr id="105" name="Google Shape;105;p16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variable?</a:t>
            </a:r>
            <a:endParaRPr/>
          </a:p>
        </p:txBody>
      </p:sp>
      <p:sp>
        <p:nvSpPr>
          <p:cNvPr id="106" name="Google Shape;106;p16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grpSp>
        <p:nvGrpSpPr>
          <p:cNvPr id="107" name="Google Shape;107;p16"/>
          <p:cNvGrpSpPr/>
          <p:nvPr/>
        </p:nvGrpSpPr>
        <p:grpSpPr>
          <a:xfrm>
            <a:off x="4736600" y="2390488"/>
            <a:ext cx="2312313" cy="362503"/>
            <a:chOff x="4930400" y="2345525"/>
            <a:chExt cx="2312313" cy="362503"/>
          </a:xfrm>
        </p:grpSpPr>
        <p:sp>
          <p:nvSpPr>
            <p:cNvPr id="108" name="Google Shape;108;p16"/>
            <p:cNvSpPr txBox="1"/>
            <p:nvPr/>
          </p:nvSpPr>
          <p:spPr>
            <a:xfrm>
              <a:off x="4930400" y="2345525"/>
              <a:ext cx="13737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Roboto Mono"/>
                  <a:ea typeface="Roboto Mono"/>
                  <a:cs typeface="Roboto Mono"/>
                  <a:sym typeface="Roboto Mono"/>
                </a:rPr>
                <a:t>score</a:t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6090113" y="2393928"/>
              <a:ext cx="1152600" cy="3141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B5B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91425" spcFirstLastPara="1" rIns="91425" wrap="square" tIns="18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Roboto Mono"/>
                  <a:ea typeface="Roboto Mono"/>
                  <a:cs typeface="Roboto Mono"/>
                  <a:sym typeface="Roboto Mono"/>
                </a:rPr>
                <a:t>0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</a:t>
            </a:r>
            <a:r>
              <a:rPr lang="en-GB"/>
              <a:t> might use a </a:t>
            </a:r>
            <a:r>
              <a:rPr b="1" lang="en-GB"/>
              <a:t>variable </a:t>
            </a:r>
            <a:r>
              <a:rPr lang="en-GB"/>
              <a:t>to keep track of the </a:t>
            </a:r>
            <a:r>
              <a:rPr b="1" lang="en-GB"/>
              <a:t>score </a:t>
            </a:r>
            <a:r>
              <a:rPr lang="en-GB"/>
              <a:t>for a game.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At the beginning of a game the </a:t>
            </a:r>
            <a:r>
              <a:rPr b="1" lang="en-GB"/>
              <a:t>score </a:t>
            </a:r>
            <a:r>
              <a:rPr lang="en-GB"/>
              <a:t>might be 0.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During gameplay, the player might earn a point. </a:t>
            </a:r>
            <a:endParaRPr/>
          </a:p>
        </p:txBody>
      </p:sp>
      <p:sp>
        <p:nvSpPr>
          <p:cNvPr id="115" name="Google Shape;115;p17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variable?</a:t>
            </a:r>
            <a:endParaRPr/>
          </a:p>
        </p:txBody>
      </p:sp>
      <p:sp>
        <p:nvSpPr>
          <p:cNvPr id="116" name="Google Shape;116;p17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grpSp>
        <p:nvGrpSpPr>
          <p:cNvPr id="117" name="Google Shape;117;p17"/>
          <p:cNvGrpSpPr/>
          <p:nvPr/>
        </p:nvGrpSpPr>
        <p:grpSpPr>
          <a:xfrm>
            <a:off x="4736600" y="2390488"/>
            <a:ext cx="2312313" cy="362503"/>
            <a:chOff x="4930400" y="2345525"/>
            <a:chExt cx="2312313" cy="362503"/>
          </a:xfrm>
        </p:grpSpPr>
        <p:sp>
          <p:nvSpPr>
            <p:cNvPr id="118" name="Google Shape;118;p17"/>
            <p:cNvSpPr txBox="1"/>
            <p:nvPr/>
          </p:nvSpPr>
          <p:spPr>
            <a:xfrm>
              <a:off x="4930400" y="2345525"/>
              <a:ext cx="13737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Roboto Mono"/>
                  <a:ea typeface="Roboto Mono"/>
                  <a:cs typeface="Roboto Mono"/>
                  <a:sym typeface="Roboto Mono"/>
                </a:rPr>
                <a:t>score</a:t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6090113" y="2393928"/>
              <a:ext cx="1152600" cy="3141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B5B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91425" spcFirstLastPara="1" rIns="91425" wrap="square" tIns="18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Roboto Mono"/>
                  <a:ea typeface="Roboto Mono"/>
                  <a:cs typeface="Roboto Mono"/>
                  <a:sym typeface="Roboto Mono"/>
                </a:rPr>
                <a:t>0</a:t>
              </a:r>
              <a:endParaRPr/>
            </a:p>
          </p:txBody>
        </p:sp>
      </p:grpSp>
      <p:sp>
        <p:nvSpPr>
          <p:cNvPr id="120" name="Google Shape;120;p17"/>
          <p:cNvSpPr txBox="1"/>
          <p:nvPr/>
        </p:nvSpPr>
        <p:spPr>
          <a:xfrm>
            <a:off x="4736600" y="3134225"/>
            <a:ext cx="30000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score = score + 1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might use a </a:t>
            </a:r>
            <a:r>
              <a:rPr b="1" lang="en-GB"/>
              <a:t>variable </a:t>
            </a:r>
            <a:r>
              <a:rPr lang="en-GB"/>
              <a:t>to keep track of the </a:t>
            </a:r>
            <a:r>
              <a:rPr b="1" lang="en-GB"/>
              <a:t>score </a:t>
            </a:r>
            <a:r>
              <a:rPr lang="en-GB"/>
              <a:t>for a game.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At the beginning of a game the </a:t>
            </a:r>
            <a:r>
              <a:rPr b="1" lang="en-GB"/>
              <a:t>score </a:t>
            </a:r>
            <a:r>
              <a:rPr lang="en-GB"/>
              <a:t>might be 0.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During gameplay, the player might earn a point.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This would change the value held in score by increasing the value by 1. </a:t>
            </a:r>
            <a:endParaRPr/>
          </a:p>
        </p:txBody>
      </p:sp>
      <p:sp>
        <p:nvSpPr>
          <p:cNvPr id="126" name="Google Shape;126;p18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variable?</a:t>
            </a:r>
            <a:endParaRPr/>
          </a:p>
        </p:txBody>
      </p:sp>
      <p:sp>
        <p:nvSpPr>
          <p:cNvPr id="127" name="Google Shape;127;p18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grpSp>
        <p:nvGrpSpPr>
          <p:cNvPr id="128" name="Google Shape;128;p18"/>
          <p:cNvGrpSpPr/>
          <p:nvPr/>
        </p:nvGrpSpPr>
        <p:grpSpPr>
          <a:xfrm>
            <a:off x="4736600" y="2390488"/>
            <a:ext cx="2312313" cy="362503"/>
            <a:chOff x="4930400" y="2345525"/>
            <a:chExt cx="2312313" cy="362503"/>
          </a:xfrm>
        </p:grpSpPr>
        <p:sp>
          <p:nvSpPr>
            <p:cNvPr id="129" name="Google Shape;129;p18"/>
            <p:cNvSpPr txBox="1"/>
            <p:nvPr/>
          </p:nvSpPr>
          <p:spPr>
            <a:xfrm>
              <a:off x="4930400" y="2345525"/>
              <a:ext cx="13737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Roboto Mono"/>
                  <a:ea typeface="Roboto Mono"/>
                  <a:cs typeface="Roboto Mono"/>
                  <a:sym typeface="Roboto Mono"/>
                </a:rPr>
                <a:t>score</a:t>
              </a: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6090113" y="2393928"/>
              <a:ext cx="1152600" cy="3141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B5B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91425" spcFirstLastPara="1" rIns="91425" wrap="square" tIns="18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Roboto Mono"/>
                  <a:ea typeface="Roboto Mono"/>
                  <a:cs typeface="Roboto Mono"/>
                  <a:sym typeface="Roboto Mono"/>
                </a:rPr>
                <a:t>1</a:t>
              </a:r>
              <a:endParaRPr/>
            </a:p>
          </p:txBody>
        </p:sp>
      </p:grpSp>
      <p:sp>
        <p:nvSpPr>
          <p:cNvPr id="131" name="Google Shape;131;p18"/>
          <p:cNvSpPr txBox="1"/>
          <p:nvPr/>
        </p:nvSpPr>
        <p:spPr>
          <a:xfrm>
            <a:off x="4736600" y="3134225"/>
            <a:ext cx="30000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score = score + 1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memory location</a:t>
            </a:r>
            <a:r>
              <a:rPr lang="en-GB"/>
              <a:t> needs to be allocated for the </a:t>
            </a:r>
            <a:r>
              <a:rPr b="1" lang="en-GB"/>
              <a:t>variable value</a:t>
            </a:r>
            <a:r>
              <a:rPr lang="en-GB"/>
              <a:t>, before it can be used by the program.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Declaring </a:t>
            </a:r>
            <a:r>
              <a:rPr lang="en-GB"/>
              <a:t>a variable means stating what </a:t>
            </a:r>
            <a:r>
              <a:rPr b="1" lang="en-GB"/>
              <a:t>data type</a:t>
            </a:r>
            <a:r>
              <a:rPr lang="en-GB"/>
              <a:t> will be used for the value.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-GB"/>
              <a:t>Initialising </a:t>
            </a:r>
            <a:r>
              <a:rPr lang="en-GB"/>
              <a:t>a variable means setting the initial </a:t>
            </a:r>
            <a:r>
              <a:rPr b="1" lang="en-GB"/>
              <a:t>value</a:t>
            </a:r>
            <a:r>
              <a:rPr lang="en-GB"/>
              <a:t>. </a:t>
            </a:r>
            <a:endParaRPr/>
          </a:p>
        </p:txBody>
      </p:sp>
      <p:sp>
        <p:nvSpPr>
          <p:cNvPr id="137" name="Google Shape;137;p19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variable</a:t>
            </a:r>
            <a:endParaRPr/>
          </a:p>
        </p:txBody>
      </p:sp>
      <p:sp>
        <p:nvSpPr>
          <p:cNvPr id="138" name="Google Shape;138;p19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70100"/>
            <a:ext cx="4096500" cy="2730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doesn’t use variable declaration, only initialisation.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Here are examples of </a:t>
            </a:r>
            <a:r>
              <a:rPr b="1" lang="en-GB"/>
              <a:t>variable declaration</a:t>
            </a:r>
            <a:r>
              <a:rPr lang="en-GB"/>
              <a:t> in </a:t>
            </a:r>
            <a:r>
              <a:rPr b="1" lang="en-GB"/>
              <a:t>Visual Basic</a:t>
            </a:r>
            <a:r>
              <a:rPr lang="en-GB"/>
              <a:t> and </a:t>
            </a:r>
            <a:r>
              <a:rPr b="1" lang="en-GB"/>
              <a:t>C.</a:t>
            </a:r>
            <a:r>
              <a:rPr lang="en-GB"/>
              <a:t> 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Integer </a:t>
            </a:r>
            <a:r>
              <a:rPr lang="en-GB"/>
              <a:t>or </a:t>
            </a:r>
            <a:r>
              <a:rPr b="1" lang="en-GB"/>
              <a:t>int </a:t>
            </a:r>
            <a:r>
              <a:rPr lang="en-GB"/>
              <a:t>just means </a:t>
            </a:r>
            <a:r>
              <a:rPr b="1" lang="en-GB"/>
              <a:t>whole numbers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Both of these statements mean </a:t>
            </a:r>
            <a:r>
              <a:rPr b="1" lang="en-GB"/>
              <a:t>declare the variable age as an integer</a:t>
            </a:r>
            <a:r>
              <a:rPr lang="en-GB"/>
              <a:t>. </a:t>
            </a:r>
            <a:endParaRPr/>
          </a:p>
        </p:txBody>
      </p:sp>
      <p:sp>
        <p:nvSpPr>
          <p:cNvPr id="145" name="Google Shape;145;p20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 declaration in other programming languages</a:t>
            </a:r>
            <a:endParaRPr/>
          </a:p>
        </p:txBody>
      </p:sp>
      <p:sp>
        <p:nvSpPr>
          <p:cNvPr id="146" name="Google Shape;146;p20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Visual Basic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Dim age As Integer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C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nt age;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20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Initialisation </a:t>
            </a:r>
            <a:r>
              <a:rPr lang="en-GB"/>
              <a:t>is when the </a:t>
            </a:r>
            <a:r>
              <a:rPr b="1" lang="en-GB"/>
              <a:t>initial value </a:t>
            </a:r>
            <a:r>
              <a:rPr lang="en-GB"/>
              <a:t>is </a:t>
            </a:r>
            <a:r>
              <a:rPr b="1" lang="en-GB"/>
              <a:t>assigned </a:t>
            </a:r>
            <a:r>
              <a:rPr lang="en-GB"/>
              <a:t>to the variable.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Remember that variables only hold </a:t>
            </a:r>
            <a:r>
              <a:rPr b="1" lang="en-GB"/>
              <a:t>one </a:t>
            </a:r>
            <a:r>
              <a:rPr lang="en-GB"/>
              <a:t>value at a time and this value can </a:t>
            </a:r>
            <a:r>
              <a:rPr b="1" lang="en-GB"/>
              <a:t>change </a:t>
            </a:r>
            <a:r>
              <a:rPr lang="en-GB"/>
              <a:t>throughout the </a:t>
            </a:r>
            <a:r>
              <a:rPr b="1" lang="en-GB"/>
              <a:t>execution </a:t>
            </a:r>
            <a:r>
              <a:rPr lang="en-GB"/>
              <a:t>of the program.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Here are examples of variable initialisation. This means </a:t>
            </a:r>
            <a:r>
              <a:rPr b="1" lang="en-GB"/>
              <a:t>hold the value 22 under the variable name,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b="1" lang="en-GB"/>
              <a:t>. </a:t>
            </a:r>
            <a:endParaRPr b="1"/>
          </a:p>
        </p:txBody>
      </p:sp>
      <p:sp>
        <p:nvSpPr>
          <p:cNvPr id="153" name="Google Shape;153;p21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 initialisation</a:t>
            </a:r>
            <a:endParaRPr/>
          </a:p>
        </p:txBody>
      </p:sp>
      <p:sp>
        <p:nvSpPr>
          <p:cNvPr id="154" name="Google Shape;154;p21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Visual Basic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age = 22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C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ge = 22;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Python</a:t>
            </a:r>
            <a:endParaRPr>
              <a:solidFill>
                <a:srgbClr val="000000"/>
              </a:solidFill>
              <a:highlight>
                <a:srgbClr val="D9D9D9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age = 22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5" name="Google Shape;155;p21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 1 </a:t>
            </a:r>
            <a:r>
              <a:rPr b="1" lang="en-GB"/>
              <a:t>initialises </a:t>
            </a:r>
            <a:r>
              <a:rPr lang="en-GB"/>
              <a:t>the variable by calling it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/>
              <a:t>and </a:t>
            </a:r>
            <a:r>
              <a:rPr b="1" lang="en-GB"/>
              <a:t>assigning </a:t>
            </a:r>
            <a:r>
              <a:rPr lang="en-GB"/>
              <a:t>the value </a:t>
            </a:r>
            <a:r>
              <a:rPr b="1" lang="en-GB"/>
              <a:t>“G</a:t>
            </a:r>
            <a:r>
              <a:rPr b="1" lang="en-GB"/>
              <a:t>erry</a:t>
            </a:r>
            <a:r>
              <a:rPr b="1" lang="en-GB"/>
              <a:t>”</a:t>
            </a:r>
            <a:r>
              <a:rPr lang="en-GB"/>
              <a:t> at a memory location.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Activity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Type this code into Python and run it to see what happens.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Swap lines 1 and 2 around and read the error message that occurs.  </a:t>
            </a:r>
            <a:endParaRPr/>
          </a:p>
        </p:txBody>
      </p:sp>
      <p:sp>
        <p:nvSpPr>
          <p:cNvPr id="161" name="Google Shape;161;p22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and using our first variable</a:t>
            </a:r>
            <a:endParaRPr/>
          </a:p>
        </p:txBody>
      </p:sp>
      <p:sp>
        <p:nvSpPr>
          <p:cNvPr id="162" name="Google Shape;162;p22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D9D9D9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3" name="Google Shape;163;p22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5154025" y="1170125"/>
            <a:ext cx="3686100" cy="987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name=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Gerr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print(name)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4729525" y="1170097"/>
            <a:ext cx="424500" cy="987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you try to </a:t>
            </a:r>
            <a:r>
              <a:rPr b="1" lang="en-GB"/>
              <a:t>use</a:t>
            </a:r>
            <a:r>
              <a:rPr b="1" lang="en-GB"/>
              <a:t> </a:t>
            </a:r>
            <a:r>
              <a:rPr lang="en-GB"/>
              <a:t>a variable </a:t>
            </a:r>
            <a:r>
              <a:rPr lang="en-GB"/>
              <a:t>before</a:t>
            </a:r>
            <a:r>
              <a:rPr lang="en-GB"/>
              <a:t> it has been </a:t>
            </a:r>
            <a:r>
              <a:rPr b="1" lang="en-GB"/>
              <a:t>initialised, </a:t>
            </a:r>
            <a:r>
              <a:rPr lang="en-GB"/>
              <a:t>it will cause an error.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Instructions are executed one after the other.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In this case the error would be: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name, ‘name’ is not defined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1" name="Google Shape;171;p23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and using our first variable</a:t>
            </a:r>
            <a:endParaRPr/>
          </a:p>
        </p:txBody>
      </p:sp>
      <p:sp>
        <p:nvSpPr>
          <p:cNvPr id="172" name="Google Shape;172;p23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D9D9D9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3" name="Google Shape;173;p23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5154025" y="1170125"/>
            <a:ext cx="3686100" cy="987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print(name)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name=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Gerry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4729525" y="1170097"/>
            <a:ext cx="424500" cy="987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4729525" y="2857775"/>
            <a:ext cx="4096500" cy="1443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Traceback (most recent call last):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  File "c:\users\rebecca\mu_code\name.py", line 1, in &lt;module&gt;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    print(name)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Roboto Mono"/>
                <a:ea typeface="Roboto Mono"/>
                <a:cs typeface="Roboto Mono"/>
                <a:sym typeface="Roboto Mono"/>
              </a:rPr>
              <a:t>NameError: name 'name' is not defined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5228400" y="1289300"/>
            <a:ext cx="1506900" cy="248700"/>
          </a:xfrm>
          <a:prstGeom prst="roundRect">
            <a:avLst>
              <a:gd fmla="val 16667" name="adj"/>
            </a:avLst>
          </a:prstGeom>
          <a:solidFill>
            <a:srgbClr val="5B5BA5">
              <a:alpha val="223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"/>
          <p:cNvSpPr/>
          <p:nvPr/>
        </p:nvSpPr>
        <p:spPr>
          <a:xfrm>
            <a:off x="4786500" y="3661575"/>
            <a:ext cx="3462900" cy="222600"/>
          </a:xfrm>
          <a:prstGeom prst="roundRect">
            <a:avLst>
              <a:gd fmla="val 16667" name="adj"/>
            </a:avLst>
          </a:prstGeom>
          <a:solidFill>
            <a:srgbClr val="5B5BA5">
              <a:alpha val="223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 variable has been </a:t>
            </a:r>
            <a:r>
              <a:rPr b="1" lang="en-GB"/>
              <a:t>initialised </a:t>
            </a:r>
            <a:r>
              <a:rPr lang="en-GB"/>
              <a:t>with its first value, </a:t>
            </a:r>
            <a:r>
              <a:rPr lang="en-GB"/>
              <a:t>it can then be </a:t>
            </a:r>
            <a:r>
              <a:rPr b="1" lang="en-GB"/>
              <a:t>reassigned </a:t>
            </a:r>
            <a:r>
              <a:rPr lang="en-GB"/>
              <a:t>a new value throughout the execution of the code.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highlight>
                  <a:schemeClr val="dk1"/>
                </a:highlight>
              </a:rPr>
              <a:t> </a:t>
            </a:r>
            <a:r>
              <a:rPr lang="en-GB">
                <a:solidFill>
                  <a:srgbClr val="FFFFFF"/>
                </a:solidFill>
                <a:highlight>
                  <a:schemeClr val="dk1"/>
                </a:highlight>
              </a:rPr>
              <a:t>Question</a:t>
            </a:r>
            <a:r>
              <a:rPr lang="en-GB">
                <a:solidFill>
                  <a:srgbClr val="FFFFFF"/>
                </a:solidFill>
                <a:highlight>
                  <a:schemeClr val="dk1"/>
                </a:highlight>
              </a:rPr>
              <a:t> </a:t>
            </a:r>
            <a:r>
              <a:rPr lang="en-GB">
                <a:solidFill>
                  <a:schemeClr val="accent1"/>
                </a:solidFill>
              </a:rPr>
              <a:t>.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do you think might happen when this code is executed?</a:t>
            </a:r>
            <a:endParaRPr/>
          </a:p>
        </p:txBody>
      </p:sp>
      <p:sp>
        <p:nvSpPr>
          <p:cNvPr id="184" name="Google Shape;184;p24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and using our first variable</a:t>
            </a:r>
            <a:endParaRPr/>
          </a:p>
        </p:txBody>
      </p:sp>
      <p:sp>
        <p:nvSpPr>
          <p:cNvPr id="185" name="Google Shape;185;p24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D9D9D9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6" name="Google Shape;186;p24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5154025" y="1170125"/>
            <a:ext cx="3686100" cy="987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name=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Gerry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name=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Sam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print(name)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4729525" y="1170097"/>
            <a:ext cx="424500" cy="987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5200100" y="1535325"/>
            <a:ext cx="1506900" cy="268800"/>
          </a:xfrm>
          <a:prstGeom prst="roundRect">
            <a:avLst>
              <a:gd fmla="val 16667" name="adj"/>
            </a:avLst>
          </a:prstGeom>
          <a:solidFill>
            <a:srgbClr val="5B5BA5">
              <a:alpha val="223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The program will display </a:t>
            </a:r>
            <a:r>
              <a:rPr b="1" lang="en-GB"/>
              <a:t>Sam</a:t>
            </a:r>
            <a:r>
              <a:rPr lang="en-GB"/>
              <a:t> on the screen. This is because it was the last value that was assigned to </a:t>
            </a:r>
            <a:r>
              <a:rPr b="1" lang="en-GB"/>
              <a:t>name</a:t>
            </a:r>
            <a:r>
              <a:rPr lang="en-GB"/>
              <a:t>. </a:t>
            </a:r>
            <a:endParaRPr/>
          </a:p>
        </p:txBody>
      </p:sp>
      <p:sp>
        <p:nvSpPr>
          <p:cNvPr id="195" name="Google Shape;195;p25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and using our first variable</a:t>
            </a:r>
            <a:endParaRPr/>
          </a:p>
        </p:txBody>
      </p:sp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D9D9D9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7" name="Google Shape;197;p25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5154025" y="1170125"/>
            <a:ext cx="3686100" cy="987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name=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Gerry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name=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Sam</a:t>
            </a: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print(name)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4729525" y="1170097"/>
            <a:ext cx="424500" cy="987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sz="1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4729525" y="2787025"/>
            <a:ext cx="4096500" cy="987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Sam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Mono"/>
                <a:ea typeface="Roboto Mono"/>
                <a:cs typeface="Roboto Mono"/>
                <a:sym typeface="Roboto Mono"/>
              </a:rPr>
              <a:t>&gt;&gt;&gt;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Variables should always be identified in a </a:t>
            </a:r>
            <a:r>
              <a:rPr b="1" lang="en-GB"/>
              <a:t>meaningful way</a:t>
            </a:r>
            <a:r>
              <a:rPr lang="en-GB"/>
              <a:t>, like the files from the starter activity.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a</a:t>
            </a:r>
            <a:r>
              <a:rPr b="1" lang="en-GB"/>
              <a:t>, b, c, x, y</a:t>
            </a:r>
            <a:r>
              <a:rPr lang="en-GB"/>
              <a:t> are not helpful names for a variable.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If a variable is going to hold a name, then call that variable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GB"/>
              <a:t>.</a:t>
            </a:r>
            <a:r>
              <a:rPr lang="en-GB"/>
              <a:t> </a:t>
            </a:r>
            <a:endParaRPr/>
          </a:p>
        </p:txBody>
      </p:sp>
      <p:sp>
        <p:nvSpPr>
          <p:cNvPr id="206" name="Google Shape;206;p26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Meaningful identifiers and naming conventions</a:t>
            </a:r>
            <a:endParaRPr/>
          </a:p>
        </p:txBody>
      </p:sp>
      <p:sp>
        <p:nvSpPr>
          <p:cNvPr id="207" name="Google Shape;207;p26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x = </a:t>
            </a: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Gerry</a:t>
            </a: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name = </a:t>
            </a: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Gerry</a:t>
            </a:r>
            <a:r>
              <a:rPr lang="en-GB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8" name="Google Shape;208;p26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209" name="Google Shape;209;p26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6526225" y="1785650"/>
            <a:ext cx="786101" cy="7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6"/>
          <p:cNvPicPr preferRelativeResize="0"/>
          <p:nvPr/>
        </p:nvPicPr>
        <p:blipFill rotWithShape="1">
          <a:blip r:embed="rId4">
            <a:alphaModFix/>
          </a:blip>
          <a:srcRect b="0" l="55199" r="0" t="0"/>
          <a:stretch/>
        </p:blipFill>
        <p:spPr>
          <a:xfrm>
            <a:off x="6353125" y="1159775"/>
            <a:ext cx="433476" cy="4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programming languages have their own </a:t>
            </a:r>
            <a:r>
              <a:rPr b="1" lang="en-GB"/>
              <a:t>naming conventions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 considerate programmer will read the documentation for the programming language to find out what the conventions are.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In Python, variable names should be written in </a:t>
            </a:r>
            <a:r>
              <a:rPr b="1" lang="en-GB"/>
              <a:t>lower case,</a:t>
            </a:r>
            <a:r>
              <a:rPr b="1" lang="en-GB"/>
              <a:t> </a:t>
            </a:r>
            <a:r>
              <a:rPr lang="en-GB"/>
              <a:t>with an </a:t>
            </a:r>
            <a:r>
              <a:rPr b="1" lang="en-GB"/>
              <a:t>underscore </a:t>
            </a:r>
            <a:r>
              <a:rPr lang="en-GB"/>
              <a:t>separating words if required. </a:t>
            </a:r>
            <a:endParaRPr/>
          </a:p>
        </p:txBody>
      </p:sp>
      <p:sp>
        <p:nvSpPr>
          <p:cNvPr id="216" name="Google Shape;216;p27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Meaningful identifiers and naming conventions</a:t>
            </a:r>
            <a:endParaRPr/>
          </a:p>
        </p:txBody>
      </p:sp>
      <p:sp>
        <p:nvSpPr>
          <p:cNvPr id="217" name="Google Shape;217;p27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400" u="sng">
                <a:solidFill>
                  <a:schemeClr val="hlink"/>
                </a:solidFill>
                <a:hlinkClick r:id="rId3"/>
              </a:rPr>
              <a:t>ncce.io/pythondoc</a:t>
            </a:r>
            <a:r>
              <a:rPr lang="en-GB" sz="2400">
                <a:solidFill>
                  <a:srgbClr val="000000"/>
                </a:solidFill>
              </a:rPr>
              <a:t> </a:t>
            </a:r>
            <a:endParaRPr sz="2400">
              <a:solidFill>
                <a:srgbClr val="000000"/>
              </a:solidFill>
              <a:highlight>
                <a:schemeClr val="dk2"/>
              </a:highlight>
            </a:endParaRPr>
          </a:p>
        </p:txBody>
      </p:sp>
      <p:sp>
        <p:nvSpPr>
          <p:cNvPr id="218" name="Google Shape;218;p27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Declaration </a:t>
            </a:r>
            <a:r>
              <a:rPr lang="en-GB"/>
              <a:t>means to declare a variable as a certain </a:t>
            </a:r>
            <a:r>
              <a:rPr b="1" lang="en-GB"/>
              <a:t>data type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Initialisation </a:t>
            </a:r>
            <a:r>
              <a:rPr lang="en-GB"/>
              <a:t>means to set an </a:t>
            </a:r>
            <a:r>
              <a:rPr b="1" lang="en-GB"/>
              <a:t>initial </a:t>
            </a:r>
            <a:r>
              <a:rPr lang="en-GB"/>
              <a:t>value for a variable.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Assignment </a:t>
            </a:r>
            <a:r>
              <a:rPr lang="en-GB"/>
              <a:t>means to </a:t>
            </a:r>
            <a:r>
              <a:rPr b="1" lang="en-GB"/>
              <a:t>change </a:t>
            </a:r>
            <a:r>
              <a:rPr lang="en-GB"/>
              <a:t>the value held at the variable location.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variable </a:t>
            </a:r>
            <a:r>
              <a:rPr lang="en-GB"/>
              <a:t>must be </a:t>
            </a:r>
            <a:r>
              <a:rPr b="1" lang="en-GB"/>
              <a:t>initialised </a:t>
            </a:r>
            <a:r>
              <a:rPr lang="en-GB"/>
              <a:t>before it can be used.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-GB"/>
              <a:t>Meaningful </a:t>
            </a:r>
            <a:r>
              <a:rPr b="1" lang="en-GB"/>
              <a:t>identifiers</a:t>
            </a:r>
            <a:r>
              <a:rPr lang="en-GB"/>
              <a:t> are essential.</a:t>
            </a:r>
            <a:endParaRPr/>
          </a:p>
        </p:txBody>
      </p:sp>
      <p:sp>
        <p:nvSpPr>
          <p:cNvPr id="224" name="Google Shape;224;p28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Recap</a:t>
            </a:r>
            <a:endParaRPr/>
          </a:p>
        </p:txBody>
      </p:sp>
      <p:sp>
        <p:nvSpPr>
          <p:cNvPr id="225" name="Google Shape;225;p28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226" name="Google Shape;2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9742" y="2121225"/>
            <a:ext cx="901000" cy="9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the </a:t>
            </a:r>
            <a:r>
              <a:rPr b="1" lang="en-GB"/>
              <a:t>Activity 2 worksheet</a:t>
            </a:r>
            <a:r>
              <a:rPr lang="en-GB"/>
              <a:t> to predict, run, investigate, and modify a silly sentences program.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final task is to create your own silly story. </a:t>
            </a:r>
            <a:endParaRPr/>
          </a:p>
        </p:txBody>
      </p:sp>
      <p:sp>
        <p:nvSpPr>
          <p:cNvPr id="232" name="Google Shape;232;p29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Silly sentences</a:t>
            </a:r>
            <a:endParaRPr/>
          </a:p>
        </p:txBody>
      </p:sp>
      <p:sp>
        <p:nvSpPr>
          <p:cNvPr id="233" name="Google Shape;233;p29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9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pic>
        <p:nvPicPr>
          <p:cNvPr id="235" name="Google Shape;2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00" y="1170100"/>
            <a:ext cx="4096499" cy="2602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Sit with a partner and peer-review your silly stories. A checklist has been provided to focus your review. </a:t>
            </a:r>
            <a:endParaRPr/>
          </a:p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Peer-review your silly stories</a:t>
            </a:r>
            <a:endParaRPr/>
          </a:p>
        </p:txBody>
      </p:sp>
      <p:sp>
        <p:nvSpPr>
          <p:cNvPr id="242" name="Google Shape;242;p30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Has the programmer used a variety of variables to fill in the blanks?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Are there any syntax errors?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Are they any logic errors?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How could the story be improved?</a:t>
            </a:r>
            <a:endParaRPr/>
          </a:p>
        </p:txBody>
      </p:sp>
      <p:sp>
        <p:nvSpPr>
          <p:cNvPr id="243" name="Google Shape;243;p30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Plenary</a:t>
            </a:r>
            <a:endParaRPr/>
          </a:p>
        </p:txBody>
      </p:sp>
      <p:pic>
        <p:nvPicPr>
          <p:cNvPr id="244" name="Google Shape;2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2196" y="443388"/>
            <a:ext cx="450513" cy="45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Based on the feedback from your partner, improve your silly stories program. </a:t>
            </a:r>
            <a:endParaRPr/>
          </a:p>
        </p:txBody>
      </p:sp>
      <p:sp>
        <p:nvSpPr>
          <p:cNvPr id="250" name="Google Shape;250;p31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Improve your silly stories</a:t>
            </a:r>
            <a:endParaRPr/>
          </a:p>
        </p:txBody>
      </p:sp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1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Homework</a:t>
            </a:r>
            <a:endParaRPr/>
          </a:p>
        </p:txBody>
      </p:sp>
      <p:sp>
        <p:nvSpPr>
          <p:cNvPr id="253" name="Google Shape;253;p31"/>
          <p:cNvSpPr txBox="1"/>
          <p:nvPr/>
        </p:nvSpPr>
        <p:spPr>
          <a:xfrm>
            <a:off x="785325" y="3063450"/>
            <a:ext cx="2702700" cy="516600"/>
          </a:xfrm>
          <a:prstGeom prst="rect">
            <a:avLst/>
          </a:prstGeom>
          <a:solidFill>
            <a:srgbClr val="5B5BA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0F6ED"/>
                </a:solidFill>
                <a:latin typeface="Quicksand"/>
                <a:ea typeface="Quicksand"/>
                <a:cs typeface="Quicksand"/>
                <a:sym typeface="Quicksand"/>
              </a:rPr>
              <a:t>Due next lesson</a:t>
            </a:r>
            <a:endParaRPr b="1" sz="1800">
              <a:solidFill>
                <a:srgbClr val="F0F6ED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54" name="Google Shape;25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800" y="1170100"/>
            <a:ext cx="4096500" cy="2731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 this lesson, you…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Learnt how to use variables in your programs.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lesson</a:t>
            </a:r>
            <a:endParaRPr/>
          </a:p>
        </p:txBody>
      </p: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2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Next lesson, you will…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Learn how to accept user input into your program.</a:t>
            </a:r>
            <a:r>
              <a:rPr lang="en-GB"/>
              <a:t> </a:t>
            </a:r>
            <a:endParaRPr/>
          </a:p>
        </p:txBody>
      </p:sp>
      <p:sp>
        <p:nvSpPr>
          <p:cNvPr id="263" name="Google Shape;263;p32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CCE Slides">
  <a:themeElements>
    <a:clrScheme name="Simple Light">
      <a:dk1>
        <a:srgbClr val="5B5BA5"/>
      </a:dk1>
      <a:lt1>
        <a:srgbClr val="FFFFFF"/>
      </a:lt1>
      <a:dk2>
        <a:srgbClr val="E9E9F3"/>
      </a:dk2>
      <a:lt2>
        <a:srgbClr val="F2F6FC"/>
      </a:lt2>
      <a:accent1>
        <a:srgbClr val="E9F7FC"/>
      </a:accent1>
      <a:accent2>
        <a:srgbClr val="FFEFDA"/>
      </a:accent2>
      <a:accent3>
        <a:srgbClr val="ECF8F5"/>
      </a:accent3>
      <a:accent4>
        <a:srgbClr val="FEF2F6"/>
      </a:accent4>
      <a:accent5>
        <a:srgbClr val="E6E6EA"/>
      </a:accent5>
      <a:accent6>
        <a:srgbClr val="F0F6ED"/>
      </a:accent6>
      <a:hlink>
        <a:srgbClr val="3197A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